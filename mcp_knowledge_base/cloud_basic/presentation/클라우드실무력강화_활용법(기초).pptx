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6413"/>
  <p:notesSz cx="12192000" cy="895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1C4ED8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33333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1C4ED8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333333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1C4ED8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1C4ED8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76200"/>
            <a:ext cx="12192000" cy="952500"/>
          </a:xfrm>
          <a:custGeom>
            <a:avLst/>
            <a:gdLst/>
            <a:ahLst/>
            <a:cxnLst/>
            <a:rect l="l" t="t" r="r" b="b"/>
            <a:pathLst>
              <a:path w="12192000" h="952500">
                <a:moveTo>
                  <a:pt x="12191999" y="952499"/>
                </a:moveTo>
                <a:lnTo>
                  <a:pt x="0" y="9524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299" y="137608"/>
            <a:ext cx="11455400" cy="7378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1C4ED8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9275" y="1105405"/>
            <a:ext cx="9119870" cy="45707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333333"/>
                </a:solidFill>
                <a:latin typeface="Dotum"/>
                <a:cs typeface="Dot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8338" y="1485920"/>
            <a:ext cx="6735184" cy="13131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400"/>
              </a:spcBef>
            </a:pPr>
            <a:r>
              <a:rPr sz="4100" spc="-819" dirty="0">
                <a:solidFill>
                  <a:srgbClr val="FFFFFF"/>
                </a:solidFill>
              </a:rPr>
              <a:t>클라우드</a:t>
            </a:r>
            <a:r>
              <a:rPr sz="4100" spc="-380" dirty="0">
                <a:solidFill>
                  <a:srgbClr val="FFFFFF"/>
                </a:solidFill>
              </a:rPr>
              <a:t> </a:t>
            </a:r>
            <a:r>
              <a:rPr sz="4100" spc="-819" dirty="0" err="1">
                <a:solidFill>
                  <a:srgbClr val="FFFFFF"/>
                </a:solidFill>
              </a:rPr>
              <a:t>실무력</a:t>
            </a:r>
            <a:r>
              <a:rPr sz="4100" spc="-380" dirty="0">
                <a:solidFill>
                  <a:srgbClr val="FFFFFF"/>
                </a:solidFill>
              </a:rPr>
              <a:t> </a:t>
            </a:r>
            <a:r>
              <a:rPr sz="4100" spc="-844" dirty="0" err="1">
                <a:solidFill>
                  <a:srgbClr val="FFFFFF"/>
                </a:solidFill>
              </a:rPr>
              <a:t>강화</a:t>
            </a:r>
            <a:r>
              <a:rPr lang="en-US" sz="4100" spc="-844" dirty="0">
                <a:solidFill>
                  <a:srgbClr val="FFFFFF"/>
                </a:solidFill>
              </a:rPr>
              <a:t>! </a:t>
            </a:r>
            <a:br>
              <a:rPr lang="en-US" sz="4100" spc="-844" dirty="0">
                <a:solidFill>
                  <a:srgbClr val="FFFFFF"/>
                </a:solidFill>
              </a:rPr>
            </a:br>
            <a:r>
              <a:rPr lang="ko-KR" altLang="en-US" sz="4100" spc="-844" dirty="0">
                <a:solidFill>
                  <a:srgbClr val="FFFFFF"/>
                </a:solidFill>
              </a:rPr>
              <a:t>활용법 </a:t>
            </a:r>
            <a:r>
              <a:rPr lang="en-US" sz="4100" spc="-844" dirty="0">
                <a:solidFill>
                  <a:srgbClr val="FFFFFF"/>
                </a:solidFill>
              </a:rPr>
              <a:t>(</a:t>
            </a:r>
            <a:r>
              <a:rPr lang="ko-KR" altLang="en-US" sz="4100" spc="-844" dirty="0">
                <a:solidFill>
                  <a:srgbClr val="FFFFFF"/>
                </a:solidFill>
              </a:rPr>
              <a:t>기초</a:t>
            </a:r>
            <a:r>
              <a:rPr lang="en-US" altLang="ko-KR" sz="4100" spc="-844" dirty="0">
                <a:solidFill>
                  <a:srgbClr val="FFFFFF"/>
                </a:solidFill>
              </a:rPr>
              <a:t>)</a:t>
            </a:r>
            <a:endParaRPr sz="4100" dirty="0"/>
          </a:p>
        </p:txBody>
      </p:sp>
      <p:grpSp>
        <p:nvGrpSpPr>
          <p:cNvPr id="4" name="object 4"/>
          <p:cNvGrpSpPr/>
          <p:nvPr/>
        </p:nvGrpSpPr>
        <p:grpSpPr>
          <a:xfrm>
            <a:off x="4571999" y="3238499"/>
            <a:ext cx="762000" cy="762000"/>
            <a:chOff x="4571999" y="3238499"/>
            <a:chExt cx="762000" cy="762000"/>
          </a:xfrm>
        </p:grpSpPr>
        <p:sp>
          <p:nvSpPr>
            <p:cNvPr id="5" name="object 5"/>
            <p:cNvSpPr/>
            <p:nvPr/>
          </p:nvSpPr>
          <p:spPr>
            <a:xfrm>
              <a:off x="4571999" y="32384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2" y="736471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5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7"/>
                  </a:lnTo>
                  <a:lnTo>
                    <a:pt x="139296" y="86483"/>
                  </a:lnTo>
                  <a:lnTo>
                    <a:pt x="177167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6" y="49498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90" y="177168"/>
                  </a:lnTo>
                  <a:lnTo>
                    <a:pt x="725420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7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1" y="702890"/>
                  </a:lnTo>
                  <a:lnTo>
                    <a:pt x="543898" y="725419"/>
                  </a:lnTo>
                  <a:lnTo>
                    <a:pt x="500515" y="742769"/>
                  </a:lnTo>
                  <a:lnTo>
                    <a:pt x="455329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2962" y="3419474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91643" y="208419"/>
                  </a:moveTo>
                  <a:lnTo>
                    <a:pt x="0" y="208419"/>
                  </a:lnTo>
                  <a:lnTo>
                    <a:pt x="0" y="400050"/>
                  </a:lnTo>
                  <a:lnTo>
                    <a:pt x="191643" y="400050"/>
                  </a:lnTo>
                  <a:lnTo>
                    <a:pt x="191643" y="208419"/>
                  </a:lnTo>
                  <a:close/>
                </a:path>
                <a:path w="400050" h="400050">
                  <a:moveTo>
                    <a:pt x="191643" y="0"/>
                  </a:moveTo>
                  <a:lnTo>
                    <a:pt x="0" y="0"/>
                  </a:lnTo>
                  <a:lnTo>
                    <a:pt x="0" y="191643"/>
                  </a:lnTo>
                  <a:lnTo>
                    <a:pt x="191643" y="191643"/>
                  </a:lnTo>
                  <a:lnTo>
                    <a:pt x="191643" y="0"/>
                  </a:lnTo>
                  <a:close/>
                </a:path>
                <a:path w="400050" h="400050">
                  <a:moveTo>
                    <a:pt x="400050" y="208419"/>
                  </a:moveTo>
                  <a:lnTo>
                    <a:pt x="208419" y="208419"/>
                  </a:lnTo>
                  <a:lnTo>
                    <a:pt x="208419" y="400050"/>
                  </a:lnTo>
                  <a:lnTo>
                    <a:pt x="400050" y="400050"/>
                  </a:lnTo>
                  <a:lnTo>
                    <a:pt x="400050" y="208419"/>
                  </a:lnTo>
                  <a:close/>
                </a:path>
                <a:path w="400050" h="400050">
                  <a:moveTo>
                    <a:pt x="400050" y="0"/>
                  </a:moveTo>
                  <a:lnTo>
                    <a:pt x="208419" y="0"/>
                  </a:lnTo>
                  <a:lnTo>
                    <a:pt x="208419" y="191643"/>
                  </a:lnTo>
                  <a:lnTo>
                    <a:pt x="400050" y="191643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99" y="3238499"/>
            <a:ext cx="761999" cy="7619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857999" y="3238499"/>
            <a:ext cx="762000" cy="762000"/>
            <a:chOff x="6857999" y="3238499"/>
            <a:chExt cx="762000" cy="762000"/>
          </a:xfrm>
        </p:grpSpPr>
        <p:sp>
          <p:nvSpPr>
            <p:cNvPr id="9" name="object 9"/>
            <p:cNvSpPr/>
            <p:nvPr/>
          </p:nvSpPr>
          <p:spPr>
            <a:xfrm>
              <a:off x="6857999" y="32384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2" y="736471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5" y="663301"/>
                  </a:lnTo>
                  <a:lnTo>
                    <a:pt x="92505" y="629860"/>
                  </a:lnTo>
                  <a:lnTo>
                    <a:pt x="64209" y="592671"/>
                  </a:lnTo>
                  <a:lnTo>
                    <a:pt x="40679" y="552299"/>
                  </a:lnTo>
                  <a:lnTo>
                    <a:pt x="22271" y="509354"/>
                  </a:lnTo>
                  <a:lnTo>
                    <a:pt x="9257" y="464480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5"/>
                  </a:lnTo>
                  <a:lnTo>
                    <a:pt x="13800" y="279385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8" y="154038"/>
                  </a:lnTo>
                  <a:lnTo>
                    <a:pt x="105059" y="118287"/>
                  </a:lnTo>
                  <a:lnTo>
                    <a:pt x="139296" y="86483"/>
                  </a:lnTo>
                  <a:lnTo>
                    <a:pt x="177168" y="59109"/>
                  </a:lnTo>
                  <a:lnTo>
                    <a:pt x="218101" y="36579"/>
                  </a:lnTo>
                  <a:lnTo>
                    <a:pt x="261484" y="19230"/>
                  </a:lnTo>
                  <a:lnTo>
                    <a:pt x="306670" y="7320"/>
                  </a:lnTo>
                  <a:lnTo>
                    <a:pt x="352975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3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5" y="49498"/>
                  </a:lnTo>
                  <a:lnTo>
                    <a:pt x="607960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89" y="177168"/>
                  </a:lnTo>
                  <a:lnTo>
                    <a:pt x="725419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8" y="352974"/>
                  </a:lnTo>
                  <a:lnTo>
                    <a:pt x="761999" y="380999"/>
                  </a:lnTo>
                  <a:lnTo>
                    <a:pt x="761885" y="390352"/>
                  </a:lnTo>
                  <a:lnTo>
                    <a:pt x="757876" y="436904"/>
                  </a:lnTo>
                  <a:lnTo>
                    <a:pt x="748198" y="482614"/>
                  </a:lnTo>
                  <a:lnTo>
                    <a:pt x="732996" y="526801"/>
                  </a:lnTo>
                  <a:lnTo>
                    <a:pt x="712500" y="568796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0" y="702890"/>
                  </a:lnTo>
                  <a:lnTo>
                    <a:pt x="543898" y="725419"/>
                  </a:lnTo>
                  <a:lnTo>
                    <a:pt x="500514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19924" y="3398043"/>
              <a:ext cx="436245" cy="443230"/>
            </a:xfrm>
            <a:custGeom>
              <a:avLst/>
              <a:gdLst/>
              <a:ahLst/>
              <a:cxnLst/>
              <a:rect l="l" t="t" r="r" b="b"/>
              <a:pathLst>
                <a:path w="436245" h="443229">
                  <a:moveTo>
                    <a:pt x="221456" y="442912"/>
                  </a:moveTo>
                  <a:lnTo>
                    <a:pt x="176765" y="438421"/>
                  </a:lnTo>
                  <a:lnTo>
                    <a:pt x="135167" y="425538"/>
                  </a:lnTo>
                  <a:lnTo>
                    <a:pt x="97546" y="405146"/>
                  </a:lnTo>
                  <a:lnTo>
                    <a:pt x="64784" y="378127"/>
                  </a:lnTo>
                  <a:lnTo>
                    <a:pt x="37766" y="345366"/>
                  </a:lnTo>
                  <a:lnTo>
                    <a:pt x="17373" y="307744"/>
                  </a:lnTo>
                  <a:lnTo>
                    <a:pt x="4490" y="266147"/>
                  </a:lnTo>
                  <a:lnTo>
                    <a:pt x="0" y="221456"/>
                  </a:lnTo>
                  <a:lnTo>
                    <a:pt x="4490" y="176765"/>
                  </a:lnTo>
                  <a:lnTo>
                    <a:pt x="17373" y="135167"/>
                  </a:lnTo>
                  <a:lnTo>
                    <a:pt x="37766" y="97546"/>
                  </a:lnTo>
                  <a:lnTo>
                    <a:pt x="64784" y="64784"/>
                  </a:lnTo>
                  <a:lnTo>
                    <a:pt x="97546" y="37766"/>
                  </a:lnTo>
                  <a:lnTo>
                    <a:pt x="135167" y="17373"/>
                  </a:lnTo>
                  <a:lnTo>
                    <a:pt x="176765" y="4490"/>
                  </a:lnTo>
                  <a:lnTo>
                    <a:pt x="221456" y="0"/>
                  </a:lnTo>
                  <a:lnTo>
                    <a:pt x="264387" y="3982"/>
                  </a:lnTo>
                  <a:lnTo>
                    <a:pt x="303575" y="15448"/>
                  </a:lnTo>
                  <a:lnTo>
                    <a:pt x="338830" y="33678"/>
                  </a:lnTo>
                  <a:lnTo>
                    <a:pt x="369956" y="57953"/>
                  </a:lnTo>
                  <a:lnTo>
                    <a:pt x="344117" y="82797"/>
                  </a:lnTo>
                  <a:lnTo>
                    <a:pt x="241186" y="82797"/>
                  </a:lnTo>
                  <a:lnTo>
                    <a:pt x="203689" y="83047"/>
                  </a:lnTo>
                  <a:lnTo>
                    <a:pt x="134758" y="113296"/>
                  </a:lnTo>
                  <a:lnTo>
                    <a:pt x="108349" y="141750"/>
                  </a:lnTo>
                  <a:lnTo>
                    <a:pt x="90661" y="178061"/>
                  </a:lnTo>
                  <a:lnTo>
                    <a:pt x="84206" y="221456"/>
                  </a:lnTo>
                  <a:lnTo>
                    <a:pt x="91228" y="265660"/>
                  </a:lnTo>
                  <a:lnTo>
                    <a:pt x="110761" y="304048"/>
                  </a:lnTo>
                  <a:lnTo>
                    <a:pt x="140508" y="334317"/>
                  </a:lnTo>
                  <a:lnTo>
                    <a:pt x="178172" y="354167"/>
                  </a:lnTo>
                  <a:lnTo>
                    <a:pt x="221456" y="361295"/>
                  </a:lnTo>
                  <a:lnTo>
                    <a:pt x="393756" y="361295"/>
                  </a:lnTo>
                  <a:lnTo>
                    <a:pt x="391653" y="364806"/>
                  </a:lnTo>
                  <a:lnTo>
                    <a:pt x="359453" y="397574"/>
                  </a:lnTo>
                  <a:lnTo>
                    <a:pt x="319826" y="422138"/>
                  </a:lnTo>
                  <a:lnTo>
                    <a:pt x="273562" y="437563"/>
                  </a:lnTo>
                  <a:lnTo>
                    <a:pt x="221456" y="442912"/>
                  </a:lnTo>
                  <a:close/>
                </a:path>
                <a:path w="436245" h="443229">
                  <a:moveTo>
                    <a:pt x="309681" y="115907"/>
                  </a:moveTo>
                  <a:lnTo>
                    <a:pt x="277280" y="93471"/>
                  </a:lnTo>
                  <a:lnTo>
                    <a:pt x="241186" y="82797"/>
                  </a:lnTo>
                  <a:lnTo>
                    <a:pt x="344117" y="82797"/>
                  </a:lnTo>
                  <a:lnTo>
                    <a:pt x="309681" y="115907"/>
                  </a:lnTo>
                  <a:close/>
                </a:path>
                <a:path w="436245" h="443229">
                  <a:moveTo>
                    <a:pt x="393756" y="361295"/>
                  </a:moveTo>
                  <a:lnTo>
                    <a:pt x="221456" y="361295"/>
                  </a:lnTo>
                  <a:lnTo>
                    <a:pt x="277367" y="350963"/>
                  </a:lnTo>
                  <a:lnTo>
                    <a:pt x="315262" y="325788"/>
                  </a:lnTo>
                  <a:lnTo>
                    <a:pt x="337687" y="294502"/>
                  </a:lnTo>
                  <a:lnTo>
                    <a:pt x="347083" y="266147"/>
                  </a:lnTo>
                  <a:lnTo>
                    <a:pt x="347186" y="265836"/>
                  </a:lnTo>
                  <a:lnTo>
                    <a:pt x="221456" y="265836"/>
                  </a:lnTo>
                  <a:lnTo>
                    <a:pt x="221456" y="189666"/>
                  </a:lnTo>
                  <a:lnTo>
                    <a:pt x="432286" y="189666"/>
                  </a:lnTo>
                  <a:lnTo>
                    <a:pt x="433696" y="198155"/>
                  </a:lnTo>
                  <a:lnTo>
                    <a:pt x="434797" y="206878"/>
                  </a:lnTo>
                  <a:lnTo>
                    <a:pt x="435513" y="216237"/>
                  </a:lnTo>
                  <a:lnTo>
                    <a:pt x="435768" y="226635"/>
                  </a:lnTo>
                  <a:lnTo>
                    <a:pt x="430603" y="278401"/>
                  </a:lnTo>
                  <a:lnTo>
                    <a:pt x="415634" y="324769"/>
                  </a:lnTo>
                  <a:lnTo>
                    <a:pt x="393756" y="361295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438399" y="5067299"/>
            <a:ext cx="7315200" cy="1076325"/>
          </a:xfrm>
          <a:custGeom>
            <a:avLst/>
            <a:gdLst/>
            <a:ahLst/>
            <a:cxnLst/>
            <a:rect l="l" t="t" r="r" b="b"/>
            <a:pathLst>
              <a:path w="7315200" h="1076325">
                <a:moveTo>
                  <a:pt x="7244002" y="1076324"/>
                </a:moveTo>
                <a:lnTo>
                  <a:pt x="71196" y="1076324"/>
                </a:lnTo>
                <a:lnTo>
                  <a:pt x="66241" y="1075836"/>
                </a:lnTo>
                <a:lnTo>
                  <a:pt x="29705" y="1060702"/>
                </a:lnTo>
                <a:lnTo>
                  <a:pt x="3885" y="1024662"/>
                </a:lnTo>
                <a:lnTo>
                  <a:pt x="0" y="1005128"/>
                </a:lnTo>
                <a:lnTo>
                  <a:pt x="0" y="10001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7244002" y="0"/>
                </a:lnTo>
                <a:lnTo>
                  <a:pt x="7285493" y="15621"/>
                </a:lnTo>
                <a:lnTo>
                  <a:pt x="7311312" y="51661"/>
                </a:lnTo>
                <a:lnTo>
                  <a:pt x="7315199" y="71196"/>
                </a:lnTo>
                <a:lnTo>
                  <a:pt x="7315199" y="1005128"/>
                </a:lnTo>
                <a:lnTo>
                  <a:pt x="7299576" y="1046619"/>
                </a:lnTo>
                <a:lnTo>
                  <a:pt x="7263537" y="1072438"/>
                </a:lnTo>
                <a:lnTo>
                  <a:pt x="7248958" y="1075836"/>
                </a:lnTo>
                <a:lnTo>
                  <a:pt x="7244002" y="1076324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28713" y="4434331"/>
            <a:ext cx="6734809" cy="14509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Azure,</a:t>
            </a:r>
            <a:r>
              <a:rPr sz="1800" spc="-7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AWS, </a:t>
            </a: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GCP</a:t>
            </a: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sz="2000" spc="-190" dirty="0">
                <a:solidFill>
                  <a:srgbClr val="FFFFFF"/>
                </a:solidFill>
                <a:latin typeface="Dotum"/>
                <a:cs typeface="Dotum"/>
              </a:rPr>
              <a:t>대</a:t>
            </a:r>
            <a:r>
              <a:rPr sz="2000" spc="-17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00" spc="-360" dirty="0" err="1">
                <a:solidFill>
                  <a:srgbClr val="FFFFFF"/>
                </a:solidFill>
                <a:latin typeface="Dotum"/>
                <a:cs typeface="Dotum"/>
              </a:rPr>
              <a:t>플랫폼</a:t>
            </a:r>
            <a:r>
              <a:rPr sz="2000" spc="-17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lang="ko-KR" altLang="en-US" sz="2000" spc="-175" dirty="0">
                <a:solidFill>
                  <a:srgbClr val="FFFFFF"/>
                </a:solidFill>
                <a:latin typeface="Dotum"/>
                <a:cs typeface="Dotum"/>
              </a:rPr>
              <a:t>활용</a:t>
            </a:r>
            <a:r>
              <a:rPr sz="2000" spc="-17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000" spc="-385" dirty="0">
                <a:solidFill>
                  <a:srgbClr val="FFFFFF"/>
                </a:solidFill>
                <a:latin typeface="Dotum"/>
                <a:cs typeface="Dotum"/>
              </a:rPr>
              <a:t>가이드</a:t>
            </a:r>
            <a:endParaRPr sz="2000" dirty="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800" dirty="0">
              <a:latin typeface="Dotum"/>
              <a:cs typeface="Dotum"/>
            </a:endParaRPr>
          </a:p>
          <a:p>
            <a:pPr marL="12065" marR="5080" algn="ctr">
              <a:lnSpc>
                <a:spcPct val="117600"/>
              </a:lnSpc>
            </a:pP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주요</a:t>
            </a:r>
            <a:r>
              <a:rPr sz="1700" spc="-14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학습</a:t>
            </a:r>
            <a:r>
              <a:rPr sz="1700" spc="-14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225" dirty="0">
                <a:solidFill>
                  <a:srgbClr val="FFFFFF"/>
                </a:solidFill>
                <a:latin typeface="Dotum"/>
                <a:cs typeface="Dotum"/>
              </a:rPr>
              <a:t>목표</a:t>
            </a:r>
            <a:r>
              <a:rPr sz="1500" b="1" spc="-225" dirty="0">
                <a:solidFill>
                  <a:srgbClr val="FFFFFF"/>
                </a:solidFill>
                <a:latin typeface="Segoe UI"/>
                <a:cs typeface="Segoe UI"/>
              </a:rPr>
              <a:t>:</a:t>
            </a:r>
            <a:r>
              <a:rPr sz="1500" b="1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멀티클라우드</a:t>
            </a:r>
            <a:r>
              <a:rPr sz="1700" spc="-15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환경의</a:t>
            </a:r>
            <a:r>
              <a:rPr sz="1700" spc="-15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225" dirty="0">
                <a:solidFill>
                  <a:srgbClr val="FFFFFF"/>
                </a:solidFill>
                <a:latin typeface="Dotum"/>
                <a:cs typeface="Dotum"/>
              </a:rPr>
              <a:t>계정</a:t>
            </a:r>
            <a:r>
              <a:rPr sz="1500" spc="-225" dirty="0">
                <a:solidFill>
                  <a:srgbClr val="FFFFFF"/>
                </a:solidFill>
                <a:latin typeface="Segoe UI"/>
                <a:cs typeface="Segoe UI"/>
              </a:rPr>
              <a:t>,</a:t>
            </a:r>
            <a:r>
              <a:rPr sz="1500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700" spc="-250" dirty="0">
                <a:solidFill>
                  <a:srgbClr val="FFFFFF"/>
                </a:solidFill>
                <a:latin typeface="Dotum"/>
                <a:cs typeface="Dotum"/>
              </a:rPr>
              <a:t>인프라</a:t>
            </a:r>
            <a:r>
              <a:rPr sz="1500" spc="-250" dirty="0">
                <a:solidFill>
                  <a:srgbClr val="FFFFFF"/>
                </a:solidFill>
                <a:latin typeface="Segoe UI"/>
                <a:cs typeface="Segoe UI"/>
              </a:rPr>
              <a:t>,</a:t>
            </a:r>
            <a:r>
              <a:rPr sz="1500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700" spc="-260" dirty="0">
                <a:solidFill>
                  <a:srgbClr val="FFFFFF"/>
                </a:solidFill>
                <a:latin typeface="Dotum"/>
                <a:cs typeface="Dotum"/>
              </a:rPr>
              <a:t>스토리지</a:t>
            </a:r>
            <a:r>
              <a:rPr sz="1500" spc="-260" dirty="0">
                <a:solidFill>
                  <a:srgbClr val="FFFFFF"/>
                </a:solidFill>
                <a:latin typeface="Segoe UI"/>
                <a:cs typeface="Segoe UI"/>
              </a:rPr>
              <a:t>,</a:t>
            </a:r>
            <a:r>
              <a:rPr sz="1500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네트워크</a:t>
            </a:r>
            <a:r>
              <a:rPr sz="1700" spc="-15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실무</a:t>
            </a:r>
            <a:r>
              <a:rPr sz="1700" spc="-15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능력</a:t>
            </a:r>
            <a:r>
              <a:rPr sz="1700" spc="-14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60" dirty="0">
                <a:solidFill>
                  <a:srgbClr val="FFFFFF"/>
                </a:solidFill>
                <a:latin typeface="Dotum"/>
                <a:cs typeface="Dotum"/>
              </a:rPr>
              <a:t>강화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및</a:t>
            </a:r>
            <a:r>
              <a:rPr sz="1700" spc="-15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실전</a:t>
            </a:r>
            <a:r>
              <a:rPr sz="1700" spc="-15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트러블슈팅</a:t>
            </a:r>
            <a:r>
              <a:rPr sz="1700" spc="-15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FFFFFF"/>
                </a:solidFill>
                <a:latin typeface="Dotum"/>
                <a:cs typeface="Dotum"/>
              </a:rPr>
              <a:t>역량</a:t>
            </a:r>
            <a:r>
              <a:rPr sz="1700" spc="-15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FFFFFF"/>
                </a:solidFill>
                <a:latin typeface="Dotum"/>
                <a:cs typeface="Dotum"/>
              </a:rPr>
              <a:t>확보</a:t>
            </a:r>
            <a:endParaRPr sz="1700" dirty="0">
              <a:latin typeface="Dotum"/>
              <a:cs typeface="Dotu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23933" y="6349999"/>
            <a:ext cx="80454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Segoe UI"/>
                <a:cs typeface="Segoe UI"/>
              </a:rPr>
              <a:t>2025-0</a:t>
            </a:r>
            <a:r>
              <a:rPr lang="en-US" sz="1200" spc="-10" dirty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  <a:r>
              <a:rPr sz="1200" spc="-10" dirty="0">
                <a:solidFill>
                  <a:srgbClr val="FFFFFF"/>
                </a:solidFill>
                <a:latin typeface="Segoe UI"/>
                <a:cs typeface="Segoe UI"/>
              </a:rPr>
              <a:t>-</a:t>
            </a:r>
            <a:r>
              <a:rPr sz="1200" spc="-25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1200" dirty="0">
              <a:latin typeface="Segoe UI"/>
              <a:cs typeface="Segoe UI"/>
            </a:endParaRPr>
          </a:p>
        </p:txBody>
      </p:sp>
      <p:pic>
        <p:nvPicPr>
          <p:cNvPr id="1026" name="Picture 2" descr="Amazon Web Services - Wikipedia">
            <a:extLst>
              <a:ext uri="{FF2B5EF4-FFF2-40B4-BE49-F238E27FC236}">
                <a16:creationId xmlns:a16="http://schemas.microsoft.com/office/drawing/2014/main" id="{0F2E4E6E-F560-5CB3-361E-6AE55BCF6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437" y="3482297"/>
            <a:ext cx="599125" cy="35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성공의 본질 &quot;What&quot;과 &quot;Why&quot;의 균형">
            <a:extLst>
              <a:ext uri="{FF2B5EF4-FFF2-40B4-BE49-F238E27FC236}">
                <a16:creationId xmlns:a16="http://schemas.microsoft.com/office/drawing/2014/main" id="{696076D5-82BA-81D4-6643-90C3C7CF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081" y="1751806"/>
            <a:ext cx="7372350" cy="412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D1C8EC8-295C-4504-AD63-F08387DDE634}"/>
              </a:ext>
            </a:extLst>
          </p:cNvPr>
          <p:cNvSpPr txBox="1"/>
          <p:nvPr/>
        </p:nvSpPr>
        <p:spPr>
          <a:xfrm>
            <a:off x="4495800" y="304006"/>
            <a:ext cx="35189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해 </a:t>
            </a:r>
            <a:r>
              <a:rPr lang="ko-KR" altLang="en-US" sz="6000" dirty="0" err="1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봤니</a:t>
            </a:r>
            <a:r>
              <a:rPr lang="ko-KR" altLang="en-US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altLang="ko-KR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?</a:t>
            </a:r>
            <a:endParaRPr lang="ko-KR" altLang="en-US" sz="6000" dirty="0">
              <a:latin typeface="HY목각파임B" panose="02030600000101010101" pitchFamily="18" charset="-127"/>
              <a:ea typeface="HY목각파임B" panose="02030600000101010101" pitchFamily="18" charset="-127"/>
              <a:cs typeface="Calibri" panose="020F050202020403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28B01B-2B6D-ED95-5E33-D907C0DEEDD5}"/>
              </a:ext>
            </a:extLst>
          </p:cNvPr>
          <p:cNvSpPr txBox="1"/>
          <p:nvPr/>
        </p:nvSpPr>
        <p:spPr>
          <a:xfrm>
            <a:off x="5012209" y="6158570"/>
            <a:ext cx="21675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( </a:t>
            </a:r>
            <a:r>
              <a:rPr lang="ko-KR" altLang="en-US" sz="1400" dirty="0"/>
              <a:t>사이먼 </a:t>
            </a:r>
            <a:r>
              <a:rPr lang="ko-KR" altLang="en-US" sz="1400" dirty="0" err="1"/>
              <a:t>시넥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골든써클</a:t>
            </a:r>
            <a:r>
              <a:rPr lang="ko-KR" altLang="en-US" sz="1400" dirty="0"/>
              <a:t> 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E0E3-4BE9-1AD6-F913-C872942A8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C5123-7FEA-DD43-2863-2006DAB52558}"/>
              </a:ext>
            </a:extLst>
          </p:cNvPr>
          <p:cNvSpPr txBox="1"/>
          <p:nvPr/>
        </p:nvSpPr>
        <p:spPr>
          <a:xfrm>
            <a:off x="2781631" y="320603"/>
            <a:ext cx="66287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교육 특징 </a:t>
            </a:r>
            <a:r>
              <a:rPr lang="en-US" altLang="ko-KR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(3</a:t>
            </a:r>
            <a:r>
              <a:rPr lang="ko-KR" altLang="en-US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가지</a:t>
            </a:r>
            <a:r>
              <a:rPr lang="en-US" altLang="ko-KR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)</a:t>
            </a:r>
            <a:endParaRPr lang="ko-KR" altLang="en-US" sz="6000" dirty="0">
              <a:latin typeface="HY목각파임B" panose="02030600000101010101" pitchFamily="18" charset="-127"/>
              <a:ea typeface="HY목각파임B" panose="02030600000101010101" pitchFamily="18" charset="-127"/>
              <a:cs typeface="Calibri" panose="020F0502020204030204" pitchFamily="34" charset="0"/>
            </a:endParaRPr>
          </a:p>
        </p:txBody>
      </p:sp>
      <p:pic>
        <p:nvPicPr>
          <p:cNvPr id="2052" name="Picture 4" descr="국내 10인 이상 기업 AI 활용, 10곳 중 3곳만 &lt; 인공지능 &lt; ICT·AI &lt; 산업 &lt; 기사본문 - 포쓰저널">
            <a:extLst>
              <a:ext uri="{FF2B5EF4-FFF2-40B4-BE49-F238E27FC236}">
                <a16:creationId xmlns:a16="http://schemas.microsoft.com/office/drawing/2014/main" id="{2C23A898-A8BD-CA61-E494-966C6BAE1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470" y="2776153"/>
            <a:ext cx="3825060" cy="255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연습은 실전처럼, 실전은 연습처럼 - 브라운백 공식 웹사이트">
            <a:extLst>
              <a:ext uri="{FF2B5EF4-FFF2-40B4-BE49-F238E27FC236}">
                <a16:creationId xmlns:a16="http://schemas.microsoft.com/office/drawing/2014/main" id="{6D410573-A4C0-F770-3738-368C8E710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26725"/>
            <a:ext cx="3782860" cy="251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88984D-408B-2256-78EB-EDCAB84E1599}"/>
              </a:ext>
            </a:extLst>
          </p:cNvPr>
          <p:cNvSpPr txBox="1"/>
          <p:nvPr/>
        </p:nvSpPr>
        <p:spPr>
          <a:xfrm>
            <a:off x="902603" y="5528589"/>
            <a:ext cx="21114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1. </a:t>
            </a:r>
            <a:r>
              <a:rPr lang="ko-KR" altLang="en-US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연습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1A725-37E7-C868-933A-1DA39ABA1C32}"/>
              </a:ext>
            </a:extLst>
          </p:cNvPr>
          <p:cNvSpPr txBox="1"/>
          <p:nvPr/>
        </p:nvSpPr>
        <p:spPr>
          <a:xfrm>
            <a:off x="4343400" y="5528588"/>
            <a:ext cx="29562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2. AI </a:t>
            </a:r>
            <a:r>
              <a:rPr lang="ko-KR" altLang="en-US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활용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77D84-F75C-348E-5245-4253C59DA2C7}"/>
              </a:ext>
            </a:extLst>
          </p:cNvPr>
          <p:cNvSpPr txBox="1"/>
          <p:nvPr/>
        </p:nvSpPr>
        <p:spPr>
          <a:xfrm>
            <a:off x="8563429" y="5528588"/>
            <a:ext cx="26757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3. </a:t>
            </a:r>
            <a:r>
              <a:rPr lang="ko-KR" altLang="en-US" sz="4400" dirty="0">
                <a:solidFill>
                  <a:srgbClr val="0070C0"/>
                </a:solidFill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자동화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083E6E8-59EB-BD94-54B6-5FEA15FE9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232" y="1751331"/>
            <a:ext cx="3783768" cy="249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A264-DE46-37A0-9159-68329E6BB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97B28-64C9-E85E-A7F4-E36A5369DCEA}"/>
              </a:ext>
            </a:extLst>
          </p:cNvPr>
          <p:cNvSpPr txBox="1"/>
          <p:nvPr/>
        </p:nvSpPr>
        <p:spPr>
          <a:xfrm>
            <a:off x="4721266" y="320603"/>
            <a:ext cx="27494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rPr>
              <a:t>생산성 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BB4FA5A-4A48-B667-96CD-D7F379D9A532}"/>
              </a:ext>
            </a:extLst>
          </p:cNvPr>
          <p:cNvSpPr/>
          <p:nvPr/>
        </p:nvSpPr>
        <p:spPr>
          <a:xfrm rot="17315221">
            <a:off x="7322553" y="485534"/>
            <a:ext cx="708871" cy="6858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D3A8297-E3EB-4CD7-90F6-2E29A9682912}"/>
              </a:ext>
            </a:extLst>
          </p:cNvPr>
          <p:cNvGrpSpPr/>
          <p:nvPr/>
        </p:nvGrpSpPr>
        <p:grpSpPr>
          <a:xfrm>
            <a:off x="636191" y="2437606"/>
            <a:ext cx="10919617" cy="2895600"/>
            <a:chOff x="-327817" y="2433701"/>
            <a:chExt cx="13361790" cy="3170085"/>
          </a:xfrm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DFF87B46-91C4-E85D-2097-AB4566CB8E47}"/>
                </a:ext>
              </a:extLst>
            </p:cNvPr>
            <p:cNvSpPr/>
            <p:nvPr/>
          </p:nvSpPr>
          <p:spPr>
            <a:xfrm>
              <a:off x="-327817" y="2445046"/>
              <a:ext cx="3165759" cy="3158740"/>
            </a:xfrm>
            <a:prstGeom prst="rightArrow">
              <a:avLst>
                <a:gd name="adj1" fmla="val 100000"/>
                <a:gd name="adj2" fmla="val 14619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화살표: 오른쪽 22">
              <a:extLst>
                <a:ext uri="{FF2B5EF4-FFF2-40B4-BE49-F238E27FC236}">
                  <a16:creationId xmlns:a16="http://schemas.microsoft.com/office/drawing/2014/main" id="{ECB8DA38-6129-E88F-BEC8-A970A1FEA2B8}"/>
                </a:ext>
              </a:extLst>
            </p:cNvPr>
            <p:cNvSpPr/>
            <p:nvPr/>
          </p:nvSpPr>
          <p:spPr>
            <a:xfrm>
              <a:off x="3027618" y="2445046"/>
              <a:ext cx="3165759" cy="3158740"/>
            </a:xfrm>
            <a:prstGeom prst="rightArrow">
              <a:avLst>
                <a:gd name="adj1" fmla="val 100000"/>
                <a:gd name="adj2" fmla="val 14619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F4D61BF8-1CDA-A628-8645-60DAE1BB05C4}"/>
                </a:ext>
              </a:extLst>
            </p:cNvPr>
            <p:cNvSpPr/>
            <p:nvPr/>
          </p:nvSpPr>
          <p:spPr>
            <a:xfrm>
              <a:off x="6387260" y="2445046"/>
              <a:ext cx="3165759" cy="3158740"/>
            </a:xfrm>
            <a:prstGeom prst="rightArrow">
              <a:avLst>
                <a:gd name="adj1" fmla="val 100000"/>
                <a:gd name="adj2" fmla="val 14619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923CB571-8717-A9BD-967A-67FA950904AB}"/>
                </a:ext>
              </a:extLst>
            </p:cNvPr>
            <p:cNvSpPr/>
            <p:nvPr/>
          </p:nvSpPr>
          <p:spPr>
            <a:xfrm>
              <a:off x="9868214" y="2433701"/>
              <a:ext cx="3165759" cy="3158740"/>
            </a:xfrm>
            <a:prstGeom prst="rightArrow">
              <a:avLst>
                <a:gd name="adj1" fmla="val 100000"/>
                <a:gd name="adj2" fmla="val 14619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CB89B7D-D496-4FCF-5342-C5FF49F11554}"/>
                </a:ext>
              </a:extLst>
            </p:cNvPr>
            <p:cNvSpPr txBox="1"/>
            <p:nvPr/>
          </p:nvSpPr>
          <p:spPr>
            <a:xfrm>
              <a:off x="708502" y="3769402"/>
              <a:ext cx="10054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>
                  <a:latin typeface="HY목각파임B" panose="02030600000101010101" pitchFamily="18" charset="-127"/>
                  <a:ea typeface="HY목각파임B" panose="02030600000101010101" pitchFamily="18" charset="-127"/>
                  <a:cs typeface="Calibri" panose="020F0502020204030204" pitchFamily="34" charset="0"/>
                </a:rPr>
                <a:t>질문</a:t>
              </a:r>
              <a:r>
                <a:rPr lang="en-US" altLang="ko-KR" sz="2400" dirty="0">
                  <a:latin typeface="HY목각파임B" panose="02030600000101010101" pitchFamily="18" charset="-127"/>
                  <a:ea typeface="HY목각파임B" panose="02030600000101010101" pitchFamily="18" charset="-127"/>
                  <a:cs typeface="Calibri" panose="020F0502020204030204" pitchFamily="34" charset="0"/>
                </a:rPr>
                <a:t>?</a:t>
              </a:r>
              <a:endParaRPr lang="ko-KR" altLang="en-US" sz="2400" dirty="0">
                <a:latin typeface="HY목각파임B" panose="02030600000101010101" pitchFamily="18" charset="-127"/>
                <a:ea typeface="HY목각파임B" panose="02030600000101010101" pitchFamily="18" charset="-127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6AD8F1-13EE-75C8-1D82-E43E26097A80}"/>
                </a:ext>
              </a:extLst>
            </p:cNvPr>
            <p:cNvSpPr txBox="1"/>
            <p:nvPr/>
          </p:nvSpPr>
          <p:spPr>
            <a:xfrm>
              <a:off x="4101216" y="3769402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>
                  <a:latin typeface="HY목각파임B" panose="02030600000101010101" pitchFamily="18" charset="-127"/>
                  <a:ea typeface="HY목각파임B" panose="02030600000101010101" pitchFamily="18" charset="-127"/>
                  <a:cs typeface="Calibri" panose="020F0502020204030204" pitchFamily="34" charset="0"/>
                </a:rPr>
                <a:t>정리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3EF4FC-3B0B-7FF9-7EC7-FE609763034A}"/>
                </a:ext>
              </a:extLst>
            </p:cNvPr>
            <p:cNvSpPr txBox="1"/>
            <p:nvPr/>
          </p:nvSpPr>
          <p:spPr>
            <a:xfrm>
              <a:off x="7109733" y="3769402"/>
              <a:ext cx="1518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>
                  <a:latin typeface="HY목각파임B" panose="02030600000101010101" pitchFamily="18" charset="-127"/>
                  <a:ea typeface="HY목각파임B" panose="02030600000101010101" pitchFamily="18" charset="-127"/>
                  <a:cs typeface="Calibri" panose="020F0502020204030204" pitchFamily="34" charset="0"/>
                </a:rPr>
                <a:t>심층 조사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8590C9-47D6-D82D-0BF5-161D2A58E655}"/>
                </a:ext>
              </a:extLst>
            </p:cNvPr>
            <p:cNvSpPr txBox="1"/>
            <p:nvPr/>
          </p:nvSpPr>
          <p:spPr>
            <a:xfrm>
              <a:off x="10954010" y="3769402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400" dirty="0">
                  <a:latin typeface="HY목각파임B" panose="02030600000101010101" pitchFamily="18" charset="-127"/>
                  <a:ea typeface="HY목각파임B" panose="02030600000101010101" pitchFamily="18" charset="-127"/>
                  <a:cs typeface="Calibri" panose="020F0502020204030204" pitchFamily="34" charset="0"/>
                </a:rPr>
                <a:t>실행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029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0FBD-BD6A-60C2-60C0-C55A2870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62C4295-9CC6-BBE5-104E-E54DF9560A28}"/>
              </a:ext>
            </a:extLst>
          </p:cNvPr>
          <p:cNvSpPr/>
          <p:nvPr/>
        </p:nvSpPr>
        <p:spPr>
          <a:xfrm>
            <a:off x="6553200" y="761206"/>
            <a:ext cx="5257800" cy="30524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AFEDC-524E-EE11-390D-CBB90D4EF53D}"/>
              </a:ext>
            </a:extLst>
          </p:cNvPr>
          <p:cNvSpPr txBox="1"/>
          <p:nvPr/>
        </p:nvSpPr>
        <p:spPr>
          <a:xfrm>
            <a:off x="334642" y="769936"/>
            <a:ext cx="5562600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Q1. google </a:t>
            </a:r>
            <a:r>
              <a:rPr lang="en-US" altLang="ko-KR" dirty="0" err="1"/>
              <a:t>gcp</a:t>
            </a:r>
            <a:r>
              <a:rPr lang="en-US" altLang="ko-KR" dirty="0"/>
              <a:t> platform </a:t>
            </a:r>
            <a:r>
              <a:rPr lang="ko-KR" altLang="en-US" dirty="0"/>
              <a:t>에 가입 후</a:t>
            </a:r>
            <a:r>
              <a:rPr lang="en-US" altLang="ko-KR" dirty="0"/>
              <a:t>, </a:t>
            </a:r>
            <a:r>
              <a:rPr lang="ko-KR" altLang="en-US" dirty="0"/>
              <a:t>프로젝트를 만들고 스토리지를 사용하여 </a:t>
            </a:r>
            <a:r>
              <a:rPr lang="ko-KR" altLang="en-US" dirty="0" err="1"/>
              <a:t>정적웹사이트를</a:t>
            </a:r>
            <a:r>
              <a:rPr lang="ko-KR" altLang="en-US" dirty="0"/>
              <a:t> 만들어 배포하는 시나라오로 사용자 가이드를 작성해 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9220F6-1F1E-E18B-54E0-E93379227620}"/>
              </a:ext>
            </a:extLst>
          </p:cNvPr>
          <p:cNvSpPr txBox="1"/>
          <p:nvPr/>
        </p:nvSpPr>
        <p:spPr>
          <a:xfrm>
            <a:off x="334642" y="2059319"/>
            <a:ext cx="5562600" cy="1754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Q2. Azure </a:t>
            </a:r>
            <a:r>
              <a:rPr lang="ko-KR" altLang="en-US" dirty="0"/>
              <a:t>에 가입 후</a:t>
            </a:r>
            <a:r>
              <a:rPr lang="en-US" altLang="ko-KR" dirty="0"/>
              <a:t>, </a:t>
            </a:r>
            <a:r>
              <a:rPr lang="ko-KR" altLang="en-US" dirty="0"/>
              <a:t>역할</a:t>
            </a:r>
            <a:r>
              <a:rPr lang="en-US" altLang="ko-KR" dirty="0"/>
              <a:t>(</a:t>
            </a:r>
            <a:r>
              <a:rPr lang="ko-KR" altLang="en-US" dirty="0"/>
              <a:t>재무</a:t>
            </a:r>
            <a:r>
              <a:rPr lang="en-US" altLang="ko-KR" dirty="0"/>
              <a:t>, IT</a:t>
            </a:r>
            <a:r>
              <a:rPr lang="ko-KR" altLang="en-US" dirty="0"/>
              <a:t>관리자</a:t>
            </a:r>
            <a:r>
              <a:rPr lang="en-US" altLang="ko-KR" dirty="0"/>
              <a:t>, IT</a:t>
            </a:r>
            <a:r>
              <a:rPr lang="ko-KR" altLang="en-US" dirty="0"/>
              <a:t>엔지니어</a:t>
            </a:r>
            <a:r>
              <a:rPr lang="en-US" altLang="ko-KR" dirty="0"/>
              <a:t>) </a:t>
            </a:r>
            <a:r>
              <a:rPr lang="ko-KR" altLang="en-US" dirty="0"/>
              <a:t>기반 리소스</a:t>
            </a:r>
            <a:r>
              <a:rPr lang="en-US" altLang="ko-KR" dirty="0"/>
              <a:t>((Entra ID, Storage </a:t>
            </a:r>
            <a:r>
              <a:rPr lang="ko-KR" altLang="en-US" dirty="0"/>
              <a:t>한정</a:t>
            </a:r>
            <a:r>
              <a:rPr lang="en-US" altLang="ko-KR" dirty="0"/>
              <a:t>) </a:t>
            </a:r>
            <a:r>
              <a:rPr lang="ko-KR" altLang="en-US" dirty="0"/>
              <a:t>를 활용하여 </a:t>
            </a:r>
            <a:r>
              <a:rPr lang="en-US" altLang="ko-KR" dirty="0"/>
              <a:t>FinOps </a:t>
            </a:r>
            <a:r>
              <a:rPr lang="ko-KR" altLang="en-US" dirty="0"/>
              <a:t>사례를 실습으로 경험하게 하고 싶은데</a:t>
            </a:r>
            <a:r>
              <a:rPr lang="en-US" altLang="ko-KR" dirty="0"/>
              <a:t>, </a:t>
            </a:r>
            <a:r>
              <a:rPr lang="ko-KR" altLang="en-US" dirty="0"/>
              <a:t>비용은 재무팀에서 모니터링</a:t>
            </a:r>
            <a:r>
              <a:rPr lang="en-US" altLang="ko-KR" dirty="0"/>
              <a:t>, </a:t>
            </a:r>
            <a:r>
              <a:rPr lang="ko-KR" altLang="en-US" dirty="0"/>
              <a:t>서비스 </a:t>
            </a:r>
            <a:r>
              <a:rPr lang="en-US" altLang="ko-KR" dirty="0"/>
              <a:t>IT </a:t>
            </a:r>
            <a:r>
              <a:rPr lang="ko-KR" altLang="en-US" dirty="0"/>
              <a:t>팀에서 모니터링</a:t>
            </a:r>
            <a:r>
              <a:rPr lang="en-US" altLang="ko-KR" dirty="0"/>
              <a:t>.., Entra ID, </a:t>
            </a:r>
            <a:r>
              <a:rPr lang="ko-KR" altLang="en-US" dirty="0"/>
              <a:t>관리그룹</a:t>
            </a:r>
            <a:r>
              <a:rPr lang="en-US" altLang="ko-KR" dirty="0"/>
              <a:t>, </a:t>
            </a:r>
            <a:r>
              <a:rPr lang="ko-KR" altLang="en-US" dirty="0"/>
              <a:t>조직</a:t>
            </a:r>
            <a:r>
              <a:rPr lang="en-US" altLang="ko-KR" dirty="0"/>
              <a:t>, </a:t>
            </a:r>
            <a:r>
              <a:rPr lang="ko-KR" altLang="en-US" dirty="0" err="1"/>
              <a:t>테넌트</a:t>
            </a:r>
            <a:r>
              <a:rPr lang="en-US" altLang="ko-KR" dirty="0"/>
              <a:t>, </a:t>
            </a:r>
            <a:r>
              <a:rPr lang="ko-KR" altLang="en-US" dirty="0"/>
              <a:t>리소스그룹 등등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02C0A1-074A-AA46-2305-D8ACEB14F99F}"/>
              </a:ext>
            </a:extLst>
          </p:cNvPr>
          <p:cNvSpPr txBox="1"/>
          <p:nvPr/>
        </p:nvSpPr>
        <p:spPr>
          <a:xfrm>
            <a:off x="6881083" y="798512"/>
            <a:ext cx="4885057" cy="286232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정리</a:t>
            </a:r>
            <a:r>
              <a:rPr lang="en-US" altLang="ko-KR" dirty="0"/>
              <a:t>/</a:t>
            </a:r>
            <a:r>
              <a:rPr lang="ko-KR" altLang="en-US" dirty="0"/>
              <a:t>보완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확장 아이디어에 아래 내용 추가하여 정리해 줘 </a:t>
            </a:r>
            <a:r>
              <a:rPr lang="en-US" altLang="ko-KR" dirty="0"/>
              <a:t>. IT </a:t>
            </a:r>
            <a:r>
              <a:rPr lang="ko-KR" altLang="en-US" dirty="0"/>
              <a:t>엔지니어는 리소스를 추가할 수 있으나 삭제 불가하게 </a:t>
            </a:r>
            <a:r>
              <a:rPr lang="en-US" altLang="ko-KR" dirty="0"/>
              <a:t>(</a:t>
            </a:r>
            <a:r>
              <a:rPr lang="ko-KR" altLang="en-US" dirty="0"/>
              <a:t>리소스 </a:t>
            </a:r>
            <a:r>
              <a:rPr lang="ko-KR" altLang="en-US" dirty="0" err="1"/>
              <a:t>락</a:t>
            </a:r>
            <a:r>
              <a:rPr lang="en-US" altLang="ko-KR" dirty="0"/>
              <a:t>), . VM </a:t>
            </a:r>
            <a:r>
              <a:rPr lang="ko-KR" altLang="en-US" dirty="0"/>
              <a:t>생성 시</a:t>
            </a:r>
            <a:r>
              <a:rPr lang="en-US" altLang="ko-KR" dirty="0"/>
              <a:t>, </a:t>
            </a:r>
            <a:r>
              <a:rPr lang="ko-KR" altLang="en-US" dirty="0"/>
              <a:t>한국 리전에만 만들 수 있는 정책</a:t>
            </a:r>
            <a:endParaRPr lang="en-US" altLang="ko-KR" dirty="0"/>
          </a:p>
          <a:p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종합 정리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행위 주체를 정확히 기술해 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DF8873-3928-6D9B-5496-6A85B8008BBB}"/>
              </a:ext>
            </a:extLst>
          </p:cNvPr>
          <p:cNvSpPr txBox="1"/>
          <p:nvPr/>
        </p:nvSpPr>
        <p:spPr>
          <a:xfrm>
            <a:off x="6553200" y="4446863"/>
            <a:ext cx="5257800" cy="14773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심층조사</a:t>
            </a:r>
            <a:r>
              <a:rPr lang="en-US" altLang="ko-KR" dirty="0"/>
              <a:t>. </a:t>
            </a:r>
            <a:r>
              <a:rPr lang="ko-KR" altLang="en-US" dirty="0"/>
              <a:t>클라우드 실습 시나리오를 작성하고 있는데</a:t>
            </a:r>
            <a:r>
              <a:rPr lang="en-US" altLang="ko-KR" dirty="0"/>
              <a:t>, </a:t>
            </a:r>
            <a:r>
              <a:rPr lang="ko-KR" altLang="en-US" dirty="0"/>
              <a:t>쉽게 개념을 전달하면서 실용적인 실습 시나리오를 만들고 싶어</a:t>
            </a:r>
            <a:r>
              <a:rPr lang="en-US" altLang="ko-KR" dirty="0"/>
              <a:t>. </a:t>
            </a:r>
            <a:r>
              <a:rPr lang="ko-KR" altLang="en-US" dirty="0"/>
              <a:t>첨부된 각각의 시나리오를 검토하고 사용자 안내서 수준으로 작성해 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3CAAC-BF5D-D109-3F11-CE105B55237E}"/>
              </a:ext>
            </a:extLst>
          </p:cNvPr>
          <p:cNvSpPr txBox="1"/>
          <p:nvPr/>
        </p:nvSpPr>
        <p:spPr>
          <a:xfrm>
            <a:off x="352424" y="4446863"/>
            <a:ext cx="5544818" cy="147732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실행</a:t>
            </a:r>
            <a:r>
              <a:rPr lang="en-US" altLang="ko-KR" dirty="0"/>
              <a:t>. (</a:t>
            </a:r>
            <a:r>
              <a:rPr lang="ko-KR" altLang="en-US" dirty="0"/>
              <a:t>자동화</a:t>
            </a:r>
            <a:r>
              <a:rPr lang="en-US" altLang="ko-KR" dirty="0"/>
              <a:t>?)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4A465FB-642C-774D-0388-B664194CD9A2}"/>
              </a:ext>
            </a:extLst>
          </p:cNvPr>
          <p:cNvSpPr/>
          <p:nvPr/>
        </p:nvSpPr>
        <p:spPr>
          <a:xfrm>
            <a:off x="6011541" y="761206"/>
            <a:ext cx="457202" cy="3052438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0244CAA4-3ECF-3081-60DD-218F350C43E5}"/>
              </a:ext>
            </a:extLst>
          </p:cNvPr>
          <p:cNvSpPr/>
          <p:nvPr/>
        </p:nvSpPr>
        <p:spPr>
          <a:xfrm rot="5400000">
            <a:off x="8931069" y="1523784"/>
            <a:ext cx="457202" cy="521294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C0B3EDA-BFBF-0A1E-7D9E-B4C9756A218B}"/>
              </a:ext>
            </a:extLst>
          </p:cNvPr>
          <p:cNvSpPr/>
          <p:nvPr/>
        </p:nvSpPr>
        <p:spPr>
          <a:xfrm rot="10800000">
            <a:off x="5943599" y="4446863"/>
            <a:ext cx="457202" cy="1513888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72FB-F721-DED5-BC13-8EDE4955D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4F144D-F1FE-6FD7-6D6F-4EDC57ADAF6B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E3E7D7D-334B-1FC4-BD7C-676A9A9D1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947" rIns="0" bIns="0" rtlCol="0">
            <a:spAutoFit/>
          </a:bodyPr>
          <a:lstStyle/>
          <a:p>
            <a:pPr marL="4255135">
              <a:lnSpc>
                <a:spcPct val="100000"/>
              </a:lnSpc>
              <a:spcBef>
                <a:spcPts val="125"/>
              </a:spcBef>
            </a:pPr>
            <a:r>
              <a:rPr spc="-484" dirty="0">
                <a:solidFill>
                  <a:srgbClr val="2562EB"/>
                </a:solidFill>
              </a:rPr>
              <a:t>전체</a:t>
            </a:r>
            <a:r>
              <a:rPr spc="-245" dirty="0">
                <a:solidFill>
                  <a:srgbClr val="2562EB"/>
                </a:solidFill>
              </a:rPr>
              <a:t> </a:t>
            </a:r>
            <a:r>
              <a:rPr spc="-484" dirty="0">
                <a:solidFill>
                  <a:srgbClr val="2562EB"/>
                </a:solidFill>
              </a:rPr>
              <a:t>개요</a:t>
            </a:r>
            <a:r>
              <a:rPr spc="-235" dirty="0">
                <a:solidFill>
                  <a:srgbClr val="2562EB"/>
                </a:solidFill>
              </a:rPr>
              <a:t> </a:t>
            </a:r>
            <a:r>
              <a:rPr spc="-484" dirty="0">
                <a:solidFill>
                  <a:srgbClr val="2562EB"/>
                </a:solidFill>
              </a:rPr>
              <a:t>및</a:t>
            </a:r>
            <a:r>
              <a:rPr spc="-229" dirty="0">
                <a:solidFill>
                  <a:srgbClr val="2562EB"/>
                </a:solidFill>
              </a:rPr>
              <a:t> </a:t>
            </a:r>
            <a:r>
              <a:rPr spc="-484" dirty="0">
                <a:solidFill>
                  <a:srgbClr val="2562EB"/>
                </a:solidFill>
              </a:rPr>
              <a:t>학습</a:t>
            </a:r>
            <a:r>
              <a:rPr spc="-235" dirty="0">
                <a:solidFill>
                  <a:srgbClr val="2562EB"/>
                </a:solidFill>
              </a:rPr>
              <a:t> </a:t>
            </a:r>
            <a:r>
              <a:rPr spc="-509" dirty="0">
                <a:solidFill>
                  <a:srgbClr val="2562EB"/>
                </a:solidFill>
              </a:rPr>
              <a:t>로드맵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8F4DB7-A631-FFCA-9A2A-328A413C2D06}"/>
              </a:ext>
            </a:extLst>
          </p:cNvPr>
          <p:cNvSpPr/>
          <p:nvPr/>
        </p:nvSpPr>
        <p:spPr>
          <a:xfrm>
            <a:off x="533399" y="1904999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0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38099" y="0"/>
                </a:lnTo>
                <a:lnTo>
                  <a:pt x="38099" y="6857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5F74CA3-1BB2-9B88-7F99-93F829E82FAA}"/>
              </a:ext>
            </a:extLst>
          </p:cNvPr>
          <p:cNvSpPr/>
          <p:nvPr/>
        </p:nvSpPr>
        <p:spPr>
          <a:xfrm>
            <a:off x="533399" y="2781299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0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38099" y="0"/>
                </a:lnTo>
                <a:lnTo>
                  <a:pt x="38099" y="6857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A9DDB33-7D05-DBFC-CBE6-3A49DCD3BAE2}"/>
              </a:ext>
            </a:extLst>
          </p:cNvPr>
          <p:cNvSpPr/>
          <p:nvPr/>
        </p:nvSpPr>
        <p:spPr>
          <a:xfrm>
            <a:off x="533399" y="3657599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0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38099" y="0"/>
                </a:lnTo>
                <a:lnTo>
                  <a:pt x="38099" y="6857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7729695-AA2A-78EF-4738-9609AB17F50C}"/>
              </a:ext>
            </a:extLst>
          </p:cNvPr>
          <p:cNvSpPr/>
          <p:nvPr/>
        </p:nvSpPr>
        <p:spPr>
          <a:xfrm>
            <a:off x="533399" y="4533899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099" y="685799"/>
                </a:moveTo>
                <a:lnTo>
                  <a:pt x="0" y="685799"/>
                </a:lnTo>
                <a:lnTo>
                  <a:pt x="0" y="0"/>
                </a:lnTo>
                <a:lnTo>
                  <a:pt x="38099" y="0"/>
                </a:lnTo>
                <a:lnTo>
                  <a:pt x="38099" y="685799"/>
                </a:lnTo>
                <a:close/>
              </a:path>
            </a:pathLst>
          </a:custGeom>
          <a:solidFill>
            <a:srgbClr val="0078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B494278-8C26-763E-5668-F116A0E74006}"/>
              </a:ext>
            </a:extLst>
          </p:cNvPr>
          <p:cNvSpPr txBox="1"/>
          <p:nvPr/>
        </p:nvSpPr>
        <p:spPr>
          <a:xfrm>
            <a:off x="520700" y="1344574"/>
            <a:ext cx="3416935" cy="340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클라우드</a:t>
            </a:r>
            <a:r>
              <a:rPr sz="2050" spc="-19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800" b="1" spc="-220" dirty="0">
                <a:solidFill>
                  <a:srgbClr val="1D40AF"/>
                </a:solidFill>
                <a:latin typeface="Segoe UI"/>
                <a:cs typeface="Segoe UI"/>
              </a:rPr>
              <a:t>3</a:t>
            </a:r>
            <a:r>
              <a:rPr sz="2050" spc="-220" dirty="0">
                <a:solidFill>
                  <a:srgbClr val="1D40AF"/>
                </a:solidFill>
                <a:latin typeface="Dotum"/>
                <a:cs typeface="Dotum"/>
              </a:rPr>
              <a:t>대</a:t>
            </a:r>
            <a:r>
              <a:rPr sz="2050" spc="-18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플랫폼</a:t>
            </a:r>
            <a:r>
              <a:rPr sz="2050" spc="-19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실습</a:t>
            </a:r>
            <a:r>
              <a:rPr sz="2050" spc="-18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교육</a:t>
            </a:r>
            <a:r>
              <a:rPr sz="2050" spc="-18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34" dirty="0">
                <a:solidFill>
                  <a:srgbClr val="1D40AF"/>
                </a:solidFill>
                <a:latin typeface="Dotum"/>
                <a:cs typeface="Dotum"/>
              </a:rPr>
              <a:t>구성</a:t>
            </a:r>
            <a:endParaRPr sz="2050" dirty="0">
              <a:latin typeface="Dotum"/>
              <a:cs typeface="Dotum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1416B50C-5421-BEA9-A0C0-F7AB9E9028C9}"/>
              </a:ext>
            </a:extLst>
          </p:cNvPr>
          <p:cNvGrpSpPr/>
          <p:nvPr/>
        </p:nvGrpSpPr>
        <p:grpSpPr>
          <a:xfrm>
            <a:off x="714374" y="1904999"/>
            <a:ext cx="381000" cy="381000"/>
            <a:chOff x="714374" y="1904999"/>
            <a:chExt cx="381000" cy="381000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1FE0EF3-B439-8DB0-F26C-24F70F2E278C}"/>
                </a:ext>
              </a:extLst>
            </p:cNvPr>
            <p:cNvSpPr/>
            <p:nvPr/>
          </p:nvSpPr>
          <p:spPr>
            <a:xfrm>
              <a:off x="714374" y="19049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FCDF353C-F913-C9E5-9E7B-682E001A75B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574" y="2000249"/>
              <a:ext cx="238124" cy="190760"/>
            </a:xfrm>
            <a:prstGeom prst="rect">
              <a:avLst/>
            </a:prstGeom>
          </p:spPr>
        </p:pic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4BC2020D-C29F-DAFC-57D6-74CA9BDD3715}"/>
              </a:ext>
            </a:extLst>
          </p:cNvPr>
          <p:cNvSpPr txBox="1"/>
          <p:nvPr/>
        </p:nvSpPr>
        <p:spPr>
          <a:xfrm>
            <a:off x="1235074" y="1940686"/>
            <a:ext cx="2181225" cy="2876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Chapter</a:t>
            </a:r>
            <a:r>
              <a:rPr sz="1500" b="1" spc="-4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1:</a:t>
            </a:r>
            <a:r>
              <a:rPr sz="1500" b="1" spc="-2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IAM</a:t>
            </a:r>
            <a:r>
              <a:rPr sz="1500" b="1" spc="-1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700" spc="-325" dirty="0">
                <a:solidFill>
                  <a:srgbClr val="333333"/>
                </a:solidFill>
                <a:latin typeface="Dotum"/>
                <a:cs typeface="Dotum"/>
              </a:rPr>
              <a:t>통합</a:t>
            </a:r>
            <a:r>
              <a:rPr sz="1700" spc="-15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33333"/>
                </a:solidFill>
                <a:latin typeface="Dotum"/>
                <a:cs typeface="Dotum"/>
              </a:rPr>
              <a:t>이해</a:t>
            </a:r>
            <a:endParaRPr sz="1700" dirty="0">
              <a:latin typeface="Dotum"/>
              <a:cs typeface="Dotum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7F2073B-F2ED-AD46-103E-190315EC6556}"/>
              </a:ext>
            </a:extLst>
          </p:cNvPr>
          <p:cNvSpPr txBox="1"/>
          <p:nvPr/>
        </p:nvSpPr>
        <p:spPr>
          <a:xfrm>
            <a:off x="1235074" y="2348738"/>
            <a:ext cx="31934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4A5462"/>
                </a:solidFill>
                <a:latin typeface="Dotum"/>
                <a:cs typeface="Dotum"/>
              </a:rPr>
              <a:t>계정</a:t>
            </a:r>
            <a:r>
              <a:rPr sz="1350" spc="-114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350" spc="-180" dirty="0">
                <a:solidFill>
                  <a:srgbClr val="4A5462"/>
                </a:solidFill>
                <a:latin typeface="Dotum"/>
                <a:cs typeface="Dotum"/>
              </a:rPr>
              <a:t>구조</a:t>
            </a:r>
            <a:r>
              <a:rPr sz="1200" spc="-18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190" dirty="0">
                <a:solidFill>
                  <a:srgbClr val="4A5462"/>
                </a:solidFill>
                <a:latin typeface="Dotum"/>
                <a:cs typeface="Dotum"/>
              </a:rPr>
              <a:t>사용자</a:t>
            </a:r>
            <a:r>
              <a:rPr sz="1200" spc="-190" dirty="0">
                <a:solidFill>
                  <a:srgbClr val="4A5462"/>
                </a:solidFill>
                <a:latin typeface="Segoe UI"/>
                <a:cs typeface="Segoe UI"/>
              </a:rPr>
              <a:t>/</a:t>
            </a:r>
            <a:r>
              <a:rPr sz="1350" spc="-190" dirty="0">
                <a:solidFill>
                  <a:srgbClr val="4A5462"/>
                </a:solidFill>
                <a:latin typeface="Dotum"/>
                <a:cs typeface="Dotum"/>
              </a:rPr>
              <a:t>그룹</a:t>
            </a:r>
            <a:r>
              <a:rPr sz="1200" spc="-19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180" dirty="0">
                <a:solidFill>
                  <a:srgbClr val="4A5462"/>
                </a:solidFill>
                <a:latin typeface="Dotum"/>
                <a:cs typeface="Dotum"/>
              </a:rPr>
              <a:t>정책</a:t>
            </a:r>
            <a:r>
              <a:rPr sz="1200" spc="-18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200" spc="-10" dirty="0">
                <a:solidFill>
                  <a:srgbClr val="4A5462"/>
                </a:solidFill>
                <a:latin typeface="Segoe UI"/>
                <a:cs typeface="Segoe UI"/>
              </a:rPr>
              <a:t>MFA,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260" dirty="0">
                <a:solidFill>
                  <a:srgbClr val="4A5462"/>
                </a:solidFill>
                <a:latin typeface="Dotum"/>
                <a:cs typeface="Dotum"/>
              </a:rPr>
              <a:t>최소</a:t>
            </a:r>
            <a:r>
              <a:rPr sz="1350" spc="-114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4A5462"/>
                </a:solidFill>
                <a:latin typeface="Dotum"/>
                <a:cs typeface="Dotum"/>
              </a:rPr>
              <a:t>권한</a:t>
            </a:r>
            <a:r>
              <a:rPr sz="1350" spc="-114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4A5462"/>
                </a:solidFill>
                <a:latin typeface="Dotum"/>
                <a:cs typeface="Dotum"/>
              </a:rPr>
              <a:t>원칙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14" name="object 14">
            <a:extLst>
              <a:ext uri="{FF2B5EF4-FFF2-40B4-BE49-F238E27FC236}">
                <a16:creationId xmlns:a16="http://schemas.microsoft.com/office/drawing/2014/main" id="{7296393F-70D5-5809-28E6-8BF87D9B49A8}"/>
              </a:ext>
            </a:extLst>
          </p:cNvPr>
          <p:cNvGrpSpPr/>
          <p:nvPr/>
        </p:nvGrpSpPr>
        <p:grpSpPr>
          <a:xfrm>
            <a:off x="714374" y="2781299"/>
            <a:ext cx="381000" cy="381000"/>
            <a:chOff x="714374" y="2781299"/>
            <a:chExt cx="381000" cy="381000"/>
          </a:xfrm>
        </p:grpSpPr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61CCB241-3F75-1FF1-0E23-B8BB1655EF7A}"/>
                </a:ext>
              </a:extLst>
            </p:cNvPr>
            <p:cNvSpPr/>
            <p:nvPr/>
          </p:nvSpPr>
          <p:spPr>
            <a:xfrm>
              <a:off x="714374" y="27812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E209CE35-6ED9-8241-C822-C8074CDA35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4" y="2888456"/>
              <a:ext cx="190499" cy="166687"/>
            </a:xfrm>
            <a:prstGeom prst="rect">
              <a:avLst/>
            </a:prstGeom>
          </p:spPr>
        </p:pic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1C65B13C-1243-00BE-1599-290B317FE946}"/>
              </a:ext>
            </a:extLst>
          </p:cNvPr>
          <p:cNvSpPr txBox="1"/>
          <p:nvPr/>
        </p:nvSpPr>
        <p:spPr>
          <a:xfrm>
            <a:off x="1235074" y="2816986"/>
            <a:ext cx="3228975" cy="61491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Chapter</a:t>
            </a:r>
            <a:r>
              <a:rPr sz="15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2:</a:t>
            </a:r>
            <a:r>
              <a:rPr sz="15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ko-KR" altLang="en-US" sz="1700" spc="-325" dirty="0">
                <a:solidFill>
                  <a:srgbClr val="333333"/>
                </a:solidFill>
                <a:latin typeface="Dotum"/>
                <a:cs typeface="Dotum"/>
              </a:rPr>
              <a:t>스토리지</a:t>
            </a:r>
            <a:r>
              <a:rPr lang="ko-KR" altLang="en-US" sz="1700" spc="-15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lang="ko-KR" altLang="en-US" sz="1700" spc="-350" dirty="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70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lang="ko-KR" altLang="en-US" sz="1200" spc="-180" dirty="0">
                <a:solidFill>
                  <a:srgbClr val="4A5462"/>
                </a:solidFill>
                <a:latin typeface="Dotum"/>
                <a:cs typeface="Dotum"/>
              </a:rPr>
              <a:t>버킷</a:t>
            </a:r>
            <a:r>
              <a:rPr lang="en-US" altLang="ko-KR" sz="1100" spc="-180" dirty="0">
                <a:solidFill>
                  <a:srgbClr val="4A5462"/>
                </a:solidFill>
                <a:latin typeface="Segoe UI"/>
                <a:cs typeface="Segoe UI"/>
              </a:rPr>
              <a:t>/</a:t>
            </a:r>
            <a:r>
              <a:rPr lang="ko-KR" altLang="en-US" sz="1200" spc="-180" dirty="0">
                <a:solidFill>
                  <a:srgbClr val="4A5462"/>
                </a:solidFill>
                <a:latin typeface="Dotum"/>
                <a:cs typeface="Dotum"/>
              </a:rPr>
              <a:t>계정</a:t>
            </a:r>
            <a:r>
              <a:rPr lang="en-US" altLang="ko-KR" sz="1100" spc="-18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100" spc="3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200" spc="-229" dirty="0">
                <a:solidFill>
                  <a:srgbClr val="4A5462"/>
                </a:solidFill>
                <a:latin typeface="Dotum"/>
                <a:cs typeface="Dotum"/>
              </a:rPr>
              <a:t>라이프사이클</a:t>
            </a:r>
            <a:r>
              <a:rPr lang="en-US" altLang="ko-KR" sz="1100" spc="-229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100" spc="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200" spc="-260" dirty="0">
                <a:solidFill>
                  <a:srgbClr val="4A5462"/>
                </a:solidFill>
                <a:latin typeface="Dotum"/>
                <a:cs typeface="Dotum"/>
              </a:rPr>
              <a:t>비용</a:t>
            </a:r>
            <a:r>
              <a:rPr lang="ko-KR" altLang="en-US" sz="1200" spc="-8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lang="ko-KR" altLang="en-US" sz="1200" spc="-200" dirty="0">
                <a:solidFill>
                  <a:srgbClr val="4A5462"/>
                </a:solidFill>
                <a:latin typeface="Dotum"/>
                <a:cs typeface="Dotum"/>
              </a:rPr>
              <a:t>최적화</a:t>
            </a:r>
            <a:r>
              <a:rPr lang="en-US" altLang="ko-KR" sz="1100" spc="-20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100" spc="4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200" spc="-280" dirty="0">
                <a:solidFill>
                  <a:srgbClr val="4A5462"/>
                </a:solidFill>
                <a:latin typeface="Dotum"/>
                <a:cs typeface="Dotum"/>
              </a:rPr>
              <a:t>접근제어</a:t>
            </a:r>
            <a:endParaRPr sz="1350" dirty="0">
              <a:latin typeface="Dotum"/>
              <a:cs typeface="Dotum"/>
            </a:endParaRPr>
          </a:p>
        </p:txBody>
      </p:sp>
      <p:grpSp>
        <p:nvGrpSpPr>
          <p:cNvPr id="18" name="object 18">
            <a:extLst>
              <a:ext uri="{FF2B5EF4-FFF2-40B4-BE49-F238E27FC236}">
                <a16:creationId xmlns:a16="http://schemas.microsoft.com/office/drawing/2014/main" id="{2334B2B3-51C5-0152-90D6-3BBF927D346C}"/>
              </a:ext>
            </a:extLst>
          </p:cNvPr>
          <p:cNvGrpSpPr/>
          <p:nvPr/>
        </p:nvGrpSpPr>
        <p:grpSpPr>
          <a:xfrm>
            <a:off x="714374" y="3657599"/>
            <a:ext cx="381000" cy="381000"/>
            <a:chOff x="714374" y="3657599"/>
            <a:chExt cx="381000" cy="381000"/>
          </a:xfrm>
        </p:grpSpPr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40E54F6-102B-8CF6-2AE9-602A0DC733CF}"/>
                </a:ext>
              </a:extLst>
            </p:cNvPr>
            <p:cNvSpPr/>
            <p:nvPr/>
          </p:nvSpPr>
          <p:spPr>
            <a:xfrm>
              <a:off x="714374" y="3657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4591D98B-E91F-7887-D6F2-2ACE0567C1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149" y="3752849"/>
              <a:ext cx="166687" cy="190499"/>
            </a:xfrm>
            <a:prstGeom prst="rect">
              <a:avLst/>
            </a:prstGeom>
          </p:spPr>
        </p:pic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F8D9530-98E2-2593-5BDD-CEFCE491D43B}"/>
              </a:ext>
            </a:extLst>
          </p:cNvPr>
          <p:cNvSpPr txBox="1"/>
          <p:nvPr/>
        </p:nvSpPr>
        <p:spPr>
          <a:xfrm>
            <a:off x="1235074" y="3693286"/>
            <a:ext cx="3228974" cy="9996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Chapter</a:t>
            </a:r>
            <a:r>
              <a:rPr sz="15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3:</a:t>
            </a:r>
            <a:r>
              <a:rPr sz="15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ko-KR" altLang="en-US" sz="1700" spc="-325" dirty="0">
                <a:solidFill>
                  <a:srgbClr val="333333"/>
                </a:solidFill>
                <a:latin typeface="Dotum"/>
                <a:cs typeface="Dotum"/>
              </a:rPr>
              <a:t>가상머신</a:t>
            </a:r>
            <a:r>
              <a:rPr lang="ko-KR" altLang="en-US" sz="1700" spc="-15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lang="ko-KR" altLang="en-US" sz="1700" spc="-350" dirty="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700" dirty="0">
              <a:latin typeface="Dotum"/>
              <a:cs typeface="Dotum"/>
            </a:endParaRPr>
          </a:p>
          <a:p>
            <a:pPr marL="12700">
              <a:spcBef>
                <a:spcPts val="1160"/>
              </a:spcBef>
            </a:pPr>
            <a:r>
              <a:rPr lang="en-US" altLang="ko-KR" sz="1200" dirty="0">
                <a:solidFill>
                  <a:srgbClr val="4A5462"/>
                </a:solidFill>
                <a:latin typeface="Segoe UI"/>
                <a:cs typeface="Segoe UI"/>
              </a:rPr>
              <a:t>VM</a:t>
            </a:r>
            <a:r>
              <a:rPr lang="ko-KR" altLang="en-US" sz="1200" spc="2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350" spc="-180" dirty="0">
                <a:solidFill>
                  <a:srgbClr val="4A5462"/>
                </a:solidFill>
                <a:latin typeface="Dotum"/>
                <a:cs typeface="Dotum"/>
              </a:rPr>
              <a:t>생성</a:t>
            </a:r>
            <a:r>
              <a:rPr lang="en-US" altLang="ko-KR" sz="1200" spc="-18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200" spc="2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350" spc="-220" dirty="0" err="1">
                <a:solidFill>
                  <a:srgbClr val="4A5462"/>
                </a:solidFill>
                <a:latin typeface="Dotum"/>
                <a:cs typeface="Dotum"/>
              </a:rPr>
              <a:t>로드밸런싱</a:t>
            </a:r>
            <a:r>
              <a:rPr lang="en-US" altLang="ko-KR" sz="1200" spc="-22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200" spc="2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350" spc="-229" dirty="0" err="1">
                <a:solidFill>
                  <a:srgbClr val="4A5462"/>
                </a:solidFill>
                <a:latin typeface="Dotum"/>
                <a:cs typeface="Dotum"/>
              </a:rPr>
              <a:t>오토스케일링</a:t>
            </a:r>
            <a:r>
              <a:rPr lang="en-US" altLang="ko-KR" sz="1200" spc="-229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lang="ko-KR" altLang="en-US" sz="1200" spc="2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lang="ko-KR" altLang="en-US" sz="1350" spc="-260" dirty="0">
                <a:solidFill>
                  <a:srgbClr val="4A5462"/>
                </a:solidFill>
                <a:latin typeface="Dotum"/>
                <a:cs typeface="Dotum"/>
              </a:rPr>
              <a:t>고가용성</a:t>
            </a:r>
            <a:r>
              <a:rPr lang="ko-KR" altLang="en-US" sz="1350" spc="-10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lang="ko-KR" altLang="en-US" sz="1350" spc="-285" dirty="0">
                <a:solidFill>
                  <a:srgbClr val="4A5462"/>
                </a:solidFill>
                <a:latin typeface="Dotum"/>
                <a:cs typeface="Dotum"/>
              </a:rPr>
              <a:t>구성</a:t>
            </a:r>
            <a:endParaRPr lang="ko-KR" altLang="en-US" sz="135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endParaRPr sz="1350" dirty="0">
              <a:latin typeface="Dotum"/>
              <a:cs typeface="Dotum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BA1B056B-54A1-F64D-C7CB-458B880F0932}"/>
              </a:ext>
            </a:extLst>
          </p:cNvPr>
          <p:cNvGrpSpPr/>
          <p:nvPr/>
        </p:nvGrpSpPr>
        <p:grpSpPr>
          <a:xfrm>
            <a:off x="714374" y="4533899"/>
            <a:ext cx="381000" cy="381000"/>
            <a:chOff x="714374" y="4533899"/>
            <a:chExt cx="381000" cy="381000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F5435FE-5E97-AB70-379B-8B8F682D7FE6}"/>
                </a:ext>
              </a:extLst>
            </p:cNvPr>
            <p:cNvSpPr/>
            <p:nvPr/>
          </p:nvSpPr>
          <p:spPr>
            <a:xfrm>
              <a:off x="714374" y="4533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0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5"/>
                  </a:lnTo>
                  <a:lnTo>
                    <a:pt x="353904" y="92571"/>
                  </a:lnTo>
                  <a:lnTo>
                    <a:pt x="372799" y="135199"/>
                  </a:lnTo>
                  <a:lnTo>
                    <a:pt x="380771" y="181140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4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4F9D3A5D-E3DB-3146-7947-8B16B4B31E8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574" y="4629149"/>
              <a:ext cx="238124" cy="190499"/>
            </a:xfrm>
            <a:prstGeom prst="rect">
              <a:avLst/>
            </a:prstGeom>
          </p:spPr>
        </p:pic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8BBDEA81-E381-056B-AF28-8524AEBAA2C5}"/>
              </a:ext>
            </a:extLst>
          </p:cNvPr>
          <p:cNvSpPr txBox="1"/>
          <p:nvPr/>
        </p:nvSpPr>
        <p:spPr>
          <a:xfrm>
            <a:off x="1235074" y="4569586"/>
            <a:ext cx="3024505" cy="640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Chapter</a:t>
            </a:r>
            <a:r>
              <a:rPr sz="1500" b="1" spc="-50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500" b="1" dirty="0">
                <a:solidFill>
                  <a:srgbClr val="333333"/>
                </a:solidFill>
                <a:latin typeface="Segoe UI"/>
                <a:cs typeface="Segoe UI"/>
              </a:rPr>
              <a:t>4:</a:t>
            </a:r>
            <a:r>
              <a:rPr sz="1500" b="1" spc="-25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1700" spc="-325" dirty="0">
                <a:solidFill>
                  <a:srgbClr val="333333"/>
                </a:solidFill>
                <a:latin typeface="Dotum"/>
                <a:cs typeface="Dotum"/>
              </a:rPr>
              <a:t>네트워크</a:t>
            </a:r>
            <a:r>
              <a:rPr sz="1700" spc="-15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endParaRPr sz="170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200" dirty="0">
                <a:solidFill>
                  <a:srgbClr val="4A5462"/>
                </a:solidFill>
                <a:latin typeface="Segoe UI"/>
                <a:cs typeface="Segoe UI"/>
              </a:rPr>
              <a:t>VPC/VNet,</a:t>
            </a:r>
            <a:r>
              <a:rPr sz="1200" spc="5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200" dirty="0">
                <a:solidFill>
                  <a:srgbClr val="4A5462"/>
                </a:solidFill>
                <a:latin typeface="Dotum"/>
                <a:cs typeface="Dotum"/>
              </a:rPr>
              <a:t>서브넷</a:t>
            </a:r>
            <a:r>
              <a:rPr sz="1200" spc="-20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215" dirty="0">
                <a:solidFill>
                  <a:srgbClr val="4A5462"/>
                </a:solidFill>
                <a:latin typeface="Dotum"/>
                <a:cs typeface="Dotum"/>
              </a:rPr>
              <a:t>보안그룹</a:t>
            </a:r>
            <a:r>
              <a:rPr sz="1200" spc="-215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200" dirty="0">
                <a:solidFill>
                  <a:srgbClr val="4A5462"/>
                </a:solidFill>
                <a:latin typeface="Dotum"/>
                <a:cs typeface="Dotum"/>
              </a:rPr>
              <a:t>방화벽</a:t>
            </a:r>
            <a:r>
              <a:rPr sz="1200" spc="-200" dirty="0">
                <a:solidFill>
                  <a:srgbClr val="4A5462"/>
                </a:solidFill>
                <a:latin typeface="Segoe UI"/>
                <a:cs typeface="Segoe UI"/>
              </a:rPr>
              <a:t>,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200" dirty="0">
                <a:solidFill>
                  <a:srgbClr val="4A5462"/>
                </a:solidFill>
                <a:latin typeface="Segoe UI"/>
                <a:cs typeface="Segoe UI"/>
              </a:rPr>
              <a:t>DNS</a:t>
            </a:r>
            <a:r>
              <a:rPr sz="1200" spc="10" dirty="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sz="1350" spc="-285" dirty="0">
                <a:solidFill>
                  <a:srgbClr val="4A5462"/>
                </a:solidFill>
                <a:latin typeface="Dotum"/>
                <a:cs typeface="Dotum"/>
              </a:rPr>
              <a:t>구성</a:t>
            </a:r>
            <a:endParaRPr sz="1350" dirty="0">
              <a:latin typeface="Dotum"/>
              <a:cs typeface="Dotum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AEB9CEC-177B-1314-26B6-3A7C2250557E}"/>
              </a:ext>
            </a:extLst>
          </p:cNvPr>
          <p:cNvSpPr/>
          <p:nvPr/>
        </p:nvSpPr>
        <p:spPr>
          <a:xfrm>
            <a:off x="6095999" y="3447227"/>
            <a:ext cx="5410200" cy="2019300"/>
          </a:xfrm>
          <a:custGeom>
            <a:avLst/>
            <a:gdLst/>
            <a:ahLst/>
            <a:cxnLst/>
            <a:rect l="l" t="t" r="r" b="b"/>
            <a:pathLst>
              <a:path w="5410200" h="2019300">
                <a:moveTo>
                  <a:pt x="5339003" y="2019299"/>
                </a:moveTo>
                <a:lnTo>
                  <a:pt x="71196" y="2019299"/>
                </a:lnTo>
                <a:lnTo>
                  <a:pt x="66241" y="2018811"/>
                </a:lnTo>
                <a:lnTo>
                  <a:pt x="29705" y="2003676"/>
                </a:lnTo>
                <a:lnTo>
                  <a:pt x="3885" y="1967636"/>
                </a:lnTo>
                <a:lnTo>
                  <a:pt x="0" y="1948103"/>
                </a:lnTo>
                <a:lnTo>
                  <a:pt x="0" y="19430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5339003" y="0"/>
                </a:lnTo>
                <a:lnTo>
                  <a:pt x="5380493" y="15621"/>
                </a:lnTo>
                <a:lnTo>
                  <a:pt x="5406312" y="51661"/>
                </a:lnTo>
                <a:lnTo>
                  <a:pt x="5410198" y="71196"/>
                </a:lnTo>
                <a:lnTo>
                  <a:pt x="5410198" y="1948103"/>
                </a:lnTo>
                <a:lnTo>
                  <a:pt x="5394576" y="1989593"/>
                </a:lnTo>
                <a:lnTo>
                  <a:pt x="5358537" y="2015413"/>
                </a:lnTo>
                <a:lnTo>
                  <a:pt x="5343957" y="2018811"/>
                </a:lnTo>
                <a:lnTo>
                  <a:pt x="5339003" y="20192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4588CC22-1B0A-1D27-E905-8C8E3E44DD9E}"/>
              </a:ext>
            </a:extLst>
          </p:cNvPr>
          <p:cNvSpPr txBox="1"/>
          <p:nvPr/>
        </p:nvSpPr>
        <p:spPr>
          <a:xfrm>
            <a:off x="6235699" y="1344574"/>
            <a:ext cx="1624330" cy="340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순환</a:t>
            </a:r>
            <a:r>
              <a:rPr sz="2050" spc="-19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09" dirty="0">
                <a:solidFill>
                  <a:srgbClr val="1D40AF"/>
                </a:solidFill>
                <a:latin typeface="Dotum"/>
                <a:cs typeface="Dotum"/>
              </a:rPr>
              <a:t>학습</a:t>
            </a:r>
            <a:r>
              <a:rPr sz="2050" spc="-19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2050" spc="-434" dirty="0">
                <a:solidFill>
                  <a:srgbClr val="1D40AF"/>
                </a:solidFill>
                <a:latin typeface="Dotum"/>
                <a:cs typeface="Dotum"/>
              </a:rPr>
              <a:t>로드맵</a:t>
            </a:r>
            <a:endParaRPr sz="2050">
              <a:latin typeface="Dotum"/>
              <a:cs typeface="Dotum"/>
            </a:endParaRPr>
          </a:p>
        </p:txBody>
      </p:sp>
      <p:grpSp>
        <p:nvGrpSpPr>
          <p:cNvPr id="30" name="object 30">
            <a:extLst>
              <a:ext uri="{FF2B5EF4-FFF2-40B4-BE49-F238E27FC236}">
                <a16:creationId xmlns:a16="http://schemas.microsoft.com/office/drawing/2014/main" id="{DE381AF9-167B-7F3D-EE0C-5D3A1886B4C4}"/>
              </a:ext>
            </a:extLst>
          </p:cNvPr>
          <p:cNvGrpSpPr/>
          <p:nvPr/>
        </p:nvGrpSpPr>
        <p:grpSpPr>
          <a:xfrm>
            <a:off x="6343649" y="1904999"/>
            <a:ext cx="1162050" cy="1238250"/>
            <a:chOff x="6343649" y="1904999"/>
            <a:chExt cx="1162050" cy="1238250"/>
          </a:xfrm>
        </p:grpSpPr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06EBA48A-E719-E933-573E-13BDE9233281}"/>
                </a:ext>
              </a:extLst>
            </p:cNvPr>
            <p:cNvSpPr/>
            <p:nvPr/>
          </p:nvSpPr>
          <p:spPr>
            <a:xfrm>
              <a:off x="6343649" y="1904999"/>
              <a:ext cx="1162050" cy="1238250"/>
            </a:xfrm>
            <a:custGeom>
              <a:avLst/>
              <a:gdLst/>
              <a:ahLst/>
              <a:cxnLst/>
              <a:rect l="l" t="t" r="r" b="b"/>
              <a:pathLst>
                <a:path w="1162050" h="1238250">
                  <a:moveTo>
                    <a:pt x="581024" y="1238249"/>
                  </a:moveTo>
                  <a:lnTo>
                    <a:pt x="538286" y="1236572"/>
                  </a:lnTo>
                  <a:lnTo>
                    <a:pt x="495770" y="1231549"/>
                  </a:lnTo>
                  <a:lnTo>
                    <a:pt x="453716" y="1223205"/>
                  </a:lnTo>
                  <a:lnTo>
                    <a:pt x="412361" y="1211590"/>
                  </a:lnTo>
                  <a:lnTo>
                    <a:pt x="371920" y="1196765"/>
                  </a:lnTo>
                  <a:lnTo>
                    <a:pt x="332603" y="1178807"/>
                  </a:lnTo>
                  <a:lnTo>
                    <a:pt x="294634" y="1157815"/>
                  </a:lnTo>
                  <a:lnTo>
                    <a:pt x="258224" y="1133908"/>
                  </a:lnTo>
                  <a:lnTo>
                    <a:pt x="223563" y="1107212"/>
                  </a:lnTo>
                  <a:lnTo>
                    <a:pt x="190832" y="1077866"/>
                  </a:lnTo>
                  <a:lnTo>
                    <a:pt x="160216" y="1046033"/>
                  </a:lnTo>
                  <a:lnTo>
                    <a:pt x="131886" y="1011893"/>
                  </a:lnTo>
                  <a:lnTo>
                    <a:pt x="105989" y="975625"/>
                  </a:lnTo>
                  <a:lnTo>
                    <a:pt x="82662" y="937418"/>
                  </a:lnTo>
                  <a:lnTo>
                    <a:pt x="62036" y="897486"/>
                  </a:lnTo>
                  <a:lnTo>
                    <a:pt x="44226" y="856053"/>
                  </a:lnTo>
                  <a:lnTo>
                    <a:pt x="29325" y="813337"/>
                  </a:lnTo>
                  <a:lnTo>
                    <a:pt x="17411" y="769560"/>
                  </a:lnTo>
                  <a:lnTo>
                    <a:pt x="8552" y="724967"/>
                  </a:lnTo>
                  <a:lnTo>
                    <a:pt x="2797" y="679809"/>
                  </a:lnTo>
                  <a:lnTo>
                    <a:pt x="174" y="634323"/>
                  </a:lnTo>
                  <a:lnTo>
                    <a:pt x="0" y="619124"/>
                  </a:lnTo>
                  <a:lnTo>
                    <a:pt x="174" y="603926"/>
                  </a:lnTo>
                  <a:lnTo>
                    <a:pt x="2797" y="558440"/>
                  </a:lnTo>
                  <a:lnTo>
                    <a:pt x="8552" y="513282"/>
                  </a:lnTo>
                  <a:lnTo>
                    <a:pt x="17411" y="468689"/>
                  </a:lnTo>
                  <a:lnTo>
                    <a:pt x="29325" y="424912"/>
                  </a:lnTo>
                  <a:lnTo>
                    <a:pt x="44226" y="382195"/>
                  </a:lnTo>
                  <a:lnTo>
                    <a:pt x="62036" y="340763"/>
                  </a:lnTo>
                  <a:lnTo>
                    <a:pt x="82662" y="300830"/>
                  </a:lnTo>
                  <a:lnTo>
                    <a:pt x="105989" y="262623"/>
                  </a:lnTo>
                  <a:lnTo>
                    <a:pt x="131886" y="226356"/>
                  </a:lnTo>
                  <a:lnTo>
                    <a:pt x="160216" y="192216"/>
                  </a:lnTo>
                  <a:lnTo>
                    <a:pt x="190832" y="160383"/>
                  </a:lnTo>
                  <a:lnTo>
                    <a:pt x="223563" y="131037"/>
                  </a:lnTo>
                  <a:lnTo>
                    <a:pt x="258223" y="104341"/>
                  </a:lnTo>
                  <a:lnTo>
                    <a:pt x="294634" y="80434"/>
                  </a:lnTo>
                  <a:lnTo>
                    <a:pt x="332603" y="59442"/>
                  </a:lnTo>
                  <a:lnTo>
                    <a:pt x="371920" y="41483"/>
                  </a:lnTo>
                  <a:lnTo>
                    <a:pt x="412361" y="26659"/>
                  </a:lnTo>
                  <a:lnTo>
                    <a:pt x="453716" y="15044"/>
                  </a:lnTo>
                  <a:lnTo>
                    <a:pt x="495770" y="6700"/>
                  </a:lnTo>
                  <a:lnTo>
                    <a:pt x="538286" y="1677"/>
                  </a:lnTo>
                  <a:lnTo>
                    <a:pt x="581024" y="0"/>
                  </a:lnTo>
                  <a:lnTo>
                    <a:pt x="595288" y="186"/>
                  </a:lnTo>
                  <a:lnTo>
                    <a:pt x="637974" y="2981"/>
                  </a:lnTo>
                  <a:lnTo>
                    <a:pt x="680353" y="9113"/>
                  </a:lnTo>
                  <a:lnTo>
                    <a:pt x="722202" y="18553"/>
                  </a:lnTo>
                  <a:lnTo>
                    <a:pt x="763285" y="31249"/>
                  </a:lnTo>
                  <a:lnTo>
                    <a:pt x="803373" y="47127"/>
                  </a:lnTo>
                  <a:lnTo>
                    <a:pt x="842256" y="66105"/>
                  </a:lnTo>
                  <a:lnTo>
                    <a:pt x="879731" y="88083"/>
                  </a:lnTo>
                  <a:lnTo>
                    <a:pt x="915587" y="112940"/>
                  </a:lnTo>
                  <a:lnTo>
                    <a:pt x="949623" y="140534"/>
                  </a:lnTo>
                  <a:lnTo>
                    <a:pt x="981662" y="170722"/>
                  </a:lnTo>
                  <a:lnTo>
                    <a:pt x="1011536" y="203345"/>
                  </a:lnTo>
                  <a:lnTo>
                    <a:pt x="1039076" y="238223"/>
                  </a:lnTo>
                  <a:lnTo>
                    <a:pt x="1064129" y="275157"/>
                  </a:lnTo>
                  <a:lnTo>
                    <a:pt x="1086565" y="313955"/>
                  </a:lnTo>
                  <a:lnTo>
                    <a:pt x="1106265" y="354414"/>
                  </a:lnTo>
                  <a:lnTo>
                    <a:pt x="1123118" y="396309"/>
                  </a:lnTo>
                  <a:lnTo>
                    <a:pt x="1137031" y="439402"/>
                  </a:lnTo>
                  <a:lnTo>
                    <a:pt x="1147931" y="483469"/>
                  </a:lnTo>
                  <a:lnTo>
                    <a:pt x="1155761" y="528280"/>
                  </a:lnTo>
                  <a:lnTo>
                    <a:pt x="1160476" y="573583"/>
                  </a:lnTo>
                  <a:lnTo>
                    <a:pt x="1162049" y="619124"/>
                  </a:lnTo>
                  <a:lnTo>
                    <a:pt x="1161875" y="634323"/>
                  </a:lnTo>
                  <a:lnTo>
                    <a:pt x="1159252" y="679809"/>
                  </a:lnTo>
                  <a:lnTo>
                    <a:pt x="1153497" y="724967"/>
                  </a:lnTo>
                  <a:lnTo>
                    <a:pt x="1144637" y="769560"/>
                  </a:lnTo>
                  <a:lnTo>
                    <a:pt x="1132723" y="813337"/>
                  </a:lnTo>
                  <a:lnTo>
                    <a:pt x="1117821" y="856053"/>
                  </a:lnTo>
                  <a:lnTo>
                    <a:pt x="1100013" y="897486"/>
                  </a:lnTo>
                  <a:lnTo>
                    <a:pt x="1079387" y="937418"/>
                  </a:lnTo>
                  <a:lnTo>
                    <a:pt x="1056059" y="975625"/>
                  </a:lnTo>
                  <a:lnTo>
                    <a:pt x="1030163" y="1011893"/>
                  </a:lnTo>
                  <a:lnTo>
                    <a:pt x="1001833" y="1046033"/>
                  </a:lnTo>
                  <a:lnTo>
                    <a:pt x="971217" y="1077866"/>
                  </a:lnTo>
                  <a:lnTo>
                    <a:pt x="938486" y="1107212"/>
                  </a:lnTo>
                  <a:lnTo>
                    <a:pt x="903824" y="1133908"/>
                  </a:lnTo>
                  <a:lnTo>
                    <a:pt x="867414" y="1157815"/>
                  </a:lnTo>
                  <a:lnTo>
                    <a:pt x="829445" y="1178807"/>
                  </a:lnTo>
                  <a:lnTo>
                    <a:pt x="790128" y="1196765"/>
                  </a:lnTo>
                  <a:lnTo>
                    <a:pt x="749687" y="1211590"/>
                  </a:lnTo>
                  <a:lnTo>
                    <a:pt x="708332" y="1223205"/>
                  </a:lnTo>
                  <a:lnTo>
                    <a:pt x="666279" y="1231549"/>
                  </a:lnTo>
                  <a:lnTo>
                    <a:pt x="623763" y="1236572"/>
                  </a:lnTo>
                  <a:lnTo>
                    <a:pt x="581024" y="1238249"/>
                  </a:lnTo>
                  <a:close/>
                </a:path>
              </a:pathLst>
            </a:custGeom>
            <a:solidFill>
              <a:srgbClr val="1C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412CCBF2-FCBF-0080-2A6C-369885E3E271}"/>
                </a:ext>
              </a:extLst>
            </p:cNvPr>
            <p:cNvSpPr/>
            <p:nvPr/>
          </p:nvSpPr>
          <p:spPr>
            <a:xfrm>
              <a:off x="6800849" y="2038349"/>
              <a:ext cx="250190" cy="285750"/>
            </a:xfrm>
            <a:custGeom>
              <a:avLst/>
              <a:gdLst/>
              <a:ahLst/>
              <a:cxnLst/>
              <a:rect l="l" t="t" r="r" b="b"/>
              <a:pathLst>
                <a:path w="250190" h="285750">
                  <a:moveTo>
                    <a:pt x="242050" y="285750"/>
                  </a:moveTo>
                  <a:lnTo>
                    <a:pt x="53578" y="285750"/>
                  </a:lnTo>
                  <a:lnTo>
                    <a:pt x="32727" y="281538"/>
                  </a:lnTo>
                  <a:lnTo>
                    <a:pt x="15696" y="270053"/>
                  </a:lnTo>
                  <a:lnTo>
                    <a:pt x="4211" y="253022"/>
                  </a:lnTo>
                  <a:lnTo>
                    <a:pt x="0" y="232171"/>
                  </a:lnTo>
                  <a:lnTo>
                    <a:pt x="0" y="53578"/>
                  </a:lnTo>
                  <a:lnTo>
                    <a:pt x="4211" y="32727"/>
                  </a:lnTo>
                  <a:lnTo>
                    <a:pt x="15696" y="15696"/>
                  </a:lnTo>
                  <a:lnTo>
                    <a:pt x="32727" y="4211"/>
                  </a:lnTo>
                  <a:lnTo>
                    <a:pt x="53578" y="0"/>
                  </a:lnTo>
                  <a:lnTo>
                    <a:pt x="242050" y="0"/>
                  </a:lnTo>
                  <a:lnTo>
                    <a:pt x="250031" y="7980"/>
                  </a:lnTo>
                  <a:lnTo>
                    <a:pt x="250031" y="71437"/>
                  </a:lnTo>
                  <a:lnTo>
                    <a:pt x="75455" y="71437"/>
                  </a:lnTo>
                  <a:lnTo>
                    <a:pt x="71437" y="75455"/>
                  </a:lnTo>
                  <a:lnTo>
                    <a:pt x="71437" y="85278"/>
                  </a:lnTo>
                  <a:lnTo>
                    <a:pt x="75455" y="89296"/>
                  </a:lnTo>
                  <a:lnTo>
                    <a:pt x="250031" y="89296"/>
                  </a:lnTo>
                  <a:lnTo>
                    <a:pt x="250031" y="107156"/>
                  </a:lnTo>
                  <a:lnTo>
                    <a:pt x="75455" y="107156"/>
                  </a:lnTo>
                  <a:lnTo>
                    <a:pt x="71437" y="111174"/>
                  </a:lnTo>
                  <a:lnTo>
                    <a:pt x="71437" y="120997"/>
                  </a:lnTo>
                  <a:lnTo>
                    <a:pt x="75455" y="125015"/>
                  </a:lnTo>
                  <a:lnTo>
                    <a:pt x="250031" y="125015"/>
                  </a:lnTo>
                  <a:lnTo>
                    <a:pt x="250031" y="206331"/>
                  </a:lnTo>
                  <a:lnTo>
                    <a:pt x="242050" y="214312"/>
                  </a:lnTo>
                  <a:lnTo>
                    <a:pt x="43699" y="214312"/>
                  </a:lnTo>
                  <a:lnTo>
                    <a:pt x="35718" y="222293"/>
                  </a:lnTo>
                  <a:lnTo>
                    <a:pt x="35718" y="242050"/>
                  </a:lnTo>
                  <a:lnTo>
                    <a:pt x="43699" y="250031"/>
                  </a:lnTo>
                  <a:lnTo>
                    <a:pt x="242050" y="250031"/>
                  </a:lnTo>
                  <a:lnTo>
                    <a:pt x="250031" y="258012"/>
                  </a:lnTo>
                  <a:lnTo>
                    <a:pt x="250031" y="277769"/>
                  </a:lnTo>
                  <a:lnTo>
                    <a:pt x="242050" y="285750"/>
                  </a:lnTo>
                  <a:close/>
                </a:path>
                <a:path w="250190" h="285750">
                  <a:moveTo>
                    <a:pt x="250031" y="89296"/>
                  </a:moveTo>
                  <a:lnTo>
                    <a:pt x="192434" y="89296"/>
                  </a:lnTo>
                  <a:lnTo>
                    <a:pt x="196453" y="85278"/>
                  </a:lnTo>
                  <a:lnTo>
                    <a:pt x="196453" y="75455"/>
                  </a:lnTo>
                  <a:lnTo>
                    <a:pt x="192434" y="71437"/>
                  </a:lnTo>
                  <a:lnTo>
                    <a:pt x="250031" y="71437"/>
                  </a:lnTo>
                  <a:lnTo>
                    <a:pt x="250031" y="89296"/>
                  </a:lnTo>
                  <a:close/>
                </a:path>
                <a:path w="250190" h="285750">
                  <a:moveTo>
                    <a:pt x="250031" y="125015"/>
                  </a:moveTo>
                  <a:lnTo>
                    <a:pt x="192434" y="125015"/>
                  </a:lnTo>
                  <a:lnTo>
                    <a:pt x="196453" y="120997"/>
                  </a:lnTo>
                  <a:lnTo>
                    <a:pt x="196453" y="111174"/>
                  </a:lnTo>
                  <a:lnTo>
                    <a:pt x="192434" y="107156"/>
                  </a:lnTo>
                  <a:lnTo>
                    <a:pt x="250031" y="107156"/>
                  </a:lnTo>
                  <a:lnTo>
                    <a:pt x="250031" y="125015"/>
                  </a:lnTo>
                  <a:close/>
                </a:path>
                <a:path w="250190" h="285750">
                  <a:moveTo>
                    <a:pt x="232171" y="250031"/>
                  </a:moveTo>
                  <a:lnTo>
                    <a:pt x="196453" y="250031"/>
                  </a:lnTo>
                  <a:lnTo>
                    <a:pt x="196453" y="214312"/>
                  </a:lnTo>
                  <a:lnTo>
                    <a:pt x="232171" y="214312"/>
                  </a:lnTo>
                  <a:lnTo>
                    <a:pt x="232171" y="2500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>
            <a:extLst>
              <a:ext uri="{FF2B5EF4-FFF2-40B4-BE49-F238E27FC236}">
                <a16:creationId xmlns:a16="http://schemas.microsoft.com/office/drawing/2014/main" id="{F5770DF7-E9CE-483C-38C0-FE7DAC9C6B14}"/>
              </a:ext>
            </a:extLst>
          </p:cNvPr>
          <p:cNvSpPr txBox="1"/>
          <p:nvPr/>
        </p:nvSpPr>
        <p:spPr>
          <a:xfrm>
            <a:off x="6391671" y="2299648"/>
            <a:ext cx="1066165" cy="7207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550" spc="-335" dirty="0">
                <a:solidFill>
                  <a:srgbClr val="FFFFFF"/>
                </a:solidFill>
                <a:latin typeface="Dotum"/>
                <a:cs typeface="Dotum"/>
              </a:rPr>
              <a:t>이론</a:t>
            </a:r>
            <a:endParaRPr sz="1550">
              <a:latin typeface="Dotum"/>
              <a:cs typeface="Dotum"/>
            </a:endParaRPr>
          </a:p>
          <a:p>
            <a:pPr marL="12700" marR="5080" algn="ctr">
              <a:lnSpc>
                <a:spcPct val="100000"/>
              </a:lnSpc>
              <a:spcBef>
                <a:spcPts val="490"/>
              </a:spcBef>
            </a:pP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핵심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개념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및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아키텍처</a:t>
            </a:r>
            <a:r>
              <a:rPr sz="1000" spc="-25" dirty="0">
                <a:solidFill>
                  <a:srgbClr val="FFFFFF"/>
                </a:solidFill>
                <a:latin typeface="Dotum"/>
                <a:cs typeface="Dotum"/>
              </a:rPr>
              <a:t> 이해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34" name="object 34">
            <a:extLst>
              <a:ext uri="{FF2B5EF4-FFF2-40B4-BE49-F238E27FC236}">
                <a16:creationId xmlns:a16="http://schemas.microsoft.com/office/drawing/2014/main" id="{2FAF7D4E-9ED7-1A41-27C9-862CFF95BAC6}"/>
              </a:ext>
            </a:extLst>
          </p:cNvPr>
          <p:cNvGrpSpPr/>
          <p:nvPr/>
        </p:nvGrpSpPr>
        <p:grpSpPr>
          <a:xfrm>
            <a:off x="7696199" y="1904999"/>
            <a:ext cx="1162050" cy="1238250"/>
            <a:chOff x="7696199" y="1904999"/>
            <a:chExt cx="1162050" cy="1238250"/>
          </a:xfrm>
        </p:grpSpPr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EF495B8D-9531-735F-115B-B3FCE63F8AA8}"/>
                </a:ext>
              </a:extLst>
            </p:cNvPr>
            <p:cNvSpPr/>
            <p:nvPr/>
          </p:nvSpPr>
          <p:spPr>
            <a:xfrm>
              <a:off x="7696199" y="1904999"/>
              <a:ext cx="1162050" cy="1238250"/>
            </a:xfrm>
            <a:custGeom>
              <a:avLst/>
              <a:gdLst/>
              <a:ahLst/>
              <a:cxnLst/>
              <a:rect l="l" t="t" r="r" b="b"/>
              <a:pathLst>
                <a:path w="1162050" h="1238250">
                  <a:moveTo>
                    <a:pt x="581024" y="1238249"/>
                  </a:moveTo>
                  <a:lnTo>
                    <a:pt x="538286" y="1236572"/>
                  </a:lnTo>
                  <a:lnTo>
                    <a:pt x="495770" y="1231549"/>
                  </a:lnTo>
                  <a:lnTo>
                    <a:pt x="453717" y="1223205"/>
                  </a:lnTo>
                  <a:lnTo>
                    <a:pt x="412362" y="1211590"/>
                  </a:lnTo>
                  <a:lnTo>
                    <a:pt x="371919" y="1196765"/>
                  </a:lnTo>
                  <a:lnTo>
                    <a:pt x="332603" y="1178807"/>
                  </a:lnTo>
                  <a:lnTo>
                    <a:pt x="294634" y="1157815"/>
                  </a:lnTo>
                  <a:lnTo>
                    <a:pt x="258223" y="1133908"/>
                  </a:lnTo>
                  <a:lnTo>
                    <a:pt x="223563" y="1107212"/>
                  </a:lnTo>
                  <a:lnTo>
                    <a:pt x="190832" y="1077866"/>
                  </a:lnTo>
                  <a:lnTo>
                    <a:pt x="160216" y="1046033"/>
                  </a:lnTo>
                  <a:lnTo>
                    <a:pt x="131886" y="1011893"/>
                  </a:lnTo>
                  <a:lnTo>
                    <a:pt x="105989" y="975625"/>
                  </a:lnTo>
                  <a:lnTo>
                    <a:pt x="82662" y="937418"/>
                  </a:lnTo>
                  <a:lnTo>
                    <a:pt x="62036" y="897486"/>
                  </a:lnTo>
                  <a:lnTo>
                    <a:pt x="44226" y="856053"/>
                  </a:lnTo>
                  <a:lnTo>
                    <a:pt x="29326" y="813337"/>
                  </a:lnTo>
                  <a:lnTo>
                    <a:pt x="17411" y="769560"/>
                  </a:lnTo>
                  <a:lnTo>
                    <a:pt x="8552" y="724967"/>
                  </a:lnTo>
                  <a:lnTo>
                    <a:pt x="2798" y="679809"/>
                  </a:lnTo>
                  <a:lnTo>
                    <a:pt x="175" y="634323"/>
                  </a:lnTo>
                  <a:lnTo>
                    <a:pt x="0" y="619124"/>
                  </a:lnTo>
                  <a:lnTo>
                    <a:pt x="175" y="603926"/>
                  </a:lnTo>
                  <a:lnTo>
                    <a:pt x="2798" y="558440"/>
                  </a:lnTo>
                  <a:lnTo>
                    <a:pt x="8552" y="513282"/>
                  </a:lnTo>
                  <a:lnTo>
                    <a:pt x="17411" y="468689"/>
                  </a:lnTo>
                  <a:lnTo>
                    <a:pt x="29326" y="424912"/>
                  </a:lnTo>
                  <a:lnTo>
                    <a:pt x="44226" y="382195"/>
                  </a:lnTo>
                  <a:lnTo>
                    <a:pt x="62036" y="340763"/>
                  </a:lnTo>
                  <a:lnTo>
                    <a:pt x="82662" y="300830"/>
                  </a:lnTo>
                  <a:lnTo>
                    <a:pt x="105989" y="262623"/>
                  </a:lnTo>
                  <a:lnTo>
                    <a:pt x="131886" y="226356"/>
                  </a:lnTo>
                  <a:lnTo>
                    <a:pt x="160216" y="192216"/>
                  </a:lnTo>
                  <a:lnTo>
                    <a:pt x="190832" y="160383"/>
                  </a:lnTo>
                  <a:lnTo>
                    <a:pt x="223563" y="131037"/>
                  </a:lnTo>
                  <a:lnTo>
                    <a:pt x="258223" y="104341"/>
                  </a:lnTo>
                  <a:lnTo>
                    <a:pt x="294634" y="80434"/>
                  </a:lnTo>
                  <a:lnTo>
                    <a:pt x="332603" y="59442"/>
                  </a:lnTo>
                  <a:lnTo>
                    <a:pt x="371919" y="41483"/>
                  </a:lnTo>
                  <a:lnTo>
                    <a:pt x="412361" y="26659"/>
                  </a:lnTo>
                  <a:lnTo>
                    <a:pt x="453716" y="15044"/>
                  </a:lnTo>
                  <a:lnTo>
                    <a:pt x="495770" y="6700"/>
                  </a:lnTo>
                  <a:lnTo>
                    <a:pt x="538286" y="1677"/>
                  </a:lnTo>
                  <a:lnTo>
                    <a:pt x="581024" y="0"/>
                  </a:lnTo>
                  <a:lnTo>
                    <a:pt x="595288" y="186"/>
                  </a:lnTo>
                  <a:lnTo>
                    <a:pt x="637976" y="2981"/>
                  </a:lnTo>
                  <a:lnTo>
                    <a:pt x="680354" y="9113"/>
                  </a:lnTo>
                  <a:lnTo>
                    <a:pt x="722202" y="18553"/>
                  </a:lnTo>
                  <a:lnTo>
                    <a:pt x="763286" y="31249"/>
                  </a:lnTo>
                  <a:lnTo>
                    <a:pt x="803373" y="47127"/>
                  </a:lnTo>
                  <a:lnTo>
                    <a:pt x="842256" y="66105"/>
                  </a:lnTo>
                  <a:lnTo>
                    <a:pt x="879731" y="88083"/>
                  </a:lnTo>
                  <a:lnTo>
                    <a:pt x="915587" y="112940"/>
                  </a:lnTo>
                  <a:lnTo>
                    <a:pt x="949623" y="140534"/>
                  </a:lnTo>
                  <a:lnTo>
                    <a:pt x="981662" y="170722"/>
                  </a:lnTo>
                  <a:lnTo>
                    <a:pt x="1011536" y="203345"/>
                  </a:lnTo>
                  <a:lnTo>
                    <a:pt x="1039077" y="238223"/>
                  </a:lnTo>
                  <a:lnTo>
                    <a:pt x="1064129" y="275157"/>
                  </a:lnTo>
                  <a:lnTo>
                    <a:pt x="1086565" y="313955"/>
                  </a:lnTo>
                  <a:lnTo>
                    <a:pt x="1106265" y="354414"/>
                  </a:lnTo>
                  <a:lnTo>
                    <a:pt x="1123118" y="396309"/>
                  </a:lnTo>
                  <a:lnTo>
                    <a:pt x="1137031" y="439402"/>
                  </a:lnTo>
                  <a:lnTo>
                    <a:pt x="1147931" y="483469"/>
                  </a:lnTo>
                  <a:lnTo>
                    <a:pt x="1155761" y="528280"/>
                  </a:lnTo>
                  <a:lnTo>
                    <a:pt x="1160476" y="573583"/>
                  </a:lnTo>
                  <a:lnTo>
                    <a:pt x="1162049" y="619124"/>
                  </a:lnTo>
                  <a:lnTo>
                    <a:pt x="1161875" y="634323"/>
                  </a:lnTo>
                  <a:lnTo>
                    <a:pt x="1159252" y="679809"/>
                  </a:lnTo>
                  <a:lnTo>
                    <a:pt x="1153496" y="724967"/>
                  </a:lnTo>
                  <a:lnTo>
                    <a:pt x="1144637" y="769560"/>
                  </a:lnTo>
                  <a:lnTo>
                    <a:pt x="1132723" y="813337"/>
                  </a:lnTo>
                  <a:lnTo>
                    <a:pt x="1117821" y="856053"/>
                  </a:lnTo>
                  <a:lnTo>
                    <a:pt x="1100012" y="897486"/>
                  </a:lnTo>
                  <a:lnTo>
                    <a:pt x="1079387" y="937418"/>
                  </a:lnTo>
                  <a:lnTo>
                    <a:pt x="1056059" y="975625"/>
                  </a:lnTo>
                  <a:lnTo>
                    <a:pt x="1030163" y="1011893"/>
                  </a:lnTo>
                  <a:lnTo>
                    <a:pt x="1001833" y="1046033"/>
                  </a:lnTo>
                  <a:lnTo>
                    <a:pt x="971217" y="1077866"/>
                  </a:lnTo>
                  <a:lnTo>
                    <a:pt x="938486" y="1107212"/>
                  </a:lnTo>
                  <a:lnTo>
                    <a:pt x="903824" y="1133908"/>
                  </a:lnTo>
                  <a:lnTo>
                    <a:pt x="867414" y="1157815"/>
                  </a:lnTo>
                  <a:lnTo>
                    <a:pt x="829444" y="1178807"/>
                  </a:lnTo>
                  <a:lnTo>
                    <a:pt x="790128" y="1196765"/>
                  </a:lnTo>
                  <a:lnTo>
                    <a:pt x="749687" y="1211590"/>
                  </a:lnTo>
                  <a:lnTo>
                    <a:pt x="708331" y="1223205"/>
                  </a:lnTo>
                  <a:lnTo>
                    <a:pt x="666279" y="1231549"/>
                  </a:lnTo>
                  <a:lnTo>
                    <a:pt x="623763" y="1236572"/>
                  </a:lnTo>
                  <a:lnTo>
                    <a:pt x="581024" y="123824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274CE97-EF87-CFDF-0891-7C8539D5C5AB}"/>
                </a:ext>
              </a:extLst>
            </p:cNvPr>
            <p:cNvSpPr/>
            <p:nvPr/>
          </p:nvSpPr>
          <p:spPr>
            <a:xfrm>
              <a:off x="8134293" y="2113098"/>
              <a:ext cx="286385" cy="288925"/>
            </a:xfrm>
            <a:custGeom>
              <a:avLst/>
              <a:gdLst/>
              <a:ahLst/>
              <a:cxnLst/>
              <a:rect l="l" t="t" r="r" b="b"/>
              <a:pathLst>
                <a:path w="286384" h="288925">
                  <a:moveTo>
                    <a:pt x="214256" y="145665"/>
                  </a:moveTo>
                  <a:lnTo>
                    <a:pt x="200862" y="140084"/>
                  </a:lnTo>
                  <a:lnTo>
                    <a:pt x="196508" y="133610"/>
                  </a:lnTo>
                  <a:lnTo>
                    <a:pt x="196508" y="90747"/>
                  </a:lnTo>
                  <a:lnTo>
                    <a:pt x="8036" y="90747"/>
                  </a:lnTo>
                  <a:lnTo>
                    <a:pt x="55" y="82767"/>
                  </a:lnTo>
                  <a:lnTo>
                    <a:pt x="55" y="63010"/>
                  </a:lnTo>
                  <a:lnTo>
                    <a:pt x="8036" y="55029"/>
                  </a:lnTo>
                  <a:lnTo>
                    <a:pt x="196508" y="55029"/>
                  </a:lnTo>
                  <a:lnTo>
                    <a:pt x="196508" y="12110"/>
                  </a:lnTo>
                  <a:lnTo>
                    <a:pt x="200862" y="5581"/>
                  </a:lnTo>
                  <a:lnTo>
                    <a:pt x="214256" y="0"/>
                  </a:lnTo>
                  <a:lnTo>
                    <a:pt x="221902" y="1562"/>
                  </a:lnTo>
                  <a:lnTo>
                    <a:pt x="227037" y="6641"/>
                  </a:lnTo>
                  <a:lnTo>
                    <a:pt x="283964" y="63568"/>
                  </a:lnTo>
                  <a:lnTo>
                    <a:pt x="285861" y="68088"/>
                  </a:lnTo>
                  <a:lnTo>
                    <a:pt x="285861" y="77576"/>
                  </a:lnTo>
                  <a:lnTo>
                    <a:pt x="283964" y="82097"/>
                  </a:lnTo>
                  <a:lnTo>
                    <a:pt x="221902" y="144158"/>
                  </a:lnTo>
                  <a:lnTo>
                    <a:pt x="214256" y="145665"/>
                  </a:lnTo>
                  <a:close/>
                </a:path>
                <a:path w="286384" h="288925">
                  <a:moveTo>
                    <a:pt x="71604" y="288652"/>
                  </a:moveTo>
                  <a:lnTo>
                    <a:pt x="63958" y="287089"/>
                  </a:lnTo>
                  <a:lnTo>
                    <a:pt x="58824" y="282010"/>
                  </a:lnTo>
                  <a:lnTo>
                    <a:pt x="1897" y="225083"/>
                  </a:lnTo>
                  <a:lnTo>
                    <a:pt x="0" y="220563"/>
                  </a:lnTo>
                  <a:lnTo>
                    <a:pt x="0" y="211075"/>
                  </a:lnTo>
                  <a:lnTo>
                    <a:pt x="1897" y="206554"/>
                  </a:lnTo>
                  <a:lnTo>
                    <a:pt x="63958" y="144493"/>
                  </a:lnTo>
                  <a:lnTo>
                    <a:pt x="71604" y="142986"/>
                  </a:lnTo>
                  <a:lnTo>
                    <a:pt x="84999" y="148567"/>
                  </a:lnTo>
                  <a:lnTo>
                    <a:pt x="89352" y="155041"/>
                  </a:lnTo>
                  <a:lnTo>
                    <a:pt x="89352" y="197904"/>
                  </a:lnTo>
                  <a:lnTo>
                    <a:pt x="277824" y="197904"/>
                  </a:lnTo>
                  <a:lnTo>
                    <a:pt x="285805" y="205885"/>
                  </a:lnTo>
                  <a:lnTo>
                    <a:pt x="285805" y="225642"/>
                  </a:lnTo>
                  <a:lnTo>
                    <a:pt x="277824" y="233622"/>
                  </a:lnTo>
                  <a:lnTo>
                    <a:pt x="89352" y="233622"/>
                  </a:lnTo>
                  <a:lnTo>
                    <a:pt x="89352" y="276541"/>
                  </a:lnTo>
                  <a:lnTo>
                    <a:pt x="84999" y="283071"/>
                  </a:lnTo>
                  <a:lnTo>
                    <a:pt x="71604" y="288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>
            <a:extLst>
              <a:ext uri="{FF2B5EF4-FFF2-40B4-BE49-F238E27FC236}">
                <a16:creationId xmlns:a16="http://schemas.microsoft.com/office/drawing/2014/main" id="{255091B0-731C-8838-789C-E60C67826E8B}"/>
              </a:ext>
            </a:extLst>
          </p:cNvPr>
          <p:cNvSpPr txBox="1"/>
          <p:nvPr/>
        </p:nvSpPr>
        <p:spPr>
          <a:xfrm>
            <a:off x="7766099" y="2375848"/>
            <a:ext cx="1022350" cy="5683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550" spc="-335" dirty="0">
                <a:solidFill>
                  <a:srgbClr val="FFFFFF"/>
                </a:solidFill>
                <a:latin typeface="Dotum"/>
                <a:cs typeface="Dotum"/>
              </a:rPr>
              <a:t>비교</a:t>
            </a:r>
            <a:endParaRPr sz="1550" dirty="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900" spc="-100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sz="1000" spc="-100" dirty="0">
                <a:solidFill>
                  <a:srgbClr val="FFFFFF"/>
                </a:solidFill>
                <a:latin typeface="Dotum"/>
                <a:cs typeface="Dotum"/>
              </a:rPr>
              <a:t>대</a:t>
            </a:r>
            <a:r>
              <a:rPr sz="1000" spc="-8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플랫폼</a:t>
            </a:r>
            <a:r>
              <a:rPr sz="1000" spc="-8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차이</a:t>
            </a:r>
            <a:r>
              <a:rPr sz="1000" spc="-8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80" dirty="0">
                <a:solidFill>
                  <a:srgbClr val="FFFFFF"/>
                </a:solidFill>
                <a:latin typeface="Dotum"/>
                <a:cs typeface="Dotum"/>
              </a:rPr>
              <a:t>분석</a:t>
            </a:r>
            <a:endParaRPr sz="1000" dirty="0">
              <a:latin typeface="Dotum"/>
              <a:cs typeface="Dotum"/>
            </a:endParaRPr>
          </a:p>
        </p:txBody>
      </p:sp>
      <p:grpSp>
        <p:nvGrpSpPr>
          <p:cNvPr id="38" name="object 38">
            <a:extLst>
              <a:ext uri="{FF2B5EF4-FFF2-40B4-BE49-F238E27FC236}">
                <a16:creationId xmlns:a16="http://schemas.microsoft.com/office/drawing/2014/main" id="{BE4C4EC0-AE91-4E3A-452B-1EBAED86FC79}"/>
              </a:ext>
            </a:extLst>
          </p:cNvPr>
          <p:cNvGrpSpPr/>
          <p:nvPr/>
        </p:nvGrpSpPr>
        <p:grpSpPr>
          <a:xfrm>
            <a:off x="9048749" y="1904999"/>
            <a:ext cx="1162050" cy="1238250"/>
            <a:chOff x="9048749" y="1904999"/>
            <a:chExt cx="1162050" cy="1238250"/>
          </a:xfrm>
        </p:grpSpPr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2CAD7C92-3F41-1510-0A01-C13A78F90162}"/>
                </a:ext>
              </a:extLst>
            </p:cNvPr>
            <p:cNvSpPr/>
            <p:nvPr/>
          </p:nvSpPr>
          <p:spPr>
            <a:xfrm>
              <a:off x="9048749" y="1904999"/>
              <a:ext cx="1162050" cy="1238250"/>
            </a:xfrm>
            <a:custGeom>
              <a:avLst/>
              <a:gdLst/>
              <a:ahLst/>
              <a:cxnLst/>
              <a:rect l="l" t="t" r="r" b="b"/>
              <a:pathLst>
                <a:path w="1162050" h="1238250">
                  <a:moveTo>
                    <a:pt x="581024" y="1238249"/>
                  </a:moveTo>
                  <a:lnTo>
                    <a:pt x="538286" y="1236572"/>
                  </a:lnTo>
                  <a:lnTo>
                    <a:pt x="495770" y="1231549"/>
                  </a:lnTo>
                  <a:lnTo>
                    <a:pt x="453716" y="1223205"/>
                  </a:lnTo>
                  <a:lnTo>
                    <a:pt x="412361" y="1211590"/>
                  </a:lnTo>
                  <a:lnTo>
                    <a:pt x="371919" y="1196765"/>
                  </a:lnTo>
                  <a:lnTo>
                    <a:pt x="332604" y="1178807"/>
                  </a:lnTo>
                  <a:lnTo>
                    <a:pt x="294634" y="1157815"/>
                  </a:lnTo>
                  <a:lnTo>
                    <a:pt x="258224" y="1133908"/>
                  </a:lnTo>
                  <a:lnTo>
                    <a:pt x="223563" y="1107212"/>
                  </a:lnTo>
                  <a:lnTo>
                    <a:pt x="190831" y="1077866"/>
                  </a:lnTo>
                  <a:lnTo>
                    <a:pt x="160216" y="1046033"/>
                  </a:lnTo>
                  <a:lnTo>
                    <a:pt x="131887" y="1011893"/>
                  </a:lnTo>
                  <a:lnTo>
                    <a:pt x="105990" y="975625"/>
                  </a:lnTo>
                  <a:lnTo>
                    <a:pt x="82662" y="937418"/>
                  </a:lnTo>
                  <a:lnTo>
                    <a:pt x="62037" y="897486"/>
                  </a:lnTo>
                  <a:lnTo>
                    <a:pt x="44226" y="856053"/>
                  </a:lnTo>
                  <a:lnTo>
                    <a:pt x="29325" y="813337"/>
                  </a:lnTo>
                  <a:lnTo>
                    <a:pt x="17411" y="769560"/>
                  </a:lnTo>
                  <a:lnTo>
                    <a:pt x="8552" y="724967"/>
                  </a:lnTo>
                  <a:lnTo>
                    <a:pt x="2798" y="679809"/>
                  </a:lnTo>
                  <a:lnTo>
                    <a:pt x="174" y="634323"/>
                  </a:lnTo>
                  <a:lnTo>
                    <a:pt x="0" y="619124"/>
                  </a:lnTo>
                  <a:lnTo>
                    <a:pt x="174" y="603926"/>
                  </a:lnTo>
                  <a:lnTo>
                    <a:pt x="2798" y="558440"/>
                  </a:lnTo>
                  <a:lnTo>
                    <a:pt x="8552" y="513282"/>
                  </a:lnTo>
                  <a:lnTo>
                    <a:pt x="17411" y="468689"/>
                  </a:lnTo>
                  <a:lnTo>
                    <a:pt x="29325" y="424912"/>
                  </a:lnTo>
                  <a:lnTo>
                    <a:pt x="44226" y="382195"/>
                  </a:lnTo>
                  <a:lnTo>
                    <a:pt x="62037" y="340763"/>
                  </a:lnTo>
                  <a:lnTo>
                    <a:pt x="82662" y="300830"/>
                  </a:lnTo>
                  <a:lnTo>
                    <a:pt x="105990" y="262623"/>
                  </a:lnTo>
                  <a:lnTo>
                    <a:pt x="131887" y="226356"/>
                  </a:lnTo>
                  <a:lnTo>
                    <a:pt x="160216" y="192216"/>
                  </a:lnTo>
                  <a:lnTo>
                    <a:pt x="190831" y="160383"/>
                  </a:lnTo>
                  <a:lnTo>
                    <a:pt x="223563" y="131037"/>
                  </a:lnTo>
                  <a:lnTo>
                    <a:pt x="258224" y="104341"/>
                  </a:lnTo>
                  <a:lnTo>
                    <a:pt x="294634" y="80434"/>
                  </a:lnTo>
                  <a:lnTo>
                    <a:pt x="332604" y="59442"/>
                  </a:lnTo>
                  <a:lnTo>
                    <a:pt x="371919" y="41483"/>
                  </a:lnTo>
                  <a:lnTo>
                    <a:pt x="412361" y="26659"/>
                  </a:lnTo>
                  <a:lnTo>
                    <a:pt x="453716" y="15044"/>
                  </a:lnTo>
                  <a:lnTo>
                    <a:pt x="495770" y="6700"/>
                  </a:lnTo>
                  <a:lnTo>
                    <a:pt x="538286" y="1677"/>
                  </a:lnTo>
                  <a:lnTo>
                    <a:pt x="581024" y="0"/>
                  </a:lnTo>
                  <a:lnTo>
                    <a:pt x="595288" y="186"/>
                  </a:lnTo>
                  <a:lnTo>
                    <a:pt x="637976" y="2981"/>
                  </a:lnTo>
                  <a:lnTo>
                    <a:pt x="680353" y="9113"/>
                  </a:lnTo>
                  <a:lnTo>
                    <a:pt x="722203" y="18553"/>
                  </a:lnTo>
                  <a:lnTo>
                    <a:pt x="763286" y="31249"/>
                  </a:lnTo>
                  <a:lnTo>
                    <a:pt x="803373" y="47127"/>
                  </a:lnTo>
                  <a:lnTo>
                    <a:pt x="842256" y="66105"/>
                  </a:lnTo>
                  <a:lnTo>
                    <a:pt x="879730" y="88083"/>
                  </a:lnTo>
                  <a:lnTo>
                    <a:pt x="915586" y="112940"/>
                  </a:lnTo>
                  <a:lnTo>
                    <a:pt x="949622" y="140534"/>
                  </a:lnTo>
                  <a:lnTo>
                    <a:pt x="981661" y="170722"/>
                  </a:lnTo>
                  <a:lnTo>
                    <a:pt x="1011534" y="203345"/>
                  </a:lnTo>
                  <a:lnTo>
                    <a:pt x="1039075" y="238223"/>
                  </a:lnTo>
                  <a:lnTo>
                    <a:pt x="1064127" y="275157"/>
                  </a:lnTo>
                  <a:lnTo>
                    <a:pt x="1086564" y="313955"/>
                  </a:lnTo>
                  <a:lnTo>
                    <a:pt x="1106264" y="354414"/>
                  </a:lnTo>
                  <a:lnTo>
                    <a:pt x="1123117" y="396309"/>
                  </a:lnTo>
                  <a:lnTo>
                    <a:pt x="1137030" y="439402"/>
                  </a:lnTo>
                  <a:lnTo>
                    <a:pt x="1147931" y="483469"/>
                  </a:lnTo>
                  <a:lnTo>
                    <a:pt x="1155761" y="528280"/>
                  </a:lnTo>
                  <a:lnTo>
                    <a:pt x="1160476" y="573583"/>
                  </a:lnTo>
                  <a:lnTo>
                    <a:pt x="1162049" y="619124"/>
                  </a:lnTo>
                  <a:lnTo>
                    <a:pt x="1161875" y="634323"/>
                  </a:lnTo>
                  <a:lnTo>
                    <a:pt x="1159252" y="679809"/>
                  </a:lnTo>
                  <a:lnTo>
                    <a:pt x="1153496" y="724967"/>
                  </a:lnTo>
                  <a:lnTo>
                    <a:pt x="1144637" y="769560"/>
                  </a:lnTo>
                  <a:lnTo>
                    <a:pt x="1132722" y="813337"/>
                  </a:lnTo>
                  <a:lnTo>
                    <a:pt x="1117821" y="856053"/>
                  </a:lnTo>
                  <a:lnTo>
                    <a:pt x="1100011" y="897486"/>
                  </a:lnTo>
                  <a:lnTo>
                    <a:pt x="1079386" y="937418"/>
                  </a:lnTo>
                  <a:lnTo>
                    <a:pt x="1056058" y="975625"/>
                  </a:lnTo>
                  <a:lnTo>
                    <a:pt x="1030162" y="1011893"/>
                  </a:lnTo>
                  <a:lnTo>
                    <a:pt x="1001832" y="1046033"/>
                  </a:lnTo>
                  <a:lnTo>
                    <a:pt x="971216" y="1077866"/>
                  </a:lnTo>
                  <a:lnTo>
                    <a:pt x="938485" y="1107212"/>
                  </a:lnTo>
                  <a:lnTo>
                    <a:pt x="903823" y="1133908"/>
                  </a:lnTo>
                  <a:lnTo>
                    <a:pt x="867413" y="1157815"/>
                  </a:lnTo>
                  <a:lnTo>
                    <a:pt x="829445" y="1178807"/>
                  </a:lnTo>
                  <a:lnTo>
                    <a:pt x="790128" y="1196765"/>
                  </a:lnTo>
                  <a:lnTo>
                    <a:pt x="749687" y="1211590"/>
                  </a:lnTo>
                  <a:lnTo>
                    <a:pt x="708332" y="1223205"/>
                  </a:lnTo>
                  <a:lnTo>
                    <a:pt x="666279" y="1231549"/>
                  </a:lnTo>
                  <a:lnTo>
                    <a:pt x="623764" y="1236572"/>
                  </a:lnTo>
                  <a:lnTo>
                    <a:pt x="581024" y="123824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FDB58206-B572-12AC-3E3E-425D701728A9}"/>
                </a:ext>
              </a:extLst>
            </p:cNvPr>
            <p:cNvSpPr/>
            <p:nvPr/>
          </p:nvSpPr>
          <p:spPr>
            <a:xfrm>
              <a:off x="9448799" y="2132409"/>
              <a:ext cx="357505" cy="250190"/>
            </a:xfrm>
            <a:custGeom>
              <a:avLst/>
              <a:gdLst/>
              <a:ahLst/>
              <a:cxnLst/>
              <a:rect l="l" t="t" r="r" b="b"/>
              <a:pathLst>
                <a:path w="357504" h="250189">
                  <a:moveTo>
                    <a:pt x="71437" y="178593"/>
                  </a:moveTo>
                  <a:lnTo>
                    <a:pt x="35718" y="178593"/>
                  </a:lnTo>
                  <a:lnTo>
                    <a:pt x="35718" y="35718"/>
                  </a:lnTo>
                  <a:lnTo>
                    <a:pt x="38529" y="21826"/>
                  </a:lnTo>
                  <a:lnTo>
                    <a:pt x="46190" y="10471"/>
                  </a:lnTo>
                  <a:lnTo>
                    <a:pt x="57545" y="2810"/>
                  </a:lnTo>
                  <a:lnTo>
                    <a:pt x="71437" y="0"/>
                  </a:lnTo>
                  <a:lnTo>
                    <a:pt x="285750" y="0"/>
                  </a:lnTo>
                  <a:lnTo>
                    <a:pt x="299642" y="2810"/>
                  </a:lnTo>
                  <a:lnTo>
                    <a:pt x="310997" y="10471"/>
                  </a:lnTo>
                  <a:lnTo>
                    <a:pt x="318658" y="21826"/>
                  </a:lnTo>
                  <a:lnTo>
                    <a:pt x="321468" y="35718"/>
                  </a:lnTo>
                  <a:lnTo>
                    <a:pt x="71437" y="35718"/>
                  </a:lnTo>
                  <a:lnTo>
                    <a:pt x="71437" y="178593"/>
                  </a:lnTo>
                  <a:close/>
                </a:path>
                <a:path w="357504" h="250189">
                  <a:moveTo>
                    <a:pt x="321468" y="178593"/>
                  </a:moveTo>
                  <a:lnTo>
                    <a:pt x="285750" y="178593"/>
                  </a:lnTo>
                  <a:lnTo>
                    <a:pt x="285750" y="35718"/>
                  </a:lnTo>
                  <a:lnTo>
                    <a:pt x="321468" y="35718"/>
                  </a:lnTo>
                  <a:lnTo>
                    <a:pt x="321468" y="178593"/>
                  </a:lnTo>
                  <a:close/>
                </a:path>
                <a:path w="357504" h="250189">
                  <a:moveTo>
                    <a:pt x="151581" y="157497"/>
                  </a:moveTo>
                  <a:lnTo>
                    <a:pt x="143043" y="157497"/>
                  </a:lnTo>
                  <a:lnTo>
                    <a:pt x="137907" y="152306"/>
                  </a:lnTo>
                  <a:lnTo>
                    <a:pt x="105872" y="120271"/>
                  </a:lnTo>
                  <a:lnTo>
                    <a:pt x="105872" y="111788"/>
                  </a:lnTo>
                  <a:lnTo>
                    <a:pt x="111118" y="106598"/>
                  </a:lnTo>
                  <a:lnTo>
                    <a:pt x="143154" y="74562"/>
                  </a:lnTo>
                  <a:lnTo>
                    <a:pt x="151637" y="74562"/>
                  </a:lnTo>
                  <a:lnTo>
                    <a:pt x="162018" y="85055"/>
                  </a:lnTo>
                  <a:lnTo>
                    <a:pt x="162073" y="93538"/>
                  </a:lnTo>
                  <a:lnTo>
                    <a:pt x="156827" y="98728"/>
                  </a:lnTo>
                  <a:lnTo>
                    <a:pt x="139526" y="116085"/>
                  </a:lnTo>
                  <a:lnTo>
                    <a:pt x="162018" y="138577"/>
                  </a:lnTo>
                  <a:lnTo>
                    <a:pt x="162073" y="147060"/>
                  </a:lnTo>
                  <a:lnTo>
                    <a:pt x="156827" y="152306"/>
                  </a:lnTo>
                  <a:lnTo>
                    <a:pt x="151581" y="157497"/>
                  </a:lnTo>
                  <a:close/>
                </a:path>
                <a:path w="357504" h="250189">
                  <a:moveTo>
                    <a:pt x="214145" y="157497"/>
                  </a:moveTo>
                  <a:lnTo>
                    <a:pt x="205550" y="157497"/>
                  </a:lnTo>
                  <a:lnTo>
                    <a:pt x="195225" y="147060"/>
                  </a:lnTo>
                  <a:lnTo>
                    <a:pt x="195169" y="138577"/>
                  </a:lnTo>
                  <a:lnTo>
                    <a:pt x="200415" y="133387"/>
                  </a:lnTo>
                  <a:lnTo>
                    <a:pt x="217716" y="116085"/>
                  </a:lnTo>
                  <a:lnTo>
                    <a:pt x="195169" y="93538"/>
                  </a:lnTo>
                  <a:lnTo>
                    <a:pt x="195169" y="85055"/>
                  </a:lnTo>
                  <a:lnTo>
                    <a:pt x="205774" y="74562"/>
                  </a:lnTo>
                  <a:lnTo>
                    <a:pt x="214089" y="74562"/>
                  </a:lnTo>
                  <a:lnTo>
                    <a:pt x="251314" y="111788"/>
                  </a:lnTo>
                  <a:lnTo>
                    <a:pt x="251370" y="120271"/>
                  </a:lnTo>
                  <a:lnTo>
                    <a:pt x="214145" y="157497"/>
                  </a:lnTo>
                  <a:close/>
                </a:path>
                <a:path w="357504" h="250189">
                  <a:moveTo>
                    <a:pt x="314325" y="250031"/>
                  </a:moveTo>
                  <a:lnTo>
                    <a:pt x="42862" y="250031"/>
                  </a:lnTo>
                  <a:lnTo>
                    <a:pt x="26182" y="246661"/>
                  </a:lnTo>
                  <a:lnTo>
                    <a:pt x="12557" y="237473"/>
                  </a:lnTo>
                  <a:lnTo>
                    <a:pt x="3369" y="223849"/>
                  </a:lnTo>
                  <a:lnTo>
                    <a:pt x="0" y="207168"/>
                  </a:lnTo>
                  <a:lnTo>
                    <a:pt x="0" y="201252"/>
                  </a:lnTo>
                  <a:lnTo>
                    <a:pt x="4799" y="196453"/>
                  </a:lnTo>
                  <a:lnTo>
                    <a:pt x="352387" y="196453"/>
                  </a:lnTo>
                  <a:lnTo>
                    <a:pt x="357187" y="201252"/>
                  </a:lnTo>
                  <a:lnTo>
                    <a:pt x="357187" y="207168"/>
                  </a:lnTo>
                  <a:lnTo>
                    <a:pt x="353817" y="223849"/>
                  </a:lnTo>
                  <a:lnTo>
                    <a:pt x="344630" y="237473"/>
                  </a:lnTo>
                  <a:lnTo>
                    <a:pt x="331005" y="246661"/>
                  </a:lnTo>
                  <a:lnTo>
                    <a:pt x="314325" y="2500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>
            <a:extLst>
              <a:ext uri="{FF2B5EF4-FFF2-40B4-BE49-F238E27FC236}">
                <a16:creationId xmlns:a16="http://schemas.microsoft.com/office/drawing/2014/main" id="{683CB9A4-708A-79A2-0532-FF1EFD118F26}"/>
              </a:ext>
            </a:extLst>
          </p:cNvPr>
          <p:cNvSpPr txBox="1"/>
          <p:nvPr/>
        </p:nvSpPr>
        <p:spPr>
          <a:xfrm>
            <a:off x="9217620" y="2375848"/>
            <a:ext cx="824230" cy="5683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550" spc="-335" dirty="0">
                <a:solidFill>
                  <a:srgbClr val="FFFFFF"/>
                </a:solidFill>
                <a:latin typeface="Dotum"/>
                <a:cs typeface="Dotum"/>
              </a:rPr>
              <a:t>실습</a:t>
            </a:r>
            <a:endParaRPr sz="155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단계별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실무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85" dirty="0">
                <a:solidFill>
                  <a:srgbClr val="FFFFFF"/>
                </a:solidFill>
                <a:latin typeface="Dotum"/>
                <a:cs typeface="Dotum"/>
              </a:rPr>
              <a:t>구현</a:t>
            </a:r>
            <a:endParaRPr sz="1000">
              <a:latin typeface="Dotum"/>
              <a:cs typeface="Dotum"/>
            </a:endParaRPr>
          </a:p>
        </p:txBody>
      </p:sp>
      <p:grpSp>
        <p:nvGrpSpPr>
          <p:cNvPr id="42" name="object 42">
            <a:extLst>
              <a:ext uri="{FF2B5EF4-FFF2-40B4-BE49-F238E27FC236}">
                <a16:creationId xmlns:a16="http://schemas.microsoft.com/office/drawing/2014/main" id="{CD705EA5-FDA4-2630-3868-09934E4F8114}"/>
              </a:ext>
            </a:extLst>
          </p:cNvPr>
          <p:cNvGrpSpPr/>
          <p:nvPr/>
        </p:nvGrpSpPr>
        <p:grpSpPr>
          <a:xfrm>
            <a:off x="10401299" y="1904999"/>
            <a:ext cx="1162050" cy="1238250"/>
            <a:chOff x="10401299" y="1904999"/>
            <a:chExt cx="1162050" cy="1238250"/>
          </a:xfrm>
        </p:grpSpPr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E66F4A0-6D38-6181-5ED1-60F1557B1475}"/>
                </a:ext>
              </a:extLst>
            </p:cNvPr>
            <p:cNvSpPr/>
            <p:nvPr/>
          </p:nvSpPr>
          <p:spPr>
            <a:xfrm>
              <a:off x="10401299" y="1904999"/>
              <a:ext cx="1162050" cy="1238250"/>
            </a:xfrm>
            <a:custGeom>
              <a:avLst/>
              <a:gdLst/>
              <a:ahLst/>
              <a:cxnLst/>
              <a:rect l="l" t="t" r="r" b="b"/>
              <a:pathLst>
                <a:path w="1162050" h="1238250">
                  <a:moveTo>
                    <a:pt x="581024" y="1238249"/>
                  </a:moveTo>
                  <a:lnTo>
                    <a:pt x="538286" y="1236572"/>
                  </a:lnTo>
                  <a:lnTo>
                    <a:pt x="495771" y="1231549"/>
                  </a:lnTo>
                  <a:lnTo>
                    <a:pt x="453716" y="1223205"/>
                  </a:lnTo>
                  <a:lnTo>
                    <a:pt x="412361" y="1211590"/>
                  </a:lnTo>
                  <a:lnTo>
                    <a:pt x="371920" y="1196765"/>
                  </a:lnTo>
                  <a:lnTo>
                    <a:pt x="332605" y="1178807"/>
                  </a:lnTo>
                  <a:lnTo>
                    <a:pt x="294634" y="1157815"/>
                  </a:lnTo>
                  <a:lnTo>
                    <a:pt x="258223" y="1133908"/>
                  </a:lnTo>
                  <a:lnTo>
                    <a:pt x="223563" y="1107212"/>
                  </a:lnTo>
                  <a:lnTo>
                    <a:pt x="190832" y="1077866"/>
                  </a:lnTo>
                  <a:lnTo>
                    <a:pt x="160215" y="1046033"/>
                  </a:lnTo>
                  <a:lnTo>
                    <a:pt x="131887" y="1011893"/>
                  </a:lnTo>
                  <a:lnTo>
                    <a:pt x="105989" y="975625"/>
                  </a:lnTo>
                  <a:lnTo>
                    <a:pt x="82662" y="937418"/>
                  </a:lnTo>
                  <a:lnTo>
                    <a:pt x="62036" y="897486"/>
                  </a:lnTo>
                  <a:lnTo>
                    <a:pt x="44226" y="856053"/>
                  </a:lnTo>
                  <a:lnTo>
                    <a:pt x="29325" y="813337"/>
                  </a:lnTo>
                  <a:lnTo>
                    <a:pt x="17411" y="769560"/>
                  </a:lnTo>
                  <a:lnTo>
                    <a:pt x="8552" y="724967"/>
                  </a:lnTo>
                  <a:lnTo>
                    <a:pt x="2797" y="679809"/>
                  </a:lnTo>
                  <a:lnTo>
                    <a:pt x="174" y="634323"/>
                  </a:lnTo>
                  <a:lnTo>
                    <a:pt x="0" y="619124"/>
                  </a:lnTo>
                  <a:lnTo>
                    <a:pt x="174" y="603926"/>
                  </a:lnTo>
                  <a:lnTo>
                    <a:pt x="2797" y="558440"/>
                  </a:lnTo>
                  <a:lnTo>
                    <a:pt x="8552" y="513282"/>
                  </a:lnTo>
                  <a:lnTo>
                    <a:pt x="17411" y="468689"/>
                  </a:lnTo>
                  <a:lnTo>
                    <a:pt x="29325" y="424912"/>
                  </a:lnTo>
                  <a:lnTo>
                    <a:pt x="44226" y="382195"/>
                  </a:lnTo>
                  <a:lnTo>
                    <a:pt x="62036" y="340763"/>
                  </a:lnTo>
                  <a:lnTo>
                    <a:pt x="82661" y="300830"/>
                  </a:lnTo>
                  <a:lnTo>
                    <a:pt x="105988" y="262623"/>
                  </a:lnTo>
                  <a:lnTo>
                    <a:pt x="131887" y="226356"/>
                  </a:lnTo>
                  <a:lnTo>
                    <a:pt x="160215" y="192216"/>
                  </a:lnTo>
                  <a:lnTo>
                    <a:pt x="190832" y="160383"/>
                  </a:lnTo>
                  <a:lnTo>
                    <a:pt x="223563" y="131037"/>
                  </a:lnTo>
                  <a:lnTo>
                    <a:pt x="258223" y="104341"/>
                  </a:lnTo>
                  <a:lnTo>
                    <a:pt x="294634" y="80434"/>
                  </a:lnTo>
                  <a:lnTo>
                    <a:pt x="332605" y="59442"/>
                  </a:lnTo>
                  <a:lnTo>
                    <a:pt x="371920" y="41483"/>
                  </a:lnTo>
                  <a:lnTo>
                    <a:pt x="412361" y="26659"/>
                  </a:lnTo>
                  <a:lnTo>
                    <a:pt x="453716" y="15044"/>
                  </a:lnTo>
                  <a:lnTo>
                    <a:pt x="495771" y="6700"/>
                  </a:lnTo>
                  <a:lnTo>
                    <a:pt x="538286" y="1677"/>
                  </a:lnTo>
                  <a:lnTo>
                    <a:pt x="581024" y="0"/>
                  </a:lnTo>
                  <a:lnTo>
                    <a:pt x="595288" y="186"/>
                  </a:lnTo>
                  <a:lnTo>
                    <a:pt x="637976" y="2981"/>
                  </a:lnTo>
                  <a:lnTo>
                    <a:pt x="680354" y="9113"/>
                  </a:lnTo>
                  <a:lnTo>
                    <a:pt x="722202" y="18553"/>
                  </a:lnTo>
                  <a:lnTo>
                    <a:pt x="763285" y="31249"/>
                  </a:lnTo>
                  <a:lnTo>
                    <a:pt x="803373" y="47127"/>
                  </a:lnTo>
                  <a:lnTo>
                    <a:pt x="842256" y="66105"/>
                  </a:lnTo>
                  <a:lnTo>
                    <a:pt x="879731" y="88083"/>
                  </a:lnTo>
                  <a:lnTo>
                    <a:pt x="915586" y="112940"/>
                  </a:lnTo>
                  <a:lnTo>
                    <a:pt x="949623" y="140534"/>
                  </a:lnTo>
                  <a:lnTo>
                    <a:pt x="981661" y="170722"/>
                  </a:lnTo>
                  <a:lnTo>
                    <a:pt x="1011535" y="203345"/>
                  </a:lnTo>
                  <a:lnTo>
                    <a:pt x="1039075" y="238223"/>
                  </a:lnTo>
                  <a:lnTo>
                    <a:pt x="1064127" y="275157"/>
                  </a:lnTo>
                  <a:lnTo>
                    <a:pt x="1086564" y="313955"/>
                  </a:lnTo>
                  <a:lnTo>
                    <a:pt x="1106264" y="354414"/>
                  </a:lnTo>
                  <a:lnTo>
                    <a:pt x="1123118" y="396309"/>
                  </a:lnTo>
                  <a:lnTo>
                    <a:pt x="1137031" y="439402"/>
                  </a:lnTo>
                  <a:lnTo>
                    <a:pt x="1147931" y="483469"/>
                  </a:lnTo>
                  <a:lnTo>
                    <a:pt x="1155761" y="528280"/>
                  </a:lnTo>
                  <a:lnTo>
                    <a:pt x="1160477" y="573583"/>
                  </a:lnTo>
                  <a:lnTo>
                    <a:pt x="1162049" y="619124"/>
                  </a:lnTo>
                  <a:lnTo>
                    <a:pt x="1161875" y="634323"/>
                  </a:lnTo>
                  <a:lnTo>
                    <a:pt x="1159253" y="679809"/>
                  </a:lnTo>
                  <a:lnTo>
                    <a:pt x="1153496" y="724967"/>
                  </a:lnTo>
                  <a:lnTo>
                    <a:pt x="1144637" y="769560"/>
                  </a:lnTo>
                  <a:lnTo>
                    <a:pt x="1132722" y="813337"/>
                  </a:lnTo>
                  <a:lnTo>
                    <a:pt x="1117821" y="856053"/>
                  </a:lnTo>
                  <a:lnTo>
                    <a:pt x="1100011" y="897486"/>
                  </a:lnTo>
                  <a:lnTo>
                    <a:pt x="1079385" y="937418"/>
                  </a:lnTo>
                  <a:lnTo>
                    <a:pt x="1056058" y="975625"/>
                  </a:lnTo>
                  <a:lnTo>
                    <a:pt x="1030162" y="1011893"/>
                  </a:lnTo>
                  <a:lnTo>
                    <a:pt x="1001832" y="1046033"/>
                  </a:lnTo>
                  <a:lnTo>
                    <a:pt x="971217" y="1077866"/>
                  </a:lnTo>
                  <a:lnTo>
                    <a:pt x="938486" y="1107212"/>
                  </a:lnTo>
                  <a:lnTo>
                    <a:pt x="903823" y="1133908"/>
                  </a:lnTo>
                  <a:lnTo>
                    <a:pt x="867414" y="1157815"/>
                  </a:lnTo>
                  <a:lnTo>
                    <a:pt x="829445" y="1178807"/>
                  </a:lnTo>
                  <a:lnTo>
                    <a:pt x="790128" y="1196765"/>
                  </a:lnTo>
                  <a:lnTo>
                    <a:pt x="749686" y="1211590"/>
                  </a:lnTo>
                  <a:lnTo>
                    <a:pt x="708332" y="1223205"/>
                  </a:lnTo>
                  <a:lnTo>
                    <a:pt x="666279" y="1231549"/>
                  </a:lnTo>
                  <a:lnTo>
                    <a:pt x="623764" y="1236572"/>
                  </a:lnTo>
                  <a:lnTo>
                    <a:pt x="581024" y="123824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5263F0CB-2EA5-4626-A751-12BB63B636B5}"/>
                </a:ext>
              </a:extLst>
            </p:cNvPr>
            <p:cNvSpPr/>
            <p:nvPr/>
          </p:nvSpPr>
          <p:spPr>
            <a:xfrm>
              <a:off x="10838110" y="2113210"/>
              <a:ext cx="287655" cy="287655"/>
            </a:xfrm>
            <a:custGeom>
              <a:avLst/>
              <a:gdLst/>
              <a:ahLst/>
              <a:cxnLst/>
              <a:rect l="l" t="t" r="r" b="b"/>
              <a:pathLst>
                <a:path w="287654" h="287655">
                  <a:moveTo>
                    <a:pt x="233483" y="287075"/>
                  </a:moveTo>
                  <a:lnTo>
                    <a:pt x="158334" y="219335"/>
                  </a:lnTo>
                  <a:lnTo>
                    <a:pt x="146181" y="195336"/>
                  </a:lnTo>
                  <a:lnTo>
                    <a:pt x="146232" y="182071"/>
                  </a:lnTo>
                  <a:lnTo>
                    <a:pt x="150353" y="169329"/>
                  </a:lnTo>
                  <a:lnTo>
                    <a:pt x="89520" y="108495"/>
                  </a:lnTo>
                  <a:lnTo>
                    <a:pt x="55196" y="108495"/>
                  </a:lnTo>
                  <a:lnTo>
                    <a:pt x="51234" y="106542"/>
                  </a:lnTo>
                  <a:lnTo>
                    <a:pt x="48722" y="103249"/>
                  </a:lnTo>
                  <a:lnTo>
                    <a:pt x="4074" y="45206"/>
                  </a:lnTo>
                  <a:lnTo>
                    <a:pt x="0" y="39848"/>
                  </a:lnTo>
                  <a:lnTo>
                    <a:pt x="502" y="32314"/>
                  </a:lnTo>
                  <a:lnTo>
                    <a:pt x="27570" y="5246"/>
                  </a:lnTo>
                  <a:lnTo>
                    <a:pt x="32370" y="502"/>
                  </a:lnTo>
                  <a:lnTo>
                    <a:pt x="39904" y="0"/>
                  </a:lnTo>
                  <a:lnTo>
                    <a:pt x="106542" y="51289"/>
                  </a:lnTo>
                  <a:lnTo>
                    <a:pt x="108495" y="55196"/>
                  </a:lnTo>
                  <a:lnTo>
                    <a:pt x="108495" y="89520"/>
                  </a:lnTo>
                  <a:lnTo>
                    <a:pt x="169211" y="150235"/>
                  </a:lnTo>
                  <a:lnTo>
                    <a:pt x="208100" y="150235"/>
                  </a:lnTo>
                  <a:lnTo>
                    <a:pt x="219335" y="158334"/>
                  </a:lnTo>
                  <a:lnTo>
                    <a:pt x="281843" y="220842"/>
                  </a:lnTo>
                  <a:lnTo>
                    <a:pt x="285767" y="226754"/>
                  </a:lnTo>
                  <a:lnTo>
                    <a:pt x="287075" y="233483"/>
                  </a:lnTo>
                  <a:lnTo>
                    <a:pt x="285767" y="240212"/>
                  </a:lnTo>
                  <a:lnTo>
                    <a:pt x="281843" y="246124"/>
                  </a:lnTo>
                  <a:lnTo>
                    <a:pt x="246124" y="281843"/>
                  </a:lnTo>
                  <a:lnTo>
                    <a:pt x="240212" y="285767"/>
                  </a:lnTo>
                  <a:lnTo>
                    <a:pt x="233483" y="287075"/>
                  </a:lnTo>
                  <a:close/>
                </a:path>
                <a:path w="287654" h="287655">
                  <a:moveTo>
                    <a:pt x="173961" y="129759"/>
                  </a:moveTo>
                  <a:lnTo>
                    <a:pt x="126355" y="82153"/>
                  </a:lnTo>
                  <a:lnTo>
                    <a:pt x="126355" y="81706"/>
                  </a:lnTo>
                  <a:lnTo>
                    <a:pt x="132673" y="50430"/>
                  </a:lnTo>
                  <a:lnTo>
                    <a:pt x="149900" y="24884"/>
                  </a:lnTo>
                  <a:lnTo>
                    <a:pt x="175446" y="7657"/>
                  </a:lnTo>
                  <a:lnTo>
                    <a:pt x="206722" y="1339"/>
                  </a:lnTo>
                  <a:lnTo>
                    <a:pt x="212582" y="1339"/>
                  </a:lnTo>
                  <a:lnTo>
                    <a:pt x="218275" y="1953"/>
                  </a:lnTo>
                  <a:lnTo>
                    <a:pt x="230051" y="4464"/>
                  </a:lnTo>
                  <a:lnTo>
                    <a:pt x="231669" y="12110"/>
                  </a:lnTo>
                  <a:lnTo>
                    <a:pt x="189811" y="53968"/>
                  </a:lnTo>
                  <a:lnTo>
                    <a:pt x="188862" y="56257"/>
                  </a:lnTo>
                  <a:lnTo>
                    <a:pt x="188862" y="95603"/>
                  </a:lnTo>
                  <a:lnTo>
                    <a:pt x="192881" y="99621"/>
                  </a:lnTo>
                  <a:lnTo>
                    <a:pt x="284465" y="99621"/>
                  </a:lnTo>
                  <a:lnTo>
                    <a:pt x="283697" y="104867"/>
                  </a:lnTo>
                  <a:lnTo>
                    <a:pt x="274183" y="125385"/>
                  </a:lnTo>
                  <a:lnTo>
                    <a:pt x="271997" y="127906"/>
                  </a:lnTo>
                  <a:lnTo>
                    <a:pt x="189293" y="127906"/>
                  </a:lnTo>
                  <a:lnTo>
                    <a:pt x="173961" y="129759"/>
                  </a:lnTo>
                  <a:close/>
                </a:path>
                <a:path w="287654" h="287655">
                  <a:moveTo>
                    <a:pt x="284465" y="99621"/>
                  </a:moveTo>
                  <a:lnTo>
                    <a:pt x="232171" y="99621"/>
                  </a:lnTo>
                  <a:lnTo>
                    <a:pt x="234460" y="98673"/>
                  </a:lnTo>
                  <a:lnTo>
                    <a:pt x="276318" y="56815"/>
                  </a:lnTo>
                  <a:lnTo>
                    <a:pt x="283964" y="58433"/>
                  </a:lnTo>
                  <a:lnTo>
                    <a:pt x="286475" y="70153"/>
                  </a:lnTo>
                  <a:lnTo>
                    <a:pt x="287089" y="75846"/>
                  </a:lnTo>
                  <a:lnTo>
                    <a:pt x="287024" y="82153"/>
                  </a:lnTo>
                  <a:lnTo>
                    <a:pt x="284465" y="99621"/>
                  </a:lnTo>
                  <a:close/>
                </a:path>
                <a:path w="287654" h="287655">
                  <a:moveTo>
                    <a:pt x="240766" y="154539"/>
                  </a:moveTo>
                  <a:lnTo>
                    <a:pt x="232004" y="145777"/>
                  </a:lnTo>
                  <a:lnTo>
                    <a:pt x="219120" y="135920"/>
                  </a:lnTo>
                  <a:lnTo>
                    <a:pt x="204615" y="129961"/>
                  </a:lnTo>
                  <a:lnTo>
                    <a:pt x="189293" y="127906"/>
                  </a:lnTo>
                  <a:lnTo>
                    <a:pt x="271997" y="127906"/>
                  </a:lnTo>
                  <a:lnTo>
                    <a:pt x="259541" y="142272"/>
                  </a:lnTo>
                  <a:lnTo>
                    <a:pt x="240766" y="154539"/>
                  </a:lnTo>
                  <a:close/>
                </a:path>
                <a:path w="287654" h="287655">
                  <a:moveTo>
                    <a:pt x="39375" y="287075"/>
                  </a:moveTo>
                  <a:lnTo>
                    <a:pt x="39165" y="287075"/>
                  </a:lnTo>
                  <a:lnTo>
                    <a:pt x="24484" y="284111"/>
                  </a:lnTo>
                  <a:lnTo>
                    <a:pt x="12434" y="275983"/>
                  </a:lnTo>
                  <a:lnTo>
                    <a:pt x="4317" y="263944"/>
                  </a:lnTo>
                  <a:lnTo>
                    <a:pt x="1339" y="249194"/>
                  </a:lnTo>
                  <a:lnTo>
                    <a:pt x="2011" y="242441"/>
                  </a:lnTo>
                  <a:lnTo>
                    <a:pt x="2078" y="241766"/>
                  </a:lnTo>
                  <a:lnTo>
                    <a:pt x="4234" y="234690"/>
                  </a:lnTo>
                  <a:lnTo>
                    <a:pt x="7720" y="228168"/>
                  </a:lnTo>
                  <a:lnTo>
                    <a:pt x="12445" y="222405"/>
                  </a:lnTo>
                  <a:lnTo>
                    <a:pt x="95324" y="139470"/>
                  </a:lnTo>
                  <a:lnTo>
                    <a:pt x="129759" y="173905"/>
                  </a:lnTo>
                  <a:lnTo>
                    <a:pt x="128189" y="183004"/>
                  </a:lnTo>
                  <a:lnTo>
                    <a:pt x="128001" y="192197"/>
                  </a:lnTo>
                  <a:lnTo>
                    <a:pt x="129194" y="201327"/>
                  </a:lnTo>
                  <a:lnTo>
                    <a:pt x="131768" y="210238"/>
                  </a:lnTo>
                  <a:lnTo>
                    <a:pt x="112960" y="229046"/>
                  </a:lnTo>
                  <a:lnTo>
                    <a:pt x="44211" y="229046"/>
                  </a:lnTo>
                  <a:lnTo>
                    <a:pt x="42503" y="229386"/>
                  </a:lnTo>
                  <a:lnTo>
                    <a:pt x="32593" y="244217"/>
                  </a:lnTo>
                  <a:lnTo>
                    <a:pt x="32933" y="245925"/>
                  </a:lnTo>
                  <a:lnTo>
                    <a:pt x="44211" y="255835"/>
                  </a:lnTo>
                  <a:lnTo>
                    <a:pt x="86171" y="255835"/>
                  </a:lnTo>
                  <a:lnTo>
                    <a:pt x="66023" y="275983"/>
                  </a:lnTo>
                  <a:lnTo>
                    <a:pt x="60260" y="280708"/>
                  </a:lnTo>
                  <a:lnTo>
                    <a:pt x="53893" y="284111"/>
                  </a:lnTo>
                  <a:lnTo>
                    <a:pt x="46661" y="286350"/>
                  </a:lnTo>
                  <a:lnTo>
                    <a:pt x="39375" y="287075"/>
                  </a:lnTo>
                  <a:close/>
                </a:path>
                <a:path w="287654" h="287655">
                  <a:moveTo>
                    <a:pt x="208100" y="150235"/>
                  </a:moveTo>
                  <a:lnTo>
                    <a:pt x="169693" y="150235"/>
                  </a:lnTo>
                  <a:lnTo>
                    <a:pt x="182187" y="146202"/>
                  </a:lnTo>
                  <a:lnTo>
                    <a:pt x="195336" y="146202"/>
                  </a:lnTo>
                  <a:lnTo>
                    <a:pt x="208100" y="150235"/>
                  </a:lnTo>
                  <a:close/>
                </a:path>
                <a:path w="287654" h="287655">
                  <a:moveTo>
                    <a:pt x="86171" y="255835"/>
                  </a:moveTo>
                  <a:lnTo>
                    <a:pt x="47764" y="255835"/>
                  </a:lnTo>
                  <a:lnTo>
                    <a:pt x="49472" y="255495"/>
                  </a:lnTo>
                  <a:lnTo>
                    <a:pt x="52754" y="254136"/>
                  </a:lnTo>
                  <a:lnTo>
                    <a:pt x="54203" y="253168"/>
                  </a:lnTo>
                  <a:lnTo>
                    <a:pt x="56715" y="250656"/>
                  </a:lnTo>
                  <a:lnTo>
                    <a:pt x="57688" y="249194"/>
                  </a:lnTo>
                  <a:lnTo>
                    <a:pt x="58960" y="246124"/>
                  </a:lnTo>
                  <a:lnTo>
                    <a:pt x="59042" y="245925"/>
                  </a:lnTo>
                  <a:lnTo>
                    <a:pt x="59382" y="244217"/>
                  </a:lnTo>
                  <a:lnTo>
                    <a:pt x="59292" y="240212"/>
                  </a:lnTo>
                  <a:lnTo>
                    <a:pt x="59042" y="238956"/>
                  </a:lnTo>
                  <a:lnTo>
                    <a:pt x="47764" y="229046"/>
                  </a:lnTo>
                  <a:lnTo>
                    <a:pt x="112960" y="229046"/>
                  </a:lnTo>
                  <a:lnTo>
                    <a:pt x="86171" y="2558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>
            <a:extLst>
              <a:ext uri="{FF2B5EF4-FFF2-40B4-BE49-F238E27FC236}">
                <a16:creationId xmlns:a16="http://schemas.microsoft.com/office/drawing/2014/main" id="{29FE776F-00B8-8F81-42A1-38308197F3E3}"/>
              </a:ext>
            </a:extLst>
          </p:cNvPr>
          <p:cNvSpPr txBox="1"/>
          <p:nvPr/>
        </p:nvSpPr>
        <p:spPr>
          <a:xfrm>
            <a:off x="10502006" y="2375848"/>
            <a:ext cx="960755" cy="5683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550" spc="-320" dirty="0">
                <a:solidFill>
                  <a:srgbClr val="FFFFFF"/>
                </a:solidFill>
                <a:latin typeface="Dotum"/>
                <a:cs typeface="Dotum"/>
              </a:rPr>
              <a:t>트러블슈팅</a:t>
            </a:r>
            <a:endParaRPr sz="1550" dirty="0">
              <a:latin typeface="Dotum"/>
              <a:cs typeface="Dotum"/>
            </a:endParaRPr>
          </a:p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문제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해결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FFFFFF"/>
                </a:solidFill>
                <a:latin typeface="Dotum"/>
                <a:cs typeface="Dotum"/>
              </a:rPr>
              <a:t>및</a:t>
            </a:r>
            <a:r>
              <a:rPr sz="1000" spc="-9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1000" spc="-114" dirty="0">
                <a:solidFill>
                  <a:srgbClr val="FFFFFF"/>
                </a:solidFill>
                <a:latin typeface="Dotum"/>
                <a:cs typeface="Dotum"/>
              </a:rPr>
              <a:t>최적화</a:t>
            </a:r>
            <a:endParaRPr sz="1000" dirty="0">
              <a:latin typeface="Dotum"/>
              <a:cs typeface="Dotum"/>
            </a:endParaRPr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B3A52430-3F58-19C7-85D9-E6185DB0317A}"/>
              </a:ext>
            </a:extLst>
          </p:cNvPr>
          <p:cNvSpPr txBox="1"/>
          <p:nvPr/>
        </p:nvSpPr>
        <p:spPr>
          <a:xfrm>
            <a:off x="6413498" y="3559573"/>
            <a:ext cx="4775202" cy="177965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700" spc="-325" dirty="0">
                <a:solidFill>
                  <a:srgbClr val="1C4ED8"/>
                </a:solidFill>
                <a:latin typeface="Dotum"/>
                <a:cs typeface="Dotum"/>
              </a:rPr>
              <a:t>교육</a:t>
            </a:r>
            <a:r>
              <a:rPr sz="1700" spc="-155" dirty="0">
                <a:solidFill>
                  <a:srgbClr val="1C4ED8"/>
                </a:solidFill>
                <a:latin typeface="Dotum"/>
                <a:cs typeface="Dotum"/>
              </a:rPr>
              <a:t> </a:t>
            </a:r>
            <a:r>
              <a:rPr sz="1700" spc="-360" dirty="0">
                <a:solidFill>
                  <a:srgbClr val="1C4ED8"/>
                </a:solidFill>
                <a:latin typeface="Dotum"/>
                <a:cs typeface="Dotum"/>
              </a:rPr>
              <a:t>목표</a:t>
            </a:r>
            <a:endParaRPr sz="1700" dirty="0">
              <a:latin typeface="Dotum"/>
              <a:cs typeface="Dotum"/>
            </a:endParaRPr>
          </a:p>
          <a:p>
            <a:pPr marL="488315" marR="85725" indent="-285750">
              <a:lnSpc>
                <a:spcPct val="129600"/>
              </a:lnSpc>
              <a:spcBef>
                <a:spcPts val="229"/>
              </a:spcBef>
              <a:buFont typeface="Arial" panose="020B0604020202020204" pitchFamily="34" charset="0"/>
              <a:buChar char="•"/>
            </a:pP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멀티클라우드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실무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역량</a:t>
            </a:r>
            <a:r>
              <a:rPr sz="1350" spc="-11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85" dirty="0" err="1">
                <a:solidFill>
                  <a:srgbClr val="333333"/>
                </a:solidFill>
                <a:latin typeface="Dotum"/>
                <a:cs typeface="Dotum"/>
              </a:rPr>
              <a:t>강화</a:t>
            </a:r>
            <a:endParaRPr lang="en-US" sz="1350" spc="500" dirty="0">
              <a:solidFill>
                <a:srgbClr val="333333"/>
              </a:solidFill>
              <a:latin typeface="Dotum"/>
              <a:cs typeface="Dotum"/>
            </a:endParaRPr>
          </a:p>
          <a:p>
            <a:pPr marL="488315" marR="85725" indent="-285750">
              <a:lnSpc>
                <a:spcPct val="129600"/>
              </a:lnSpc>
              <a:spcBef>
                <a:spcPts val="229"/>
              </a:spcBef>
              <a:buFont typeface="Arial" panose="020B0604020202020204" pitchFamily="34" charset="0"/>
              <a:buChar char="•"/>
            </a:pP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플랫폼별</a:t>
            </a:r>
            <a:r>
              <a:rPr sz="1350" spc="-11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20" dirty="0">
                <a:solidFill>
                  <a:srgbClr val="333333"/>
                </a:solidFill>
                <a:latin typeface="Dotum"/>
                <a:cs typeface="Dotum"/>
              </a:rPr>
              <a:t>특징</a:t>
            </a:r>
            <a:r>
              <a:rPr sz="1200" spc="-220" dirty="0">
                <a:solidFill>
                  <a:srgbClr val="333333"/>
                </a:solidFill>
                <a:latin typeface="Segoe UI"/>
                <a:cs typeface="Segoe UI"/>
              </a:rPr>
              <a:t>/</a:t>
            </a:r>
            <a:r>
              <a:rPr sz="1350" spc="-220" dirty="0">
                <a:solidFill>
                  <a:srgbClr val="333333"/>
                </a:solidFill>
                <a:latin typeface="Dotum"/>
                <a:cs typeface="Dotum"/>
              </a:rPr>
              <a:t>장단점</a:t>
            </a:r>
            <a:r>
              <a:rPr sz="1350" spc="-10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비교</a:t>
            </a:r>
            <a:r>
              <a:rPr sz="1350" spc="-11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분석</a:t>
            </a:r>
            <a:r>
              <a:rPr sz="1350" spc="-105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85" dirty="0" err="1">
                <a:solidFill>
                  <a:srgbClr val="333333"/>
                </a:solidFill>
                <a:latin typeface="Dotum"/>
                <a:cs typeface="Dotum"/>
              </a:rPr>
              <a:t>능력</a:t>
            </a:r>
            <a:endParaRPr lang="en-US" sz="1350" spc="500" dirty="0">
              <a:solidFill>
                <a:srgbClr val="333333"/>
              </a:solidFill>
              <a:latin typeface="Dotum"/>
              <a:cs typeface="Dotum"/>
            </a:endParaRPr>
          </a:p>
          <a:p>
            <a:pPr marL="488315" marR="85725" indent="-285750">
              <a:lnSpc>
                <a:spcPct val="129600"/>
              </a:lnSpc>
              <a:spcBef>
                <a:spcPts val="229"/>
              </a:spcBef>
              <a:buFont typeface="Arial" panose="020B0604020202020204" pitchFamily="34" charset="0"/>
              <a:buChar char="•"/>
            </a:pP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실제</a:t>
            </a:r>
            <a:r>
              <a:rPr sz="1350" spc="-12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서비스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문제</a:t>
            </a:r>
            <a:r>
              <a:rPr sz="1350" spc="-12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해결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능력</a:t>
            </a:r>
            <a:r>
              <a:rPr sz="1350" spc="-12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33333"/>
                </a:solidFill>
                <a:latin typeface="Dotum"/>
                <a:cs typeface="Dotum"/>
              </a:rPr>
              <a:t>확보</a:t>
            </a:r>
            <a:endParaRPr sz="1350" dirty="0">
              <a:latin typeface="Dotum"/>
              <a:cs typeface="Dotum"/>
            </a:endParaRPr>
          </a:p>
          <a:p>
            <a:pPr marL="488315" marR="5080" indent="-285750">
              <a:lnSpc>
                <a:spcPct val="129600"/>
              </a:lnSpc>
              <a:buFont typeface="Arial" panose="020B0604020202020204" pitchFamily="34" charset="0"/>
              <a:buChar char="•"/>
            </a:pP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비용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효율적인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클라우드</a:t>
            </a:r>
            <a:r>
              <a:rPr sz="1350" spc="-11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아키텍처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85" dirty="0" err="1">
                <a:solidFill>
                  <a:srgbClr val="333333"/>
                </a:solidFill>
                <a:latin typeface="Dotum"/>
                <a:cs typeface="Dotum"/>
              </a:rPr>
              <a:t>설계</a:t>
            </a:r>
            <a:endParaRPr lang="en-US" sz="1350" spc="500" dirty="0">
              <a:solidFill>
                <a:srgbClr val="333333"/>
              </a:solidFill>
              <a:latin typeface="Dotum"/>
              <a:cs typeface="Dotum"/>
            </a:endParaRPr>
          </a:p>
          <a:p>
            <a:pPr marL="488315" marR="5080" indent="-285750">
              <a:lnSpc>
                <a:spcPct val="129600"/>
              </a:lnSpc>
              <a:buFont typeface="Arial" panose="020B0604020202020204" pitchFamily="34" charset="0"/>
              <a:buChar char="•"/>
            </a:pPr>
            <a:r>
              <a:rPr sz="1350" spc="-260" dirty="0" err="1">
                <a:solidFill>
                  <a:srgbClr val="333333"/>
                </a:solidFill>
                <a:latin typeface="Dotum"/>
                <a:cs typeface="Dotum"/>
              </a:rPr>
              <a:t>안정적인</a:t>
            </a:r>
            <a:r>
              <a:rPr sz="1350" spc="-120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인프라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운영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및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33333"/>
                </a:solidFill>
                <a:latin typeface="Dotum"/>
                <a:cs typeface="Dotum"/>
              </a:rPr>
              <a:t>자동화</a:t>
            </a:r>
            <a:r>
              <a:rPr sz="1350" spc="-114" dirty="0">
                <a:solidFill>
                  <a:srgbClr val="333333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33333"/>
                </a:solidFill>
                <a:latin typeface="Dotum"/>
                <a:cs typeface="Dotum"/>
              </a:rPr>
              <a:t>구현</a:t>
            </a:r>
            <a:endParaRPr sz="1350" dirty="0">
              <a:latin typeface="Dotum"/>
              <a:cs typeface="Dotum"/>
            </a:endParaRPr>
          </a:p>
        </p:txBody>
      </p:sp>
      <p:grpSp>
        <p:nvGrpSpPr>
          <p:cNvPr id="47" name="object 47">
            <a:extLst>
              <a:ext uri="{FF2B5EF4-FFF2-40B4-BE49-F238E27FC236}">
                <a16:creationId xmlns:a16="http://schemas.microsoft.com/office/drawing/2014/main" id="{3AA52AC8-C67F-B2BC-9AF6-7D0522F63C62}"/>
              </a:ext>
            </a:extLst>
          </p:cNvPr>
          <p:cNvGrpSpPr/>
          <p:nvPr/>
        </p:nvGrpSpPr>
        <p:grpSpPr>
          <a:xfrm>
            <a:off x="380999" y="5714999"/>
            <a:ext cx="11430000" cy="533400"/>
            <a:chOff x="380999" y="5714999"/>
            <a:chExt cx="11430000" cy="533400"/>
          </a:xfrm>
        </p:grpSpPr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A18B1C0F-0028-8830-880E-E0B770A80A48}"/>
                </a:ext>
              </a:extLst>
            </p:cNvPr>
            <p:cNvSpPr/>
            <p:nvPr/>
          </p:nvSpPr>
          <p:spPr>
            <a:xfrm>
              <a:off x="380999" y="5714999"/>
              <a:ext cx="11430000" cy="533400"/>
            </a:xfrm>
            <a:custGeom>
              <a:avLst/>
              <a:gdLst/>
              <a:ahLst/>
              <a:cxnLst/>
              <a:rect l="l" t="t" r="r" b="b"/>
              <a:pathLst>
                <a:path w="11430000" h="533400">
                  <a:moveTo>
                    <a:pt x="11358802" y="533399"/>
                  </a:moveTo>
                  <a:lnTo>
                    <a:pt x="71196" y="533399"/>
                  </a:lnTo>
                  <a:lnTo>
                    <a:pt x="66241" y="532911"/>
                  </a:lnTo>
                  <a:lnTo>
                    <a:pt x="29705" y="517777"/>
                  </a:lnTo>
                  <a:lnTo>
                    <a:pt x="3885" y="481736"/>
                  </a:lnTo>
                  <a:lnTo>
                    <a:pt x="0" y="462203"/>
                  </a:lnTo>
                  <a:lnTo>
                    <a:pt x="0" y="4571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11358802" y="0"/>
                  </a:lnTo>
                  <a:lnTo>
                    <a:pt x="11400293" y="15621"/>
                  </a:lnTo>
                  <a:lnTo>
                    <a:pt x="11426113" y="51660"/>
                  </a:lnTo>
                  <a:lnTo>
                    <a:pt x="11429999" y="71196"/>
                  </a:lnTo>
                  <a:lnTo>
                    <a:pt x="11429999" y="462203"/>
                  </a:lnTo>
                  <a:lnTo>
                    <a:pt x="11414376" y="503693"/>
                  </a:lnTo>
                  <a:lnTo>
                    <a:pt x="11378337" y="529512"/>
                  </a:lnTo>
                  <a:lnTo>
                    <a:pt x="11363757" y="532911"/>
                  </a:lnTo>
                  <a:lnTo>
                    <a:pt x="11358802" y="5333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>
              <a:extLst>
                <a:ext uri="{FF2B5EF4-FFF2-40B4-BE49-F238E27FC236}">
                  <a16:creationId xmlns:a16="http://schemas.microsoft.com/office/drawing/2014/main" id="{52F621C5-91BE-BA4D-AB68-5ED3E141E00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2674" y="5905499"/>
              <a:ext cx="152399" cy="152399"/>
            </a:xfrm>
            <a:prstGeom prst="rect">
              <a:avLst/>
            </a:prstGeom>
          </p:spPr>
        </p:pic>
      </p:grpSp>
      <p:sp>
        <p:nvSpPr>
          <p:cNvPr id="50" name="object 50">
            <a:extLst>
              <a:ext uri="{FF2B5EF4-FFF2-40B4-BE49-F238E27FC236}">
                <a16:creationId xmlns:a16="http://schemas.microsoft.com/office/drawing/2014/main" id="{E71949A4-BA76-4DB3-A718-A1D565CFDB69}"/>
              </a:ext>
            </a:extLst>
          </p:cNvPr>
          <p:cNvSpPr txBox="1"/>
          <p:nvPr/>
        </p:nvSpPr>
        <p:spPr>
          <a:xfrm>
            <a:off x="2612553" y="5853937"/>
            <a:ext cx="9401810" cy="808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각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200" spc="-40" dirty="0">
                <a:solidFill>
                  <a:srgbClr val="1D40AF"/>
                </a:solidFill>
                <a:latin typeface="Segoe UI"/>
                <a:cs typeface="Segoe UI"/>
              </a:rPr>
              <a:t>Chapter</a:t>
            </a:r>
            <a:r>
              <a:rPr sz="1350" spc="-40" dirty="0">
                <a:solidFill>
                  <a:srgbClr val="1D40AF"/>
                </a:solidFill>
                <a:latin typeface="Dotum"/>
                <a:cs typeface="Dotum"/>
              </a:rPr>
              <a:t>는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이론과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실습이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균형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있게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구성되어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00" dirty="0">
                <a:solidFill>
                  <a:srgbClr val="1D40AF"/>
                </a:solidFill>
                <a:latin typeface="Dotum"/>
                <a:cs typeface="Dotum"/>
              </a:rPr>
              <a:t>있으며</a:t>
            </a:r>
            <a:r>
              <a:rPr sz="1200" spc="-200" dirty="0">
                <a:solidFill>
                  <a:srgbClr val="1D40AF"/>
                </a:solidFill>
                <a:latin typeface="Segoe UI"/>
                <a:cs typeface="Segoe UI"/>
              </a:rPr>
              <a:t>,</a:t>
            </a:r>
            <a:r>
              <a:rPr sz="1200" spc="15" dirty="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단계별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미션과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체크리스트를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통해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실무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역량을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10" dirty="0">
                <a:solidFill>
                  <a:srgbClr val="1D40AF"/>
                </a:solidFill>
                <a:latin typeface="Dotum"/>
                <a:cs typeface="Dotum"/>
              </a:rPr>
              <a:t>점검합니다</a:t>
            </a:r>
            <a:r>
              <a:rPr sz="1200" spc="-10" dirty="0">
                <a:solidFill>
                  <a:srgbClr val="1D40AF"/>
                </a:solidFill>
                <a:latin typeface="Segoe UI"/>
                <a:cs typeface="Segoe UI"/>
              </a:rPr>
              <a:t>.</a:t>
            </a:r>
            <a:endParaRPr sz="1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200" dirty="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50" spc="-190" dirty="0">
                <a:solidFill>
                  <a:srgbClr val="666666"/>
                </a:solidFill>
                <a:latin typeface="Dotum"/>
                <a:cs typeface="Dotum"/>
              </a:rPr>
              <a:t>클라우드</a:t>
            </a:r>
            <a:r>
              <a:rPr sz="1150" spc="-85" dirty="0">
                <a:solidFill>
                  <a:srgbClr val="666666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666666"/>
                </a:solidFill>
                <a:latin typeface="Dotum"/>
                <a:cs typeface="Dotum"/>
              </a:rPr>
              <a:t>실무력</a:t>
            </a:r>
            <a:r>
              <a:rPr sz="1150" spc="-85" dirty="0">
                <a:solidFill>
                  <a:srgbClr val="666666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666666"/>
                </a:solidFill>
                <a:latin typeface="Dotum"/>
                <a:cs typeface="Dotum"/>
              </a:rPr>
              <a:t>강화</a:t>
            </a:r>
            <a:r>
              <a:rPr sz="1150" spc="-85" dirty="0">
                <a:solidFill>
                  <a:srgbClr val="666666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666666"/>
                </a:solidFill>
                <a:latin typeface="Dotum"/>
                <a:cs typeface="Dotum"/>
              </a:rPr>
              <a:t>기초과정</a:t>
            </a:r>
            <a:r>
              <a:rPr sz="1150" spc="-85" dirty="0">
                <a:solidFill>
                  <a:srgbClr val="666666"/>
                </a:solidFill>
                <a:latin typeface="Dotum"/>
                <a:cs typeface="Dotum"/>
              </a:rPr>
              <a:t> </a:t>
            </a: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|</a:t>
            </a:r>
            <a:r>
              <a:rPr sz="1050" spc="15" dirty="0">
                <a:solidFill>
                  <a:srgbClr val="666666"/>
                </a:solidFill>
                <a:latin typeface="Segoe UI"/>
                <a:cs typeface="Segoe UI"/>
              </a:rPr>
              <a:t> </a:t>
            </a:r>
            <a:r>
              <a:rPr sz="1050" dirty="0">
                <a:solidFill>
                  <a:srgbClr val="666666"/>
                </a:solidFill>
                <a:latin typeface="Segoe UI"/>
                <a:cs typeface="Segoe UI"/>
              </a:rPr>
              <a:t>2025-08-</a:t>
            </a:r>
            <a:r>
              <a:rPr sz="1050" spc="-25" dirty="0">
                <a:solidFill>
                  <a:srgbClr val="666666"/>
                </a:solidFill>
                <a:latin typeface="Segoe UI"/>
                <a:cs typeface="Segoe UI"/>
              </a:rPr>
              <a:t>27</a:t>
            </a:r>
            <a:endParaRPr sz="105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2419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390</Words>
  <Application>Microsoft Office PowerPoint</Application>
  <PresentationFormat>사용자 지정</PresentationFormat>
  <Paragraphs>53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HY목각파임B</vt:lpstr>
      <vt:lpstr>Dotum</vt:lpstr>
      <vt:lpstr>Arial</vt:lpstr>
      <vt:lpstr>Segoe UI</vt:lpstr>
      <vt:lpstr>Office Theme</vt:lpstr>
      <vt:lpstr>클라우드 실무력 강화!  활용법 (기초)</vt:lpstr>
      <vt:lpstr>PowerPoint 프레젠테이션</vt:lpstr>
      <vt:lpstr>PowerPoint 프레젠테이션</vt:lpstr>
      <vt:lpstr>PowerPoint 프레젠테이션</vt:lpstr>
      <vt:lpstr>PowerPoint 프레젠테이션</vt:lpstr>
      <vt:lpstr>전체 개요 및 학습 로드맵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jupyteronline@gmail.com</cp:lastModifiedBy>
  <cp:revision>9</cp:revision>
  <dcterms:created xsi:type="dcterms:W3CDTF">2025-08-27T11:03:20Z</dcterms:created>
  <dcterms:modified xsi:type="dcterms:W3CDTF">2025-09-02T00:53:14Z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2025-08-27T00:00:00Z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2025-08-27T00:00:00Z</vt:filetime>
  </property>
</Properties>
</file>