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907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5484"/>
    <p:restoredTop sz="87939"/>
  </p:normalViewPr>
  <p:slideViewPr>
    <p:cSldViewPr snapToObjects="1">
      <p:cViewPr>
        <p:scale>
          <a:sx n="90" d="100"/>
          <a:sy n="9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presProps" Target="presProps.xml"  /><Relationship Id="rId48" Type="http://schemas.openxmlformats.org/officeDocument/2006/relationships/viewProps" Target="viewProps.xml"  /><Relationship Id="rId49" Type="http://schemas.openxmlformats.org/officeDocument/2006/relationships/theme" Target="theme/theme1.xml"  /><Relationship Id="rId5" Type="http://schemas.openxmlformats.org/officeDocument/2006/relationships/slide" Target="slides/slide3.xml"  /><Relationship Id="rId50" Type="http://schemas.openxmlformats.org/officeDocument/2006/relationships/tableStyles" Target="tableStyles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jpe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jpeg"  /><Relationship Id="rId3" Type="http://schemas.openxmlformats.org/officeDocument/2006/relationships/image" Target="../media/image6.png"  /><Relationship Id="rId4" Type="http://schemas.openxmlformats.org/officeDocument/2006/relationships/image" Target="../media/image7.jpeg"  /><Relationship Id="rId5" Type="http://schemas.openxmlformats.org/officeDocument/2006/relationships/image" Target="../media/image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jpeg"  /><Relationship Id="rId4" Type="http://schemas.openxmlformats.org/officeDocument/2006/relationships/image" Target="../media/image9.png"  /><Relationship Id="rId5" Type="http://schemas.openxmlformats.org/officeDocument/2006/relationships/image" Target="../media/image9.png"  /><Relationship Id="rId6" Type="http://schemas.openxmlformats.org/officeDocument/2006/relationships/image" Target="../media/image9.png"  /><Relationship Id="rId7" Type="http://schemas.openxmlformats.org/officeDocument/2006/relationships/image" Target="../media/image9.png"  /><Relationship Id="rId8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jpe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www.youtube.com/watch?v=wW9CAH9nSLs" TargetMode="External" /><Relationship Id="rId3" Type="http://schemas.openxmlformats.org/officeDocument/2006/relationships/image" Target="../media/image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jpeg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Relationship Id="rId5" Type="http://schemas.openxmlformats.org/officeDocument/2006/relationships/image" Target="../media/image1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15.jpeg"  /><Relationship Id="rId11" Type="http://schemas.openxmlformats.org/officeDocument/2006/relationships/image" Target="../media/image15.jpeg"  /><Relationship Id="rId12" Type="http://schemas.openxmlformats.org/officeDocument/2006/relationships/image" Target="../media/image15.jpeg"  /><Relationship Id="rId13" Type="http://schemas.openxmlformats.org/officeDocument/2006/relationships/image" Target="../media/image5.jpeg"  /><Relationship Id="rId2" Type="http://schemas.openxmlformats.org/officeDocument/2006/relationships/image" Target="../media/image5.jpeg"  /><Relationship Id="rId3" Type="http://schemas.openxmlformats.org/officeDocument/2006/relationships/image" Target="../media/image15.jpeg"  /><Relationship Id="rId4" Type="http://schemas.openxmlformats.org/officeDocument/2006/relationships/image" Target="../media/image15.jpeg"  /><Relationship Id="rId5" Type="http://schemas.openxmlformats.org/officeDocument/2006/relationships/image" Target="../media/image15.jpeg"  /><Relationship Id="rId6" Type="http://schemas.openxmlformats.org/officeDocument/2006/relationships/image" Target="../media/image15.jpeg"  /><Relationship Id="rId7" Type="http://schemas.openxmlformats.org/officeDocument/2006/relationships/image" Target="../media/image15.jpeg"  /><Relationship Id="rId8" Type="http://schemas.openxmlformats.org/officeDocument/2006/relationships/image" Target="../media/image15.jpeg"  /><Relationship Id="rId9" Type="http://schemas.openxmlformats.org/officeDocument/2006/relationships/image" Target="../media/image15.jpe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hub.docker.com/" TargetMode="External" /><Relationship Id="rId3" Type="http://schemas.openxmlformats.org/officeDocument/2006/relationships/image" Target="../media/image1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png"  /><Relationship Id="rId3" Type="http://schemas.openxmlformats.org/officeDocument/2006/relationships/image" Target="../media/image7.jpeg"  /><Relationship Id="rId4" Type="http://schemas.openxmlformats.org/officeDocument/2006/relationships/image" Target="../media/image1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Relationship Id="rId3" Type="http://schemas.openxmlformats.org/officeDocument/2006/relationships/image" Target="../media/image19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png"  /><Relationship Id="rId3" Type="http://schemas.openxmlformats.org/officeDocument/2006/relationships/image" Target="../media/image19.png"  /><Relationship Id="rId4" Type="http://schemas.openxmlformats.org/officeDocument/2006/relationships/image" Target="../media/image19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png"  /><Relationship Id="rId3" Type="http://schemas.openxmlformats.org/officeDocument/2006/relationships/image" Target="../media/image21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Relationship Id="rId3" Type="http://schemas.openxmlformats.org/officeDocument/2006/relationships/image" Target="../media/image7.jpeg"  /><Relationship Id="rId4" Type="http://schemas.openxmlformats.org/officeDocument/2006/relationships/image" Target="../media/image13.png"  /><Relationship Id="rId5" Type="http://schemas.openxmlformats.org/officeDocument/2006/relationships/image" Target="../media/image23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Relationship Id="rId3" Type="http://schemas.openxmlformats.org/officeDocument/2006/relationships/image" Target="../media/image2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Relationship Id="rId3" Type="http://schemas.openxmlformats.org/officeDocument/2006/relationships/image" Target="../media/image2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Relationship Id="rId3" Type="http://schemas.openxmlformats.org/officeDocument/2006/relationships/image" Target="../media/image2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Relationship Id="rId3" Type="http://schemas.openxmlformats.org/officeDocument/2006/relationships/image" Target="../media/image2.png"  /><Relationship Id="rId4" Type="http://schemas.openxmlformats.org/officeDocument/2006/relationships/image" Target="../media/image23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Relationship Id="rId3" Type="http://schemas.openxmlformats.org/officeDocument/2006/relationships/image" Target="../media/image22.png"  /><Relationship Id="rId4" Type="http://schemas.openxmlformats.org/officeDocument/2006/relationships/image" Target="../media/image19.png"  /><Relationship Id="rId5" Type="http://schemas.openxmlformats.org/officeDocument/2006/relationships/image" Target="../media/image19.png"  /><Relationship Id="rId6" Type="http://schemas.openxmlformats.org/officeDocument/2006/relationships/image" Target="../media/image19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Relationship Id="rId3" Type="http://schemas.openxmlformats.org/officeDocument/2006/relationships/image" Target="../media/image24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7.jpe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25.jpe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82873" y="523351"/>
            <a:ext cx="7026254" cy="58112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55954" y="1725358"/>
            <a:ext cx="6880091" cy="3407283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2135505" y="404622"/>
            <a:ext cx="7920990" cy="669798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ko-KR" altLang="en-US" sz="3800"/>
              <a:t>이것만 알면 오늘 수업 끝</a:t>
            </a:r>
            <a:r>
              <a:rPr lang="en-US" altLang="ko-KR" sz="3800"/>
              <a:t>!</a:t>
            </a:r>
            <a:endParaRPr lang="en-US" altLang="ko-KR" sz="3800"/>
          </a:p>
        </p:txBody>
      </p:sp>
      <p:sp>
        <p:nvSpPr>
          <p:cNvPr id="7" name=""/>
          <p:cNvSpPr txBox="1"/>
          <p:nvPr/>
        </p:nvSpPr>
        <p:spPr>
          <a:xfrm>
            <a:off x="1091374" y="5442204"/>
            <a:ext cx="10009252" cy="394716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en-US" altLang="ko-KR" sz="2000"/>
              <a:t>Dockerfile</a:t>
            </a:r>
            <a:r>
              <a:rPr lang="ko-KR" altLang="en-US" sz="2000"/>
              <a:t>을 이용해 </a:t>
            </a:r>
            <a:r>
              <a:rPr lang="en-US" altLang="ko-KR" sz="2000"/>
              <a:t>DockerImage</a:t>
            </a:r>
            <a:r>
              <a:rPr lang="ko-KR" altLang="en-US" sz="2000"/>
              <a:t>를 만들고 </a:t>
            </a:r>
            <a:r>
              <a:rPr lang="en-US" altLang="ko-KR" sz="2000"/>
              <a:t>DockerContainer</a:t>
            </a:r>
            <a:r>
              <a:rPr lang="ko-KR" altLang="en-US" sz="2000"/>
              <a:t>를 생성하고 시작한다</a:t>
            </a:r>
            <a:r>
              <a:rPr lang="en-US" altLang="ko-KR" sz="2000"/>
              <a:t>.</a:t>
            </a:r>
            <a:endParaRPr lang="en-US" altLang="ko-KR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3ed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1127379" y="908685"/>
            <a:ext cx="2880360" cy="1368171"/>
          </a:xfrm>
          <a:prstGeom prst="wedgeRoundRectCallout">
            <a:avLst>
              <a:gd name="adj1" fmla="val 76447"/>
              <a:gd name="adj2" fmla="val 30755"/>
              <a:gd name="adj3" fmla="val 16667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"/>
          <p:cNvSpPr txBox="1"/>
          <p:nvPr/>
        </p:nvSpPr>
        <p:spPr>
          <a:xfrm>
            <a:off x="1343406" y="1340739"/>
            <a:ext cx="2448306" cy="524256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en-US" altLang="ko-KR" sz="2900"/>
              <a:t>Why Docker?</a:t>
            </a:r>
            <a:endParaRPr lang="en-US" altLang="ko-KR" sz="2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91262" y="208788"/>
            <a:ext cx="1355788" cy="484632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en-US" altLang="ko-KR" sz="2600" b="1"/>
              <a:t>Case. 1</a:t>
            </a:r>
            <a:endParaRPr lang="en-US" altLang="ko-KR" sz="2600" b="1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1262" y="1912047"/>
            <a:ext cx="4320540" cy="4660583"/>
          </a:xfrm>
          <a:prstGeom prst="rect">
            <a:avLst/>
          </a:prstGeom>
        </p:spPr>
      </p:pic>
      <p:grpSp>
        <p:nvGrpSpPr>
          <p:cNvPr id="8" name=""/>
          <p:cNvGrpSpPr/>
          <p:nvPr/>
        </p:nvGrpSpPr>
        <p:grpSpPr>
          <a:xfrm rot="0">
            <a:off x="4079748" y="1912047"/>
            <a:ext cx="2378361" cy="1516952"/>
            <a:chOff x="1547050" y="3933063"/>
            <a:chExt cx="1524573" cy="936117"/>
          </a:xfrm>
        </p:grpSpPr>
        <p:sp>
          <p:nvSpPr>
            <p:cNvPr id="6" name=""/>
            <p:cNvSpPr/>
            <p:nvPr/>
          </p:nvSpPr>
          <p:spPr>
            <a:xfrm>
              <a:off x="1547050" y="3933063"/>
              <a:ext cx="1524572" cy="936117"/>
            </a:xfrm>
            <a:prstGeom prst="wedgeRoundRectCallout">
              <a:avLst>
                <a:gd name="adj1" fmla="val -67424"/>
                <a:gd name="adj2" fmla="val 52258"/>
                <a:gd name="adj3" fmla="val 16667"/>
              </a:avLst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7" name=""/>
            <p:cNvSpPr txBox="1"/>
            <p:nvPr/>
          </p:nvSpPr>
          <p:spPr>
            <a:xfrm>
              <a:off x="1547050" y="4181474"/>
              <a:ext cx="1524572" cy="36912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defRPr/>
              </a:pPr>
              <a:r>
                <a:rPr lang="en-US" altLang="ko-KR" sz="3400" b="1"/>
                <a:t>Analysis</a:t>
              </a:r>
              <a:endParaRPr lang="en-US" altLang="ko-KR" sz="3400" b="1"/>
            </a:p>
          </p:txBody>
        </p:sp>
      </p:grpSp>
      <p:pic>
        <p:nvPicPr>
          <p:cNvPr id="1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51982" y="5610225"/>
            <a:ext cx="1012251" cy="1247775"/>
          </a:xfrm>
          <a:prstGeom prst="rect">
            <a:avLst/>
          </a:prstGeom>
        </p:spPr>
      </p:pic>
      <p:sp>
        <p:nvSpPr>
          <p:cNvPr id="13" name=""/>
          <p:cNvSpPr/>
          <p:nvPr/>
        </p:nvSpPr>
        <p:spPr>
          <a:xfrm>
            <a:off x="1991487" y="4365117"/>
            <a:ext cx="864108" cy="792099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grpSp>
        <p:nvGrpSpPr>
          <p:cNvPr id="17" name=""/>
          <p:cNvGrpSpPr/>
          <p:nvPr/>
        </p:nvGrpSpPr>
        <p:grpSpPr>
          <a:xfrm rot="0">
            <a:off x="3396695" y="208788"/>
            <a:ext cx="3744468" cy="2519553"/>
            <a:chOff x="3396695" y="208788"/>
            <a:chExt cx="3744468" cy="2519553"/>
          </a:xfrm>
        </p:grpSpPr>
        <p:sp>
          <p:nvSpPr>
            <p:cNvPr id="15" name=""/>
            <p:cNvSpPr/>
            <p:nvPr/>
          </p:nvSpPr>
          <p:spPr>
            <a:xfrm>
              <a:off x="3396695" y="208788"/>
              <a:ext cx="3744468" cy="2519553"/>
            </a:xfrm>
            <a:prstGeom prst="cloudCallout">
              <a:avLst>
                <a:gd name="adj1" fmla="val -48736"/>
                <a:gd name="adj2" fmla="val 70179"/>
              </a:avLst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pic>
          <p:nvPicPr>
            <p:cNvPr id="16" name="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4438650" y="573595"/>
              <a:ext cx="1657350" cy="1789937"/>
            </a:xfrm>
            <a:prstGeom prst="rect">
              <a:avLst/>
            </a:prstGeom>
          </p:spPr>
        </p:pic>
      </p:grpSp>
      <p:grpSp>
        <p:nvGrpSpPr>
          <p:cNvPr id="22" name=""/>
          <p:cNvGrpSpPr/>
          <p:nvPr/>
        </p:nvGrpSpPr>
        <p:grpSpPr>
          <a:xfrm rot="0">
            <a:off x="3396695" y="208788"/>
            <a:ext cx="3744468" cy="2519553"/>
            <a:chOff x="6672072" y="1628775"/>
            <a:chExt cx="3744468" cy="2519553"/>
          </a:xfrm>
        </p:grpSpPr>
        <p:sp>
          <p:nvSpPr>
            <p:cNvPr id="19" name=""/>
            <p:cNvSpPr/>
            <p:nvPr/>
          </p:nvSpPr>
          <p:spPr>
            <a:xfrm>
              <a:off x="6672072" y="1628775"/>
              <a:ext cx="3744468" cy="2519553"/>
            </a:xfrm>
            <a:prstGeom prst="cloudCallout">
              <a:avLst>
                <a:gd name="adj1" fmla="val -48736"/>
                <a:gd name="adj2" fmla="val 70179"/>
              </a:avLst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pic>
          <p:nvPicPr>
            <p:cNvPr id="21" name="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7786470" y="2130714"/>
              <a:ext cx="1515673" cy="151567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9 0.00455 L -0.00539 -0.00162 L -0.00626 -0.00316 L -0.00887 -0.00471 L -0.01147 -0.01088 L -0.01321 -0.01242 L -0.01581 -0.01551 L -0.01755 -0.02014 L -0.02015 -0.02323 L -0.02276 -0.02786 L -0.02536 -0.03094 L -0.02623 -0.03403 L -0.02883 -0.03711 L -0.02970 -0.03866 L -0.03144 -0.04174 L -0.03317 -0.04329 L -0.03404 -0.04483 L -0.03491 -0.04637 L -0.03664 -0.04792 L -0.03751 -0.04792 L -0.03838 -0.04946 L -0.03925 -0.05100 L -0.04012 -0.05255 L -0.04099 -0.05255 L -0.04272 -0.05563 L -0.04446 -0.05718 L -0.04533 -0.05872 L -0.04619 -0.06026 L -0.04880 -0.06181 L -0.04967 -0.06489 L -0.05140 -0.06644 L -0.05314 -0.06644 L -0.05401 -0.06798 L -0.05574 -0.06952 L -0.05748 -0.07106 L -0.05921 -0.07261 L -0.06095 -0.07569 L -0.06269 -0.07569 L -0.06442 -0.07878 L -0.06703 -0.08032 L -0.06963 -0.08187 L -0.07050 -0.08341 L -0.07224 -0.08341 L -0.07397 -0.08495 L -0.07484 -0.08650 L -0.07571 -0.08650 L -0.07831 -0.08804 L -0.07918 -0.08958 L -0.08092 -0.09113 L -0.08265 -0.09267 L -0.08439 -0.09267 L -0.08699 -0.09576 L -0.08786 -0.09576 L -0.09046 -0.09730 L -0.09307 -0.09884 L -0.09654 -0.10039 L -0.09914 -0.10193 L -0.10175 -0.10347 L -0.10522 -0.10656 L -0.10783 -0.10810 L -0.11130 -0.10965 L -0.11390 -0.11119 L -0.11651 -0.11273 L -0.11911 -0.11427 L -0.12085 -0.11582 L -0.12258 -0.11582 L -0.12519 -0.11736 L -0.12779 -0.11890 L -0.13039 -0.12045 L -0.13300 -0.12045 L -0.13647 -0.12199 L -0.13908 -0.12353 L -0.14168 -0.12508 L -0.14515 -0.12508 L -0.14689 -0.12662 L -0.14862 -0.12816 L -0.15123 -0.12971 L -0.15296 -0.12971 L -0.15557 -0.13279 L -0.15730 -0.13279 L -0.15991 -0.13434 L -0.16338 -0.13434 L -0.16599 -0.13588 L -0.16859 -0.13742 L -0.17206 -0.13897 L -0.17467 -0.14051 L -0.17987 -0.14051 L -0.18161 -0.14205 L -0.18682 -0.14205 L -0.18855 -0.14360 L -0.19289 -0.14360 L -0.19376 -0.14514 L -0.19550 -0.14668 L -0.19724 -0.14668 L -0.19897 -0.14823 L -0.19984 -0.14823 L -0.20158 -0.14977 L -0.20678 -0.14977 L -0.20939 -0.15131 L -0.21373 -0.15131 L -0.21633 -0.15286 L -0.21980 -0.15286 L -0.22154 -0.15440 L -0.22762 -0.15440 L -0.22849 -0.15594 L -0.23022 -0.15594 L -0.23196 -0.15748 L -0.23717 -0.15748 L -0.23977 -0.15903 L -0.24411 -0.15903 L -0.24585 -0.16057 L -0.25192 -0.16057 L -0.25366 -0.16211 L -0.25539 -0.16366 L -0.25974 -0.16366 L -0.26321 -0.16520 L -0.26408 -0.16520 L -0.26668 -0.16674 L -0.27970 -0.16674 L -0.28144 -0.16829 L -0.30835 -0.16829 L -0.30921 -0.16983 L -0.32224 -0.16983 " pathEditMode="relative" ptsTypes="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1" animBg="1"/>
      <p:bldP spid="17" grpId="2" animBg="1"/>
      <p:bldP spid="22" grpId="3" animBg="1"/>
    </p:bldLst>
  </p:timing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91262" y="208788"/>
            <a:ext cx="1355788" cy="484632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en-US" altLang="ko-KR" sz="2600" b="1"/>
              <a:t>Case. 1</a:t>
            </a:r>
            <a:endParaRPr lang="en-US" altLang="ko-KR" sz="2600" b="1"/>
          </a:p>
        </p:txBody>
      </p:sp>
      <p:grpSp>
        <p:nvGrpSpPr>
          <p:cNvPr id="26" name=""/>
          <p:cNvGrpSpPr/>
          <p:nvPr/>
        </p:nvGrpSpPr>
        <p:grpSpPr>
          <a:xfrm rot="0">
            <a:off x="6744081" y="208788"/>
            <a:ext cx="3312414" cy="1732979"/>
            <a:chOff x="6672072" y="208788"/>
            <a:chExt cx="3312414" cy="1732979"/>
          </a:xfrm>
        </p:grpSpPr>
        <p:sp>
          <p:nvSpPr>
            <p:cNvPr id="24" name=""/>
            <p:cNvSpPr/>
            <p:nvPr/>
          </p:nvSpPr>
          <p:spPr>
            <a:xfrm>
              <a:off x="6672072" y="208788"/>
              <a:ext cx="3312414" cy="1732979"/>
            </a:xfrm>
            <a:prstGeom prst="wedgeEllipseCallout">
              <a:avLst>
                <a:gd name="adj1" fmla="val -51296"/>
                <a:gd name="adj2" fmla="val 49187"/>
              </a:avLst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25" name=""/>
            <p:cNvSpPr txBox="1"/>
            <p:nvPr/>
          </p:nvSpPr>
          <p:spPr>
            <a:xfrm>
              <a:off x="6964233" y="832390"/>
              <a:ext cx="2876236" cy="48968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defRPr/>
              </a:pPr>
              <a:r>
                <a:rPr lang="en-US" altLang="ko-KR" sz="2600"/>
                <a:t>You only develop</a:t>
              </a:r>
              <a:endParaRPr lang="en-US" altLang="ko-KR" sz="2600"/>
            </a:p>
          </p:txBody>
        </p:sp>
      </p:grpSp>
      <p:pic>
        <p:nvPicPr>
          <p:cNvPr id="2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91223" y="1075277"/>
            <a:ext cx="6409552" cy="53012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91262" y="208788"/>
            <a:ext cx="1355788" cy="484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Case. 1</a:t>
            </a:r>
            <a:endParaRPr lang="en-US" altLang="ko-KR" sz="2600" b="1"/>
          </a:p>
        </p:txBody>
      </p:sp>
      <p:sp>
        <p:nvSpPr>
          <p:cNvPr id="5" name=""/>
          <p:cNvSpPr txBox="1"/>
          <p:nvPr/>
        </p:nvSpPr>
        <p:spPr>
          <a:xfrm>
            <a:off x="2351532" y="2650998"/>
            <a:ext cx="7488936" cy="1557147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ko-KR" altLang="en-US" sz="9600"/>
              <a:t>똑같은 환경</a:t>
            </a:r>
            <a:endParaRPr lang="ko-KR" altLang="en-US" sz="9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91262" y="208788"/>
            <a:ext cx="1355788" cy="484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Case. 2</a:t>
            </a:r>
            <a:endParaRPr lang="en-US" altLang="ko-KR" sz="2600" b="1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1262" y="1912047"/>
            <a:ext cx="4320540" cy="4660583"/>
          </a:xfrm>
          <a:prstGeom prst="rect">
            <a:avLst/>
          </a:prstGeom>
        </p:spPr>
      </p:pic>
      <p:grpSp>
        <p:nvGrpSpPr>
          <p:cNvPr id="13" name=""/>
          <p:cNvGrpSpPr/>
          <p:nvPr/>
        </p:nvGrpSpPr>
        <p:grpSpPr>
          <a:xfrm rot="0">
            <a:off x="4471935" y="0"/>
            <a:ext cx="1266794" cy="6858000"/>
            <a:chOff x="4471935" y="0"/>
            <a:chExt cx="1266794" cy="6858000"/>
          </a:xfrm>
        </p:grpSpPr>
        <p:pic>
          <p:nvPicPr>
            <p:cNvPr id="6" name="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4511802" y="0"/>
              <a:ext cx="1226926" cy="1348856"/>
            </a:xfrm>
            <a:prstGeom prst="rect">
              <a:avLst/>
            </a:prstGeom>
          </p:spPr>
        </p:pic>
        <p:grpSp>
          <p:nvGrpSpPr>
            <p:cNvPr id="12" name=""/>
            <p:cNvGrpSpPr/>
            <p:nvPr/>
          </p:nvGrpSpPr>
          <p:grpSpPr>
            <a:xfrm rot="0">
              <a:off x="4471935" y="1237619"/>
              <a:ext cx="1266794" cy="5620381"/>
              <a:chOff x="4471934" y="1237618"/>
              <a:chExt cx="1266794" cy="5620381"/>
            </a:xfrm>
          </p:grpSpPr>
          <p:pic>
            <p:nvPicPr>
              <p:cNvPr id="7" name=""/>
              <p:cNvPicPr>
                <a:picLocks noChangeAspect="1"/>
              </p:cNvPicPr>
              <p:nvPr/>
            </p:nvPicPr>
            <p:blipFill rotWithShape="1">
              <a:blip r:embed="rId5"/>
              <a:stretch>
                <a:fillRect/>
              </a:stretch>
            </p:blipFill>
            <p:spPr>
              <a:xfrm>
                <a:off x="4511802" y="1237618"/>
                <a:ext cx="1226926" cy="1348856"/>
              </a:xfrm>
              <a:prstGeom prst="rect">
                <a:avLst/>
              </a:prstGeom>
            </p:spPr>
          </p:pic>
          <p:pic>
            <p:nvPicPr>
              <p:cNvPr id="8" name=""/>
              <p:cNvPicPr>
                <a:picLocks noChangeAspect="1"/>
              </p:cNvPicPr>
              <p:nvPr/>
            </p:nvPicPr>
            <p:blipFill rotWithShape="1">
              <a:blip r:embed="rId6"/>
              <a:stretch>
                <a:fillRect/>
              </a:stretch>
            </p:blipFill>
            <p:spPr>
              <a:xfrm>
                <a:off x="4511802" y="2586475"/>
                <a:ext cx="1226926" cy="1348856"/>
              </a:xfrm>
              <a:prstGeom prst="rect">
                <a:avLst/>
              </a:prstGeom>
            </p:spPr>
          </p:pic>
          <p:sp>
            <p:nvSpPr>
              <p:cNvPr id="9" name=""/>
              <p:cNvSpPr txBox="1"/>
              <p:nvPr/>
            </p:nvSpPr>
            <p:spPr>
              <a:xfrm>
                <a:off x="4794885" y="4036932"/>
                <a:ext cx="581025" cy="410814"/>
              </a:xfrm>
              <a:prstGeom prst="rect">
                <a:avLst/>
              </a:prstGeom>
            </p:spPr>
            <p:txBody>
              <a:bodyPr vert="eaVert" wrap="square">
                <a:spAutoFit/>
              </a:bodyPr>
              <a:p>
                <a:pPr>
                  <a:defRPr/>
                </a:pPr>
                <a:r>
                  <a:rPr lang="en-US" altLang="ko-KR" sz="2500" b="1"/>
                  <a:t>...</a:t>
                </a:r>
                <a:endParaRPr lang="en-US" altLang="ko-KR" sz="2500" b="1"/>
              </a:p>
            </p:txBody>
          </p:sp>
          <p:pic>
            <p:nvPicPr>
              <p:cNvPr id="10" name=""/>
              <p:cNvPicPr>
                <a:picLocks noChangeAspect="1"/>
              </p:cNvPicPr>
              <p:nvPr/>
            </p:nvPicPr>
            <p:blipFill rotWithShape="1">
              <a:blip r:embed="rId7"/>
              <a:stretch>
                <a:fillRect/>
              </a:stretch>
            </p:blipFill>
            <p:spPr>
              <a:xfrm>
                <a:off x="4471934" y="4447746"/>
                <a:ext cx="1226926" cy="1348856"/>
              </a:xfrm>
              <a:prstGeom prst="rect">
                <a:avLst/>
              </a:prstGeom>
            </p:spPr>
          </p:pic>
          <p:pic>
            <p:nvPicPr>
              <p:cNvPr id="11" name=""/>
              <p:cNvPicPr>
                <a:picLocks noChangeAspect="1"/>
              </p:cNvPicPr>
              <p:nvPr/>
            </p:nvPicPr>
            <p:blipFill rotWithShape="1">
              <a:blip r:embed="rId8"/>
              <a:stretch>
                <a:fillRect/>
              </a:stretch>
            </p:blipFill>
            <p:spPr>
              <a:xfrm>
                <a:off x="4511802" y="5509143"/>
                <a:ext cx="1226926" cy="1348856"/>
              </a:xfrm>
              <a:prstGeom prst="rect">
                <a:avLst/>
              </a:prstGeom>
            </p:spPr>
          </p:pic>
        </p:grpSp>
      </p:grpSp>
      <p:grpSp>
        <p:nvGrpSpPr>
          <p:cNvPr id="30" name=""/>
          <p:cNvGrpSpPr/>
          <p:nvPr/>
        </p:nvGrpSpPr>
        <p:grpSpPr>
          <a:xfrm rot="0">
            <a:off x="5879973" y="90297"/>
            <a:ext cx="3309640" cy="726948"/>
            <a:chOff x="5879973" y="90297"/>
            <a:chExt cx="3309640" cy="726948"/>
          </a:xfrm>
        </p:grpSpPr>
        <p:sp>
          <p:nvSpPr>
            <p:cNvPr id="15" name=""/>
            <p:cNvSpPr txBox="1"/>
            <p:nvPr/>
          </p:nvSpPr>
          <p:spPr>
            <a:xfrm>
              <a:off x="5879973" y="451104"/>
              <a:ext cx="2880360" cy="36614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defRPr/>
              </a:pPr>
              <a:r>
                <a:rPr lang="en-US" altLang="ko-KR"/>
                <a:t>6GB  /  </a:t>
              </a:r>
              <a:r>
                <a:rPr lang="ko-KR" altLang="en-US"/>
                <a:t>  </a:t>
              </a:r>
              <a:r>
                <a:rPr lang="en-US" altLang="ko-KR"/>
                <a:t>1GB   /   20</a:t>
              </a:r>
              <a:r>
                <a:rPr lang="ko-KR" altLang="en-US"/>
                <a:t>초</a:t>
              </a:r>
              <a:endParaRPr lang="ko-KR" altLang="en-US"/>
            </a:p>
          </p:txBody>
        </p:sp>
        <p:sp>
          <p:nvSpPr>
            <p:cNvPr id="20" name=""/>
            <p:cNvSpPr txBox="1"/>
            <p:nvPr/>
          </p:nvSpPr>
          <p:spPr>
            <a:xfrm>
              <a:off x="5879973" y="90297"/>
              <a:ext cx="3309640" cy="36499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defRPr/>
              </a:pPr>
              <a:r>
                <a:rPr lang="ko-KR" altLang="en-US"/>
                <a:t>용량  </a:t>
              </a:r>
              <a:r>
                <a:rPr lang="en-US" altLang="ko-KR"/>
                <a:t>/</a:t>
              </a:r>
              <a:r>
                <a:rPr lang="ko-KR" altLang="en-US"/>
                <a:t>  메모리  </a:t>
              </a:r>
              <a:r>
                <a:rPr lang="en-US" altLang="ko-KR"/>
                <a:t>/</a:t>
              </a:r>
              <a:r>
                <a:rPr lang="ko-KR" altLang="en-US"/>
                <a:t>  부팅속도</a:t>
              </a:r>
              <a:endParaRPr lang="ko-KR" altLang="en-US"/>
            </a:p>
          </p:txBody>
        </p:sp>
      </p:grpSp>
      <p:sp>
        <p:nvSpPr>
          <p:cNvPr id="21" name=""/>
          <p:cNvSpPr txBox="1"/>
          <p:nvPr/>
        </p:nvSpPr>
        <p:spPr>
          <a:xfrm>
            <a:off x="5879973" y="1728976"/>
            <a:ext cx="2880361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6GB  /  </a:t>
            </a:r>
            <a:r>
              <a:rPr lang="ko-KR" altLang="en-US"/>
              <a:t>  </a:t>
            </a:r>
            <a:r>
              <a:rPr lang="en-US" altLang="ko-KR"/>
              <a:t>1GB   /   20</a:t>
            </a:r>
            <a:r>
              <a:rPr lang="ko-KR" altLang="en-US"/>
              <a:t>초</a:t>
            </a:r>
            <a:endParaRPr lang="ko-KR" altLang="en-US"/>
          </a:p>
        </p:txBody>
      </p:sp>
      <p:sp>
        <p:nvSpPr>
          <p:cNvPr id="22" name=""/>
          <p:cNvSpPr txBox="1"/>
          <p:nvPr/>
        </p:nvSpPr>
        <p:spPr>
          <a:xfrm>
            <a:off x="5879974" y="2924937"/>
            <a:ext cx="2880360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6GB  /  </a:t>
            </a:r>
            <a:r>
              <a:rPr lang="ko-KR" altLang="en-US"/>
              <a:t>  </a:t>
            </a:r>
            <a:r>
              <a:rPr lang="en-US" altLang="ko-KR"/>
              <a:t>1GB   /   20</a:t>
            </a:r>
            <a:r>
              <a:rPr lang="ko-KR" altLang="en-US"/>
              <a:t>초</a:t>
            </a:r>
            <a:endParaRPr lang="ko-KR" altLang="en-US"/>
          </a:p>
        </p:txBody>
      </p:sp>
      <p:sp>
        <p:nvSpPr>
          <p:cNvPr id="23" name=""/>
          <p:cNvSpPr txBox="1"/>
          <p:nvPr/>
        </p:nvSpPr>
        <p:spPr>
          <a:xfrm>
            <a:off x="5879973" y="4797171"/>
            <a:ext cx="2880360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6GB  /  </a:t>
            </a:r>
            <a:r>
              <a:rPr lang="ko-KR" altLang="en-US"/>
              <a:t>  </a:t>
            </a:r>
            <a:r>
              <a:rPr lang="en-US" altLang="ko-KR"/>
              <a:t>1GB   /   20</a:t>
            </a:r>
            <a:r>
              <a:rPr lang="ko-KR" altLang="en-US"/>
              <a:t>초</a:t>
            </a:r>
            <a:endParaRPr lang="ko-KR" altLang="en-US"/>
          </a:p>
        </p:txBody>
      </p:sp>
      <p:sp>
        <p:nvSpPr>
          <p:cNvPr id="24" name=""/>
          <p:cNvSpPr txBox="1"/>
          <p:nvPr/>
        </p:nvSpPr>
        <p:spPr>
          <a:xfrm>
            <a:off x="5879974" y="5805297"/>
            <a:ext cx="2880360" cy="36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6GB  /  </a:t>
            </a:r>
            <a:r>
              <a:rPr lang="ko-KR" altLang="en-US"/>
              <a:t>  </a:t>
            </a:r>
            <a:r>
              <a:rPr lang="en-US" altLang="ko-KR"/>
              <a:t>1GB   /   20</a:t>
            </a:r>
            <a:r>
              <a:rPr lang="ko-KR" altLang="en-US"/>
              <a:t>초</a:t>
            </a:r>
            <a:endParaRPr lang="ko-KR" altLang="en-US"/>
          </a:p>
        </p:txBody>
      </p:sp>
      <p:grpSp>
        <p:nvGrpSpPr>
          <p:cNvPr id="31" name=""/>
          <p:cNvGrpSpPr/>
          <p:nvPr/>
        </p:nvGrpSpPr>
        <p:grpSpPr>
          <a:xfrm rot="0">
            <a:off x="8475071" y="3068574"/>
            <a:ext cx="4170974" cy="720852"/>
            <a:chOff x="8475071" y="3068574"/>
            <a:chExt cx="4170974" cy="720852"/>
          </a:xfrm>
        </p:grpSpPr>
        <p:sp>
          <p:nvSpPr>
            <p:cNvPr id="25" name=""/>
            <p:cNvSpPr/>
            <p:nvPr/>
          </p:nvSpPr>
          <p:spPr>
            <a:xfrm>
              <a:off x="8475071" y="3149203"/>
              <a:ext cx="714542" cy="559593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chemeClr val="dk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28" name=""/>
            <p:cNvGrpSpPr/>
            <p:nvPr/>
          </p:nvGrpSpPr>
          <p:grpSpPr>
            <a:xfrm rot="0">
              <a:off x="9336405" y="3068574"/>
              <a:ext cx="3309640" cy="720852"/>
              <a:chOff x="9480423" y="3068193"/>
              <a:chExt cx="3309640" cy="720852"/>
            </a:xfrm>
          </p:grpSpPr>
          <p:sp>
            <p:nvSpPr>
              <p:cNvPr id="26" name=""/>
              <p:cNvSpPr txBox="1"/>
              <p:nvPr/>
            </p:nvSpPr>
            <p:spPr>
              <a:xfrm>
                <a:off x="9480423" y="3429000"/>
                <a:ext cx="3024378" cy="3600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ko-KR" b="1"/>
                  <a:t>600GB  / 100GB  / 2000</a:t>
                </a:r>
                <a:r>
                  <a:rPr lang="ko-KR" altLang="en-US" b="1"/>
                  <a:t>초</a:t>
                </a:r>
                <a:endParaRPr lang="ko-KR" altLang="en-US" b="1"/>
              </a:p>
            </p:txBody>
          </p:sp>
          <p:sp>
            <p:nvSpPr>
              <p:cNvPr id="27" name=""/>
              <p:cNvSpPr txBox="1"/>
              <p:nvPr/>
            </p:nvSpPr>
            <p:spPr>
              <a:xfrm>
                <a:off x="9480423" y="3068193"/>
                <a:ext cx="3309640" cy="364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b="1"/>
                  <a:t>용량  </a:t>
                </a:r>
                <a:r>
                  <a:rPr lang="en-US" altLang="ko-KR" b="1"/>
                  <a:t>/</a:t>
                </a:r>
                <a:r>
                  <a:rPr lang="ko-KR" altLang="en-US" b="1"/>
                  <a:t>  메모리  </a:t>
                </a:r>
                <a:r>
                  <a:rPr lang="en-US" altLang="ko-KR" b="1"/>
                  <a:t>/</a:t>
                </a:r>
                <a:r>
                  <a:rPr lang="ko-KR" altLang="en-US" b="1"/>
                  <a:t>  부팅속도</a:t>
                </a:r>
                <a:endParaRPr lang="ko-KR" altLang="en-US" b="1"/>
              </a:p>
            </p:txBody>
          </p:sp>
        </p:grpSp>
      </p:grpSp>
      <p:sp>
        <p:nvSpPr>
          <p:cNvPr id="33" name=""/>
          <p:cNvSpPr txBox="1"/>
          <p:nvPr/>
        </p:nvSpPr>
        <p:spPr>
          <a:xfrm>
            <a:off x="6739129" y="4036931"/>
            <a:ext cx="581025" cy="410814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defRPr/>
            </a:pPr>
            <a:r>
              <a:rPr lang="en-US" altLang="ko-KR" sz="2500" b="1"/>
              <a:t>...</a:t>
            </a:r>
            <a:endParaRPr lang="en-US" altLang="ko-KR" sz="2500" b="1"/>
          </a:p>
        </p:txBody>
      </p:sp>
      <p:grpSp>
        <p:nvGrpSpPr>
          <p:cNvPr id="36" name=""/>
          <p:cNvGrpSpPr/>
          <p:nvPr/>
        </p:nvGrpSpPr>
        <p:grpSpPr>
          <a:xfrm rot="0">
            <a:off x="3503676" y="817245"/>
            <a:ext cx="2592324" cy="1675638"/>
            <a:chOff x="3503676" y="817245"/>
            <a:chExt cx="2592324" cy="1675638"/>
          </a:xfrm>
        </p:grpSpPr>
        <p:sp>
          <p:nvSpPr>
            <p:cNvPr id="34" name=""/>
            <p:cNvSpPr/>
            <p:nvPr/>
          </p:nvSpPr>
          <p:spPr>
            <a:xfrm>
              <a:off x="3503676" y="817245"/>
              <a:ext cx="2592324" cy="1675638"/>
            </a:xfrm>
            <a:prstGeom prst="wedgeEllipseCallout">
              <a:avLst>
                <a:gd name="adj1" fmla="val -48736"/>
                <a:gd name="adj2" fmla="val 64547"/>
              </a:avLst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5" name=""/>
            <p:cNvSpPr txBox="1"/>
            <p:nvPr/>
          </p:nvSpPr>
          <p:spPr>
            <a:xfrm>
              <a:off x="3791711" y="1445895"/>
              <a:ext cx="2016254" cy="41910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defRPr/>
              </a:pPr>
              <a:r>
                <a:rPr lang="en-US" altLang="ko-KR" sz="2200" b="1"/>
                <a:t>Hadoop King!!</a:t>
              </a:r>
              <a:endParaRPr lang="en-US" altLang="ko-KR" sz="2200" b="1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13" grpId="2" animBg="1"/>
      <p:bldP spid="30" grpId="3" animBg="1"/>
      <p:bldP spid="21" grpId="4" animBg="1"/>
      <p:bldP spid="22" grpId="5" animBg="1"/>
      <p:bldP spid="33" grpId="6" animBg="1"/>
      <p:bldP spid="23" grpId="7" animBg="1"/>
      <p:bldP spid="24" grpId="8" animBg="1"/>
      <p:bldP spid="31" grpId="9" animBg="1"/>
    </p:bld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1262" y="1912047"/>
            <a:ext cx="4320540" cy="4660583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191262" y="208788"/>
            <a:ext cx="1355788" cy="484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Case. 2</a:t>
            </a:r>
            <a:endParaRPr lang="en-US" altLang="ko-KR" sz="2600" b="1"/>
          </a:p>
        </p:txBody>
      </p:sp>
      <p:grpSp>
        <p:nvGrpSpPr>
          <p:cNvPr id="8" name=""/>
          <p:cNvGrpSpPr/>
          <p:nvPr/>
        </p:nvGrpSpPr>
        <p:grpSpPr>
          <a:xfrm rot="0">
            <a:off x="5591937" y="1350835"/>
            <a:ext cx="3942047" cy="4291995"/>
            <a:chOff x="5591937" y="1350835"/>
            <a:chExt cx="3942047" cy="4291995"/>
          </a:xfrm>
        </p:grpSpPr>
        <p:pic>
          <p:nvPicPr>
            <p:cNvPr id="6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591937" y="1700784"/>
              <a:ext cx="3942046" cy="3942046"/>
            </a:xfrm>
            <a:prstGeom prst="rect">
              <a:avLst/>
            </a:prstGeom>
          </p:spPr>
        </p:pic>
        <p:sp>
          <p:nvSpPr>
            <p:cNvPr id="7" name=""/>
            <p:cNvSpPr txBox="1"/>
            <p:nvPr/>
          </p:nvSpPr>
          <p:spPr>
            <a:xfrm>
              <a:off x="6050771" y="1350835"/>
              <a:ext cx="3024379" cy="69989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defRPr/>
              </a:pPr>
              <a:r>
                <a:rPr lang="en-US" altLang="ko-KR" sz="4000" b="1"/>
                <a:t>BUY </a:t>
              </a:r>
              <a:endParaRPr lang="en-US" altLang="ko-KR" sz="4000" b="1"/>
            </a:p>
          </p:txBody>
        </p:sp>
      </p:grpSp>
      <p:pic>
        <p:nvPicPr>
          <p:cNvPr id="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47918" y="2132838"/>
            <a:ext cx="3240405" cy="3240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91262" y="208788"/>
            <a:ext cx="1355788" cy="484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Case. 2</a:t>
            </a:r>
            <a:endParaRPr lang="en-US" altLang="ko-KR" sz="2600" b="1"/>
          </a:p>
        </p:txBody>
      </p:sp>
      <p:pic>
        <p:nvPicPr>
          <p:cNvPr id="6" name="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91223" y="1075277"/>
            <a:ext cx="6409552" cy="5301234"/>
          </a:xfrm>
          <a:prstGeom prst="rect">
            <a:avLst/>
          </a:prstGeom>
        </p:spPr>
      </p:pic>
      <p:grpSp>
        <p:nvGrpSpPr>
          <p:cNvPr id="7" name=""/>
          <p:cNvGrpSpPr/>
          <p:nvPr/>
        </p:nvGrpSpPr>
        <p:grpSpPr>
          <a:xfrm rot="0">
            <a:off x="6744081" y="208788"/>
            <a:ext cx="3312414" cy="1732979"/>
            <a:chOff x="6672072" y="208788"/>
            <a:chExt cx="3312414" cy="1732979"/>
          </a:xfrm>
        </p:grpSpPr>
        <p:sp>
          <p:nvSpPr>
            <p:cNvPr id="8" name=""/>
            <p:cNvSpPr/>
            <p:nvPr/>
          </p:nvSpPr>
          <p:spPr>
            <a:xfrm>
              <a:off x="6672072" y="208788"/>
              <a:ext cx="3312414" cy="1732979"/>
            </a:xfrm>
            <a:prstGeom prst="wedgeEllipseCallout">
              <a:avLst>
                <a:gd name="adj1" fmla="val -51296"/>
                <a:gd name="adj2" fmla="val 49187"/>
              </a:avLst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9" name=""/>
            <p:cNvSpPr txBox="1"/>
            <p:nvPr/>
          </p:nvSpPr>
          <p:spPr>
            <a:xfrm>
              <a:off x="6964233" y="832390"/>
              <a:ext cx="2876236" cy="4896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2600"/>
                <a:t>Save money</a:t>
              </a:r>
              <a:endParaRPr lang="en-US" altLang="ko-KR" sz="2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91262" y="208788"/>
            <a:ext cx="1355788" cy="484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Case. 2</a:t>
            </a:r>
            <a:endParaRPr lang="en-US" altLang="ko-KR" sz="2600" b="1"/>
          </a:p>
        </p:txBody>
      </p:sp>
      <p:sp>
        <p:nvSpPr>
          <p:cNvPr id="5" name=""/>
          <p:cNvSpPr txBox="1"/>
          <p:nvPr/>
        </p:nvSpPr>
        <p:spPr>
          <a:xfrm>
            <a:off x="2351532" y="2650998"/>
            <a:ext cx="7488936" cy="1557147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ko-KR" altLang="en-US" sz="9600"/>
              <a:t>비용절감</a:t>
            </a:r>
            <a:endParaRPr lang="ko-KR" altLang="en-US" sz="9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91262" y="208788"/>
            <a:ext cx="1355788" cy="484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Case. 3</a:t>
            </a:r>
            <a:endParaRPr lang="en-US" altLang="ko-KR" sz="2600" b="1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1262" y="1912047"/>
            <a:ext cx="4320540" cy="4660583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57241" y="1117756"/>
            <a:ext cx="1588581" cy="1588581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11802" y="2732717"/>
            <a:ext cx="1392565" cy="1392565"/>
          </a:xfrm>
          <a:prstGeom prst="rect">
            <a:avLst/>
          </a:prstGeom>
        </p:spPr>
      </p:pic>
      <p:cxnSp>
        <p:nvCxnSpPr>
          <p:cNvPr id="9" name=""/>
          <p:cNvCxnSpPr/>
          <p:nvPr/>
        </p:nvCxnSpPr>
        <p:spPr>
          <a:xfrm>
            <a:off x="5904368" y="3429000"/>
            <a:ext cx="1315778" cy="0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692968" y="1912047"/>
            <a:ext cx="3299644" cy="3299644"/>
          </a:xfrm>
          <a:prstGeom prst="rect">
            <a:avLst/>
          </a:prstGeom>
        </p:spPr>
      </p:pic>
      <p:sp>
        <p:nvSpPr>
          <p:cNvPr id="11" name="">
            <a:hlinkClick r:id="" action="ppaction://noaction" highlightClick="1" endSnd="1"/>
          </p:cNvPr>
          <p:cNvSpPr/>
          <p:nvPr/>
        </p:nvSpPr>
        <p:spPr>
          <a:xfrm>
            <a:off x="6096000" y="2942296"/>
            <a:ext cx="936117" cy="973407"/>
          </a:xfrm>
          <a:prstGeom prst="actionButtonHelp">
            <a:avLst/>
          </a:prstGeom>
          <a:solidFill>
            <a:schemeClr val="accent2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1" animBg="1"/>
    </p:bldLst>
  </p:timing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91262" y="208788"/>
            <a:ext cx="1355788" cy="484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Case. 3</a:t>
            </a:r>
            <a:endParaRPr lang="en-US" altLang="ko-KR" sz="2600" b="1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1262" y="1912047"/>
            <a:ext cx="4320540" cy="4660583"/>
          </a:xfrm>
          <a:prstGeom prst="rect">
            <a:avLst/>
          </a:prstGeom>
        </p:spPr>
      </p:pic>
      <p:sp>
        <p:nvSpPr>
          <p:cNvPr id="6" name=""/>
          <p:cNvSpPr/>
          <p:nvPr/>
        </p:nvSpPr>
        <p:spPr>
          <a:xfrm>
            <a:off x="5087874" y="208788"/>
            <a:ext cx="6912864" cy="6172581"/>
          </a:xfrm>
          <a:prstGeom prst="cloudCallout">
            <a:avLst>
              <a:gd name="adj1" fmla="val -77024"/>
              <a:gd name="adj2" fmla="val -3422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3">
            <a:lum bright="50000"/>
          </a:blip>
          <a:stretch>
            <a:fillRect/>
          </a:stretch>
        </p:blipFill>
        <p:spPr>
          <a:xfrm>
            <a:off x="6372225" y="1264615"/>
            <a:ext cx="803909" cy="868222"/>
          </a:xfrm>
          <a:prstGeom prst="rect">
            <a:avLst/>
          </a:prstGeom>
        </p:spPr>
      </p:pic>
      <p:pic>
        <p:nvPicPr>
          <p:cNvPr id="8" name=""/>
          <p:cNvPicPr>
            <a:picLocks noChangeAspect="1"/>
          </p:cNvPicPr>
          <p:nvPr/>
        </p:nvPicPr>
        <p:blipFill rotWithShape="1">
          <a:blip r:embed="rId4">
            <a:lum bright="50000"/>
          </a:blip>
          <a:stretch>
            <a:fillRect/>
          </a:stretch>
        </p:blipFill>
        <p:spPr>
          <a:xfrm>
            <a:off x="7536180" y="1264615"/>
            <a:ext cx="803909" cy="868222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 rotWithShape="1">
          <a:blip r:embed="rId5">
            <a:lum bright="50000"/>
          </a:blip>
          <a:stretch>
            <a:fillRect/>
          </a:stretch>
        </p:blipFill>
        <p:spPr>
          <a:xfrm>
            <a:off x="8760332" y="1264615"/>
            <a:ext cx="803909" cy="868222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 rotWithShape="1">
          <a:blip r:embed="rId6">
            <a:lum bright="50000"/>
          </a:blip>
          <a:stretch>
            <a:fillRect/>
          </a:stretch>
        </p:blipFill>
        <p:spPr>
          <a:xfrm>
            <a:off x="9840468" y="1912047"/>
            <a:ext cx="803909" cy="868222"/>
          </a:xfrm>
          <a:prstGeom prst="rect">
            <a:avLst/>
          </a:prstGeom>
        </p:spPr>
      </p:pic>
      <p:pic>
        <p:nvPicPr>
          <p:cNvPr id="11" name=""/>
          <p:cNvPicPr>
            <a:picLocks noChangeAspect="1"/>
          </p:cNvPicPr>
          <p:nvPr/>
        </p:nvPicPr>
        <p:blipFill rotWithShape="1">
          <a:blip r:embed="rId7">
            <a:lum bright="50000"/>
          </a:blip>
          <a:stretch>
            <a:fillRect/>
          </a:stretch>
        </p:blipFill>
        <p:spPr>
          <a:xfrm>
            <a:off x="9840468" y="3295078"/>
            <a:ext cx="803909" cy="868222"/>
          </a:xfrm>
          <a:prstGeom prst="rect">
            <a:avLst/>
          </a:prstGeom>
        </p:spPr>
      </p:pic>
      <p:pic>
        <p:nvPicPr>
          <p:cNvPr id="12" name=""/>
          <p:cNvPicPr>
            <a:picLocks noChangeAspect="1"/>
          </p:cNvPicPr>
          <p:nvPr/>
        </p:nvPicPr>
        <p:blipFill rotWithShape="1">
          <a:blip r:embed="rId8">
            <a:lum bright="50000"/>
          </a:blip>
          <a:stretch>
            <a:fillRect/>
          </a:stretch>
        </p:blipFill>
        <p:spPr>
          <a:xfrm>
            <a:off x="9036558" y="4163301"/>
            <a:ext cx="803909" cy="868222"/>
          </a:xfrm>
          <a:prstGeom prst="rect">
            <a:avLst/>
          </a:prstGeom>
        </p:spPr>
      </p:pic>
      <p:pic>
        <p:nvPicPr>
          <p:cNvPr id="13" name=""/>
          <p:cNvPicPr>
            <a:picLocks noChangeAspect="1"/>
          </p:cNvPicPr>
          <p:nvPr/>
        </p:nvPicPr>
        <p:blipFill rotWithShape="1">
          <a:blip r:embed="rId9">
            <a:lum bright="50000"/>
          </a:blip>
          <a:stretch>
            <a:fillRect/>
          </a:stretch>
        </p:blipFill>
        <p:spPr>
          <a:xfrm>
            <a:off x="7938135" y="4242339"/>
            <a:ext cx="803909" cy="868222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 rotWithShape="1">
          <a:blip r:embed="rId10">
            <a:lum bright="50000"/>
          </a:blip>
          <a:stretch>
            <a:fillRect/>
          </a:stretch>
        </p:blipFill>
        <p:spPr>
          <a:xfrm>
            <a:off x="6888099" y="4163301"/>
            <a:ext cx="803909" cy="868222"/>
          </a:xfrm>
          <a:prstGeom prst="rect">
            <a:avLst/>
          </a:prstGeom>
        </p:spPr>
      </p:pic>
      <p:pic>
        <p:nvPicPr>
          <p:cNvPr id="15" name=""/>
          <p:cNvPicPr>
            <a:picLocks noChangeAspect="1"/>
          </p:cNvPicPr>
          <p:nvPr/>
        </p:nvPicPr>
        <p:blipFill rotWithShape="1">
          <a:blip r:embed="rId11">
            <a:lum bright="50000"/>
          </a:blip>
          <a:stretch>
            <a:fillRect/>
          </a:stretch>
        </p:blipFill>
        <p:spPr>
          <a:xfrm>
            <a:off x="6096000" y="3429000"/>
            <a:ext cx="803909" cy="868222"/>
          </a:xfrm>
          <a:prstGeom prst="rect">
            <a:avLst/>
          </a:prstGeom>
        </p:spPr>
      </p:pic>
      <p:pic>
        <p:nvPicPr>
          <p:cNvPr id="16" name=""/>
          <p:cNvPicPr>
            <a:picLocks noChangeAspect="1"/>
          </p:cNvPicPr>
          <p:nvPr/>
        </p:nvPicPr>
        <p:blipFill rotWithShape="1">
          <a:blip r:embed="rId12">
            <a:lum bright="50000"/>
          </a:blip>
          <a:stretch>
            <a:fillRect/>
          </a:stretch>
        </p:blipFill>
        <p:spPr>
          <a:xfrm>
            <a:off x="5807964" y="2355912"/>
            <a:ext cx="803909" cy="868222"/>
          </a:xfrm>
          <a:prstGeom prst="rect">
            <a:avLst/>
          </a:prstGeom>
        </p:spPr>
      </p:pic>
      <p:pic>
        <p:nvPicPr>
          <p:cNvPr id="19" name="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7938135" y="2755923"/>
            <a:ext cx="868100" cy="9364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4 0.07617 L 0.00124 0.11166 L 0.00211 0.11321 L 0.00211 0.12864 L 0.00298 0.13018 L 0.00298 0.14098 L 0.00384 0.14253 L 0.00298 0.14716 L -0.00657 0.14716 L -0.00831 0.14561 L -0.04564 0.14561 L -0.04650 0.14407 L -0.08296 0.14253 L -0.08383 0.13944 L -0.08470 0.13790 L -0.08557 0.13635 L -0.08557 0.13327 L -0.08643 0.13172 L -0.08730 0.12864 L -0.08817 0.12555 L -0.08904 0.12401 L -0.08991 0.12092 L -0.09077 0.11938 L -0.09164 0.11629 L -0.09251 0.11321 L -0.09338 0.11012 L -0.09425 0.10703 L -0.09598 0.10549 L -0.09772 0.10086 L -0.09772 0.09932 L -0.09946 0.09469 L -0.10032 0.09314 L -0.10032 0.09160 L -0.10119 0.09006 L -0.10206 0.08851 L -0.10293 0.08697 L -0.10380 0.08543 L -0.10380 0.08388 L -0.10466 0.08234 L -0.10553 0.08080 L -0.10640 0.07926 L -0.10727 0.07926 L -0.10814 0.07771 L -0.10900 0.07771 L -0.10987 0.07617 L -0.11074 0.07463 L -0.11248 0.07463 L -0.11334 0.07308 L -0.11508 0.07154 L -0.11595 0.07154 L -0.11682 0.07000 L -0.11768 0.06845 L -0.11942 0.06845 L -0.12116 0.06691 L -0.12289 0.06691 L -0.12463 0.06537 L -0.12550 0.06382 L -0.12810 0.06382 L -0.12897 0.06228 L -0.12897 0.04993 L -0.12810 0.04839 L -0.12723 0.04530 L -0.12637 0.04222 L -0.12637 0.04067 L -0.12550 0.03913 L -0.12463 0.03759 L -0.12463 0.03605 L -0.12376 0.03450 L -0.12376 0.03142 L -0.12289 0.02987 L -0.12202 0.02679 L -0.12202 0.02524 L -0.12116 0.02216 L -0.12116 0.01907 L -0.12029 0.01753 L -0.11942 0.01290 L -0.11942 0.00981 L -0.11855 0.00672 L -0.11855 0.00364 L -0.11768 0.00055 L -0.11768 -0.02723 L -0.11855 -0.02877 L -0.11855 -0.03031 L -0.12029 -0.03340 L -0.12029 -0.03494 L -0.12116 -0.03649 L -0.12116 -0.03803 L -0.12202 -0.03957 L -0.12289 -0.04112 L -0.12376 -0.04266 L -0.12463 -0.04420 L -0.12550 -0.04420 L -0.12637 -0.04574 L -0.12810 -0.04729 L -0.12810 -0.04883 L -0.12984 -0.05037 L -0.13157 -0.05037 L -0.13244 -0.05192 L -0.13331 -0.05346 L -0.13418 -0.05500 L -0.13591 -0.05655 L -0.13678 -0.05655 L -0.13765 -0.05809 L -0.14025 -0.05963 L -0.14112 -0.06118 L -0.14286 -0.06272 L -0.14373 -0.06426 L -0.14546 -0.06581 L -0.14633 -0.06735 L -0.14720 -0.06889 L -0.14807 -0.07044 L -0.14633 -0.07198 L -0.14546 -0.07198 L -0.14459 -0.07352 L -0.14286 -0.07507 L -0.14112 -0.07815 L -0.13939 -0.07815 L -0.13678 -0.08124 L -0.13591 -0.08124 L -0.13418 -0.08278 L -0.13331 -0.08433 L -0.13157 -0.08587 L -0.13157 -0.08741 L -0.13071 -0.08895 L -0.12984 -0.09050 L -0.12897 -0.09204 L -0.12810 -0.09358 L -0.12637 -0.09667 L -0.12637 -0.09821 L -0.12463 -0.09976 L -0.12463 -0.10130 L -0.12289 -0.10439 L -0.12202 -0.10593 L -0.12202 -0.10747 L -0.12116 -0.10902 L -0.12116 -0.11056 L -0.12029 -0.11210 L -0.12029 -0.11365 L -0.11942 -0.11519 L -0.11942 -0.11828 L -0.11855 -0.11982 L -0.11768 -0.12136 L -0.11768 -0.12445 L -0.11682 -0.12754 L -0.11595 -0.13062 L -0.11595 -0.13525 L -0.11508 -0.13834 L -0.11508 -0.13988 L -0.11421 -0.14297 L -0.11421 -0.14760 L -0.11334 -0.14914 L -0.11248 -0.16920 L -0.11074 -0.16766 L -0.10987 -0.16612 L -0.10900 -0.16457 L -0.10814 -0.16457 L -0.10727 -0.16303 L -0.10727 -0.16149 L -0.10553 -0.15994 L -0.10466 -0.15840 L -0.10380 -0.15686 L -0.10293 -0.15531 L -0.10293 -0.15377 L -0.10206 -0.15223 L -0.10119 -0.15223 L -0.10032 -0.14914 L -0.09859 -0.14760 L -0.09772 -0.14605 L -0.09598 -0.14605 L -0.09512 -0.14451 L -0.09425 -0.14451 L -0.09338 -0.14297 L -0.09251 -0.14297 L -0.09077 -0.14142 L -0.08991 -0.14142 L -0.08904 -0.13988 L -0.08643 -0.13988 L -0.08470 -0.13834 L -0.08209 -0.13834 L -0.08123 -0.13679 L -0.07515 -0.13679 L -0.07428 -0.13525 L -0.05258 -0.13525 L -0.05171 -0.13679 L -0.05084 -0.13679 L -0.04998 -0.13834 L -0.04911 -0.13834 L -0.04824 -0.13988 L -0.04737 -0.14142 L -0.04650 -0.14297 L -0.04477 -0.14451 L -0.04390 -0.14605 L -0.04390 -0.14760 L -0.04303 -0.14914 L -0.04216 -0.15068 L -0.04130 -0.15223 L -0.04043 -0.15377 L -0.04043 -0.15531 L -0.03956 -0.15686 L -0.03956 -0.15840 L -0.03869 -0.15994 L -0.03782 -0.16149 L -0.03696 -0.16303 L -0.03609 -0.16612 L -0.03609 -0.16766 L -0.03522 -0.16612 L -0.03522 -0.16457 L -0.03435 -0.16149 L -0.03435 -0.15994 L -0.03348 -0.15686 L -0.03262 -0.15223 L -0.03175 -0.15068 L -0.03175 -0.14914 L -0.03088 -0.14760 L -0.03088 -0.14605 L -0.03001 -0.14451 L -0.02914 -0.14297 L -0.02827 -0.14142 L -0.02741 -0.13988 L -0.02741 -0.13834 L -0.02654 -0.13679 L -0.02480 -0.13525 L -0.02307 -0.13525 L -0.02220 -0.13371 L -0.01873 -0.13371 L -0.01786 -0.13216 L -0.01612 -0.13062 L -0.01265 -0.13062 L -0.01178 -0.12908 L -0.01091 -0.12908 L -0.00918 -0.12754 L -0.00484 -0.12754 L -0.00310 -0.12599 L -0.00137 -0.12599 L -0.00050 -0.12445 L 0.00471 -0.12445 L 0.00558 -0.12291 L 0.00645 -0.12291 L 0.00992 -0.12136 L 0.03336 -0.12136 L 0.03509 -0.12291 L 0.03596 -0.12445 L 0.03683 -0.12445 L 0.03770 -0.12599 L 0.03857 -0.12754 L 0.03943 -0.12908 L 0.04117 -0.13062 L 0.04204 -0.13216 L 0.04377 -0.13371 L 0.04464 -0.13525 L 0.04551 -0.13834 L 0.04725 -0.13988 L 0.04898 -0.14297 L 0.05072 -0.14451 L 0.05159 -0.14605 L 0.05332 -0.14760 L 0.05419 -0.14914 L 0.05506 -0.15068 L 0.05593 -0.15223 L 0.05679 -0.15377 L 0.05679 -0.15531 L 0.05766 -0.15686 L 0.05853 -0.15840 L 0.05940 -0.15994 L 0.06027 -0.16149 L 0.06027 -0.16457 L 0.06113 -0.16612 L 0.06200 -0.16766 L 0.06287 -0.16920 L 0.06287 -0.17074 L 0.06374 -0.17229 L 0.06374 -0.11828 L 0.06461 -0.11673 L 0.06548 -0.11519 L 0.06634 -0.11365 L 0.06721 -0.11210 L 0.06808 -0.11210 L 0.06895 -0.11056 L 0.07068 -0.11056 L 0.07242 -0.10902 L 0.07502 -0.10902 L 0.07676 -0.10747 L 0.07936 -0.10747 L 0.08197 -0.10593 L 0.08457 -0.10593 L 0.08891 -0.10439 L 0.11929 -0.10439 L 0.12016 -0.10593 L 0.12103 -0.10747 L 0.12190 -0.10747 L 0.12277 -0.10902 L 0.12450 -0.10902 L 0.12537 -0.11056 L 0.12711 -0.11210 L 0.12798 -0.11365 L 0.12971 -0.11365 L 0.13058 -0.11519 L 0.12884 -0.11365 L 0.12798 -0.11210 L 0.12624 -0.10902 L 0.12537 -0.10902 L 0.12363 -0.10593 L 0.12277 -0.10439 L 0.12103 -0.10284 L 0.12016 -0.10130 L 0.11929 -0.09976 L 0.11843 -0.09821 L 0.11756 -0.09667 L 0.11669 -0.09513 L 0.11582 -0.09358 L 0.11582 -0.09204 L 0.11495 -0.09050 L 0.11409 -0.08741 L 0.11322 -0.08587 L 0.11148 -0.08433 L 0.11061 -0.08124 L 0.10975 -0.07970 L 0.10801 -0.07661 L 0.10714 -0.07352 L 0.10627 -0.07198 L 0.10541 -0.06889 L 0.10541 -0.06735 L 0.10454 -0.06581 L 0.10454 -0.06272 L 0.10367 -0.06118 L 0.10367 -0.05963 L 0.10280 -0.05655 L 0.10280 -0.05500 L 0.10193 -0.05346 L 0.10107 -0.04266 L 0.10107 -0.00871 L 0.10193 -0.00716 L 0.10193 -0.00562 L 0.10280 -0.00408 L 0.10367 -0.00099 L 0.10367 0.00209 L 0.10454 0.00364 L 0.10541 0.00518 L 0.10541 0.00672 L 0.10627 0.00827 L 0.10714 0.01135 L 0.10801 0.01290 L 0.10888 0.01444 L 0.10975 0.01598 L 0.11061 0.01598 L 0.11148 0.01907 L 0.11235 0.02061 L 0.11235 0.02216 L 0.11322 0.02370 L 0.11409 0.02524 L 0.11495 0.02679 L 0.11582 0.02833 L 0.11756 0.02987 L 0.11843 0.03296 L 0.11929 0.03296 L 0.12016 0.03605 L 0.12190 0.03759 L 0.12277 0.03759 L 0.12363 0.03913 L 0.12450 0.04067 L 0.11669 0.04222 L 0.11409 0.04222 L 0.11322 0.04376 L 0.11148 0.04376 L 0.11061 0.04530 L 0.10801 0.04685 L 0.10541 0.04685 L 0.10454 0.04839 L 0.10280 0.04839 L 0.10193 0.04993 L 0.10107 0.04993 L 0.10020 0.05148 L 0.09933 0.05302 L 0.09846 0.05302 L 0.09759 0.05456 L 0.09673 0.05456 L 0.09586 0.05611 L 0.09499 0.05765 L 0.09412 0.05919 L 0.09325 0.06074 L 0.09238 0.06228 L 0.09152 0.06382 L 0.09065 0.06537 L 0.08978 0.06691 L 0.08891 0.06845 L 0.08804 0.07000 L 0.08804 0.07308 L 0.08718 0.07463 L 0.08631 0.07771 L 0.08631 0.08080 L 0.08544 0.08234 L 0.08544 0.08697 L 0.08457 0.08851 L 0.08457 0.10240 L 0.08370 0.10395 L 0.08284 0.12092 L 0.08110 0.11938 L 0.08110 0.11629 L 0.08023 0.11475 L 0.08023 0.11321 L 0.07936 0.11012 L 0.07850 0.10858 L 0.07850 0.10703 L 0.07763 0.10549 L 0.07763 0.10395 L 0.07676 0.10086 L 0.07589 0.10086 L 0.07502 0.09932 L 0.07416 0.09777 L 0.07329 0.09623 L 0.07242 0.09469 L 0.07068 0.09469 L 0.06982 0.09314 L 0.06808 0.09314 " pathEditMode="relative" ptsTypes="">
                                      <p:cBhvr>
                                        <p:cTn id="6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91262" y="208788"/>
            <a:ext cx="1355788" cy="484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Case. 3</a:t>
            </a:r>
            <a:endParaRPr lang="en-US" altLang="ko-KR" sz="2600" b="1"/>
          </a:p>
        </p:txBody>
      </p:sp>
      <p:pic>
        <p:nvPicPr>
          <p:cNvPr id="5" name="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91223" y="1075277"/>
            <a:ext cx="6409552" cy="5301234"/>
          </a:xfrm>
          <a:prstGeom prst="rect">
            <a:avLst/>
          </a:prstGeom>
        </p:spPr>
      </p:pic>
      <p:grpSp>
        <p:nvGrpSpPr>
          <p:cNvPr id="6" name=""/>
          <p:cNvGrpSpPr/>
          <p:nvPr/>
        </p:nvGrpSpPr>
        <p:grpSpPr>
          <a:xfrm rot="0">
            <a:off x="6744081" y="208788"/>
            <a:ext cx="3312414" cy="1732979"/>
            <a:chOff x="6672072" y="208788"/>
            <a:chExt cx="3312414" cy="1732979"/>
          </a:xfrm>
        </p:grpSpPr>
        <p:sp>
          <p:nvSpPr>
            <p:cNvPr id="7" name=""/>
            <p:cNvSpPr/>
            <p:nvPr/>
          </p:nvSpPr>
          <p:spPr>
            <a:xfrm>
              <a:off x="6672072" y="208788"/>
              <a:ext cx="3312414" cy="1732979"/>
            </a:xfrm>
            <a:prstGeom prst="wedgeEllipseCallout">
              <a:avLst>
                <a:gd name="adj1" fmla="val -51296"/>
                <a:gd name="adj2" fmla="val 49187"/>
              </a:avLst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8" name=""/>
            <p:cNvSpPr txBox="1"/>
            <p:nvPr/>
          </p:nvSpPr>
          <p:spPr>
            <a:xfrm>
              <a:off x="6964233" y="832390"/>
              <a:ext cx="2876236" cy="4896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2600"/>
                <a:t>Good distribute</a:t>
              </a:r>
              <a:endParaRPr lang="en-US" altLang="ko-KR" sz="2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55954" y="1725358"/>
            <a:ext cx="6880091" cy="34072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7940728" cy="6515664"/>
          </a:xfrm>
          <a:prstGeom prst="rect">
            <a:avLst/>
          </a:prstGeom>
        </p:spPr>
      </p:pic>
      <p:sp>
        <p:nvSpPr>
          <p:cNvPr id="6" name=""/>
          <p:cNvSpPr/>
          <p:nvPr/>
        </p:nvSpPr>
        <p:spPr>
          <a:xfrm>
            <a:off x="4655820" y="2780919"/>
            <a:ext cx="648081" cy="6480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70364" y="1988820"/>
            <a:ext cx="7475868" cy="3574089"/>
          </a:xfrm>
          <a:prstGeom prst="rect">
            <a:avLst/>
          </a:prstGeom>
        </p:spPr>
      </p:pic>
      <p:sp>
        <p:nvSpPr>
          <p:cNvPr id="7" name=""/>
          <p:cNvSpPr/>
          <p:nvPr/>
        </p:nvSpPr>
        <p:spPr>
          <a:xfrm>
            <a:off x="5771959" y="3104959"/>
            <a:ext cx="648081" cy="6480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1" animBg="1"/>
    </p:bldLst>
  </p:timing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91262" y="208788"/>
            <a:ext cx="1355788" cy="484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Case. 3</a:t>
            </a:r>
            <a:endParaRPr lang="en-US" altLang="ko-KR" sz="2600" b="1"/>
          </a:p>
        </p:txBody>
      </p:sp>
      <p:sp>
        <p:nvSpPr>
          <p:cNvPr id="5" name=""/>
          <p:cNvSpPr txBox="1"/>
          <p:nvPr/>
        </p:nvSpPr>
        <p:spPr>
          <a:xfrm>
            <a:off x="2351532" y="2650998"/>
            <a:ext cx="7488936" cy="1557147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ko-KR" altLang="en-US" sz="9600"/>
              <a:t>배포 개좋음</a:t>
            </a:r>
            <a:endParaRPr lang="ko-KR" altLang="en-US" sz="9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 txBox="1"/>
          <p:nvPr/>
        </p:nvSpPr>
        <p:spPr>
          <a:xfrm>
            <a:off x="3431667" y="1557813"/>
            <a:ext cx="5832729" cy="3745707"/>
          </a:xfrm>
          <a:prstGeom prst="rect">
            <a:avLst/>
          </a:prstGeom>
        </p:spPr>
        <p:txBody>
          <a:bodyPr wrap="square">
            <a:spAutoFit/>
          </a:bodyPr>
          <a:p>
            <a:pPr marL="685440" indent="-685440">
              <a:buFont typeface="Arial"/>
              <a:buChar char="•"/>
              <a:defRPr/>
            </a:pPr>
            <a:r>
              <a:rPr lang="ko-KR" altLang="en-US" sz="4800"/>
              <a:t>똑같은 환경</a:t>
            </a:r>
            <a:endParaRPr lang="ko-KR" altLang="en-US" sz="4800"/>
          </a:p>
          <a:p>
            <a:pPr marL="685440" indent="-685440">
              <a:buFont typeface="Arial"/>
              <a:buChar char="•"/>
              <a:defRPr/>
            </a:pPr>
            <a:endParaRPr lang="ko-KR" altLang="en-US" sz="4800"/>
          </a:p>
          <a:p>
            <a:pPr marL="685440" indent="-685440">
              <a:buFont typeface="Arial"/>
              <a:buChar char="•"/>
              <a:defRPr/>
            </a:pPr>
            <a:r>
              <a:rPr lang="ko-KR" altLang="en-US" sz="4800"/>
              <a:t>비용절감</a:t>
            </a:r>
            <a:endParaRPr lang="ko-KR" altLang="en-US" sz="4800"/>
          </a:p>
          <a:p>
            <a:pPr marL="685440" indent="-685440">
              <a:buFont typeface="Arial"/>
              <a:buChar char="•"/>
              <a:defRPr/>
            </a:pPr>
            <a:endParaRPr lang="ko-KR" altLang="en-US" sz="4800"/>
          </a:p>
          <a:p>
            <a:pPr marL="685440" indent="-685440">
              <a:buFont typeface="Arial"/>
              <a:buChar char="•"/>
              <a:defRPr/>
            </a:pPr>
            <a:r>
              <a:rPr lang="ko-KR" altLang="en-US" sz="4800"/>
              <a:t>배포 개좋음</a:t>
            </a:r>
            <a:endParaRPr lang="ko-KR" altLang="en-US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-15885"/>
            <a:ext cx="12163887" cy="68738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91000" y="1946910"/>
            <a:ext cx="3810000" cy="2964179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2603563" y="806577"/>
            <a:ext cx="6984873" cy="753618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en-US" altLang="ko-KR" sz="4400"/>
              <a:t>What is docker container?</a:t>
            </a:r>
            <a:endParaRPr lang="en-US" altLang="ko-KR" sz="4400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53153" y="5048250"/>
            <a:ext cx="1675694" cy="1809749"/>
          </a:xfrm>
          <a:prstGeom prst="rect">
            <a:avLst/>
          </a:prstGeom>
        </p:spPr>
      </p:pic>
      <p:cxnSp>
        <p:nvCxnSpPr>
          <p:cNvPr id="8" name=""/>
          <p:cNvCxnSpPr>
            <a:stCxn id="7" idx="3"/>
          </p:cNvCxnSpPr>
          <p:nvPr/>
        </p:nvCxnSpPr>
        <p:spPr>
          <a:xfrm>
            <a:off x="5028847" y="5953125"/>
            <a:ext cx="2147288" cy="0"/>
          </a:xfrm>
          <a:prstGeom prst="straightConnector1">
            <a:avLst/>
          </a:prstGeom>
          <a:ln w="381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176135" y="5271363"/>
            <a:ext cx="1752600" cy="13635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 txBox="1"/>
          <p:nvPr/>
        </p:nvSpPr>
        <p:spPr>
          <a:xfrm>
            <a:off x="2423541" y="445388"/>
            <a:ext cx="9217152" cy="448056"/>
          </a:xfrm>
          <a:prstGeom prst="rect">
            <a:avLst/>
          </a:prstGeom>
        </p:spPr>
        <p:txBody>
          <a:bodyPr wrap="square">
            <a:spAutoFit/>
          </a:bodyPr>
          <a:p>
            <a:pPr marL="333000" indent="-333000">
              <a:buAutoNum type="arabicPeriod"/>
              <a:defRPr/>
            </a:pPr>
            <a:r>
              <a:rPr lang="ko-KR" altLang="en-US" sz="2400" b="1"/>
              <a:t>컨테이너는 </a:t>
            </a:r>
            <a:r>
              <a:rPr lang="en-US" altLang="ko-KR" sz="2400" b="1"/>
              <a:t>VM</a:t>
            </a:r>
            <a:r>
              <a:rPr lang="ko-KR" altLang="en-US" sz="2400" b="1"/>
              <a:t>이 아니다</a:t>
            </a:r>
            <a:r>
              <a:rPr lang="en-US" altLang="ko-KR" sz="2400" b="1"/>
              <a:t>!</a:t>
            </a:r>
            <a:endParaRPr lang="en-US" altLang="ko-KR" sz="2400" b="1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50846" y="1482089"/>
            <a:ext cx="9890307" cy="4325919"/>
          </a:xfrm>
          <a:prstGeom prst="rect">
            <a:avLst/>
          </a:prstGeom>
        </p:spPr>
      </p:pic>
      <p:grpSp>
        <p:nvGrpSpPr>
          <p:cNvPr id="13" name=""/>
          <p:cNvGrpSpPr/>
          <p:nvPr/>
        </p:nvGrpSpPr>
        <p:grpSpPr>
          <a:xfrm rot="0">
            <a:off x="0" y="0"/>
            <a:ext cx="1905000" cy="1482089"/>
            <a:chOff x="0" y="0"/>
            <a:chExt cx="1905000" cy="1482089"/>
          </a:xfrm>
        </p:grpSpPr>
        <p:pic>
          <p:nvPicPr>
            <p:cNvPr id="4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0" y="0"/>
              <a:ext cx="1905000" cy="1482089"/>
            </a:xfrm>
            <a:prstGeom prst="rect">
              <a:avLst/>
            </a:prstGeom>
          </p:spPr>
        </p:pic>
        <p:sp>
          <p:nvSpPr>
            <p:cNvPr id="12" name=""/>
            <p:cNvSpPr/>
            <p:nvPr/>
          </p:nvSpPr>
          <p:spPr>
            <a:xfrm rot="694729">
              <a:off x="357706" y="511131"/>
              <a:ext cx="697306" cy="416432"/>
            </a:xfrm>
            <a:prstGeom prst="rect">
              <a:avLst/>
            </a:prstGeom>
            <a:solidFill>
              <a:srgbClr val="4dcbfe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 txBox="1"/>
          <p:nvPr/>
        </p:nvSpPr>
        <p:spPr>
          <a:xfrm>
            <a:off x="2423541" y="445388"/>
            <a:ext cx="9217152" cy="448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2400" b="1"/>
              <a:t>2.</a:t>
            </a:r>
            <a:r>
              <a:rPr lang="ko-KR" altLang="en-US" sz="2400" b="1"/>
              <a:t> 컨테이너는 독립적이다</a:t>
            </a:r>
            <a:r>
              <a:rPr lang="en-US" altLang="ko-KR" sz="2400" b="1"/>
              <a:t>!</a:t>
            </a:r>
            <a:endParaRPr lang="en-US" altLang="ko-KR" sz="2400" b="1"/>
          </a:p>
        </p:txBody>
      </p:sp>
      <p:grpSp>
        <p:nvGrpSpPr>
          <p:cNvPr id="6" name=""/>
          <p:cNvGrpSpPr/>
          <p:nvPr/>
        </p:nvGrpSpPr>
        <p:grpSpPr>
          <a:xfrm rot="0">
            <a:off x="0" y="0"/>
            <a:ext cx="1905000" cy="1482089"/>
            <a:chOff x="0" y="0"/>
            <a:chExt cx="1905000" cy="1482089"/>
          </a:xfrm>
        </p:grpSpPr>
        <p:pic>
          <p:nvPicPr>
            <p:cNvPr id="7" name="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0" y="0"/>
              <a:ext cx="1905000" cy="1482089"/>
            </a:xfrm>
            <a:prstGeom prst="rect">
              <a:avLst/>
            </a:prstGeom>
          </p:spPr>
        </p:pic>
        <p:sp>
          <p:nvSpPr>
            <p:cNvPr id="8" name=""/>
            <p:cNvSpPr/>
            <p:nvPr/>
          </p:nvSpPr>
          <p:spPr>
            <a:xfrm rot="694729">
              <a:off x="357706" y="511131"/>
              <a:ext cx="697306" cy="416432"/>
            </a:xfrm>
            <a:prstGeom prst="rect">
              <a:avLst/>
            </a:prstGeom>
            <a:solidFill>
              <a:srgbClr val="4dcbfe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30" name=""/>
          <p:cNvGrpSpPr/>
          <p:nvPr/>
        </p:nvGrpSpPr>
        <p:grpSpPr>
          <a:xfrm rot="0">
            <a:off x="1905000" y="1916811"/>
            <a:ext cx="3960495" cy="3603593"/>
            <a:chOff x="1905000" y="1916811"/>
            <a:chExt cx="3960495" cy="3603593"/>
          </a:xfrm>
        </p:grpSpPr>
        <p:grpSp>
          <p:nvGrpSpPr>
            <p:cNvPr id="20" name=""/>
            <p:cNvGrpSpPr/>
            <p:nvPr/>
          </p:nvGrpSpPr>
          <p:grpSpPr>
            <a:xfrm rot="0">
              <a:off x="1905000" y="1919954"/>
              <a:ext cx="3960495" cy="3600449"/>
              <a:chOff x="0" y="0"/>
              <a:chExt cx="1905000" cy="1482089"/>
            </a:xfrm>
          </p:grpSpPr>
          <p:pic>
            <p:nvPicPr>
              <p:cNvPr id="21" name="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>
              <a:xfrm>
                <a:off x="0" y="0"/>
                <a:ext cx="1905000" cy="1482089"/>
              </a:xfrm>
              <a:prstGeom prst="rect">
                <a:avLst/>
              </a:prstGeom>
            </p:spPr>
          </p:pic>
          <p:sp>
            <p:nvSpPr>
              <p:cNvPr id="22" name=""/>
              <p:cNvSpPr/>
              <p:nvPr/>
            </p:nvSpPr>
            <p:spPr>
              <a:xfrm rot="694729">
                <a:off x="357706" y="511131"/>
                <a:ext cx="697306" cy="416432"/>
              </a:xfrm>
              <a:prstGeom prst="rect">
                <a:avLst/>
              </a:prstGeom>
              <a:solidFill>
                <a:srgbClr val="4dcbfe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26" name=""/>
            <p:cNvSpPr txBox="1"/>
            <p:nvPr/>
          </p:nvSpPr>
          <p:spPr>
            <a:xfrm>
              <a:off x="2711577" y="3429000"/>
              <a:ext cx="1475613" cy="417195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>
                <a:defRPr/>
              </a:pPr>
              <a:r>
                <a:rPr lang="ko-KR" altLang="en-US" sz="2200" b="1"/>
                <a:t>파이썬 </a:t>
              </a:r>
              <a:r>
                <a:rPr lang="en-US" altLang="ko-KR" sz="2200" b="1"/>
                <a:t>3.5</a:t>
              </a:r>
              <a:endParaRPr lang="en-US" altLang="ko-KR" sz="2200" b="1"/>
            </a:p>
          </p:txBody>
        </p:sp>
        <p:sp>
          <p:nvSpPr>
            <p:cNvPr id="28" name=""/>
            <p:cNvSpPr txBox="1"/>
            <p:nvPr/>
          </p:nvSpPr>
          <p:spPr>
            <a:xfrm>
              <a:off x="3435477" y="1916811"/>
              <a:ext cx="899541" cy="91020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defRPr/>
              </a:pPr>
              <a:r>
                <a:rPr lang="en-US" altLang="ko-KR" sz="5400"/>
                <a:t>A</a:t>
              </a:r>
              <a:endParaRPr lang="en-US" altLang="ko-KR" sz="5400"/>
            </a:p>
          </p:txBody>
        </p:sp>
      </p:grpSp>
      <p:grpSp>
        <p:nvGrpSpPr>
          <p:cNvPr id="31" name=""/>
          <p:cNvGrpSpPr/>
          <p:nvPr/>
        </p:nvGrpSpPr>
        <p:grpSpPr>
          <a:xfrm rot="0">
            <a:off x="6600062" y="2086737"/>
            <a:ext cx="3960495" cy="3600450"/>
            <a:chOff x="6600062" y="2086737"/>
            <a:chExt cx="3960495" cy="3600450"/>
          </a:xfrm>
        </p:grpSpPr>
        <p:grpSp>
          <p:nvGrpSpPr>
            <p:cNvPr id="23" name=""/>
            <p:cNvGrpSpPr/>
            <p:nvPr/>
          </p:nvGrpSpPr>
          <p:grpSpPr>
            <a:xfrm rot="0">
              <a:off x="6600062" y="2086737"/>
              <a:ext cx="3960495" cy="3600449"/>
              <a:chOff x="0" y="0"/>
              <a:chExt cx="1905000" cy="1482089"/>
            </a:xfrm>
          </p:grpSpPr>
          <p:pic>
            <p:nvPicPr>
              <p:cNvPr id="24" name=""/>
              <p:cNvPicPr>
                <a:picLocks noChangeAspect="1"/>
              </p:cNvPicPr>
              <p:nvPr/>
            </p:nvPicPr>
            <p:blipFill rotWithShape="1">
              <a:blip r:embed="rId4"/>
              <a:stretch>
                <a:fillRect/>
              </a:stretch>
            </p:blipFill>
            <p:spPr>
              <a:xfrm>
                <a:off x="0" y="0"/>
                <a:ext cx="1905000" cy="1482089"/>
              </a:xfrm>
              <a:prstGeom prst="rect">
                <a:avLst/>
              </a:prstGeom>
            </p:spPr>
          </p:pic>
          <p:sp>
            <p:nvSpPr>
              <p:cNvPr id="25" name=""/>
              <p:cNvSpPr/>
              <p:nvPr/>
            </p:nvSpPr>
            <p:spPr>
              <a:xfrm rot="694729">
                <a:off x="357706" y="511131"/>
                <a:ext cx="697306" cy="416432"/>
              </a:xfrm>
              <a:prstGeom prst="rect">
                <a:avLst/>
              </a:prstGeom>
              <a:solidFill>
                <a:srgbClr val="4dcbfe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27" name=""/>
            <p:cNvSpPr txBox="1"/>
            <p:nvPr/>
          </p:nvSpPr>
          <p:spPr>
            <a:xfrm>
              <a:off x="7320153" y="3508438"/>
              <a:ext cx="1477137" cy="4234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2200" b="1"/>
                <a:t>파이썬 </a:t>
              </a:r>
              <a:r>
                <a:rPr lang="en-US" altLang="ko-KR" sz="2200" b="1"/>
                <a:t>1.5</a:t>
              </a:r>
              <a:endParaRPr lang="en-US" altLang="ko-KR" sz="2200" b="1"/>
            </a:p>
          </p:txBody>
        </p:sp>
        <p:sp>
          <p:nvSpPr>
            <p:cNvPr id="29" name=""/>
            <p:cNvSpPr txBox="1"/>
            <p:nvPr/>
          </p:nvSpPr>
          <p:spPr>
            <a:xfrm>
              <a:off x="8130539" y="2086737"/>
              <a:ext cx="899541" cy="9102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5400"/>
                <a:t>B</a:t>
              </a:r>
              <a:endParaRPr lang="en-US" altLang="ko-KR" sz="5400"/>
            </a:p>
          </p:txBody>
        </p:sp>
      </p:grpSp>
      <p:sp>
        <p:nvSpPr>
          <p:cNvPr id="32" name=""/>
          <p:cNvSpPr txBox="1"/>
          <p:nvPr/>
        </p:nvSpPr>
        <p:spPr>
          <a:xfrm>
            <a:off x="3071622" y="5520404"/>
            <a:ext cx="6315266" cy="821341"/>
          </a:xfrm>
          <a:prstGeom prst="rect">
            <a:avLst/>
          </a:prstGeom>
          <a:solidFill>
            <a:srgbClr val="d2eafa"/>
          </a:solidFill>
          <a:ln w="25400"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800"/>
              <a:t>Linux</a:t>
            </a:r>
            <a:r>
              <a:rPr lang="ko-KR" altLang="en-US" sz="4800"/>
              <a:t> </a:t>
            </a:r>
            <a:r>
              <a:rPr lang="en-US" altLang="ko-KR" sz="4800"/>
              <a:t>kernel</a:t>
            </a:r>
            <a:endParaRPr lang="en-US" altLang="ko-KR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1" animBg="1"/>
    </p:bldLst>
  </p:timing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 txBox="1"/>
          <p:nvPr/>
        </p:nvSpPr>
        <p:spPr>
          <a:xfrm>
            <a:off x="2423541" y="445388"/>
            <a:ext cx="9217152" cy="448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2400" b="1"/>
              <a:t>3.</a:t>
            </a:r>
            <a:r>
              <a:rPr lang="ko-KR" altLang="en-US" sz="2400" b="1"/>
              <a:t> 도커 컨테이너는 조작이 쉽다</a:t>
            </a:r>
            <a:r>
              <a:rPr lang="en-US" altLang="ko-KR" sz="2400" b="1"/>
              <a:t>.</a:t>
            </a:r>
            <a:endParaRPr lang="en-US" altLang="ko-KR" sz="2400" b="1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905000" cy="1482089"/>
          </a:xfrm>
          <a:prstGeom prst="rect">
            <a:avLst/>
          </a:prstGeom>
        </p:spPr>
      </p:pic>
      <p:grpSp>
        <p:nvGrpSpPr>
          <p:cNvPr id="37" name=""/>
          <p:cNvGrpSpPr/>
          <p:nvPr/>
        </p:nvGrpSpPr>
        <p:grpSpPr>
          <a:xfrm rot="0">
            <a:off x="4136045" y="1340739"/>
            <a:ext cx="6928575" cy="4578477"/>
            <a:chOff x="4136045" y="1340739"/>
            <a:chExt cx="6928575" cy="4578477"/>
          </a:xfrm>
        </p:grpSpPr>
        <p:pic>
          <p:nvPicPr>
            <p:cNvPr id="34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136045" y="1482089"/>
              <a:ext cx="3688170" cy="4437126"/>
            </a:xfrm>
            <a:prstGeom prst="rect">
              <a:avLst/>
            </a:prstGeom>
          </p:spPr>
        </p:pic>
        <p:sp>
          <p:nvSpPr>
            <p:cNvPr id="35" name=""/>
            <p:cNvSpPr/>
            <p:nvPr/>
          </p:nvSpPr>
          <p:spPr>
            <a:xfrm>
              <a:off x="7824216" y="1340739"/>
              <a:ext cx="3240405" cy="1368171"/>
            </a:xfrm>
            <a:prstGeom prst="wedgeRoundRectCallout">
              <a:avLst>
                <a:gd name="adj1" fmla="val -62816"/>
                <a:gd name="adj2" fmla="val 47139"/>
                <a:gd name="adj3" fmla="val 16667"/>
              </a:avLst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6" name=""/>
            <p:cNvSpPr txBox="1"/>
            <p:nvPr/>
          </p:nvSpPr>
          <p:spPr>
            <a:xfrm>
              <a:off x="8076247" y="1482089"/>
              <a:ext cx="2736342" cy="118300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defRPr/>
              </a:pPr>
              <a:r>
                <a:rPr lang="en-US" altLang="ko-KR" sz="7200"/>
                <a:t>EZ</a:t>
              </a:r>
              <a:r>
                <a:rPr lang="en-US" altLang="ko-KR"/>
                <a:t> </a:t>
              </a:r>
              <a:endParaRPr lang="en-US" altLang="ko-K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905000" cy="1482089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1905000" y="1700784"/>
            <a:ext cx="9159621" cy="292646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 b="1"/>
              <a:t>도커 컨테이너는요</a:t>
            </a:r>
            <a:endParaRPr lang="en-US" altLang="ko-KR" sz="2600" b="1"/>
          </a:p>
          <a:p>
            <a:pPr>
              <a:defRPr/>
            </a:pPr>
            <a:endParaRPr lang="en-US" altLang="ko-KR" sz="2600" b="1"/>
          </a:p>
          <a:p>
            <a:pPr>
              <a:defRPr/>
            </a:pPr>
            <a:r>
              <a:rPr lang="en-US" altLang="ko-KR" sz="2600" b="1"/>
              <a:t>1.</a:t>
            </a:r>
            <a:r>
              <a:rPr lang="ko-KR" altLang="en-US" sz="2600" b="1"/>
              <a:t> </a:t>
            </a:r>
            <a:r>
              <a:rPr lang="en-US" altLang="ko-KR" sz="2600" b="1"/>
              <a:t>VM</a:t>
            </a:r>
            <a:r>
              <a:rPr lang="ko-KR" altLang="en-US" sz="2600" b="1"/>
              <a:t>이랑 다른겁니다</a:t>
            </a:r>
            <a:endParaRPr lang="en-US" altLang="ko-KR" sz="2600" b="1"/>
          </a:p>
          <a:p>
            <a:pPr>
              <a:defRPr/>
            </a:pPr>
            <a:endParaRPr lang="en-US" altLang="ko-KR" sz="2600" b="1"/>
          </a:p>
          <a:p>
            <a:pPr>
              <a:defRPr/>
            </a:pPr>
            <a:r>
              <a:rPr lang="en-US" altLang="ko-KR" sz="2600" b="1"/>
              <a:t>2.</a:t>
            </a:r>
            <a:r>
              <a:rPr lang="ko-KR" altLang="en-US" sz="2600" b="1"/>
              <a:t> 완벽히 분리되어 있습니다</a:t>
            </a:r>
            <a:r>
              <a:rPr lang="en-US" altLang="ko-KR" sz="2600" b="1"/>
              <a:t>.</a:t>
            </a:r>
            <a:endParaRPr lang="en-US" altLang="ko-KR" sz="2600" b="1"/>
          </a:p>
          <a:p>
            <a:pPr>
              <a:defRPr/>
            </a:pPr>
            <a:endParaRPr lang="en-US" altLang="ko-KR" sz="2600" b="1"/>
          </a:p>
          <a:p>
            <a:pPr>
              <a:defRPr/>
            </a:pPr>
            <a:r>
              <a:rPr lang="en-US" altLang="ko-KR" sz="2600" b="1"/>
              <a:t>3.</a:t>
            </a:r>
            <a:r>
              <a:rPr lang="ko-KR" altLang="en-US" sz="2600" b="1"/>
              <a:t> 사용이 쉽습니다</a:t>
            </a:r>
            <a:r>
              <a:rPr lang="en-US" altLang="ko-KR" sz="2600" b="1"/>
              <a:t>.</a:t>
            </a:r>
            <a:endParaRPr lang="en-US" altLang="ko-KR" sz="2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64139" y="1931654"/>
            <a:ext cx="3863720" cy="4089669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2603563" y="806577"/>
            <a:ext cx="6984873" cy="753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400"/>
              <a:t>What is docker image?</a:t>
            </a:r>
            <a:endParaRPr lang="en-US" altLang="ko-KR" sz="4400"/>
          </a:p>
        </p:txBody>
      </p:sp>
      <p:grpSp>
        <p:nvGrpSpPr>
          <p:cNvPr id="10" name=""/>
          <p:cNvGrpSpPr/>
          <p:nvPr/>
        </p:nvGrpSpPr>
        <p:grpSpPr>
          <a:xfrm rot="0">
            <a:off x="3353153" y="5048250"/>
            <a:ext cx="5215547" cy="1809750"/>
            <a:chOff x="3353153" y="5048250"/>
            <a:chExt cx="5215547" cy="1809750"/>
          </a:xfrm>
        </p:grpSpPr>
        <p:pic>
          <p:nvPicPr>
            <p:cNvPr id="7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353153" y="5048250"/>
              <a:ext cx="1675694" cy="1809749"/>
            </a:xfrm>
            <a:prstGeom prst="rect">
              <a:avLst/>
            </a:prstGeom>
          </p:spPr>
        </p:pic>
        <p:cxnSp>
          <p:nvCxnSpPr>
            <p:cNvPr id="8" name=""/>
            <p:cNvCxnSpPr/>
            <p:nvPr/>
          </p:nvCxnSpPr>
          <p:spPr>
            <a:xfrm>
              <a:off x="5028847" y="5953125"/>
              <a:ext cx="2147288" cy="0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7176135" y="5256842"/>
              <a:ext cx="1392565" cy="1392565"/>
            </a:xfrm>
            <a:prstGeom prst="rect">
              <a:avLst/>
            </a:prstGeom>
          </p:spPr>
        </p:pic>
      </p:grpSp>
      <p:pic>
        <p:nvPicPr>
          <p:cNvPr id="12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740629" y="5544676"/>
            <a:ext cx="2612028" cy="953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487424" cy="1574408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2423541" y="445388"/>
            <a:ext cx="9217152" cy="448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2400" b="1"/>
              <a:t>1. </a:t>
            </a:r>
            <a:r>
              <a:rPr lang="ko-KR" altLang="en-US" sz="2400" b="1"/>
              <a:t>이미지는 컨테이너를 생성</a:t>
            </a:r>
            <a:r>
              <a:rPr lang="en-US" altLang="ko-KR" sz="2400" b="1"/>
              <a:t>,</a:t>
            </a:r>
            <a:r>
              <a:rPr lang="ko-KR" altLang="en-US" sz="2400" b="1"/>
              <a:t> 구동할 때 사용된다</a:t>
            </a:r>
            <a:r>
              <a:rPr lang="en-US" altLang="ko-KR" sz="2400" b="1"/>
              <a:t>.</a:t>
            </a:r>
            <a:endParaRPr lang="en-US" altLang="ko-KR" sz="2400" b="1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rcRect l="35350"/>
          <a:stretch>
            <a:fillRect/>
          </a:stretch>
        </p:blipFill>
        <p:spPr>
          <a:xfrm>
            <a:off x="3871914" y="1725358"/>
            <a:ext cx="4448171" cy="34072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487424" cy="1574408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2423541" y="445388"/>
            <a:ext cx="9217152" cy="448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2400" b="1"/>
              <a:t>2. </a:t>
            </a:r>
            <a:r>
              <a:rPr lang="ko-KR" altLang="en-US" sz="2400" b="1"/>
              <a:t>이미지는 컨테이너로도 도커파일로도 만들어진다</a:t>
            </a:r>
            <a:r>
              <a:rPr lang="en-US" altLang="ko-KR" sz="2400" b="1"/>
              <a:t>.</a:t>
            </a:r>
            <a:endParaRPr lang="en-US" altLang="ko-KR" sz="2400" b="1"/>
          </a:p>
        </p:txBody>
      </p:sp>
      <p:cxnSp>
        <p:nvCxnSpPr>
          <p:cNvPr id="10" name=""/>
          <p:cNvCxnSpPr/>
          <p:nvPr/>
        </p:nvCxnSpPr>
        <p:spPr>
          <a:xfrm>
            <a:off x="4223766" y="3429000"/>
            <a:ext cx="792099" cy="0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55954" y="1725358"/>
            <a:ext cx="6880091" cy="3407283"/>
          </a:xfrm>
          <a:prstGeom prst="rect">
            <a:avLst/>
          </a:prstGeom>
        </p:spPr>
      </p:pic>
      <p:sp>
        <p:nvSpPr>
          <p:cNvPr id="8" name=""/>
          <p:cNvSpPr/>
          <p:nvPr/>
        </p:nvSpPr>
        <p:spPr>
          <a:xfrm>
            <a:off x="6703979" y="3140964"/>
            <a:ext cx="832200" cy="5760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7" name=""/>
          <p:cNvCxnSpPr/>
          <p:nvPr/>
        </p:nvCxnSpPr>
        <p:spPr>
          <a:xfrm rot="10800000" flipV="1">
            <a:off x="6791943" y="3284982"/>
            <a:ext cx="744237" cy="0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"/>
          <p:cNvSpPr txBox="1"/>
          <p:nvPr/>
        </p:nvSpPr>
        <p:spPr>
          <a:xfrm>
            <a:off x="6791943" y="3429000"/>
            <a:ext cx="888255" cy="2933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1400" b="1"/>
              <a:t>commit</a:t>
            </a:r>
            <a:endParaRPr lang="en-US" altLang="ko-KR" sz="1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487424" cy="1574408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2423541" y="445388"/>
            <a:ext cx="9217152" cy="448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2400" b="1"/>
              <a:t>2. </a:t>
            </a:r>
            <a:r>
              <a:rPr lang="ko-KR" altLang="en-US" sz="2400" b="1"/>
              <a:t>이미지는 컨테이너로도 도커파일로도 만들어진다</a:t>
            </a:r>
            <a:r>
              <a:rPr lang="en-US" altLang="ko-KR" sz="2400" b="1"/>
              <a:t>.</a:t>
            </a:r>
            <a:endParaRPr lang="en-US" altLang="ko-KR" sz="2400" b="1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3"/>
          <a:srcRect r="40580"/>
          <a:stretch>
            <a:fillRect/>
          </a:stretch>
        </p:blipFill>
        <p:spPr>
          <a:xfrm>
            <a:off x="4051936" y="1725358"/>
            <a:ext cx="4088127" cy="3407283"/>
          </a:xfrm>
          <a:prstGeom prst="rect">
            <a:avLst/>
          </a:prstGeom>
        </p:spPr>
      </p:pic>
      <p:grpSp>
        <p:nvGrpSpPr>
          <p:cNvPr id="12" name=""/>
          <p:cNvGrpSpPr/>
          <p:nvPr/>
        </p:nvGrpSpPr>
        <p:grpSpPr>
          <a:xfrm rot="0">
            <a:off x="743712" y="1844802"/>
            <a:ext cx="3120009" cy="2016252"/>
            <a:chOff x="743712" y="1844802"/>
            <a:chExt cx="3120009" cy="2016252"/>
          </a:xfrm>
        </p:grpSpPr>
        <p:sp>
          <p:nvSpPr>
            <p:cNvPr id="10" name=""/>
            <p:cNvSpPr/>
            <p:nvPr/>
          </p:nvSpPr>
          <p:spPr>
            <a:xfrm>
              <a:off x="743712" y="1844802"/>
              <a:ext cx="3120009" cy="2016252"/>
            </a:xfrm>
            <a:prstGeom prst="wedgeRoundRectCallout">
              <a:avLst>
                <a:gd name="adj1" fmla="val 68511"/>
                <a:gd name="adj2" fmla="val 28707"/>
                <a:gd name="adj3" fmla="val 16667"/>
              </a:avLst>
            </a:prstGeom>
            <a:noFill/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11" name=""/>
            <p:cNvSpPr txBox="1"/>
            <p:nvPr/>
          </p:nvSpPr>
          <p:spPr>
            <a:xfrm>
              <a:off x="911352" y="2060829"/>
              <a:ext cx="2736342" cy="14615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defRPr/>
              </a:pPr>
              <a:r>
                <a:rPr lang="en-US" altLang="ko-KR"/>
                <a:t>1.</a:t>
              </a:r>
              <a:r>
                <a:rPr lang="ko-KR" altLang="en-US"/>
                <a:t> 파이썬 </a:t>
              </a:r>
              <a:r>
                <a:rPr lang="en-US" altLang="ko-KR"/>
                <a:t>3.6</a:t>
              </a:r>
              <a:r>
                <a:rPr lang="ko-KR" altLang="en-US"/>
                <a:t>버전</a:t>
              </a:r>
              <a:endParaRPr lang="ko-KR" altLang="en-US"/>
            </a:p>
            <a:p>
              <a:pPr>
                <a:defRPr/>
              </a:pPr>
              <a:endParaRPr lang="ko-KR" altLang="en-US"/>
            </a:p>
            <a:p>
              <a:pPr>
                <a:defRPr/>
              </a:pPr>
              <a:r>
                <a:rPr lang="en-US" altLang="ko-KR"/>
                <a:t>2.</a:t>
              </a:r>
              <a:r>
                <a:rPr lang="ko-KR" altLang="en-US"/>
                <a:t> 환경 개빠르게</a:t>
              </a:r>
              <a:endParaRPr lang="ko-KR" altLang="en-US"/>
            </a:p>
            <a:p>
              <a:pPr>
                <a:defRPr/>
              </a:pPr>
              <a:endParaRPr lang="ko-KR" altLang="en-US"/>
            </a:p>
            <a:p>
              <a:pPr>
                <a:defRPr/>
              </a:pPr>
              <a:r>
                <a:rPr lang="en-US" altLang="ko-KR"/>
                <a:t>3.</a:t>
              </a:r>
              <a:r>
                <a:rPr lang="ko-KR" altLang="en-US"/>
                <a:t> </a:t>
              </a:r>
              <a:r>
                <a:rPr lang="en-US" altLang="ko-KR"/>
                <a:t>print(</a:t>
              </a:r>
              <a:r>
                <a:rPr lang="ko-KR" altLang="en-US"/>
                <a:t>안성은 바보</a:t>
              </a:r>
              <a:r>
                <a:rPr lang="en-US" altLang="ko-KR"/>
                <a:t>)</a:t>
              </a:r>
              <a:endParaRPr lang="en-US" altLang="ko-K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487424" cy="1574408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2423541" y="445388"/>
            <a:ext cx="9217152" cy="448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2400" b="1"/>
              <a:t>2. </a:t>
            </a:r>
            <a:r>
              <a:rPr lang="ko-KR" altLang="en-US" sz="2400" b="1"/>
              <a:t>이미지는 컨테이너로도 도커파일로도 만들어진다</a:t>
            </a:r>
            <a:r>
              <a:rPr lang="en-US" altLang="ko-KR" sz="2400" b="1"/>
              <a:t>.</a:t>
            </a:r>
            <a:endParaRPr lang="en-US" altLang="ko-KR" sz="2400" b="1"/>
          </a:p>
        </p:txBody>
      </p:sp>
      <p:grpSp>
        <p:nvGrpSpPr>
          <p:cNvPr id="11" name=""/>
          <p:cNvGrpSpPr/>
          <p:nvPr/>
        </p:nvGrpSpPr>
        <p:grpSpPr>
          <a:xfrm rot="0">
            <a:off x="3871914" y="1725358"/>
            <a:ext cx="4448172" cy="3407283"/>
            <a:chOff x="5087874" y="1725358"/>
            <a:chExt cx="4448172" cy="3407283"/>
          </a:xfrm>
        </p:grpSpPr>
        <p:pic>
          <p:nvPicPr>
            <p:cNvPr id="7" name=""/>
            <p:cNvPicPr>
              <a:picLocks noChangeAspect="1"/>
            </p:cNvPicPr>
            <p:nvPr/>
          </p:nvPicPr>
          <p:blipFill rotWithShape="1">
            <a:blip r:embed="rId3"/>
            <a:srcRect l="35350"/>
            <a:stretch>
              <a:fillRect/>
            </a:stretch>
          </p:blipFill>
          <p:spPr>
            <a:xfrm>
              <a:off x="5087874" y="1725358"/>
              <a:ext cx="4448171" cy="3407283"/>
            </a:xfrm>
            <a:prstGeom prst="rect">
              <a:avLst/>
            </a:prstGeom>
          </p:spPr>
        </p:pic>
        <p:sp>
          <p:nvSpPr>
            <p:cNvPr id="8" name=""/>
            <p:cNvSpPr/>
            <p:nvPr/>
          </p:nvSpPr>
          <p:spPr>
            <a:xfrm>
              <a:off x="6703979" y="3140964"/>
              <a:ext cx="832200" cy="57607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9" name=""/>
            <p:cNvCxnSpPr/>
            <p:nvPr/>
          </p:nvCxnSpPr>
          <p:spPr>
            <a:xfrm rot="10800000" flipV="1">
              <a:off x="6791943" y="3284982"/>
              <a:ext cx="744237" cy="0"/>
            </a:xfrm>
            <a:prstGeom prst="straightConnector1">
              <a:avLst/>
            </a:prstGeom>
            <a:ln>
              <a:solidFill>
                <a:schemeClr val="dk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"/>
            <p:cNvSpPr txBox="1"/>
            <p:nvPr/>
          </p:nvSpPr>
          <p:spPr>
            <a:xfrm>
              <a:off x="6791943" y="3429000"/>
              <a:ext cx="888255" cy="2933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1400" b="1"/>
                <a:t>commit</a:t>
              </a:r>
              <a:endParaRPr lang="en-US" altLang="ko-KR" sz="1400" b="1"/>
            </a:p>
          </p:txBody>
        </p:sp>
      </p:grpSp>
      <p:pic>
        <p:nvPicPr>
          <p:cNvPr id="12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47919" y="2636901"/>
            <a:ext cx="1044030" cy="381033"/>
          </a:xfrm>
          <a:prstGeom prst="rect">
            <a:avLst/>
          </a:prstGeom>
          <a:ln w="25400">
            <a:solidFill>
              <a:schemeClr val="accent1">
                <a:shade val="20000"/>
              </a:schemeClr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487424" cy="1574408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2423541" y="445388"/>
            <a:ext cx="9217152" cy="819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2400" b="1"/>
              <a:t>3.</a:t>
            </a:r>
            <a:r>
              <a:rPr lang="ko-KR" altLang="en-US" sz="2400" b="1"/>
              <a:t> 하나의 이미지는 여러 컨테이너를 생성할 수 있다</a:t>
            </a:r>
            <a:r>
              <a:rPr lang="en-US" altLang="ko-KR" sz="2400" b="1"/>
              <a:t>.</a:t>
            </a:r>
            <a:endParaRPr lang="ko-KR" altLang="en-US" sz="2400" b="1"/>
          </a:p>
          <a:p>
            <a:pPr marL="0" indent="0">
              <a:buNone/>
              <a:defRPr/>
            </a:pPr>
            <a:r>
              <a:rPr lang="en-US" altLang="ko-KR" sz="2400" b="1"/>
              <a:t>(</a:t>
            </a:r>
            <a:r>
              <a:rPr lang="ko-KR" altLang="en-US" sz="2400" b="1"/>
              <a:t>컨테이너가 삭제되어도 이미지는 삭제되지 않는다</a:t>
            </a:r>
            <a:r>
              <a:rPr lang="en-US" altLang="ko-KR" sz="2400" b="1"/>
              <a:t>)</a:t>
            </a:r>
            <a:r>
              <a:rPr lang="ko-KR" altLang="en-US" sz="2400" b="1"/>
              <a:t> </a:t>
            </a:r>
            <a:endParaRPr lang="ko-KR" altLang="en-US" sz="2400" b="1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00450" y="2852928"/>
            <a:ext cx="1487424" cy="1574408"/>
          </a:xfrm>
          <a:prstGeom prst="rect">
            <a:avLst/>
          </a:prstGeom>
        </p:spPr>
      </p:pic>
      <p:cxnSp>
        <p:nvCxnSpPr>
          <p:cNvPr id="7" name=""/>
          <p:cNvCxnSpPr>
            <a:stCxn id="6" idx="3"/>
          </p:cNvCxnSpPr>
          <p:nvPr/>
        </p:nvCxnSpPr>
        <p:spPr>
          <a:xfrm flipV="1">
            <a:off x="5087874" y="2708910"/>
            <a:ext cx="1584198" cy="9312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"/>
          <p:cNvCxnSpPr>
            <a:stCxn id="6" idx="3"/>
          </p:cNvCxnSpPr>
          <p:nvPr/>
        </p:nvCxnSpPr>
        <p:spPr>
          <a:xfrm>
            <a:off x="5087874" y="3640132"/>
            <a:ext cx="194424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"/>
          <p:cNvCxnSpPr>
            <a:stCxn id="6" idx="3"/>
          </p:cNvCxnSpPr>
          <p:nvPr/>
        </p:nvCxnSpPr>
        <p:spPr>
          <a:xfrm>
            <a:off x="5087874" y="3640132"/>
            <a:ext cx="1584198" cy="10130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248144" y="1574408"/>
            <a:ext cx="1905000" cy="1482089"/>
          </a:xfrm>
          <a:prstGeom prst="rect">
            <a:avLst/>
          </a:prstGeom>
        </p:spPr>
      </p:pic>
      <p:pic>
        <p:nvPicPr>
          <p:cNvPr id="11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248144" y="2852928"/>
            <a:ext cx="1905000" cy="1482089"/>
          </a:xfrm>
          <a:prstGeom prst="rect">
            <a:avLst/>
          </a:prstGeom>
        </p:spPr>
      </p:pic>
      <p:pic>
        <p:nvPicPr>
          <p:cNvPr id="12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248144" y="4146642"/>
            <a:ext cx="1905000" cy="14820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487424" cy="1574408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2423541" y="445388"/>
            <a:ext cx="9217152" cy="448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ko-KR" altLang="en-US" sz="2400" b="1"/>
              <a:t>★ 이미지는 레이어 개념을 사용하고 있다</a:t>
            </a:r>
            <a:r>
              <a:rPr lang="en-US" altLang="ko-KR" sz="2400" b="1"/>
              <a:t>.(</a:t>
            </a:r>
            <a:r>
              <a:rPr lang="ko-KR" altLang="en-US" sz="2400" b="1"/>
              <a:t>겹치는 부분 공유하려고</a:t>
            </a:r>
            <a:r>
              <a:rPr lang="en-US" altLang="ko-KR" sz="2400" b="1"/>
              <a:t>)</a:t>
            </a:r>
            <a:endParaRPr lang="en-US" altLang="ko-KR" sz="2400" b="1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841023"/>
            <a:ext cx="12192000" cy="4828381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2063496" y="5445633"/>
            <a:ext cx="1031748" cy="362712"/>
          </a:xfrm>
          <a:prstGeom prst="rect">
            <a:avLst/>
          </a:prstGeom>
          <a:solidFill>
            <a:schemeClr val="l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p>
            <a:pPr algn="ctr">
              <a:defRPr/>
            </a:pPr>
            <a:r>
              <a:rPr lang="en-US" altLang="ko-KR" b="1"/>
              <a:t>500MB</a:t>
            </a:r>
            <a:endParaRPr lang="en-US" altLang="ko-KR" b="1"/>
          </a:p>
        </p:txBody>
      </p:sp>
      <p:sp>
        <p:nvSpPr>
          <p:cNvPr id="8" name=""/>
          <p:cNvSpPr txBox="1"/>
          <p:nvPr/>
        </p:nvSpPr>
        <p:spPr>
          <a:xfrm>
            <a:off x="4799838" y="3066669"/>
            <a:ext cx="936117" cy="362331"/>
          </a:xfrm>
          <a:prstGeom prst="rect">
            <a:avLst/>
          </a:prstGeom>
          <a:solidFill>
            <a:schemeClr val="l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/>
              <a:t>100MB</a:t>
            </a:r>
            <a:endParaRPr lang="en-US" altLang="ko-KR" b="1"/>
          </a:p>
        </p:txBody>
      </p:sp>
      <p:sp>
        <p:nvSpPr>
          <p:cNvPr id="9" name=""/>
          <p:cNvSpPr txBox="1"/>
          <p:nvPr/>
        </p:nvSpPr>
        <p:spPr>
          <a:xfrm>
            <a:off x="4799838" y="5446014"/>
            <a:ext cx="936117" cy="362331"/>
          </a:xfrm>
          <a:prstGeom prst="rect">
            <a:avLst/>
          </a:prstGeom>
          <a:solidFill>
            <a:schemeClr val="l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/>
              <a:t>100MB</a:t>
            </a:r>
            <a:endParaRPr lang="en-US" altLang="ko-KR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1" animBg="1"/>
      <p:bldP spid="9" grpId="2" animBg="1"/>
    </p:bldLst>
  </p:timing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 txBox="1"/>
          <p:nvPr/>
        </p:nvSpPr>
        <p:spPr>
          <a:xfrm>
            <a:off x="1905000" y="1700784"/>
            <a:ext cx="9159621" cy="450761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 b="1"/>
              <a:t>도커 이미지는요</a:t>
            </a:r>
            <a:endParaRPr lang="en-US" altLang="ko-KR" sz="2600" b="1"/>
          </a:p>
          <a:p>
            <a:pPr>
              <a:defRPr/>
            </a:pPr>
            <a:endParaRPr lang="en-US" altLang="ko-KR" sz="2600" b="1"/>
          </a:p>
          <a:p>
            <a:pPr>
              <a:defRPr/>
            </a:pPr>
            <a:r>
              <a:rPr lang="en-US" altLang="ko-KR" sz="2600" b="1"/>
              <a:t>1.</a:t>
            </a:r>
            <a:r>
              <a:rPr lang="ko-KR" altLang="en-US" sz="2600" b="1"/>
              <a:t> 컨테이너를 생성</a:t>
            </a:r>
            <a:r>
              <a:rPr lang="en-US" altLang="ko-KR" sz="2600" b="1"/>
              <a:t>,</a:t>
            </a:r>
            <a:r>
              <a:rPr lang="ko-KR" altLang="en-US" sz="2600" b="1"/>
              <a:t> 구동할 때</a:t>
            </a:r>
            <a:r>
              <a:rPr lang="en-US" altLang="ko-KR" sz="2600" b="1"/>
              <a:t> </a:t>
            </a:r>
            <a:r>
              <a:rPr lang="ko-KR" altLang="en-US" sz="2600" b="1"/>
              <a:t>쓰입니다</a:t>
            </a:r>
            <a:r>
              <a:rPr lang="en-US" altLang="ko-KR" sz="2600" b="1"/>
              <a:t>.</a:t>
            </a:r>
            <a:endParaRPr lang="en-US" altLang="ko-KR" sz="2600" b="1"/>
          </a:p>
          <a:p>
            <a:pPr>
              <a:defRPr/>
            </a:pPr>
            <a:endParaRPr lang="en-US" altLang="ko-KR" sz="2600" b="1"/>
          </a:p>
          <a:p>
            <a:pPr>
              <a:defRPr/>
            </a:pPr>
            <a:r>
              <a:rPr lang="en-US" altLang="ko-KR" sz="2600" b="1"/>
              <a:t>2.</a:t>
            </a:r>
            <a:r>
              <a:rPr lang="ko-KR" altLang="en-US" sz="2600" b="1"/>
              <a:t> 도커파일로도 컨테이너로도 만들 수 있습니다</a:t>
            </a:r>
            <a:r>
              <a:rPr lang="en-US" altLang="ko-KR" sz="2600" b="1"/>
              <a:t>.</a:t>
            </a:r>
            <a:endParaRPr lang="en-US" altLang="ko-KR" sz="2600" b="1"/>
          </a:p>
          <a:p>
            <a:pPr>
              <a:defRPr/>
            </a:pPr>
            <a:r>
              <a:rPr lang="ko-KR" altLang="en-US" sz="2600" b="1"/>
              <a:t>    </a:t>
            </a:r>
            <a:r>
              <a:rPr lang="en-US" altLang="ko-KR" sz="2600" b="1"/>
              <a:t>(vagrantfile)  (snapshot)</a:t>
            </a:r>
            <a:endParaRPr lang="en-US" altLang="ko-KR" sz="2600" b="1"/>
          </a:p>
          <a:p>
            <a:pPr>
              <a:defRPr/>
            </a:pPr>
            <a:endParaRPr lang="en-US" altLang="ko-KR" sz="2600" b="1"/>
          </a:p>
          <a:p>
            <a:pPr>
              <a:defRPr/>
            </a:pPr>
            <a:r>
              <a:rPr lang="en-US" altLang="ko-KR" sz="2600" b="1"/>
              <a:t>3.</a:t>
            </a:r>
            <a:r>
              <a:rPr lang="ko-KR" altLang="en-US" sz="2600" b="1"/>
              <a:t> 하나의 이미지는 여러 컨테이너를 생성할 수 있습니다</a:t>
            </a:r>
            <a:r>
              <a:rPr lang="en-US" altLang="ko-KR" sz="2600" b="1"/>
              <a:t>.</a:t>
            </a:r>
            <a:endParaRPr lang="en-US" altLang="ko-KR" sz="2600" b="1"/>
          </a:p>
          <a:p>
            <a:pPr>
              <a:defRPr/>
            </a:pPr>
            <a:r>
              <a:rPr lang="en-US" altLang="ko-KR" sz="2600" b="1"/>
              <a:t>(</a:t>
            </a:r>
            <a:r>
              <a:rPr lang="ko-KR" altLang="en-US" sz="2600" b="1"/>
              <a:t>컨테이너가 삭제되어도 이미지는 삭제되지 않습니다</a:t>
            </a:r>
            <a:r>
              <a:rPr lang="en-US" altLang="ko-KR" sz="2600" b="1"/>
              <a:t>)</a:t>
            </a:r>
            <a:endParaRPr lang="en-US" altLang="ko-KR" sz="2600" b="1"/>
          </a:p>
          <a:p>
            <a:pPr>
              <a:defRPr/>
            </a:pPr>
            <a:endParaRPr lang="en-US" altLang="ko-KR" sz="2600" b="1"/>
          </a:p>
          <a:p>
            <a:pPr>
              <a:defRPr/>
            </a:pPr>
            <a:r>
              <a:rPr lang="ko-KR" altLang="en-US" sz="2600" b="1"/>
              <a:t>★</a:t>
            </a:r>
            <a:r>
              <a:rPr lang="en-US" altLang="ko-KR" sz="2600" b="1"/>
              <a:t>.</a:t>
            </a:r>
            <a:r>
              <a:rPr lang="ko-KR" altLang="en-US" sz="2600" b="1"/>
              <a:t> 이미지는 레이어 개념을 사용했다</a:t>
            </a:r>
            <a:r>
              <a:rPr lang="en-US" altLang="ko-KR" sz="2600" b="1"/>
              <a:t>.</a:t>
            </a:r>
            <a:endParaRPr lang="en-US" altLang="ko-KR" sz="2600" b="1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487424" cy="1574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603563" y="806577"/>
            <a:ext cx="6984873" cy="753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400"/>
              <a:t>What is dockerfile?</a:t>
            </a:r>
            <a:endParaRPr lang="en-US" altLang="ko-KR" sz="4400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rcRect l="4750" t="22720" r="75000" b="26550"/>
          <a:stretch>
            <a:fillRect/>
          </a:stretch>
        </p:blipFill>
        <p:spPr>
          <a:xfrm>
            <a:off x="5123878" y="2168842"/>
            <a:ext cx="1944242" cy="2412301"/>
          </a:xfrm>
          <a:prstGeom prst="rect">
            <a:avLst/>
          </a:prstGeom>
        </p:spPr>
      </p:pic>
      <p:grpSp>
        <p:nvGrpSpPr>
          <p:cNvPr id="8" name=""/>
          <p:cNvGrpSpPr/>
          <p:nvPr/>
        </p:nvGrpSpPr>
        <p:grpSpPr>
          <a:xfrm rot="0">
            <a:off x="5258153" y="3374993"/>
            <a:ext cx="1809968" cy="3483006"/>
            <a:chOff x="5258153" y="3374993"/>
            <a:chExt cx="1809968" cy="3483006"/>
          </a:xfrm>
        </p:grpSpPr>
        <p:pic>
          <p:nvPicPr>
            <p:cNvPr id="6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258153" y="5048250"/>
              <a:ext cx="1675694" cy="1809749"/>
            </a:xfrm>
            <a:prstGeom prst="rect">
              <a:avLst/>
            </a:prstGeom>
          </p:spPr>
        </p:pic>
        <p:cxnSp>
          <p:nvCxnSpPr>
            <p:cNvPr id="7" name=""/>
            <p:cNvCxnSpPr>
              <a:endCxn id="5" idx="3"/>
            </p:cNvCxnSpPr>
            <p:nvPr/>
          </p:nvCxnSpPr>
          <p:spPr>
            <a:xfrm flipV="1">
              <a:off x="6933847" y="3374993"/>
              <a:ext cx="134274" cy="2578131"/>
            </a:xfrm>
            <a:prstGeom prst="curvedConnector3">
              <a:avLst>
                <a:gd name="adj1" fmla="val 1417944"/>
              </a:avLst>
            </a:prstGeom>
            <a:ln>
              <a:solidFill>
                <a:schemeClr val="dk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rcRect l="4750" t="22720" r="75000" b="26550"/>
          <a:stretch>
            <a:fillRect/>
          </a:stretch>
        </p:blipFill>
        <p:spPr>
          <a:xfrm>
            <a:off x="0" y="0"/>
            <a:ext cx="1022558" cy="1268730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2423541" y="445388"/>
            <a:ext cx="9217152" cy="448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2400" b="1"/>
              <a:t>1.</a:t>
            </a:r>
            <a:r>
              <a:rPr lang="ko-KR" altLang="en-US" sz="2400" b="1"/>
              <a:t> 도커 파일은 이미지 정보가 잘 담겨있다</a:t>
            </a:r>
            <a:r>
              <a:rPr lang="en-US" altLang="ko-KR" sz="2400" b="1"/>
              <a:t>.</a:t>
            </a:r>
            <a:endParaRPr lang="en-US" altLang="ko-KR" sz="2400" b="1"/>
          </a:p>
        </p:txBody>
      </p:sp>
      <p:grpSp>
        <p:nvGrpSpPr>
          <p:cNvPr id="10" name=""/>
          <p:cNvGrpSpPr/>
          <p:nvPr/>
        </p:nvGrpSpPr>
        <p:grpSpPr>
          <a:xfrm rot="0">
            <a:off x="2849880" y="1656206"/>
            <a:ext cx="6492240" cy="4869180"/>
            <a:chOff x="2999613" y="1988820"/>
            <a:chExt cx="6492240" cy="4869180"/>
          </a:xfrm>
        </p:grpSpPr>
        <p:pic>
          <p:nvPicPr>
            <p:cNvPr id="6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999613" y="1988820"/>
              <a:ext cx="6492240" cy="4869180"/>
            </a:xfrm>
            <a:prstGeom prst="rect">
              <a:avLst/>
            </a:prstGeom>
          </p:spPr>
        </p:pic>
        <p:sp>
          <p:nvSpPr>
            <p:cNvPr id="7" name=""/>
            <p:cNvSpPr/>
            <p:nvPr/>
          </p:nvSpPr>
          <p:spPr>
            <a:xfrm rot="20533536">
              <a:off x="4515199" y="2890370"/>
              <a:ext cx="2488379" cy="576072"/>
            </a:xfrm>
            <a:prstGeom prst="rect">
              <a:avLst/>
            </a:prstGeom>
            <a:solidFill>
              <a:srgbClr val="c6dfca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altLang="ko-KR" sz="3400">
                  <a:solidFill>
                    <a:schemeClr val="dk1"/>
                  </a:solidFill>
                </a:rPr>
                <a:t>Dockerfile</a:t>
              </a:r>
              <a:endParaRPr lang="en-US" altLang="ko-KR" sz="3400">
                <a:solidFill>
                  <a:schemeClr val="dk1"/>
                </a:solidFill>
              </a:endParaRPr>
            </a:p>
          </p:txBody>
        </p:sp>
        <p:sp>
          <p:nvSpPr>
            <p:cNvPr id="9" name=""/>
            <p:cNvSpPr txBox="1"/>
            <p:nvPr/>
          </p:nvSpPr>
          <p:spPr>
            <a:xfrm rot="20634068">
              <a:off x="5047194" y="3646039"/>
              <a:ext cx="2326683" cy="228536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defRPr/>
              </a:pPr>
              <a:r>
                <a:rPr lang="ko-KR" altLang="en-US" b="1"/>
                <a:t>파이썬 </a:t>
              </a:r>
              <a:r>
                <a:rPr lang="en-US" altLang="ko-KR" b="1"/>
                <a:t>3.6</a:t>
              </a:r>
              <a:r>
                <a:rPr lang="ko-KR" altLang="en-US" b="1"/>
                <a:t>버전</a:t>
              </a:r>
              <a:endParaRPr lang="ko-KR" altLang="en-US" b="1"/>
            </a:p>
            <a:p>
              <a:pPr>
                <a:defRPr/>
              </a:pPr>
              <a:endParaRPr lang="ko-KR" altLang="en-US" b="1"/>
            </a:p>
            <a:p>
              <a:pPr>
                <a:defRPr/>
              </a:pPr>
              <a:r>
                <a:rPr lang="ko-KR" altLang="en-US" b="1"/>
                <a:t>환경 </a:t>
              </a:r>
              <a:r>
                <a:rPr lang="en-US" altLang="ko-KR" b="1"/>
                <a:t>:</a:t>
              </a:r>
              <a:r>
                <a:rPr lang="ko-KR" altLang="en-US" b="1"/>
                <a:t> 누구보다 빠르게 남들과는 다르게</a:t>
              </a:r>
              <a:endParaRPr lang="ko-KR" altLang="en-US" b="1"/>
            </a:p>
            <a:p>
              <a:pPr>
                <a:defRPr/>
              </a:pPr>
              <a:endParaRPr lang="ko-KR" altLang="en-US" b="1"/>
            </a:p>
            <a:p>
              <a:pPr>
                <a:defRPr/>
              </a:pPr>
              <a:r>
                <a:rPr lang="ko-KR" altLang="en-US" b="1"/>
                <a:t>저장경로 </a:t>
              </a:r>
              <a:r>
                <a:rPr lang="en-US" altLang="ko-KR" b="1"/>
                <a:t>:</a:t>
              </a:r>
              <a:r>
                <a:rPr lang="ko-KR" altLang="en-US" b="1"/>
                <a:t> 우리집</a:t>
              </a:r>
              <a:endParaRPr lang="ko-KR" altLang="en-US" b="1"/>
            </a:p>
            <a:p>
              <a:pPr>
                <a:defRPr/>
              </a:pPr>
              <a:endParaRPr lang="ko-KR" altLang="en-US"/>
            </a:p>
            <a:p>
              <a:pPr>
                <a:defRPr/>
              </a:pPr>
              <a:r>
                <a:rPr lang="en-US" altLang="ko-KR" b="1"/>
                <a:t>print(</a:t>
              </a:r>
              <a:r>
                <a:rPr lang="ko-KR" altLang="en-US" b="1"/>
                <a:t>놀고싶다</a:t>
              </a:r>
              <a:r>
                <a:rPr lang="en-US" altLang="ko-KR" b="1"/>
                <a:t>.)</a:t>
              </a:r>
              <a:endParaRPr lang="en-US" altLang="ko-KR" b="1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55954" y="1412748"/>
            <a:ext cx="6880091" cy="3407283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3431667" y="260604"/>
            <a:ext cx="5328666" cy="153771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300" b="1"/>
              <a:t>도커를 쓰는 가장 큰 세가지 이유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똑같은 환경</a:t>
            </a:r>
            <a:endParaRPr lang="ko-KR" altLang="en-US"/>
          </a:p>
          <a:p>
            <a:pPr>
              <a:defRPr/>
            </a:pPr>
            <a:r>
              <a:rPr lang="en-US" altLang="ko-KR"/>
              <a:t>2.</a:t>
            </a:r>
            <a:r>
              <a:rPr lang="ko-KR" altLang="en-US"/>
              <a:t> 비용절감</a:t>
            </a:r>
            <a:endParaRPr lang="ko-KR" altLang="en-US"/>
          </a:p>
          <a:p>
            <a:pPr>
              <a:defRPr/>
            </a:pPr>
            <a:r>
              <a:rPr lang="en-US" altLang="ko-KR"/>
              <a:t>3.</a:t>
            </a:r>
            <a:r>
              <a:rPr lang="ko-KR" altLang="en-US"/>
              <a:t> 배포 용이</a:t>
            </a:r>
            <a:endParaRPr lang="ko-KR" altLang="en-US"/>
          </a:p>
        </p:txBody>
      </p:sp>
      <p:sp>
        <p:nvSpPr>
          <p:cNvPr id="7" name=""/>
          <p:cNvSpPr txBox="1"/>
          <p:nvPr/>
        </p:nvSpPr>
        <p:spPr>
          <a:xfrm>
            <a:off x="7583424" y="4419980"/>
            <a:ext cx="1952622" cy="1457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/>
              <a:t>도커 컨테이너</a:t>
            </a:r>
            <a:endParaRPr lang="ko-KR" altLang="en-US" b="1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VM</a:t>
            </a:r>
            <a:r>
              <a:rPr lang="ko-KR" altLang="en-US"/>
              <a:t>이랑 다름</a:t>
            </a:r>
            <a:endParaRPr lang="ko-KR" altLang="en-US"/>
          </a:p>
          <a:p>
            <a:pPr>
              <a:defRPr/>
            </a:pPr>
            <a:r>
              <a:rPr lang="en-US" altLang="ko-KR"/>
              <a:t>2.</a:t>
            </a:r>
            <a:r>
              <a:rPr lang="ko-KR" altLang="en-US"/>
              <a:t> 완벽한 분리</a:t>
            </a:r>
            <a:endParaRPr lang="ko-KR" altLang="en-US"/>
          </a:p>
          <a:p>
            <a:pPr>
              <a:defRPr/>
            </a:pPr>
            <a:r>
              <a:rPr lang="en-US" altLang="ko-KR"/>
              <a:t>3.</a:t>
            </a:r>
            <a:r>
              <a:rPr lang="ko-KR" altLang="en-US"/>
              <a:t> 사용이 쉬움</a:t>
            </a:r>
            <a:endParaRPr lang="ko-KR" altLang="en-US"/>
          </a:p>
        </p:txBody>
      </p:sp>
      <p:sp>
        <p:nvSpPr>
          <p:cNvPr id="8" name=""/>
          <p:cNvSpPr txBox="1"/>
          <p:nvPr/>
        </p:nvSpPr>
        <p:spPr>
          <a:xfrm>
            <a:off x="4815745" y="4419980"/>
            <a:ext cx="2560509" cy="2283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/>
              <a:t>도커 이미지</a:t>
            </a:r>
            <a:endParaRPr lang="ko-KR" altLang="en-US" b="1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컨테이너 생성</a:t>
            </a:r>
            <a:r>
              <a:rPr lang="en-US" altLang="ko-KR"/>
              <a:t>/</a:t>
            </a:r>
            <a:r>
              <a:rPr lang="ko-KR" altLang="en-US"/>
              <a:t>구동</a:t>
            </a:r>
            <a:endParaRPr lang="ko-KR" altLang="en-US"/>
          </a:p>
          <a:p>
            <a:pPr>
              <a:defRPr/>
            </a:pPr>
            <a:r>
              <a:rPr lang="en-US" altLang="ko-KR"/>
              <a:t>2.</a:t>
            </a:r>
            <a:r>
              <a:rPr lang="ko-KR" altLang="en-US"/>
              <a:t> 도커파일</a:t>
            </a:r>
            <a:r>
              <a:rPr lang="en-US" altLang="ko-KR"/>
              <a:t>,</a:t>
            </a:r>
            <a:r>
              <a:rPr lang="ko-KR" altLang="en-US"/>
              <a:t>컨테이너로</a:t>
            </a:r>
            <a:endParaRPr lang="ko-KR" altLang="en-US"/>
          </a:p>
          <a:p>
            <a:pPr>
              <a:defRPr/>
            </a:pPr>
            <a:r>
              <a:rPr lang="ko-KR" altLang="en-US"/>
              <a:t>    생성가능</a:t>
            </a:r>
            <a:endParaRPr lang="en-US" altLang="ko-KR"/>
          </a:p>
          <a:p>
            <a:pPr>
              <a:defRPr/>
            </a:pPr>
            <a:r>
              <a:rPr lang="en-US" altLang="ko-KR"/>
              <a:t>3.</a:t>
            </a:r>
            <a:r>
              <a:rPr lang="ko-KR" altLang="en-US"/>
              <a:t> 여러개 컨테이너 </a:t>
            </a:r>
            <a:endParaRPr lang="ko-KR" altLang="en-US"/>
          </a:p>
          <a:p>
            <a:pPr>
              <a:defRPr/>
            </a:pPr>
            <a:r>
              <a:rPr lang="ko-KR" altLang="en-US"/>
              <a:t>    생성 가능</a:t>
            </a:r>
            <a:endParaRPr lang="ko-KR" altLang="en-US"/>
          </a:p>
          <a:p>
            <a:pPr>
              <a:defRPr/>
            </a:pPr>
            <a:r>
              <a:rPr lang="ko-KR" altLang="en-US"/>
              <a:t>★</a:t>
            </a:r>
            <a:r>
              <a:rPr lang="en-US" altLang="ko-KR"/>
              <a:t>.</a:t>
            </a:r>
            <a:r>
              <a:rPr lang="ko-KR" altLang="en-US"/>
              <a:t> 레이어개념 사용함</a:t>
            </a:r>
            <a:endParaRPr lang="ko-KR" altLang="en-US"/>
          </a:p>
        </p:txBody>
      </p:sp>
      <p:sp>
        <p:nvSpPr>
          <p:cNvPr id="9" name=""/>
          <p:cNvSpPr txBox="1"/>
          <p:nvPr/>
        </p:nvSpPr>
        <p:spPr>
          <a:xfrm>
            <a:off x="2655954" y="4419980"/>
            <a:ext cx="2159791" cy="1178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/>
              <a:t>도커 파일</a:t>
            </a:r>
            <a:endParaRPr lang="ko-KR" altLang="en-US" b="1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이미지 정보파악</a:t>
            </a:r>
            <a:endParaRPr lang="ko-KR" altLang="en-US"/>
          </a:p>
          <a:p>
            <a:pPr>
              <a:defRPr/>
            </a:pPr>
            <a:r>
              <a:rPr lang="ko-KR" altLang="en-US"/>
              <a:t>    쉬움</a:t>
            </a:r>
            <a:endParaRPr lang="ko-KR" altLang="en-US"/>
          </a:p>
        </p:txBody>
      </p:sp>
      <p:sp>
        <p:nvSpPr>
          <p:cNvPr id="12" name=""/>
          <p:cNvSpPr/>
          <p:nvPr/>
        </p:nvSpPr>
        <p:spPr>
          <a:xfrm>
            <a:off x="9344620" y="5077979"/>
            <a:ext cx="196453" cy="372701"/>
          </a:xfrm>
          <a:custGeom>
            <a:avLst/>
            <a:gdLst>
              <a:gd name="connsiteX0" fmla="*/ -4829 w 196453"/>
              <a:gd name="connsiteY0" fmla="*/ 12603 h 372701"/>
              <a:gd name="connsiteX1" fmla="*/ 143337 w 196453"/>
              <a:gd name="connsiteY1" fmla="*/ 12603 h 372701"/>
              <a:gd name="connsiteX2" fmla="*/ 153922 w 196453"/>
              <a:gd name="connsiteY2" fmla="*/ 2020 h 372701"/>
              <a:gd name="connsiteX3" fmla="*/ 196255 w 196453"/>
              <a:gd name="connsiteY3" fmla="*/ 12603 h 372701"/>
              <a:gd name="connsiteX4" fmla="*/ 185671 w 196453"/>
              <a:gd name="connsiteY4" fmla="*/ 308937 h 372701"/>
              <a:gd name="connsiteX5" fmla="*/ 175088 w 196453"/>
              <a:gd name="connsiteY5" fmla="*/ 361853 h 372701"/>
              <a:gd name="connsiteX6" fmla="*/ 122171 w 196453"/>
              <a:gd name="connsiteY6" fmla="*/ 372436 h 372701"/>
              <a:gd name="connsiteX7" fmla="*/ 5755 w 196453"/>
              <a:gd name="connsiteY7" fmla="*/ 372436 h 37270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6453" h="372701">
                <a:moveTo>
                  <a:pt x="-4829" y="12603"/>
                </a:moveTo>
                <a:cubicBezTo>
                  <a:pt x="5048" y="12603"/>
                  <a:pt x="132753" y="13308"/>
                  <a:pt x="143337" y="12603"/>
                </a:cubicBezTo>
                <a:cubicBezTo>
                  <a:pt x="153921" y="11897"/>
                  <a:pt x="150393" y="2019"/>
                  <a:pt x="153922" y="2020"/>
                </a:cubicBezTo>
                <a:cubicBezTo>
                  <a:pt x="157449" y="2019"/>
                  <a:pt x="194137" y="-7858"/>
                  <a:pt x="196255" y="12603"/>
                </a:cubicBezTo>
                <a:cubicBezTo>
                  <a:pt x="198371" y="33064"/>
                  <a:pt x="187082" y="285653"/>
                  <a:pt x="185671" y="308937"/>
                </a:cubicBezTo>
                <a:cubicBezTo>
                  <a:pt x="184259" y="332220"/>
                  <a:pt x="179321" y="357619"/>
                  <a:pt x="175088" y="361853"/>
                </a:cubicBezTo>
                <a:cubicBezTo>
                  <a:pt x="170854" y="366086"/>
                  <a:pt x="133459" y="371730"/>
                  <a:pt x="122171" y="372436"/>
                </a:cubicBezTo>
                <a:cubicBezTo>
                  <a:pt x="110881" y="373142"/>
                  <a:pt x="13515" y="372436"/>
                  <a:pt x="5755" y="372436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"/>
          <p:cNvSpPr txBox="1"/>
          <p:nvPr/>
        </p:nvSpPr>
        <p:spPr>
          <a:xfrm>
            <a:off x="9541073" y="5120216"/>
            <a:ext cx="1811584" cy="288227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1300"/>
              <a:t>컨테이너 특징</a:t>
            </a:r>
            <a:endParaRPr lang="ko-KR" altLang="en-US" sz="1300"/>
          </a:p>
        </p:txBody>
      </p:sp>
      <p:sp>
        <p:nvSpPr>
          <p:cNvPr id="14" name=""/>
          <p:cNvSpPr/>
          <p:nvPr/>
        </p:nvSpPr>
        <p:spPr>
          <a:xfrm>
            <a:off x="9323785" y="5714999"/>
            <a:ext cx="286940" cy="0"/>
          </a:xfrm>
          <a:custGeom>
            <a:avLst/>
            <a:gdLst>
              <a:gd name="connsiteX0" fmla="*/ -5160 w 286940"/>
              <a:gd name="connsiteY0" fmla="*/ 0 h 0"/>
              <a:gd name="connsiteX1" fmla="*/ 291173 w 286940"/>
              <a:gd name="connsiteY1" fmla="*/ 0 h 0"/>
            </a:gdLst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6940">
                <a:moveTo>
                  <a:pt x="-5160" y="0"/>
                </a:moveTo>
                <a:cubicBezTo>
                  <a:pt x="14596" y="0"/>
                  <a:pt x="271416" y="0"/>
                  <a:pt x="291173" y="0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"/>
          <p:cNvSpPr txBox="1"/>
          <p:nvPr/>
        </p:nvSpPr>
        <p:spPr>
          <a:xfrm>
            <a:off x="9610726" y="5605272"/>
            <a:ext cx="1165859" cy="27203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1200"/>
              <a:t>도커의 특징 ★</a:t>
            </a:r>
            <a:endParaRPr lang="ko-KR" alt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603563" y="806577"/>
            <a:ext cx="6984873" cy="753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4400"/>
              <a:t>실습 내용</a:t>
            </a:r>
            <a:endParaRPr lang="ko-KR" altLang="en-US" sz="4400"/>
          </a:p>
        </p:txBody>
      </p:sp>
      <p:sp>
        <p:nvSpPr>
          <p:cNvPr id="5" name=""/>
          <p:cNvSpPr txBox="1"/>
          <p:nvPr/>
        </p:nvSpPr>
        <p:spPr>
          <a:xfrm>
            <a:off x="1905000" y="2001392"/>
            <a:ext cx="9159622" cy="3254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600" b="1"/>
              <a:t>1.</a:t>
            </a:r>
            <a:r>
              <a:rPr lang="ko-KR" altLang="en-US" sz="2600" b="1"/>
              <a:t> 도커 파일로 도커 이미지 생성</a:t>
            </a:r>
            <a:endParaRPr lang="ko-KR" altLang="en-US" sz="2600" b="1"/>
          </a:p>
          <a:p>
            <a:pPr>
              <a:defRPr/>
            </a:pPr>
            <a:endParaRPr lang="en-US" altLang="ko-KR" sz="2600" b="1"/>
          </a:p>
          <a:p>
            <a:pPr>
              <a:defRPr/>
            </a:pPr>
            <a:r>
              <a:rPr lang="en-US" altLang="ko-KR" sz="2600" b="1"/>
              <a:t>2.</a:t>
            </a:r>
            <a:r>
              <a:rPr lang="ko-KR" altLang="en-US" sz="2600" b="1"/>
              <a:t> 도커 컨테이너로 도커 이미지 생성</a:t>
            </a:r>
            <a:r>
              <a:rPr lang="en-US" altLang="ko-KR" sz="2600" b="1"/>
              <a:t>/</a:t>
            </a:r>
            <a:r>
              <a:rPr lang="ko-KR" altLang="en-US" sz="2600" b="1"/>
              <a:t>이미지로 컨테이너 생성</a:t>
            </a:r>
            <a:endParaRPr lang="ko-KR" altLang="en-US" sz="2600" b="1"/>
          </a:p>
          <a:p>
            <a:pPr>
              <a:defRPr/>
            </a:pPr>
            <a:endParaRPr lang="en-US" altLang="ko-KR" sz="2600" b="1"/>
          </a:p>
          <a:p>
            <a:pPr>
              <a:defRPr/>
            </a:pPr>
            <a:r>
              <a:rPr lang="en-US" altLang="ko-KR" sz="2600" b="1"/>
              <a:t>3.</a:t>
            </a:r>
            <a:r>
              <a:rPr lang="ko-KR" altLang="en-US" sz="2600" b="1"/>
              <a:t> 도커허브에서 도커 이미지 받아와서 컨테이너 기동</a:t>
            </a:r>
            <a:r>
              <a:rPr lang="en-US" altLang="ko-KR" sz="2600" b="1"/>
              <a:t>(</a:t>
            </a:r>
            <a:r>
              <a:rPr lang="ko-KR" altLang="en-US" sz="2600" b="1"/>
              <a:t>하둡</a:t>
            </a:r>
            <a:r>
              <a:rPr lang="en-US" altLang="ko-KR" sz="2600" b="1"/>
              <a:t>)</a:t>
            </a:r>
            <a:endParaRPr lang="en-US" altLang="ko-KR" sz="2600" b="1"/>
          </a:p>
          <a:p>
            <a:pPr>
              <a:defRPr/>
            </a:pPr>
            <a:r>
              <a:rPr lang="ko-KR" altLang="en-US" sz="2600" b="1"/>
              <a:t>    </a:t>
            </a:r>
            <a:r>
              <a:rPr lang="en-US" altLang="ko-KR" sz="2600" b="1"/>
              <a:t>(</a:t>
            </a:r>
            <a:r>
              <a:rPr lang="ko-KR" altLang="en-US" sz="2600" b="1"/>
              <a:t>도커 이미지 제공자 </a:t>
            </a:r>
            <a:r>
              <a:rPr lang="en-US" altLang="ko-KR" sz="2600" b="1"/>
              <a:t>:</a:t>
            </a:r>
            <a:r>
              <a:rPr lang="ko-KR" altLang="en-US" sz="2600" b="1"/>
              <a:t> 갓정민</a:t>
            </a:r>
            <a:r>
              <a:rPr lang="en-US" altLang="ko-KR" sz="2600" b="1"/>
              <a:t>)</a:t>
            </a:r>
            <a:endParaRPr lang="ko-KR" altLang="en-US" sz="2600" b="1"/>
          </a:p>
          <a:p>
            <a:pPr>
              <a:defRPr/>
            </a:pPr>
            <a:endParaRPr lang="en-US" altLang="ko-KR" sz="2600" b="1"/>
          </a:p>
          <a:p>
            <a:pPr>
              <a:defRPr/>
            </a:pPr>
            <a:r>
              <a:rPr lang="en-US" altLang="ko-KR" sz="2600" b="1"/>
              <a:t>4.</a:t>
            </a:r>
            <a:r>
              <a:rPr lang="ko-KR" altLang="en-US" sz="2600" b="1"/>
              <a:t> 간단한 도커 명령어들</a:t>
            </a:r>
            <a:endParaRPr lang="ko-KR" altLang="en-US" sz="2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675572" y="332613"/>
            <a:ext cx="6840856" cy="876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1.</a:t>
            </a:r>
            <a:r>
              <a:rPr lang="ko-KR" altLang="en-US" sz="2600" b="1"/>
              <a:t> 도커 파일로 도커 이미지 생성</a:t>
            </a:r>
            <a:endParaRPr lang="ko-KR" altLang="en-US" sz="2600" b="1"/>
          </a:p>
          <a:p>
            <a:pPr algn="ctr">
              <a:defRPr/>
            </a:pPr>
            <a:r>
              <a:rPr lang="en-US" altLang="ko-KR" sz="2600" b="1"/>
              <a:t>(</a:t>
            </a:r>
            <a:r>
              <a:rPr lang="ko-KR" altLang="en-US" sz="2600" b="1"/>
              <a:t>아나콘다가 들어있는 간단한 도커파일</a:t>
            </a:r>
            <a:r>
              <a:rPr lang="en-US" altLang="ko-KR" sz="2600" b="1"/>
              <a:t>)</a:t>
            </a:r>
            <a:endParaRPr lang="en-US" altLang="ko-KR" sz="2600" b="1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607820"/>
            <a:ext cx="6093224" cy="5250180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6456044" y="1607820"/>
            <a:ext cx="4104514" cy="447675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b="1"/>
              <a:t>1.</a:t>
            </a:r>
            <a:r>
              <a:rPr lang="ko-KR" altLang="en-US"/>
              <a:t> </a:t>
            </a:r>
            <a:r>
              <a:rPr lang="en-US" altLang="ko-KR"/>
              <a:t>vscode</a:t>
            </a:r>
            <a:r>
              <a:rPr lang="ko-KR" altLang="en-US"/>
              <a:t> 열고 확장에서 </a:t>
            </a:r>
            <a:r>
              <a:rPr lang="en-US" altLang="ko-KR"/>
              <a:t>Docker</a:t>
            </a:r>
            <a:r>
              <a:rPr lang="ko-KR" altLang="en-US"/>
              <a:t> 설치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 b="1"/>
              <a:t>2.</a:t>
            </a:r>
            <a:r>
              <a:rPr lang="ko-KR" altLang="en-US"/>
              <a:t> 아무거나 영문경로 폴더 열기</a:t>
            </a:r>
            <a:endParaRPr lang="ko-KR" altLang="en-US"/>
          </a:p>
          <a:p>
            <a:pPr>
              <a:defRPr/>
            </a:pPr>
            <a:r>
              <a:rPr lang="en-US" altLang="ko-KR"/>
              <a:t>(</a:t>
            </a:r>
            <a:r>
              <a:rPr lang="ko-KR" altLang="en-US"/>
              <a:t>파일 폴더 열기 </a:t>
            </a:r>
            <a:r>
              <a:rPr lang="en-US" altLang="ko-KR"/>
              <a:t>-&gt;</a:t>
            </a:r>
            <a:r>
              <a:rPr lang="ko-KR" altLang="en-US"/>
              <a:t> 영문 폴더 아무거나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3.</a:t>
            </a:r>
            <a:r>
              <a:rPr lang="ko-KR" altLang="en-US"/>
              <a:t> 파일을 새로 하나 만들고 이름을 </a:t>
            </a:r>
            <a:r>
              <a:rPr lang="en-US" altLang="ko-KR"/>
              <a:t>Dockerfile</a:t>
            </a:r>
            <a:r>
              <a:rPr lang="ko-KR" altLang="en-US"/>
              <a:t>로 지정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4.</a:t>
            </a:r>
            <a:r>
              <a:rPr lang="ko-KR" altLang="en-US"/>
              <a:t> 다음 피피티 내용 자신의 컴퓨터에 맞게 복붙 후 저장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5.</a:t>
            </a:r>
            <a:r>
              <a:rPr lang="ko-KR" altLang="en-US"/>
              <a:t> </a:t>
            </a:r>
            <a:r>
              <a:rPr lang="en-US" altLang="ko-KR"/>
              <a:t>ctrl + shift + ~</a:t>
            </a:r>
            <a:r>
              <a:rPr lang="ko-KR" altLang="en-US"/>
              <a:t> 눌러서 </a:t>
            </a:r>
            <a:r>
              <a:rPr lang="en-US" altLang="ko-KR"/>
              <a:t>cmd</a:t>
            </a:r>
            <a:r>
              <a:rPr lang="ko-KR" altLang="en-US"/>
              <a:t>터미널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6.</a:t>
            </a:r>
            <a:r>
              <a:rPr lang="ko-KR" altLang="en-US"/>
              <a:t> </a:t>
            </a:r>
            <a:r>
              <a:rPr lang="en-US" altLang="en-US"/>
              <a:t>docker build -t conda:0.1 .</a:t>
            </a:r>
            <a:endParaRPr lang="en-US" altLang="en-US"/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ko-KR"/>
              <a:t>7.</a:t>
            </a:r>
            <a:r>
              <a:rPr lang="ko-KR" altLang="en-US"/>
              <a:t> </a:t>
            </a:r>
            <a:r>
              <a:rPr lang="en-US" altLang="ko-KR"/>
              <a:t>docker image list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675572" y="332613"/>
            <a:ext cx="6840856" cy="115252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en-US" altLang="ko-KR" sz="2600" b="1"/>
              <a:t>1.</a:t>
            </a:r>
            <a:r>
              <a:rPr lang="ko-KR" altLang="en-US" sz="2600" b="1"/>
              <a:t> 도커 파일로 도커 이미지 생성</a:t>
            </a:r>
            <a:endParaRPr lang="ko-KR" altLang="en-US" sz="2600" b="1"/>
          </a:p>
          <a:p>
            <a:pPr algn="ctr">
              <a:defRPr/>
            </a:pPr>
            <a:r>
              <a:rPr lang="en-US" altLang="ko-KR" sz="2600" b="1"/>
              <a:t>(</a:t>
            </a:r>
            <a:r>
              <a:rPr lang="ko-KR" altLang="en-US" sz="2600" b="1"/>
              <a:t>아나콘다가 들어있는 간단한 도커파일</a:t>
            </a:r>
            <a:r>
              <a:rPr lang="en-US" altLang="ko-KR" sz="2600" b="1"/>
              <a:t>)</a:t>
            </a:r>
            <a:endParaRPr lang="en-US" altLang="ko-KR" sz="2600" b="1"/>
          </a:p>
          <a:p>
            <a:pPr algn="ctr">
              <a:defRPr/>
            </a:pPr>
            <a:endParaRPr lang="ko-KR" altLang="en-US"/>
          </a:p>
        </p:txBody>
      </p:sp>
      <p:sp>
        <p:nvSpPr>
          <p:cNvPr id="5" name=""/>
          <p:cNvSpPr txBox="1"/>
          <p:nvPr/>
        </p:nvSpPr>
        <p:spPr>
          <a:xfrm>
            <a:off x="2927604" y="4570096"/>
            <a:ext cx="9264396" cy="2287904"/>
          </a:xfrm>
          <a:prstGeom prst="rect">
            <a:avLst/>
          </a:prstGeom>
          <a:ln>
            <a:solidFill>
              <a:schemeClr val="accent1">
                <a:shade val="20000"/>
              </a:schemeClr>
            </a:solidFill>
          </a:ln>
        </p:spPr>
        <p:txBody>
          <a:bodyPr wrap="square">
            <a:spAutoFit/>
          </a:bodyPr>
          <a:p>
            <a:pPr>
              <a:defRPr/>
            </a:pPr>
            <a:r>
              <a:rPr lang="en-US" altLang="en-US" sz="1200"/>
              <a:t>FROM --platform=linux/amd64 centos:7 </a:t>
            </a:r>
            <a:endParaRPr lang="en-US" altLang="en-US" sz="1200"/>
          </a:p>
          <a:p>
            <a:pPr>
              <a:defRPr/>
            </a:pPr>
            <a:endParaRPr lang="en-US" altLang="en-US" sz="1200"/>
          </a:p>
          <a:p>
            <a:pPr>
              <a:defRPr/>
            </a:pPr>
            <a:r>
              <a:rPr lang="en-US" altLang="en-US" sz="1200"/>
              <a:t>ENV PATH /opt/conda/bin:$PATH</a:t>
            </a:r>
            <a:endParaRPr lang="en-US" altLang="en-US" sz="1200"/>
          </a:p>
          <a:p>
            <a:pPr>
              <a:defRPr/>
            </a:pPr>
            <a:endParaRPr lang="en-US" altLang="en-US" sz="1200"/>
          </a:p>
          <a:p>
            <a:pPr>
              <a:defRPr/>
            </a:pPr>
            <a:r>
              <a:rPr lang="en-US" altLang="en-US" sz="1200"/>
              <a:t>RUN yum install -y libXcomposite libXcursor libXi libXtst libXrandr alsa-lib mesa-libEGL libXdamage mesa-libGL libXScrnSaver \</a:t>
            </a:r>
            <a:endParaRPr lang="en-US" altLang="en-US" sz="1200"/>
          </a:p>
          <a:p>
            <a:pPr>
              <a:defRPr/>
            </a:pPr>
            <a:r>
              <a:rPr lang="en-US" altLang="en-US" sz="1200"/>
              <a:t>    &amp;&amp; curl https://repo.anaconda.com/archive/Anaconda3-2021.11-Linux-x86_64.sh -o /anaconda.sh \</a:t>
            </a:r>
            <a:endParaRPr lang="en-US" altLang="en-US" sz="1200"/>
          </a:p>
          <a:p>
            <a:pPr>
              <a:defRPr/>
            </a:pPr>
            <a:r>
              <a:rPr lang="en-US" altLang="en-US" sz="1200"/>
              <a:t>    &amp;&amp; chmod +x /anaconda.sh \</a:t>
            </a:r>
            <a:endParaRPr lang="en-US" altLang="en-US" sz="1200"/>
          </a:p>
          <a:p>
            <a:pPr>
              <a:defRPr/>
            </a:pPr>
            <a:r>
              <a:rPr lang="en-US" altLang="en-US" sz="1200"/>
              <a:t>    &amp;&amp; sh /anaconda.sh -b -p /opt/conda \</a:t>
            </a:r>
            <a:endParaRPr lang="en-US" altLang="en-US" sz="1200"/>
          </a:p>
          <a:p>
            <a:pPr>
              <a:defRPr/>
            </a:pPr>
            <a:r>
              <a:rPr lang="en-US" altLang="en-US" sz="1200"/>
              <a:t>    &amp;&amp; rm -f /anaconda.sh</a:t>
            </a:r>
            <a:endParaRPr lang="en-US" altLang="en-US" sz="1200"/>
          </a:p>
          <a:p>
            <a:pPr>
              <a:defRPr/>
            </a:pPr>
            <a:endParaRPr lang="en-US" altLang="en-US" sz="1200"/>
          </a:p>
          <a:p>
            <a:pPr>
              <a:defRPr/>
            </a:pPr>
            <a:r>
              <a:rPr lang="en-US" altLang="en-US" sz="1200"/>
              <a:t>CMD [ "/bin/bash" ]</a:t>
            </a:r>
            <a:endParaRPr lang="en-US" altLang="en-US" sz="1200"/>
          </a:p>
        </p:txBody>
      </p:sp>
      <p:sp>
        <p:nvSpPr>
          <p:cNvPr id="6" name=""/>
          <p:cNvSpPr txBox="1"/>
          <p:nvPr/>
        </p:nvSpPr>
        <p:spPr>
          <a:xfrm>
            <a:off x="2927604" y="1714501"/>
            <a:ext cx="9264396" cy="2646044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p>
            <a:pPr>
              <a:defRPr/>
            </a:pPr>
            <a:r>
              <a:rPr lang="en-US" altLang="en-US" sz="1400"/>
              <a:t>FROM centos:7 </a:t>
            </a:r>
            <a:endParaRPr lang="en-US" altLang="en-US" sz="1400"/>
          </a:p>
          <a:p>
            <a:pPr>
              <a:defRPr/>
            </a:pPr>
            <a:endParaRPr lang="en-US" altLang="en-US" sz="1400"/>
          </a:p>
          <a:p>
            <a:pPr>
              <a:defRPr/>
            </a:pPr>
            <a:r>
              <a:rPr lang="en-US" altLang="en-US" sz="1400"/>
              <a:t>ENV PATH /opt/conda/bin:$PATH</a:t>
            </a:r>
            <a:endParaRPr lang="en-US" altLang="en-US" sz="1400"/>
          </a:p>
          <a:p>
            <a:pPr>
              <a:defRPr/>
            </a:pPr>
            <a:endParaRPr lang="en-US" altLang="en-US" sz="1400"/>
          </a:p>
          <a:p>
            <a:pPr>
              <a:defRPr/>
            </a:pPr>
            <a:r>
              <a:rPr lang="en-US" altLang="en-US" sz="1400"/>
              <a:t>RUN yum install -y libXcomposite libXcursor libXi libXtst libXrandr alsa-lib mesa-libEGL libXdamage mesa-libGL libXScrnSaver python3 \</a:t>
            </a:r>
            <a:endParaRPr lang="en-US" altLang="en-US" sz="1400"/>
          </a:p>
          <a:p>
            <a:pPr>
              <a:defRPr/>
            </a:pPr>
            <a:r>
              <a:rPr lang="en-US" altLang="en-US" sz="1400"/>
              <a:t>    &amp;&amp; curl https://repo.anaconda.com/archive/Anaconda3-2021.11-Linux-x86_64.sh -o /anaconda.sh \</a:t>
            </a:r>
            <a:endParaRPr lang="en-US" altLang="en-US" sz="1400"/>
          </a:p>
          <a:p>
            <a:pPr>
              <a:defRPr/>
            </a:pPr>
            <a:r>
              <a:rPr lang="en-US" altLang="en-US" sz="1400"/>
              <a:t>    &amp;&amp; chmod +x /anaconda.sh \</a:t>
            </a:r>
            <a:endParaRPr lang="en-US" altLang="en-US" sz="1400"/>
          </a:p>
          <a:p>
            <a:pPr>
              <a:defRPr/>
            </a:pPr>
            <a:r>
              <a:rPr lang="en-US" altLang="en-US" sz="1400"/>
              <a:t>    &amp;&amp; sh /anaconda.sh -b -p /opt/conda \</a:t>
            </a:r>
            <a:endParaRPr lang="en-US" altLang="en-US" sz="1400"/>
          </a:p>
          <a:p>
            <a:pPr>
              <a:defRPr/>
            </a:pPr>
            <a:r>
              <a:rPr lang="en-US" altLang="en-US" sz="1400"/>
              <a:t>    &amp;&amp; rm -f /anaconda.sh</a:t>
            </a:r>
            <a:endParaRPr lang="en-US" altLang="en-US" sz="1400"/>
          </a:p>
          <a:p>
            <a:pPr>
              <a:defRPr/>
            </a:pPr>
            <a:endParaRPr lang="en-US" altLang="en-US" sz="1400"/>
          </a:p>
          <a:p>
            <a:pPr>
              <a:defRPr/>
            </a:pPr>
            <a:r>
              <a:rPr lang="en-US" altLang="en-US" sz="1400"/>
              <a:t>CMD [ "/bin/bash" ]</a:t>
            </a:r>
            <a:endParaRPr lang="en-US" altLang="en-US" sz="1400"/>
          </a:p>
        </p:txBody>
      </p:sp>
      <p:sp>
        <p:nvSpPr>
          <p:cNvPr id="7" name=""/>
          <p:cNvSpPr txBox="1"/>
          <p:nvPr/>
        </p:nvSpPr>
        <p:spPr>
          <a:xfrm>
            <a:off x="731328" y="2857596"/>
            <a:ext cx="1944243" cy="35994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Windows</a:t>
            </a:r>
            <a:r>
              <a:rPr lang="ko-KR" altLang="en-US"/>
              <a:t> 사용자</a:t>
            </a:r>
            <a:endParaRPr lang="ko-KR" altLang="en-US"/>
          </a:p>
        </p:txBody>
      </p:sp>
      <p:sp>
        <p:nvSpPr>
          <p:cNvPr id="8" name=""/>
          <p:cNvSpPr txBox="1"/>
          <p:nvPr/>
        </p:nvSpPr>
        <p:spPr>
          <a:xfrm>
            <a:off x="731329" y="5534121"/>
            <a:ext cx="1944243" cy="359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Mac M1</a:t>
            </a:r>
            <a:r>
              <a:rPr lang="ko-KR" altLang="en-US"/>
              <a:t> 사용자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379410" y="1001648"/>
            <a:ext cx="9433180" cy="483108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en-US" altLang="ko-KR" sz="2600" b="1"/>
              <a:t>2.</a:t>
            </a:r>
            <a:r>
              <a:rPr lang="ko-KR" altLang="en-US" sz="2600" b="1"/>
              <a:t> 도커 컨테이너로 도커 이미지 생성</a:t>
            </a:r>
            <a:r>
              <a:rPr lang="en-US" altLang="ko-KR" sz="2600" b="1"/>
              <a:t>/</a:t>
            </a:r>
            <a:r>
              <a:rPr lang="ko-KR" altLang="en-US" sz="2600" b="1"/>
              <a:t>이미지로 컨테이너 생성</a:t>
            </a:r>
            <a:endParaRPr lang="ko-KR" altLang="en-US" sz="2600" b="1"/>
          </a:p>
        </p:txBody>
      </p:sp>
      <p:sp>
        <p:nvSpPr>
          <p:cNvPr id="5" name=""/>
          <p:cNvSpPr txBox="1"/>
          <p:nvPr/>
        </p:nvSpPr>
        <p:spPr>
          <a:xfrm>
            <a:off x="2639568" y="2698051"/>
            <a:ext cx="6296978" cy="146246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1. docker run -it --name test-conda conda:0.1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2. docker ps -a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3. docker commit test-conda conda:0.2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999613" y="548640"/>
            <a:ext cx="6192774" cy="487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3.</a:t>
            </a:r>
            <a:r>
              <a:rPr lang="ko-KR" altLang="en-US" sz="2600" b="1"/>
              <a:t> 하둡 파일 시스템 맛보기</a:t>
            </a:r>
            <a:endParaRPr lang="ko-KR" altLang="en-US" sz="2600" b="1"/>
          </a:p>
        </p:txBody>
      </p:sp>
      <p:sp>
        <p:nvSpPr>
          <p:cNvPr id="6" name=""/>
          <p:cNvSpPr txBox="1"/>
          <p:nvPr/>
        </p:nvSpPr>
        <p:spPr>
          <a:xfrm>
            <a:off x="2639568" y="2698051"/>
            <a:ext cx="6296978" cy="1462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docker network create mdgome-hadoop_default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2. docker-compose up --build 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3. </a:t>
            </a:r>
            <a:r>
              <a:rPr lang="ko-KR" altLang="en-US"/>
              <a:t>인터넷에서 </a:t>
            </a:r>
            <a:r>
              <a:rPr lang="en-US" altLang="en-US"/>
              <a:t>localhost:9870</a:t>
            </a:r>
            <a:r>
              <a:rPr lang="ko-KR" altLang="en-US"/>
              <a:t>해서 잘 되는지 확인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999613" y="276985"/>
            <a:ext cx="6192774" cy="487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4.</a:t>
            </a:r>
            <a:r>
              <a:rPr lang="ko-KR" altLang="en-US" sz="2600" b="1"/>
              <a:t> 도커</a:t>
            </a:r>
            <a:r>
              <a:rPr lang="en-US" altLang="ko-KR" sz="2600" b="1"/>
              <a:t> </a:t>
            </a:r>
            <a:r>
              <a:rPr lang="ko-KR" altLang="en-US" sz="2600" b="1"/>
              <a:t>간단한 명령어</a:t>
            </a:r>
            <a:r>
              <a:rPr lang="en-US" altLang="ko-KR" sz="2600" b="1"/>
              <a:t>(</a:t>
            </a:r>
            <a:r>
              <a:rPr lang="ko-KR" altLang="en-US" sz="2600" b="1"/>
              <a:t>설명</a:t>
            </a:r>
            <a:r>
              <a:rPr lang="en-US" altLang="ko-KR" sz="2600" b="1"/>
              <a:t>)</a:t>
            </a:r>
            <a:endParaRPr lang="en-US" altLang="ko-KR" sz="2600" b="1"/>
          </a:p>
        </p:txBody>
      </p:sp>
      <p:sp>
        <p:nvSpPr>
          <p:cNvPr id="5" name=""/>
          <p:cNvSpPr txBox="1"/>
          <p:nvPr/>
        </p:nvSpPr>
        <p:spPr>
          <a:xfrm>
            <a:off x="1127379" y="1238249"/>
            <a:ext cx="9937242" cy="5208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start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생성된 컨테이너를 실행함</a:t>
            </a:r>
            <a:endParaRPr lang="ko-KR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create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이미지를 기반으로 컨테이너 생성</a:t>
            </a:r>
            <a:endParaRPr lang="ko-KR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 run : docker</a:t>
            </a:r>
            <a:r>
              <a:rPr lang="ko-KR" altLang="en-US" sz="2100">
                <a:latin typeface="한컴바탕"/>
                <a:ea typeface="한컴바탕"/>
              </a:rPr>
              <a:t> create +</a:t>
            </a:r>
            <a:r>
              <a:rPr lang="en-US" altLang="ko-KR" sz="2100">
                <a:latin typeface="한컴바탕"/>
                <a:ea typeface="한컴바탕"/>
              </a:rPr>
              <a:t> docker</a:t>
            </a:r>
            <a:r>
              <a:rPr lang="ko-KR" altLang="en-US" sz="2100">
                <a:latin typeface="한컴바탕"/>
                <a:ea typeface="한컴바탕"/>
              </a:rPr>
              <a:t> start</a:t>
            </a:r>
            <a:endParaRPr lang="ko-KR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exec </a:t>
            </a:r>
            <a:r>
              <a:rPr lang="en-US" altLang="ko-KR" sz="2100">
                <a:latin typeface="한컴바탕"/>
                <a:ea typeface="한컴바탕"/>
              </a:rPr>
              <a:t>: </a:t>
            </a:r>
            <a:r>
              <a:rPr lang="ko-KR" altLang="en-US" sz="2100">
                <a:latin typeface="한컴바탕"/>
                <a:ea typeface="한컴바탕"/>
              </a:rPr>
              <a:t>백그라운드 실행</a:t>
            </a:r>
            <a:r>
              <a:rPr lang="en-US" altLang="ko-KR" sz="2100">
                <a:latin typeface="한컴바탕"/>
                <a:ea typeface="한컴바탕"/>
              </a:rPr>
              <a:t>(</a:t>
            </a:r>
            <a:r>
              <a:rPr lang="ko-KR" altLang="en-US" sz="2100">
                <a:latin typeface="한컴바탕"/>
                <a:ea typeface="한컴바탕"/>
              </a:rPr>
              <a:t>컨테이너 접속 정보 죽어도 컨테이너 안죽음</a:t>
            </a:r>
            <a:r>
              <a:rPr lang="en-US" altLang="ko-KR" sz="2100">
                <a:latin typeface="한컴바탕"/>
                <a:ea typeface="한컴바탕"/>
              </a:rPr>
              <a:t>)</a:t>
            </a:r>
            <a:r>
              <a:rPr lang="ko-KR" altLang="en-US" sz="2100">
                <a:latin typeface="한컴바탕"/>
                <a:ea typeface="한컴바탕"/>
              </a:rPr>
              <a:t>★</a:t>
            </a:r>
            <a:endParaRPr lang="ko-KR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attach 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포그라운드 실행</a:t>
            </a:r>
            <a:r>
              <a:rPr lang="en-US" altLang="ko-KR" sz="2100">
                <a:latin typeface="한컴바탕"/>
                <a:ea typeface="한컴바탕"/>
              </a:rPr>
              <a:t>(</a:t>
            </a:r>
            <a:r>
              <a:rPr lang="ko-KR" altLang="en-US" sz="2100">
                <a:latin typeface="한컴바탕"/>
                <a:ea typeface="한컴바탕"/>
              </a:rPr>
              <a:t>컨테이너 접속 정보 죽으면 컨테이너 죽음</a:t>
            </a:r>
            <a:r>
              <a:rPr lang="en-US" altLang="ko-KR" sz="2100">
                <a:latin typeface="한컴바탕"/>
                <a:ea typeface="한컴바탕"/>
              </a:rPr>
              <a:t>)</a:t>
            </a:r>
            <a:r>
              <a:rPr lang="ko-KR" altLang="en-US" sz="2100">
                <a:latin typeface="한컴바탕"/>
                <a:ea typeface="한컴바탕"/>
              </a:rPr>
              <a:t>★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cp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파일 또는 디렉토리 전체를 옮김</a:t>
            </a:r>
            <a:endParaRPr lang="ko-KR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commit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실행되는 컨테이너를 이미지로 만듬</a:t>
            </a:r>
            <a:endParaRPr lang="ko-KR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build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도커파일을 기반으로 이미지 생성</a:t>
            </a:r>
            <a:endParaRPr lang="ko-KR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image :</a:t>
            </a:r>
            <a:r>
              <a:rPr lang="ko-KR" altLang="en-US" sz="2100">
                <a:latin typeface="한컴바탕"/>
                <a:ea typeface="한컴바탕"/>
              </a:rPr>
              <a:t> 도커 이미지 관련 각종 명령어</a:t>
            </a:r>
            <a:endParaRPr lang="ko-KR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inspect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도커 실행 후 컨테이너 정보</a:t>
            </a:r>
            <a:endParaRPr lang="ko-KR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kill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비정상 종료</a:t>
            </a:r>
            <a:r>
              <a:rPr lang="en-US" altLang="ko-KR" sz="2100">
                <a:latin typeface="한컴바탕"/>
                <a:ea typeface="한컴바탕"/>
              </a:rPr>
              <a:t>(</a:t>
            </a:r>
            <a:r>
              <a:rPr lang="ko-KR" altLang="en-US" sz="2100">
                <a:latin typeface="한컴바탕"/>
                <a:ea typeface="한컴바탕"/>
              </a:rPr>
              <a:t>도커 종료가 안될때 강제종료</a:t>
            </a:r>
            <a:r>
              <a:rPr lang="en-US" altLang="ko-KR" sz="2100">
                <a:latin typeface="한컴바탕"/>
                <a:ea typeface="한컴바탕"/>
              </a:rPr>
              <a:t>)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logs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컨테이너 내부 로그 보기</a:t>
            </a:r>
            <a:endParaRPr lang="ko-KR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ps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현재 도커 상황</a:t>
            </a:r>
            <a:endParaRPr lang="ko-KR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pull, push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도커 허브에서 이미지 가져올 때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stop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정상종료</a:t>
            </a:r>
            <a:endParaRPr lang="ko-KR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 rm :</a:t>
            </a:r>
            <a:r>
              <a:rPr lang="ko-KR" altLang="en-US" sz="2100">
                <a:latin typeface="한컴바탕"/>
                <a:ea typeface="한컴바탕"/>
              </a:rPr>
              <a:t> 컨테이너 삭제</a:t>
            </a:r>
            <a:endParaRPr lang="ko-KR" altLang="en-US" sz="2100">
              <a:latin typeface="한컴바탕"/>
              <a:ea typeface="한컴바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999613" y="276985"/>
            <a:ext cx="6192774" cy="487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4.</a:t>
            </a:r>
            <a:r>
              <a:rPr lang="ko-KR" altLang="en-US" sz="2600" b="1"/>
              <a:t> 도커</a:t>
            </a:r>
            <a:r>
              <a:rPr lang="en-US" altLang="ko-KR" sz="2600" b="1"/>
              <a:t> </a:t>
            </a:r>
            <a:r>
              <a:rPr lang="ko-KR" altLang="en-US" sz="2600" b="1"/>
              <a:t>간단한 명령어</a:t>
            </a:r>
            <a:r>
              <a:rPr lang="en-US" altLang="ko-KR" sz="2600" b="1"/>
              <a:t>(</a:t>
            </a:r>
            <a:r>
              <a:rPr lang="ko-KR" altLang="en-US" sz="2600" b="1"/>
              <a:t>표준</a:t>
            </a:r>
            <a:r>
              <a:rPr lang="en-US" altLang="ko-KR" sz="2600" b="1"/>
              <a:t>)</a:t>
            </a:r>
            <a:endParaRPr lang="en-US" altLang="ko-KR" sz="2600" b="1"/>
          </a:p>
        </p:txBody>
      </p:sp>
      <p:sp>
        <p:nvSpPr>
          <p:cNvPr id="5" name=""/>
          <p:cNvSpPr txBox="1"/>
          <p:nvPr/>
        </p:nvSpPr>
        <p:spPr>
          <a:xfrm>
            <a:off x="1127379" y="1238249"/>
            <a:ext cx="9937242" cy="5208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start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start [</a:t>
            </a:r>
            <a:r>
              <a:rPr lang="ko-KR" altLang="en-US" sz="2100">
                <a:latin typeface="한컴바탕"/>
                <a:ea typeface="한컴바탕"/>
              </a:rPr>
              <a:t>이미지이름</a:t>
            </a:r>
            <a:r>
              <a:rPr lang="en-US" altLang="ko-KR" sz="2100">
                <a:latin typeface="한컴바탕"/>
                <a:ea typeface="한컴바탕"/>
              </a:rPr>
              <a:t>]:[</a:t>
            </a:r>
            <a:r>
              <a:rPr lang="ko-KR" altLang="en-US" sz="2100">
                <a:latin typeface="한컴바탕"/>
                <a:ea typeface="한컴바탕"/>
              </a:rPr>
              <a:t>태그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create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create [</a:t>
            </a:r>
            <a:r>
              <a:rPr lang="ko-KR" altLang="en-US" sz="2100">
                <a:latin typeface="한컴바탕"/>
                <a:ea typeface="한컴바탕"/>
              </a:rPr>
              <a:t>옵션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[</a:t>
            </a:r>
            <a:r>
              <a:rPr lang="ko-KR" altLang="en-US" sz="2100">
                <a:latin typeface="한컴바탕"/>
                <a:ea typeface="한컴바탕"/>
              </a:rPr>
              <a:t>이미지이름</a:t>
            </a:r>
            <a:r>
              <a:rPr lang="en-US" altLang="ko-KR" sz="2100">
                <a:latin typeface="한컴바탕"/>
                <a:ea typeface="한컴바탕"/>
              </a:rPr>
              <a:t>]:[</a:t>
            </a:r>
            <a:r>
              <a:rPr lang="ko-KR" altLang="en-US" sz="2100">
                <a:latin typeface="한컴바탕"/>
                <a:ea typeface="한컴바탕"/>
              </a:rPr>
              <a:t>태그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 run : docker run [</a:t>
            </a:r>
            <a:r>
              <a:rPr lang="ko-KR" altLang="en-US" sz="2100">
                <a:latin typeface="한컴바탕"/>
                <a:ea typeface="한컴바탕"/>
              </a:rPr>
              <a:t>옵션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[</a:t>
            </a:r>
            <a:r>
              <a:rPr lang="ko-KR" altLang="en-US" sz="2100">
                <a:latin typeface="한컴바탕"/>
                <a:ea typeface="한컴바탕"/>
              </a:rPr>
              <a:t>이미지이름</a:t>
            </a:r>
            <a:r>
              <a:rPr lang="en-US" altLang="ko-KR" sz="2100">
                <a:latin typeface="한컴바탕"/>
                <a:ea typeface="한컴바탕"/>
              </a:rPr>
              <a:t>]:[</a:t>
            </a:r>
            <a:r>
              <a:rPr lang="ko-KR" altLang="en-US" sz="2100">
                <a:latin typeface="한컴바탕"/>
                <a:ea typeface="한컴바탕"/>
              </a:rPr>
              <a:t>태그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exec </a:t>
            </a:r>
            <a:r>
              <a:rPr lang="en-US" altLang="ko-KR" sz="2100">
                <a:latin typeface="한컴바탕"/>
                <a:ea typeface="한컴바탕"/>
              </a:rPr>
              <a:t>: </a:t>
            </a:r>
            <a:r>
              <a:rPr lang="en-US" altLang="en-US" sz="2100">
                <a:latin typeface="한컴바탕"/>
                <a:ea typeface="한컴바탕"/>
              </a:rPr>
              <a:t> docker exec [</a:t>
            </a:r>
            <a:r>
              <a:rPr lang="ko-KR" altLang="en-US" sz="2100">
                <a:latin typeface="한컴바탕"/>
                <a:ea typeface="한컴바탕"/>
              </a:rPr>
              <a:t>옵션</a:t>
            </a:r>
            <a:r>
              <a:rPr lang="en-US" altLang="en-US" sz="2100">
                <a:latin typeface="한컴바탕"/>
                <a:ea typeface="한컴바탕"/>
              </a:rPr>
              <a:t>] CONTAINER COMMAND</a:t>
            </a:r>
            <a:endParaRPr lang="en-US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attach 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attach [</a:t>
            </a:r>
            <a:r>
              <a:rPr lang="ko-KR" altLang="en-US" sz="2100">
                <a:latin typeface="한컴바탕"/>
                <a:ea typeface="한컴바탕"/>
              </a:rPr>
              <a:t>이미지 이름</a:t>
            </a:r>
            <a:r>
              <a:rPr lang="en-US" altLang="ko-KR" sz="2100">
                <a:latin typeface="한컴바탕"/>
                <a:ea typeface="한컴바탕"/>
              </a:rPr>
              <a:t>]:[</a:t>
            </a:r>
            <a:r>
              <a:rPr lang="ko-KR" altLang="en-US" sz="2100">
                <a:latin typeface="한컴바탕"/>
                <a:ea typeface="한컴바탕"/>
              </a:rPr>
              <a:t>태그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cp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docker cp [host 파일경로] [container name]:[container 내부 경로]</a:t>
            </a:r>
            <a:endParaRPr lang="ko-KR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commit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en-US" sz="2100">
                <a:latin typeface="한컴바탕"/>
                <a:ea typeface="한컴바탕"/>
              </a:rPr>
              <a:t>docker commit [</a:t>
            </a:r>
            <a:r>
              <a:rPr lang="ko-KR" altLang="en-US" sz="2100">
                <a:latin typeface="한컴바탕"/>
                <a:ea typeface="한컴바탕"/>
              </a:rPr>
              <a:t>옵션</a:t>
            </a:r>
            <a:r>
              <a:rPr lang="en-US" altLang="en-US" sz="2100">
                <a:latin typeface="한컴바탕"/>
                <a:ea typeface="한컴바탕"/>
              </a:rPr>
              <a:t>] </a:t>
            </a:r>
            <a:r>
              <a:rPr lang="en-US" altLang="ko-KR" sz="2100">
                <a:latin typeface="한컴바탕"/>
                <a:ea typeface="한컴바탕"/>
              </a:rPr>
              <a:t>[</a:t>
            </a:r>
            <a:r>
              <a:rPr lang="ko-KR" altLang="en-US" sz="2100">
                <a:latin typeface="한컴바탕"/>
                <a:ea typeface="한컴바탕"/>
              </a:rPr>
              <a:t>컨테이너 이름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r>
              <a:rPr lang="en-US" altLang="en-US" sz="2100">
                <a:latin typeface="한컴바탕"/>
                <a:ea typeface="한컴바탕"/>
              </a:rPr>
              <a:t> [</a:t>
            </a:r>
            <a:r>
              <a:rPr lang="ko-KR" altLang="en-US" sz="2100">
                <a:latin typeface="한컴바탕"/>
                <a:ea typeface="한컴바탕"/>
              </a:rPr>
              <a:t>저장소</a:t>
            </a:r>
            <a:r>
              <a:rPr lang="en-US" altLang="en-US" sz="2100">
                <a:latin typeface="한컴바탕"/>
                <a:ea typeface="한컴바탕"/>
              </a:rPr>
              <a:t>[:</a:t>
            </a:r>
            <a:r>
              <a:rPr lang="ko-KR" altLang="en-US" sz="2100">
                <a:latin typeface="한컴바탕"/>
                <a:ea typeface="한컴바탕"/>
              </a:rPr>
              <a:t>태그</a:t>
            </a:r>
            <a:r>
              <a:rPr lang="en-US" altLang="en-US" sz="2100">
                <a:latin typeface="한컴바탕"/>
                <a:ea typeface="한컴바탕"/>
              </a:rPr>
              <a:t>]]</a:t>
            </a:r>
            <a:endParaRPr lang="en-US" altLang="en-US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build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build [</a:t>
            </a:r>
            <a:r>
              <a:rPr lang="ko-KR" altLang="en-US" sz="2100">
                <a:latin typeface="한컴바탕"/>
                <a:ea typeface="한컴바탕"/>
              </a:rPr>
              <a:t>옵션</a:t>
            </a:r>
            <a:r>
              <a:rPr lang="en-US" altLang="ko-KR" sz="2100">
                <a:latin typeface="한컴바탕"/>
                <a:ea typeface="한컴바탕"/>
              </a:rPr>
              <a:t>][</a:t>
            </a:r>
            <a:r>
              <a:rPr lang="ko-KR" altLang="en-US" sz="2100">
                <a:latin typeface="한컴바탕"/>
                <a:ea typeface="한컴바탕"/>
              </a:rPr>
              <a:t>도커파일 경로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image 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image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[</a:t>
            </a:r>
            <a:r>
              <a:rPr lang="ko-KR" altLang="en-US" sz="2100">
                <a:latin typeface="한컴바탕"/>
                <a:ea typeface="한컴바탕"/>
              </a:rPr>
              <a:t>명령어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inspect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inspect [</a:t>
            </a:r>
            <a:r>
              <a:rPr lang="ko-KR" altLang="en-US" sz="2100">
                <a:latin typeface="한컴바탕"/>
                <a:ea typeface="한컴바탕"/>
              </a:rPr>
              <a:t>컨테이너 이름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kill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kill [</a:t>
            </a:r>
            <a:r>
              <a:rPr lang="ko-KR" altLang="en-US" sz="2100">
                <a:latin typeface="한컴바탕"/>
                <a:ea typeface="한컴바탕"/>
              </a:rPr>
              <a:t>옵션</a:t>
            </a:r>
            <a:r>
              <a:rPr lang="en-US" altLang="ko-KR" sz="2100">
                <a:latin typeface="한컴바탕"/>
                <a:ea typeface="한컴바탕"/>
              </a:rPr>
              <a:t>] [</a:t>
            </a:r>
            <a:r>
              <a:rPr lang="ko-KR" altLang="en-US" sz="2100">
                <a:latin typeface="한컴바탕"/>
                <a:ea typeface="한컴바탕"/>
              </a:rPr>
              <a:t>컨테이너 이름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logs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conatiner logs -t [</a:t>
            </a:r>
            <a:r>
              <a:rPr lang="ko-KR" altLang="en-US" sz="2100">
                <a:latin typeface="한컴바탕"/>
                <a:ea typeface="한컴바탕"/>
              </a:rPr>
              <a:t>컨테이너식별자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ps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ps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[</a:t>
            </a:r>
            <a:r>
              <a:rPr lang="ko-KR" altLang="en-US" sz="2100">
                <a:latin typeface="한컴바탕"/>
                <a:ea typeface="한컴바탕"/>
              </a:rPr>
              <a:t>옵션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pull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pull [</a:t>
            </a:r>
            <a:r>
              <a:rPr lang="ko-KR" altLang="en-US" sz="2100">
                <a:latin typeface="한컴바탕"/>
                <a:ea typeface="한컴바탕"/>
              </a:rPr>
              <a:t>도커허브아이디</a:t>
            </a:r>
            <a:r>
              <a:rPr lang="en-US" altLang="ko-KR" sz="2100">
                <a:latin typeface="한컴바탕"/>
                <a:ea typeface="한컴바탕"/>
              </a:rPr>
              <a:t>]/[</a:t>
            </a:r>
            <a:r>
              <a:rPr lang="ko-KR" altLang="en-US" sz="2100">
                <a:latin typeface="한컴바탕"/>
                <a:ea typeface="한컴바탕"/>
              </a:rPr>
              <a:t>이미지이름</a:t>
            </a:r>
            <a:r>
              <a:rPr lang="en-US" altLang="ko-KR" sz="2100">
                <a:latin typeface="한컴바탕"/>
                <a:ea typeface="한컴바탕"/>
              </a:rPr>
              <a:t>]:[</a:t>
            </a:r>
            <a:r>
              <a:rPr lang="ko-KR" altLang="en-US" sz="2100">
                <a:latin typeface="한컴바탕"/>
                <a:ea typeface="한컴바탕"/>
              </a:rPr>
              <a:t>태그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stop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stop [</a:t>
            </a:r>
            <a:r>
              <a:rPr lang="ko-KR" altLang="en-US" sz="2100">
                <a:latin typeface="한컴바탕"/>
                <a:ea typeface="한컴바탕"/>
              </a:rPr>
              <a:t>컨테이너 이름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 rm : docker rmi [</a:t>
            </a:r>
            <a:r>
              <a:rPr lang="ko-KR" altLang="en-US" sz="2100">
                <a:latin typeface="한컴바탕"/>
                <a:ea typeface="한컴바탕"/>
              </a:rPr>
              <a:t>이미지 </a:t>
            </a:r>
            <a:r>
              <a:rPr lang="en-US" altLang="ko-KR" sz="2100">
                <a:latin typeface="한컴바탕"/>
                <a:ea typeface="한컴바탕"/>
              </a:rPr>
              <a:t>id]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// docker rm [</a:t>
            </a:r>
            <a:r>
              <a:rPr lang="ko-KR" altLang="en-US" sz="2100">
                <a:latin typeface="한컴바탕"/>
                <a:ea typeface="한컴바탕"/>
              </a:rPr>
              <a:t>컨테이너 이름</a:t>
            </a:r>
            <a:r>
              <a:rPr lang="en-US" altLang="ko-KR" sz="2100">
                <a:latin typeface="한컴바탕"/>
                <a:ea typeface="한컴바탕"/>
              </a:rPr>
              <a:t>]</a:t>
            </a:r>
            <a:endParaRPr lang="en-US" altLang="ko-KR" sz="2100">
              <a:latin typeface="한컴바탕"/>
              <a:ea typeface="한컴바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999613" y="276985"/>
            <a:ext cx="6192774" cy="487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4.</a:t>
            </a:r>
            <a:r>
              <a:rPr lang="ko-KR" altLang="en-US" sz="2600" b="1"/>
              <a:t> 도커</a:t>
            </a:r>
            <a:r>
              <a:rPr lang="en-US" altLang="ko-KR" sz="2600" b="1"/>
              <a:t> </a:t>
            </a:r>
            <a:r>
              <a:rPr lang="ko-KR" altLang="en-US" sz="2600" b="1"/>
              <a:t>간단한 명령어</a:t>
            </a:r>
            <a:r>
              <a:rPr lang="en-US" altLang="ko-KR" sz="2600" b="1"/>
              <a:t>(</a:t>
            </a:r>
            <a:r>
              <a:rPr lang="ko-KR" altLang="en-US" sz="2600" b="1"/>
              <a:t>예시</a:t>
            </a:r>
            <a:r>
              <a:rPr lang="en-US" altLang="ko-KR" sz="2600" b="1"/>
              <a:t>)</a:t>
            </a:r>
            <a:endParaRPr lang="en-US" altLang="ko-KR" sz="2600" b="1"/>
          </a:p>
        </p:txBody>
      </p:sp>
      <p:sp>
        <p:nvSpPr>
          <p:cNvPr id="5" name=""/>
          <p:cNvSpPr txBox="1"/>
          <p:nvPr/>
        </p:nvSpPr>
        <p:spPr>
          <a:xfrm>
            <a:off x="1127379" y="1238249"/>
            <a:ext cx="9937242" cy="4884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start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start test-conda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create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create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-it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--name test-conda conda:0.1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 run : </a:t>
            </a:r>
            <a:r>
              <a:rPr lang="en-US" altLang="ko-KR" sz="2100"/>
              <a:t>docker run -it --name test-conda conda:0.1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exec </a:t>
            </a:r>
            <a:r>
              <a:rPr lang="en-US" altLang="ko-KR" sz="2100">
                <a:latin typeface="한컴바탕"/>
                <a:ea typeface="한컴바탕"/>
              </a:rPr>
              <a:t>: docker exec -it test-conda /bin/bash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attach 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attach test-conda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commit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 docker commit test-conda conda:0.2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build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 docker build -t conda:0.1 .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image 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image list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inspect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inspect test-conda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kill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kill </a:t>
            </a:r>
            <a:r>
              <a:rPr lang="en-US" altLang="ko-KR" sz="2100">
                <a:latin typeface="한컴바탕"/>
                <a:ea typeface="한컴바탕"/>
              </a:rPr>
              <a:t>test-conda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logs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logs test-conda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ps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ps -a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pull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pull python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stop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:</a:t>
            </a:r>
            <a:r>
              <a:rPr lang="ko-KR" altLang="en-US" sz="2100">
                <a:latin typeface="한컴바탕"/>
                <a:ea typeface="한컴바탕"/>
              </a:rPr>
              <a:t> </a:t>
            </a:r>
            <a:r>
              <a:rPr lang="en-US" altLang="ko-KR" sz="2100">
                <a:latin typeface="한컴바탕"/>
                <a:ea typeface="한컴바탕"/>
              </a:rPr>
              <a:t>docker stop test-conda</a:t>
            </a:r>
            <a:endParaRPr lang="en-US" altLang="ko-KR" sz="2100">
              <a:latin typeface="한컴바탕"/>
              <a:ea typeface="한컴바탕"/>
            </a:endParaRPr>
          </a:p>
          <a:p>
            <a:pPr>
              <a:defRPr/>
            </a:pPr>
            <a:r>
              <a:rPr lang="en-US" altLang="ko-KR" sz="2100">
                <a:latin typeface="한컴바탕"/>
                <a:ea typeface="한컴바탕"/>
              </a:rPr>
              <a:t>docker rm : docker rmi conda:0.2 // docker rm test-conda</a:t>
            </a:r>
            <a:endParaRPr lang="en-US" altLang="ko-KR" sz="2100">
              <a:latin typeface="한컴바탕"/>
              <a:ea typeface="한컴바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999613" y="276985"/>
            <a:ext cx="6192774" cy="487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600" b="1"/>
              <a:t>4.</a:t>
            </a:r>
            <a:r>
              <a:rPr lang="ko-KR" altLang="en-US" sz="2600" b="1"/>
              <a:t> 도커</a:t>
            </a:r>
            <a:r>
              <a:rPr lang="en-US" altLang="ko-KR" sz="2600" b="1"/>
              <a:t> </a:t>
            </a:r>
            <a:r>
              <a:rPr lang="ko-KR" altLang="en-US" sz="2600" b="1"/>
              <a:t>간단한 명령어</a:t>
            </a:r>
            <a:r>
              <a:rPr lang="en-US" altLang="ko-KR" sz="2600" b="1"/>
              <a:t>(</a:t>
            </a:r>
            <a:r>
              <a:rPr lang="ko-KR" altLang="en-US" sz="2600" b="1"/>
              <a:t>옵션</a:t>
            </a:r>
            <a:r>
              <a:rPr lang="en-US" altLang="ko-KR" sz="2600" b="1"/>
              <a:t>,</a:t>
            </a:r>
            <a:r>
              <a:rPr lang="ko-KR" altLang="en-US" sz="2600" b="1"/>
              <a:t> 많이쓰는거</a:t>
            </a:r>
            <a:r>
              <a:rPr lang="en-US" altLang="ko-KR" sz="2600" b="1"/>
              <a:t>)</a:t>
            </a:r>
            <a:endParaRPr lang="en-US" altLang="ko-KR" sz="2600" b="1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51377" y="852920"/>
            <a:ext cx="7689246" cy="6005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935</ep:Words>
  <ep:PresentationFormat>화면 슬라이드 쇼(4:3)</ep:PresentationFormat>
  <ep:Paragraphs>210</ep:Paragraphs>
  <ep:Slides>44</ep:Slides>
  <ep:Notes>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ep:HeadingPairs>
  <ep:TitlesOfParts>
    <vt:vector size="45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2022-03-03T16:35:42.718</dcterms:created>
  <dc:creator>tupce</dc:creator>
  <cp:lastModifiedBy>tupce</cp:lastModifiedBy>
  <dcterms:modified xsi:type="dcterms:W3CDTF">2022-03-07T08:50:49.637</dcterms:modified>
  <cp:revision>190</cp:revision>
  <cp:version>1000.0000.01</cp:version>
</cp:coreProperties>
</file>