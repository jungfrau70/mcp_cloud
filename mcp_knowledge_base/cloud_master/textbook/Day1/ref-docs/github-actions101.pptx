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99762"/>
            <a:ext cx="624649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02729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16161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02729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16161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02729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02729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99762"/>
            <a:ext cx="639190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202729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2265" y="1457207"/>
            <a:ext cx="7399020" cy="224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16161"/>
                </a:solidFill>
                <a:latin typeface="Proxima Nova Rg"/>
                <a:cs typeface="Proxima Nova Rg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beacloudpro.com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beacloudpro/github-cicd-demo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3474" y="888095"/>
            <a:ext cx="7720965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89580" algn="l"/>
                <a:tab pos="3734435" algn="l"/>
                <a:tab pos="5069205" algn="l"/>
              </a:tabLst>
            </a:pPr>
            <a:r>
              <a:rPr dirty="0" sz="6000" spc="-10">
                <a:solidFill>
                  <a:srgbClr val="FFFFFF"/>
                </a:solidFill>
              </a:rPr>
              <a:t>Beginning</a:t>
            </a:r>
            <a:r>
              <a:rPr dirty="0" sz="6000">
                <a:solidFill>
                  <a:srgbClr val="FFFFFF"/>
                </a:solidFill>
              </a:rPr>
              <a:t>	</a:t>
            </a:r>
            <a:r>
              <a:rPr dirty="0" sz="6000" spc="-10">
                <a:solidFill>
                  <a:srgbClr val="FFFFFF"/>
                </a:solidFill>
              </a:rPr>
              <a:t>CI/CD Pipeline</a:t>
            </a:r>
            <a:r>
              <a:rPr dirty="0" sz="6000">
                <a:solidFill>
                  <a:srgbClr val="FFFFFF"/>
                </a:solidFill>
              </a:rPr>
              <a:t>	</a:t>
            </a:r>
            <a:r>
              <a:rPr dirty="0" sz="6000" spc="-10">
                <a:solidFill>
                  <a:srgbClr val="FFFFFF"/>
                </a:solidFill>
              </a:rPr>
              <a:t>using</a:t>
            </a:r>
            <a:r>
              <a:rPr dirty="0" sz="6000">
                <a:solidFill>
                  <a:srgbClr val="FFFFFF"/>
                </a:solidFill>
              </a:rPr>
              <a:t>	</a:t>
            </a:r>
            <a:r>
              <a:rPr dirty="0" sz="6000" spc="-10">
                <a:solidFill>
                  <a:srgbClr val="FFFFFF"/>
                </a:solidFill>
              </a:rPr>
              <a:t>GitHub!</a:t>
            </a:r>
            <a:endParaRPr sz="6000"/>
          </a:p>
        </p:txBody>
      </p:sp>
      <p:sp>
        <p:nvSpPr>
          <p:cNvPr id="4" name="object 4" descr=""/>
          <p:cNvSpPr txBox="1"/>
          <p:nvPr/>
        </p:nvSpPr>
        <p:spPr>
          <a:xfrm>
            <a:off x="583474" y="3243145"/>
            <a:ext cx="27590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Md. Minhazul </a:t>
            </a:r>
            <a:r>
              <a:rPr dirty="0" sz="2400" spc="-10">
                <a:solidFill>
                  <a:srgbClr val="FFFFFF"/>
                </a:solidFill>
                <a:latin typeface="Proxima Nova Rg"/>
                <a:cs typeface="Proxima Nova Rg"/>
              </a:rPr>
              <a:t>Haque</a:t>
            </a:r>
            <a:endParaRPr sz="2400">
              <a:latin typeface="Proxima Nova Rg"/>
              <a:cs typeface="Proxima Nova Rg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3474" y="4434656"/>
            <a:ext cx="2527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Proxima Nova Rg"/>
                <a:cs typeface="Proxima Nova Rg"/>
                <a:hlinkClick r:id="rId3"/>
              </a:rPr>
              <a:t>https://beacloudpro.com/</a:t>
            </a:r>
            <a:endParaRPr sz="1800">
              <a:latin typeface="Proxima Nova Rg"/>
              <a:cs typeface="Proxima Nova Rg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15150" y="2998024"/>
            <a:ext cx="501015" cy="0"/>
          </a:xfrm>
          <a:custGeom>
            <a:avLst/>
            <a:gdLst/>
            <a:ahLst/>
            <a:cxnLst/>
            <a:rect l="l" t="t" r="r" b="b"/>
            <a:pathLst>
              <a:path w="501015" h="0">
                <a:moveTo>
                  <a:pt x="0" y="0"/>
                </a:moveTo>
                <a:lnTo>
                  <a:pt x="5003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728962" y="4434656"/>
            <a:ext cx="1831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Proxima Nova Rg"/>
                <a:cs typeface="Proxima Nova Rg"/>
              </a:rPr>
              <a:t>28</a:t>
            </a:r>
            <a:r>
              <a:rPr dirty="0" sz="1800" spc="-5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Proxima Nova Rg"/>
                <a:cs typeface="Proxima Nova Rg"/>
              </a:rPr>
              <a:t>February,</a:t>
            </a:r>
            <a:r>
              <a:rPr dirty="0" sz="1800" spc="-5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Proxima Nova Rg"/>
                <a:cs typeface="Proxima Nova Rg"/>
              </a:rPr>
              <a:t>2021</a:t>
            </a:r>
            <a:endParaRPr sz="18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572000" y="74"/>
            <a:ext cx="4572000" cy="5143500"/>
            <a:chOff x="4572000" y="74"/>
            <a:chExt cx="4572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4572000" y="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027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5225" y="1343334"/>
              <a:ext cx="379511" cy="35718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5225" y="1962459"/>
              <a:ext cx="379511" cy="35718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095252" y="2218626"/>
            <a:ext cx="238569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1790" algn="l"/>
              </a:tabLst>
            </a:pPr>
            <a:r>
              <a:rPr dirty="0" sz="4200" spc="-10" b="1">
                <a:solidFill>
                  <a:srgbClr val="202729"/>
                </a:solidFill>
                <a:latin typeface="Proxima Nova Rg"/>
                <a:cs typeface="Proxima Nova Rg"/>
              </a:rPr>
              <a:t>About</a:t>
            </a:r>
            <a:r>
              <a:rPr dirty="0" sz="4200" b="1">
                <a:solidFill>
                  <a:srgbClr val="202729"/>
                </a:solidFill>
                <a:latin typeface="Proxima Nova Rg"/>
                <a:cs typeface="Proxima Nova Rg"/>
              </a:rPr>
              <a:t>	</a:t>
            </a:r>
            <a:r>
              <a:rPr dirty="0" sz="4200" spc="-25" b="1">
                <a:solidFill>
                  <a:srgbClr val="202729"/>
                </a:solidFill>
                <a:latin typeface="Proxima Nova Rg"/>
                <a:cs typeface="Proxima Nova Rg"/>
              </a:rPr>
              <a:t>Me</a:t>
            </a:r>
            <a:endParaRPr sz="4200">
              <a:latin typeface="Proxima Nova Rg"/>
              <a:cs typeface="Proxima Nova Rg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0675" y="1308608"/>
            <a:ext cx="3119755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Proxima Nova Rg"/>
                <a:cs typeface="Proxima Nova Rg"/>
              </a:rPr>
              <a:t>Lead</a:t>
            </a:r>
            <a:r>
              <a:rPr dirty="0" sz="2400" spc="-35" b="0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b="0">
                <a:solidFill>
                  <a:srgbClr val="FFFFFF"/>
                </a:solidFill>
                <a:latin typeface="Proxima Nova Rg"/>
                <a:cs typeface="Proxima Nova Rg"/>
              </a:rPr>
              <a:t>DevOps</a:t>
            </a:r>
            <a:r>
              <a:rPr dirty="0" sz="2400" spc="-30" b="0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10" b="0">
                <a:solidFill>
                  <a:srgbClr val="FFFFFF"/>
                </a:solidFill>
                <a:latin typeface="Proxima Nova Rg"/>
                <a:cs typeface="Proxima Nova Rg"/>
              </a:rPr>
              <a:t>Engineer</a:t>
            </a:r>
            <a:endParaRPr sz="24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 sz="2400" b="0">
                <a:solidFill>
                  <a:srgbClr val="FFFFFF"/>
                </a:solidFill>
                <a:latin typeface="Proxima Nova Rg"/>
                <a:cs typeface="Proxima Nova Rg"/>
              </a:rPr>
              <a:t>LFCE,</a:t>
            </a:r>
            <a:r>
              <a:rPr dirty="0" sz="2400" spc="-65" b="0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20" b="0">
                <a:solidFill>
                  <a:srgbClr val="FFFFFF"/>
                </a:solidFill>
                <a:latin typeface="Proxima Nova Rg"/>
                <a:cs typeface="Proxima Nova Rg"/>
              </a:rPr>
              <a:t>LFCS</a:t>
            </a:r>
            <a:endParaRPr sz="2400">
              <a:latin typeface="Proxima Nova Rg"/>
              <a:cs typeface="Proxima Nova Rg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025225" y="2581584"/>
            <a:ext cx="379730" cy="976630"/>
            <a:chOff x="5025225" y="2581584"/>
            <a:chExt cx="379730" cy="97663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5225" y="2581584"/>
              <a:ext cx="379511" cy="35718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5225" y="3200709"/>
              <a:ext cx="379511" cy="357187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5470675" y="2546857"/>
            <a:ext cx="3243580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Python</a:t>
            </a:r>
            <a:r>
              <a:rPr dirty="0" sz="2400" spc="-7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Proxima Nova Rg"/>
                <a:cs typeface="Proxima Nova Rg"/>
              </a:rPr>
              <a:t>Evangelist</a:t>
            </a:r>
            <a:endParaRPr sz="24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Open</a:t>
            </a:r>
            <a:r>
              <a:rPr dirty="0" sz="2400" spc="-70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Source</a:t>
            </a:r>
            <a:r>
              <a:rPr dirty="0" sz="2400" spc="-6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Proxima Nova Rg"/>
                <a:cs typeface="Proxima Nova Rg"/>
              </a:rPr>
              <a:t>Enthusiast</a:t>
            </a:r>
            <a:endParaRPr sz="24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Agenda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25" y="1491934"/>
            <a:ext cx="379511" cy="35718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42875" y="1457207"/>
            <a:ext cx="3510279" cy="2867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What</a:t>
            </a: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are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CI/CD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Pipelines?</a:t>
            </a:r>
            <a:endParaRPr sz="2400">
              <a:latin typeface="Proxima Nova Rg"/>
              <a:cs typeface="Proxima Nova Rg"/>
            </a:endParaRPr>
          </a:p>
          <a:p>
            <a:pPr marL="12700" marR="857885">
              <a:lnSpc>
                <a:spcPct val="169300"/>
              </a:lnSpc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Why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do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we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need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it?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Github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Actions 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Demo</a:t>
            </a:r>
            <a:endParaRPr sz="24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Q&amp;A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111059"/>
            <a:ext cx="379511" cy="35718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425" y="2730184"/>
            <a:ext cx="379511" cy="35718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425" y="3349309"/>
            <a:ext cx="379511" cy="3571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7425" y="3968434"/>
            <a:ext cx="379511" cy="3571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75" y="1869948"/>
            <a:ext cx="3960495" cy="1362710"/>
          </a:xfrm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  <a:tabLst>
                <a:tab pos="1484630" algn="l"/>
                <a:tab pos="2441575" algn="l"/>
              </a:tabLst>
            </a:pPr>
            <a:r>
              <a:rPr dirty="0" sz="4400" spc="-20"/>
              <a:t>What</a:t>
            </a:r>
            <a:r>
              <a:rPr dirty="0" sz="4400"/>
              <a:t>	</a:t>
            </a:r>
            <a:r>
              <a:rPr dirty="0" sz="4400" spc="-25"/>
              <a:t>are</a:t>
            </a:r>
            <a:r>
              <a:rPr dirty="0" sz="4400"/>
              <a:t>	</a:t>
            </a:r>
            <a:r>
              <a:rPr dirty="0" sz="4400" spc="-10"/>
              <a:t>CI/CD Pipelines?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Full</a:t>
            </a:r>
            <a:r>
              <a:rPr dirty="0" spc="-20"/>
              <a:t> </a:t>
            </a:r>
            <a:r>
              <a:rPr dirty="0"/>
              <a:t>Form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 spc="-10"/>
              <a:t>CI/CD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096019"/>
            <a:ext cx="6958965" cy="25400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0" b="1">
                <a:solidFill>
                  <a:srgbClr val="4BA173"/>
                </a:solidFill>
                <a:latin typeface="Proxima Nova Rg"/>
                <a:cs typeface="Proxima Nova Rg"/>
              </a:rPr>
              <a:t>C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ontinuous</a:t>
            </a:r>
            <a:r>
              <a:rPr dirty="0" sz="2400" spc="-15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6000" spc="-10" b="1">
                <a:solidFill>
                  <a:srgbClr val="4BA173"/>
                </a:solidFill>
                <a:latin typeface="Proxima Nova Rg"/>
                <a:cs typeface="Proxima Nova Rg"/>
              </a:rPr>
              <a:t>I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ntegration</a:t>
            </a:r>
            <a:endParaRPr sz="24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2700"/>
              </a:spcBef>
            </a:pPr>
            <a:r>
              <a:rPr dirty="0" sz="6000" b="1">
                <a:solidFill>
                  <a:srgbClr val="4BA173"/>
                </a:solidFill>
                <a:latin typeface="Proxima Nova Rg"/>
                <a:cs typeface="Proxima Nova Rg"/>
              </a:rPr>
              <a:t>C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ontinuous</a:t>
            </a:r>
            <a:r>
              <a:rPr dirty="0" sz="2400" spc="-5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6000" b="1">
                <a:solidFill>
                  <a:srgbClr val="4BA173"/>
                </a:solidFill>
                <a:latin typeface="Proxima Nova Rg"/>
                <a:cs typeface="Proxima Nova Rg"/>
              </a:rPr>
              <a:t>D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elivery</a:t>
            </a:r>
            <a:r>
              <a:rPr dirty="0" sz="2400" spc="-5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(or</a:t>
            </a:r>
            <a:r>
              <a:rPr dirty="0" sz="2400" spc="-5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6000" b="1">
                <a:solidFill>
                  <a:srgbClr val="4BA173"/>
                </a:solidFill>
                <a:latin typeface="Proxima Nova Rg"/>
                <a:cs typeface="Proxima Nova Rg"/>
              </a:rPr>
              <a:t>D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eployment</a:t>
            </a:r>
            <a:r>
              <a:rPr dirty="0" sz="2400" spc="-5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or</a:t>
            </a:r>
            <a:r>
              <a:rPr dirty="0" sz="2400" spc="-5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both)</a:t>
            </a:r>
            <a:endParaRPr sz="24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CI/CD</a:t>
            </a:r>
            <a:r>
              <a:rPr dirty="0" spc="-100"/>
              <a:t> </a:t>
            </a:r>
            <a:r>
              <a:rPr dirty="0" spc="-10"/>
              <a:t>Pipelines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457207"/>
            <a:ext cx="4829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CI/CD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pipeline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is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series</a:t>
            </a:r>
            <a:r>
              <a:rPr dirty="0" sz="2400" spc="-1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of</a:t>
            </a:r>
            <a:r>
              <a:rPr dirty="0" sz="2400" spc="-2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steps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330" y="1491934"/>
            <a:ext cx="379511" cy="3571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25780" y="1457207"/>
            <a:ext cx="1683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that must </a:t>
            </a: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be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3242" y="1911034"/>
            <a:ext cx="379511" cy="35718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9886" y="2530159"/>
            <a:ext cx="379511" cy="3571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95265" y="2949259"/>
            <a:ext cx="379511" cy="35718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84725" y="1876307"/>
            <a:ext cx="7945755" cy="1429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76035" algn="l"/>
              </a:tabLst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performed in order to deliver a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new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version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	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of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 software.</a:t>
            </a:r>
            <a:endParaRPr sz="2400">
              <a:latin typeface="Proxima Nova Rg"/>
              <a:cs typeface="Proxima Nova Rg"/>
            </a:endParaRPr>
          </a:p>
          <a:p>
            <a:pPr marL="12700" marR="98425">
              <a:lnSpc>
                <a:spcPct val="114599"/>
              </a:lnSpc>
              <a:spcBef>
                <a:spcPts val="1575"/>
              </a:spcBef>
              <a:tabLst>
                <a:tab pos="5289550" algn="l"/>
                <a:tab pos="5902960" algn="l"/>
              </a:tabLst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CI/CD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pipeline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introduces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automation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	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to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improve </a:t>
            </a: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the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process of application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development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	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, particularly at </a:t>
            </a: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the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85741" y="3368359"/>
            <a:ext cx="379511" cy="35718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55676" y="3368359"/>
            <a:ext cx="379511" cy="35718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84725" y="3280293"/>
            <a:ext cx="153606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integration delivery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7859" y="3787459"/>
            <a:ext cx="379511" cy="357187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013309" y="3280293"/>
            <a:ext cx="2249170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429895">
              <a:lnSpc>
                <a:spcPct val="100000"/>
              </a:lnSpc>
              <a:spcBef>
                <a:spcPts val="520"/>
              </a:spcBef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and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testing</a:t>
            </a:r>
            <a:endParaRPr sz="24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and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deployment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27559" y="3787459"/>
            <a:ext cx="379511" cy="357187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4501126" y="3280293"/>
            <a:ext cx="3361054" cy="863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phases, as well as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during</a:t>
            </a:r>
            <a:endParaRPr sz="2400">
              <a:latin typeface="Proxima Nova Rg"/>
              <a:cs typeface="Proxima Nova Rg"/>
            </a:endParaRPr>
          </a:p>
          <a:p>
            <a:pPr marL="205740">
              <a:lnSpc>
                <a:spcPct val="100000"/>
              </a:lnSpc>
              <a:spcBef>
                <a:spcPts val="420"/>
              </a:spcBef>
            </a:pPr>
            <a:r>
              <a:rPr dirty="0" sz="2400" spc="-50">
                <a:solidFill>
                  <a:srgbClr val="616161"/>
                </a:solidFill>
                <a:latin typeface="Proxima Nova Rg"/>
                <a:cs typeface="Proxima Nova Rg"/>
              </a:rPr>
              <a:t>.</a:t>
            </a:r>
            <a:endParaRPr sz="24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Elements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CI/CD</a:t>
            </a:r>
            <a:r>
              <a:rPr dirty="0" spc="-25"/>
              <a:t> </a:t>
            </a:r>
            <a:r>
              <a:rPr dirty="0" spc="-10"/>
              <a:t>pipeline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25" y="1491934"/>
            <a:ext cx="379511" cy="35718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dirty="0" spc="-20"/>
              <a:t> </a:t>
            </a:r>
            <a:r>
              <a:rPr dirty="0" b="0">
                <a:latin typeface="Proxima Nova Rg"/>
                <a:cs typeface="Proxima Nova Rg"/>
              </a:rPr>
              <a:t>-</a:t>
            </a:r>
            <a:r>
              <a:rPr dirty="0" spc="-15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Compile</a:t>
            </a:r>
            <a:r>
              <a:rPr dirty="0" spc="-15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the</a:t>
            </a:r>
            <a:r>
              <a:rPr dirty="0" spc="-15" b="0">
                <a:latin typeface="Proxima Nova Rg"/>
                <a:cs typeface="Proxima Nova Rg"/>
              </a:rPr>
              <a:t> </a:t>
            </a:r>
            <a:r>
              <a:rPr dirty="0" spc="-20" b="0">
                <a:latin typeface="Proxima Nova Rg"/>
                <a:cs typeface="Proxima Nova Rg"/>
              </a:rPr>
              <a:t>code</a:t>
            </a: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 spc="-50"/>
              <a:t>Test</a:t>
            </a:r>
            <a:r>
              <a:rPr dirty="0" spc="-35"/>
              <a:t> </a:t>
            </a:r>
            <a:r>
              <a:rPr dirty="0" b="0">
                <a:latin typeface="Proxima Nova Rg"/>
                <a:cs typeface="Proxima Nova Rg"/>
              </a:rPr>
              <a:t>-</a:t>
            </a:r>
            <a:r>
              <a:rPr dirty="0" spc="-35" b="0">
                <a:latin typeface="Proxima Nova Rg"/>
                <a:cs typeface="Proxima Nova Rg"/>
              </a:rPr>
              <a:t> </a:t>
            </a:r>
            <a:r>
              <a:rPr dirty="0" spc="-45" b="0">
                <a:latin typeface="Proxima Nova Rg"/>
                <a:cs typeface="Proxima Nova Rg"/>
              </a:rPr>
              <a:t>Test</a:t>
            </a:r>
            <a:r>
              <a:rPr dirty="0" spc="-4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features,</a:t>
            </a:r>
            <a:r>
              <a:rPr dirty="0" spc="-35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measure</a:t>
            </a:r>
            <a:r>
              <a:rPr dirty="0" spc="-35" b="0">
                <a:latin typeface="Proxima Nova Rg"/>
                <a:cs typeface="Proxima Nova Rg"/>
              </a:rPr>
              <a:t> </a:t>
            </a:r>
            <a:r>
              <a:rPr dirty="0" spc="-10" b="0">
                <a:latin typeface="Proxima Nova Rg"/>
                <a:cs typeface="Proxima Nova Rg"/>
              </a:rPr>
              <a:t>coverage</a:t>
            </a: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/>
              <a:t>Release</a:t>
            </a:r>
            <a:r>
              <a:rPr dirty="0" spc="-30"/>
              <a:t> </a:t>
            </a:r>
            <a:r>
              <a:rPr dirty="0" b="0">
                <a:latin typeface="Proxima Nova Rg"/>
                <a:cs typeface="Proxima Nova Rg"/>
              </a:rPr>
              <a:t>-</a:t>
            </a:r>
            <a:r>
              <a:rPr dirty="0" spc="-35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Deliver</a:t>
            </a:r>
            <a:r>
              <a:rPr dirty="0" spc="-3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artifacts</a:t>
            </a:r>
            <a:r>
              <a:rPr dirty="0" spc="-3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to</a:t>
            </a:r>
            <a:r>
              <a:rPr dirty="0" spc="-30" b="0">
                <a:latin typeface="Proxima Nova Rg"/>
                <a:cs typeface="Proxima Nova Rg"/>
              </a:rPr>
              <a:t> </a:t>
            </a:r>
            <a:r>
              <a:rPr dirty="0" spc="-10" b="0">
                <a:latin typeface="Proxima Nova Rg"/>
                <a:cs typeface="Proxima Nova Rg"/>
              </a:rPr>
              <a:t>repository</a:t>
            </a:r>
          </a:p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dirty="0"/>
              <a:t>Deploy</a:t>
            </a:r>
            <a:r>
              <a:rPr dirty="0" spc="-10"/>
              <a:t> </a:t>
            </a:r>
            <a:r>
              <a:rPr dirty="0" b="0">
                <a:latin typeface="Proxima Nova Rg"/>
                <a:cs typeface="Proxima Nova Rg"/>
              </a:rPr>
              <a:t>-</a:t>
            </a:r>
            <a:r>
              <a:rPr dirty="0" spc="-1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Load</a:t>
            </a:r>
            <a:r>
              <a:rPr dirty="0" spc="-1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the</a:t>
            </a:r>
            <a:r>
              <a:rPr dirty="0" spc="-1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artifacts</a:t>
            </a:r>
            <a:r>
              <a:rPr dirty="0" spc="-1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into</a:t>
            </a:r>
            <a:r>
              <a:rPr dirty="0" spc="-10" b="0">
                <a:latin typeface="Proxima Nova Rg"/>
                <a:cs typeface="Proxima Nova Rg"/>
              </a:rPr>
              <a:t> </a:t>
            </a:r>
            <a:r>
              <a:rPr dirty="0" b="0">
                <a:latin typeface="Proxima Nova Rg"/>
                <a:cs typeface="Proxima Nova Rg"/>
              </a:rPr>
              <a:t>production</a:t>
            </a:r>
            <a:r>
              <a:rPr dirty="0" spc="-10" b="0">
                <a:latin typeface="Proxima Nova Rg"/>
                <a:cs typeface="Proxima Nova Rg"/>
              </a:rPr>
              <a:t> environment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111059"/>
            <a:ext cx="379511" cy="35718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425" y="2730184"/>
            <a:ext cx="379511" cy="35718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425" y="3349309"/>
            <a:ext cx="379511" cy="3571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Elements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CI/CD</a:t>
            </a:r>
            <a:r>
              <a:rPr dirty="0" spc="-25"/>
              <a:t> </a:t>
            </a:r>
            <a:r>
              <a:rPr dirty="0" spc="-10"/>
              <a:t>pipeline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25" y="1491934"/>
            <a:ext cx="379511" cy="35718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111059"/>
            <a:ext cx="379511" cy="3571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425" y="2730184"/>
            <a:ext cx="379511" cy="35718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425" y="3349309"/>
            <a:ext cx="379511" cy="35718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309137" y="1391612"/>
            <a:ext cx="981710" cy="2403475"/>
            <a:chOff x="2309137" y="1391612"/>
            <a:chExt cx="981710" cy="2403475"/>
          </a:xfrm>
        </p:grpSpPr>
        <p:sp>
          <p:nvSpPr>
            <p:cNvPr id="8" name="object 8" descr=""/>
            <p:cNvSpPr/>
            <p:nvPr/>
          </p:nvSpPr>
          <p:spPr>
            <a:xfrm>
              <a:off x="2313900" y="1396375"/>
              <a:ext cx="972185" cy="1177290"/>
            </a:xfrm>
            <a:custGeom>
              <a:avLst/>
              <a:gdLst/>
              <a:ahLst/>
              <a:cxnLst/>
              <a:rect l="l" t="t" r="r" b="b"/>
              <a:pathLst>
                <a:path w="972185" h="1177289">
                  <a:moveTo>
                    <a:pt x="218175" y="1176899"/>
                  </a:moveTo>
                  <a:lnTo>
                    <a:pt x="0" y="1176899"/>
                  </a:lnTo>
                  <a:lnTo>
                    <a:pt x="0" y="0"/>
                  </a:lnTo>
                  <a:lnTo>
                    <a:pt x="218175" y="0"/>
                  </a:lnTo>
                  <a:lnTo>
                    <a:pt x="218175" y="466987"/>
                  </a:lnTo>
                  <a:lnTo>
                    <a:pt x="728774" y="466987"/>
                  </a:lnTo>
                  <a:lnTo>
                    <a:pt x="728774" y="345524"/>
                  </a:lnTo>
                  <a:lnTo>
                    <a:pt x="971699" y="588449"/>
                  </a:lnTo>
                  <a:lnTo>
                    <a:pt x="728774" y="831374"/>
                  </a:lnTo>
                  <a:lnTo>
                    <a:pt x="728774" y="709912"/>
                  </a:lnTo>
                  <a:lnTo>
                    <a:pt x="218175" y="709912"/>
                  </a:lnTo>
                  <a:lnTo>
                    <a:pt x="218175" y="1176899"/>
                  </a:lnTo>
                  <a:close/>
                </a:path>
              </a:pathLst>
            </a:custGeom>
            <a:solidFill>
              <a:srgbClr val="FFF1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13900" y="1396375"/>
              <a:ext cx="972185" cy="1177290"/>
            </a:xfrm>
            <a:custGeom>
              <a:avLst/>
              <a:gdLst/>
              <a:ahLst/>
              <a:cxnLst/>
              <a:rect l="l" t="t" r="r" b="b"/>
              <a:pathLst>
                <a:path w="972185" h="1177289">
                  <a:moveTo>
                    <a:pt x="0" y="1176899"/>
                  </a:moveTo>
                  <a:lnTo>
                    <a:pt x="218175" y="1176899"/>
                  </a:lnTo>
                  <a:lnTo>
                    <a:pt x="218175" y="709912"/>
                  </a:lnTo>
                  <a:lnTo>
                    <a:pt x="728774" y="709912"/>
                  </a:lnTo>
                  <a:lnTo>
                    <a:pt x="728774" y="831374"/>
                  </a:lnTo>
                  <a:lnTo>
                    <a:pt x="971699" y="588449"/>
                  </a:lnTo>
                  <a:lnTo>
                    <a:pt x="728774" y="345524"/>
                  </a:lnTo>
                  <a:lnTo>
                    <a:pt x="728774" y="466987"/>
                  </a:lnTo>
                  <a:lnTo>
                    <a:pt x="218175" y="466987"/>
                  </a:lnTo>
                  <a:lnTo>
                    <a:pt x="218175" y="0"/>
                  </a:lnTo>
                  <a:lnTo>
                    <a:pt x="0" y="0"/>
                  </a:lnTo>
                  <a:lnTo>
                    <a:pt x="0" y="1176899"/>
                  </a:lnTo>
                  <a:close/>
                </a:path>
              </a:pathLst>
            </a:custGeom>
            <a:ln w="9524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13900" y="2613174"/>
              <a:ext cx="972185" cy="1177290"/>
            </a:xfrm>
            <a:custGeom>
              <a:avLst/>
              <a:gdLst/>
              <a:ahLst/>
              <a:cxnLst/>
              <a:rect l="l" t="t" r="r" b="b"/>
              <a:pathLst>
                <a:path w="972185" h="1177289">
                  <a:moveTo>
                    <a:pt x="218175" y="1176899"/>
                  </a:moveTo>
                  <a:lnTo>
                    <a:pt x="0" y="1176899"/>
                  </a:lnTo>
                  <a:lnTo>
                    <a:pt x="0" y="0"/>
                  </a:lnTo>
                  <a:lnTo>
                    <a:pt x="218175" y="0"/>
                  </a:lnTo>
                  <a:lnTo>
                    <a:pt x="218175" y="466987"/>
                  </a:lnTo>
                  <a:lnTo>
                    <a:pt x="728774" y="466987"/>
                  </a:lnTo>
                  <a:lnTo>
                    <a:pt x="728774" y="345524"/>
                  </a:lnTo>
                  <a:lnTo>
                    <a:pt x="971699" y="588449"/>
                  </a:lnTo>
                  <a:lnTo>
                    <a:pt x="728774" y="831374"/>
                  </a:lnTo>
                  <a:lnTo>
                    <a:pt x="728774" y="709912"/>
                  </a:lnTo>
                  <a:lnTo>
                    <a:pt x="218175" y="709912"/>
                  </a:lnTo>
                  <a:lnTo>
                    <a:pt x="218175" y="1176899"/>
                  </a:lnTo>
                  <a:close/>
                </a:path>
              </a:pathLst>
            </a:custGeom>
            <a:solidFill>
              <a:srgbClr val="63D1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313900" y="2613174"/>
              <a:ext cx="972185" cy="1177290"/>
            </a:xfrm>
            <a:custGeom>
              <a:avLst/>
              <a:gdLst/>
              <a:ahLst/>
              <a:cxnLst/>
              <a:rect l="l" t="t" r="r" b="b"/>
              <a:pathLst>
                <a:path w="972185" h="1177289">
                  <a:moveTo>
                    <a:pt x="0" y="1176899"/>
                  </a:moveTo>
                  <a:lnTo>
                    <a:pt x="218175" y="1176899"/>
                  </a:lnTo>
                  <a:lnTo>
                    <a:pt x="218175" y="709912"/>
                  </a:lnTo>
                  <a:lnTo>
                    <a:pt x="728774" y="709912"/>
                  </a:lnTo>
                  <a:lnTo>
                    <a:pt x="728774" y="831374"/>
                  </a:lnTo>
                  <a:lnTo>
                    <a:pt x="971699" y="588449"/>
                  </a:lnTo>
                  <a:lnTo>
                    <a:pt x="728774" y="345524"/>
                  </a:lnTo>
                  <a:lnTo>
                    <a:pt x="728774" y="466987"/>
                  </a:lnTo>
                  <a:lnTo>
                    <a:pt x="218175" y="466987"/>
                  </a:lnTo>
                  <a:lnTo>
                    <a:pt x="218175" y="0"/>
                  </a:lnTo>
                  <a:lnTo>
                    <a:pt x="0" y="0"/>
                  </a:lnTo>
                  <a:lnTo>
                    <a:pt x="0" y="1176899"/>
                  </a:lnTo>
                  <a:close/>
                </a:path>
              </a:pathLst>
            </a:custGeom>
            <a:ln w="9524">
              <a:solidFill>
                <a:srgbClr val="4BA17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65"/>
              </a:lnSpc>
              <a:spcBef>
                <a:spcPts val="100"/>
              </a:spcBef>
            </a:pPr>
            <a:r>
              <a:rPr dirty="0" spc="-10"/>
              <a:t>Build</a:t>
            </a:r>
          </a:p>
          <a:p>
            <a:pPr marL="2641600">
              <a:lnSpc>
                <a:spcPts val="2440"/>
              </a:lnSpc>
            </a:pPr>
            <a:r>
              <a:rPr dirty="0"/>
              <a:t>Continuous </a:t>
            </a:r>
            <a:r>
              <a:rPr dirty="0" spc="-10"/>
              <a:t>Integration</a:t>
            </a:r>
          </a:p>
          <a:p>
            <a:pPr marL="12700">
              <a:lnSpc>
                <a:spcPts val="2650"/>
              </a:lnSpc>
            </a:pPr>
            <a:r>
              <a:rPr dirty="0" spc="-20"/>
              <a:t>Test</a:t>
            </a:r>
          </a:p>
          <a:p>
            <a:pPr marL="12700">
              <a:lnSpc>
                <a:spcPts val="2580"/>
              </a:lnSpc>
              <a:spcBef>
                <a:spcPts val="1995"/>
              </a:spcBef>
            </a:pPr>
            <a:r>
              <a:rPr dirty="0" spc="-10"/>
              <a:t>Release</a:t>
            </a:r>
          </a:p>
          <a:p>
            <a:pPr marL="2641600">
              <a:lnSpc>
                <a:spcPts val="2440"/>
              </a:lnSpc>
            </a:pPr>
            <a:r>
              <a:rPr dirty="0"/>
              <a:t>Continuous </a:t>
            </a:r>
            <a:r>
              <a:rPr dirty="0" spc="-10"/>
              <a:t>Delivery/Deployment</a:t>
            </a:r>
          </a:p>
          <a:p>
            <a:pPr marL="12700">
              <a:lnSpc>
                <a:spcPts val="2735"/>
              </a:lnSpc>
            </a:pPr>
            <a:r>
              <a:rPr dirty="0" spc="-10"/>
              <a:t>Deploy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75" y="1869948"/>
            <a:ext cx="5248275" cy="1362710"/>
          </a:xfrm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  <a:tabLst>
                <a:tab pos="969010" algn="l"/>
                <a:tab pos="1278890" algn="l"/>
                <a:tab pos="2927985" algn="l"/>
              </a:tabLst>
            </a:pPr>
            <a:r>
              <a:rPr dirty="0" sz="4400" spc="-25"/>
              <a:t>Why</a:t>
            </a:r>
            <a:r>
              <a:rPr dirty="0" sz="4400"/>
              <a:t>	</a:t>
            </a:r>
            <a:r>
              <a:rPr dirty="0" sz="4400" spc="-10"/>
              <a:t>CI/CD</a:t>
            </a:r>
            <a:r>
              <a:rPr dirty="0" sz="4400"/>
              <a:t>	</a:t>
            </a:r>
            <a:r>
              <a:rPr dirty="0" sz="4400" spc="-10"/>
              <a:t>Pipelines </a:t>
            </a:r>
            <a:r>
              <a:rPr dirty="0" sz="4400" spc="-25"/>
              <a:t>are</a:t>
            </a:r>
            <a:r>
              <a:rPr dirty="0" sz="4400"/>
              <a:t>	</a:t>
            </a:r>
            <a:r>
              <a:rPr dirty="0" sz="4400" spc="-10"/>
              <a:t>important?</a:t>
            </a:r>
            <a:endParaRPr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Importance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CI/CD</a:t>
            </a:r>
            <a:r>
              <a:rPr dirty="0" spc="-35"/>
              <a:t> </a:t>
            </a:r>
            <a:r>
              <a:rPr dirty="0" spc="-10"/>
              <a:t>pipelines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425" y="1491934"/>
            <a:ext cx="379511" cy="3571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2265" y="1457207"/>
            <a:ext cx="5368290" cy="1629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Reduce</a:t>
            </a:r>
            <a:r>
              <a:rPr dirty="0" sz="2400" spc="-5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manual</a:t>
            </a:r>
            <a:r>
              <a:rPr dirty="0" sz="2400" spc="-5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works</a:t>
            </a:r>
            <a:r>
              <a:rPr dirty="0" sz="2400" spc="-5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for</a:t>
            </a:r>
            <a:r>
              <a:rPr dirty="0" sz="2400" spc="-5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Ops</a:t>
            </a:r>
            <a:r>
              <a:rPr dirty="0" sz="2400" spc="-5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20" b="1">
                <a:solidFill>
                  <a:srgbClr val="616161"/>
                </a:solidFill>
                <a:latin typeface="Proxima Nova Rg"/>
                <a:cs typeface="Proxima Nova Rg"/>
              </a:rPr>
              <a:t>team</a:t>
            </a:r>
            <a:endParaRPr sz="2400">
              <a:latin typeface="Proxima Nova Rg"/>
              <a:cs typeface="Proxima Nova Rg"/>
            </a:endParaRPr>
          </a:p>
          <a:p>
            <a:pPr marL="12700" marR="5080">
              <a:lnSpc>
                <a:spcPct val="169300"/>
              </a:lnSpc>
            </a:pP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More</a:t>
            </a:r>
            <a:r>
              <a:rPr dirty="0" sz="2400" spc="-3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test</a:t>
            </a:r>
            <a:r>
              <a:rPr dirty="0" sz="2400" spc="-2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coverage</a:t>
            </a:r>
            <a:r>
              <a:rPr dirty="0" sz="2400" spc="-2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and</a:t>
            </a:r>
            <a:r>
              <a:rPr dirty="0" sz="2400" spc="-2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fault</a:t>
            </a:r>
            <a:r>
              <a:rPr dirty="0" sz="2400" spc="-3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detection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Faster</a:t>
            </a:r>
            <a:r>
              <a:rPr dirty="0" sz="2400" spc="-3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release</a:t>
            </a:r>
            <a:r>
              <a:rPr dirty="0" sz="2400" spc="-2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and</a:t>
            </a:r>
            <a:r>
              <a:rPr dirty="0" sz="2400" spc="-3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happy</a:t>
            </a:r>
            <a:r>
              <a:rPr dirty="0" sz="2400" spc="-2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 b="1">
                <a:solidFill>
                  <a:srgbClr val="616161"/>
                </a:solidFill>
                <a:latin typeface="Proxima Nova Rg"/>
                <a:cs typeface="Proxima Nova Rg"/>
              </a:rPr>
              <a:t>customer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111059"/>
            <a:ext cx="379511" cy="35718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425" y="2730184"/>
            <a:ext cx="379511" cy="3571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275" y="2203323"/>
            <a:ext cx="377888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089" algn="l"/>
              </a:tabLst>
            </a:pPr>
            <a:r>
              <a:rPr dirty="0" sz="4400" spc="-10"/>
              <a:t>Github</a:t>
            </a:r>
            <a:r>
              <a:rPr dirty="0" sz="4400"/>
              <a:t>	</a:t>
            </a:r>
            <a:r>
              <a:rPr dirty="0" sz="4400" spc="-10"/>
              <a:t>Actions</a:t>
            </a:r>
            <a:endParaRPr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750417"/>
            <a:ext cx="3927475" cy="3778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1120">
              <a:lnSpc>
                <a:spcPct val="114599"/>
              </a:lnSpc>
              <a:spcBef>
                <a:spcPts val="100"/>
              </a:spcBef>
            </a:pP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Git</a:t>
            </a:r>
            <a:r>
              <a:rPr dirty="0" sz="2400" spc="-2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is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popular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SCM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(Source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Code Management) 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tool</a:t>
            </a:r>
            <a:endParaRPr sz="2400">
              <a:latin typeface="Proxima Nova Rg"/>
              <a:cs typeface="Proxima Nova Rg"/>
            </a:endParaRPr>
          </a:p>
          <a:p>
            <a:pPr marL="12700" marR="283210">
              <a:lnSpc>
                <a:spcPct val="114599"/>
              </a:lnSpc>
              <a:spcBef>
                <a:spcPts val="1575"/>
              </a:spcBef>
            </a:pP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Github</a:t>
            </a:r>
            <a:r>
              <a:rPr dirty="0" sz="2400" spc="-2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is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</a:t>
            </a:r>
            <a:r>
              <a:rPr dirty="0" sz="2400" spc="-1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popular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hosting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service for Git and </a:t>
            </a:r>
            <a:r>
              <a:rPr dirty="0" sz="2400" spc="-20">
                <a:solidFill>
                  <a:srgbClr val="616161"/>
                </a:solidFill>
                <a:latin typeface="Proxima Nova Rg"/>
                <a:cs typeface="Proxima Nova Rg"/>
              </a:rPr>
              <a:t>more</a:t>
            </a:r>
            <a:endParaRPr sz="2400">
              <a:latin typeface="Proxima Nova Rg"/>
              <a:cs typeface="Proxima Nova Rg"/>
            </a:endParaRPr>
          </a:p>
          <a:p>
            <a:pPr marL="12700" marR="5080">
              <a:lnSpc>
                <a:spcPct val="114599"/>
              </a:lnSpc>
              <a:spcBef>
                <a:spcPts val="1570"/>
              </a:spcBef>
            </a:pP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Github</a:t>
            </a:r>
            <a:r>
              <a:rPr dirty="0" sz="2400" spc="-5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b="1">
                <a:solidFill>
                  <a:srgbClr val="616161"/>
                </a:solidFill>
                <a:latin typeface="Proxima Nova Rg"/>
                <a:cs typeface="Proxima Nova Rg"/>
              </a:rPr>
              <a:t>Actions</a:t>
            </a:r>
            <a:r>
              <a:rPr dirty="0" sz="2400" spc="-5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are</a:t>
            </a:r>
            <a:r>
              <a:rPr dirty="0" sz="2400" spc="-5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powerful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automation tools provided </a:t>
            </a:r>
            <a:r>
              <a:rPr dirty="0" sz="2400" spc="-25">
                <a:solidFill>
                  <a:srgbClr val="616161"/>
                </a:solidFill>
                <a:latin typeface="Proxima Nova Rg"/>
                <a:cs typeface="Proxima Nova Rg"/>
              </a:rPr>
              <a:t>by </a:t>
            </a:r>
            <a:r>
              <a:rPr dirty="0" sz="2400">
                <a:solidFill>
                  <a:srgbClr val="616161"/>
                </a:solidFill>
                <a:latin typeface="Proxima Nova Rg"/>
                <a:cs typeface="Proxima Nova Rg"/>
              </a:rPr>
              <a:t>Github to meet all your </a:t>
            </a:r>
            <a:r>
              <a:rPr dirty="0" sz="2400" spc="-10">
                <a:solidFill>
                  <a:srgbClr val="616161"/>
                </a:solidFill>
                <a:latin typeface="Proxima Nova Rg"/>
                <a:cs typeface="Proxima Nova Rg"/>
              </a:rPr>
              <a:t>CI/CD needs</a:t>
            </a:r>
            <a:endParaRPr sz="2400">
              <a:latin typeface="Proxima Nova Rg"/>
              <a:cs typeface="Proxima Nova Rg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637" y="1069537"/>
            <a:ext cx="2035798" cy="85100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4758223" y="1723011"/>
            <a:ext cx="4074160" cy="2755900"/>
            <a:chOff x="4758223" y="1723011"/>
            <a:chExt cx="4074160" cy="27559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8223" y="2619427"/>
              <a:ext cx="2413431" cy="185934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6425" y="2418943"/>
              <a:ext cx="2035799" cy="101799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7525" y="1723011"/>
              <a:ext cx="833598" cy="830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0" y="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367553" y="1930438"/>
            <a:ext cx="1841500" cy="13036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 indent="92710">
              <a:lnSpc>
                <a:spcPts val="5030"/>
              </a:lnSpc>
              <a:spcBef>
                <a:spcPts val="204"/>
              </a:spcBef>
            </a:pPr>
            <a:r>
              <a:rPr dirty="0" sz="4200" spc="-10" b="1">
                <a:solidFill>
                  <a:srgbClr val="202729"/>
                </a:solidFill>
                <a:latin typeface="Proxima Nova Rg"/>
                <a:cs typeface="Proxima Nova Rg"/>
              </a:rPr>
              <a:t>Github Actions</a:t>
            </a:r>
            <a:endParaRPr sz="4200">
              <a:latin typeface="Proxima Nova Rg"/>
              <a:cs typeface="Proxima Nova Rg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57025" y="1345755"/>
            <a:ext cx="3493770" cy="21209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520"/>
              </a:spcBef>
              <a:buFont typeface="Arial"/>
              <a:buChar char="●"/>
              <a:tabLst>
                <a:tab pos="424815" algn="l"/>
              </a:tabLst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Introduced in late </a:t>
            </a:r>
            <a:r>
              <a:rPr dirty="0" sz="2400" spc="-20">
                <a:solidFill>
                  <a:srgbClr val="FFFFFF"/>
                </a:solidFill>
                <a:latin typeface="Proxima Nova Rg"/>
                <a:cs typeface="Proxima Nova Rg"/>
              </a:rPr>
              <a:t>2018</a:t>
            </a:r>
            <a:endParaRPr sz="2400">
              <a:latin typeface="Proxima Nova Rg"/>
              <a:cs typeface="Proxima Nova Rg"/>
            </a:endParaRPr>
          </a:p>
          <a:p>
            <a:pPr marL="424815" indent="-41211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YAML</a:t>
            </a:r>
            <a:r>
              <a:rPr dirty="0" sz="2400" spc="-15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Proxima Nova Rg"/>
                <a:cs typeface="Proxima Nova Rg"/>
              </a:rPr>
              <a:t>based</a:t>
            </a:r>
            <a:endParaRPr sz="2400">
              <a:latin typeface="Proxima Nova Rg"/>
              <a:cs typeface="Proxima Nova Rg"/>
            </a:endParaRPr>
          </a:p>
          <a:p>
            <a:pPr marL="424815" indent="-41211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Community-</a:t>
            </a:r>
            <a:r>
              <a:rPr dirty="0" sz="2400" spc="-10">
                <a:solidFill>
                  <a:srgbClr val="FFFFFF"/>
                </a:solidFill>
                <a:latin typeface="Proxima Nova Rg"/>
                <a:cs typeface="Proxima Nova Rg"/>
              </a:rPr>
              <a:t>driven</a:t>
            </a:r>
            <a:endParaRPr sz="2400">
              <a:latin typeface="Proxima Nova Rg"/>
              <a:cs typeface="Proxima Nova Rg"/>
            </a:endParaRPr>
          </a:p>
          <a:p>
            <a:pPr marL="424815" indent="-41211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Runs</a:t>
            </a:r>
            <a:r>
              <a:rPr dirty="0" sz="2400" spc="-3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Win,</a:t>
            </a:r>
            <a:r>
              <a:rPr dirty="0" sz="2400" spc="-35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Linux,</a:t>
            </a:r>
            <a:r>
              <a:rPr dirty="0" sz="2400" spc="-30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Proxima Nova Rg"/>
                <a:cs typeface="Proxima Nova Rg"/>
              </a:rPr>
              <a:t>Mac</a:t>
            </a:r>
            <a:endParaRPr sz="2400">
              <a:latin typeface="Proxima Nova Rg"/>
              <a:cs typeface="Proxima Nova Rg"/>
            </a:endParaRPr>
          </a:p>
          <a:p>
            <a:pPr marL="424815" indent="-41211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424815" algn="l"/>
              </a:tabLst>
            </a:pPr>
            <a:r>
              <a:rPr dirty="0" sz="2400">
                <a:solidFill>
                  <a:srgbClr val="FFFFFF"/>
                </a:solidFill>
                <a:latin typeface="Proxima Nova Rg"/>
                <a:cs typeface="Proxima Nova Rg"/>
              </a:rPr>
              <a:t>Attractive</a:t>
            </a:r>
            <a:r>
              <a:rPr dirty="0" sz="2400" spc="-30">
                <a:solidFill>
                  <a:srgbClr val="FFFFFF"/>
                </a:solidFill>
                <a:latin typeface="Proxima Nova Rg"/>
                <a:cs typeface="Proxima Nova Rg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Proxima Nova Rg"/>
                <a:cs typeface="Proxima Nova Rg"/>
              </a:rPr>
              <a:t>Pricing</a:t>
            </a:r>
            <a:endParaRPr sz="24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 of Github </a:t>
            </a:r>
            <a:r>
              <a:rPr dirty="0" spc="-10"/>
              <a:t>Actions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11699" y="1475249"/>
            <a:ext cx="1203325" cy="525145"/>
          </a:xfrm>
          <a:prstGeom prst="rect">
            <a:avLst/>
          </a:prstGeom>
          <a:solidFill>
            <a:srgbClr val="63D197"/>
          </a:solidFill>
          <a:ln w="9524">
            <a:solidFill>
              <a:srgbClr val="4BA173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265"/>
              </a:spcBef>
            </a:pPr>
            <a:r>
              <a:rPr dirty="0" sz="2800" spc="-10" b="1">
                <a:solidFill>
                  <a:srgbClr val="FFFFFF"/>
                </a:solidFill>
                <a:latin typeface="Proxima Nova Rg"/>
                <a:cs typeface="Proxima Nova Rg"/>
              </a:rPr>
              <a:t>Event</a:t>
            </a:r>
            <a:endParaRPr sz="2800">
              <a:latin typeface="Proxima Nova Rg"/>
              <a:cs typeface="Proxima Nova Rg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486025" y="1470474"/>
          <a:ext cx="2021205" cy="328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/>
                <a:gridCol w="245745"/>
                <a:gridCol w="1455420"/>
              </a:tblGrid>
              <a:tr h="624205">
                <a:tc gridSpan="3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25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Job</a:t>
                      </a:r>
                      <a:endParaRPr sz="2800">
                        <a:latin typeface="Proxima Nova Rg"/>
                        <a:cs typeface="Proxima Nova Rg"/>
                      </a:endParaRPr>
                    </a:p>
                  </a:txBody>
                  <a:tcPr marL="0" marR="0" marB="0" marT="71120">
                    <a:lnL w="9525">
                      <a:solidFill>
                        <a:srgbClr val="1155CC"/>
                      </a:solidFill>
                      <a:prstDash val="solid"/>
                    </a:lnL>
                    <a:lnR w="9525">
                      <a:solidFill>
                        <a:srgbClr val="1155CC"/>
                      </a:solidFill>
                      <a:prstDash val="solid"/>
                    </a:lnR>
                    <a:lnT w="9525">
                      <a:solidFill>
                        <a:srgbClr val="1155CC"/>
                      </a:solidFill>
                      <a:prstDash val="solid"/>
                    </a:lnT>
                    <a:solidFill>
                      <a:srgbClr val="3D85C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5087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55CC"/>
                      </a:solidFill>
                      <a:prstDash val="solid"/>
                    </a:lnL>
                    <a:lnR w="9525">
                      <a:solidFill>
                        <a:srgbClr val="274E13"/>
                      </a:solidFill>
                      <a:prstDash val="solid"/>
                    </a:lnR>
                    <a:lnB w="9525">
                      <a:solidFill>
                        <a:srgbClr val="1155CC"/>
                      </a:solidFill>
                      <a:prstDash val="solid"/>
                    </a:lnB>
                    <a:solidFill>
                      <a:srgbClr val="3D85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Step</a:t>
                      </a:r>
                      <a:r>
                        <a:rPr dirty="0" sz="2800" spc="-85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 </a:t>
                      </a:r>
                      <a:r>
                        <a:rPr dirty="0" sz="2800" spc="-50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1</a:t>
                      </a:r>
                      <a:endParaRPr sz="2800">
                        <a:latin typeface="Proxima Nova Rg"/>
                        <a:cs typeface="Proxima Nova Rg"/>
                      </a:endParaRPr>
                    </a:p>
                  </a:txBody>
                  <a:tcPr marL="0" marR="0" marB="0" marT="71120">
                    <a:lnL w="9525">
                      <a:solidFill>
                        <a:srgbClr val="274E13"/>
                      </a:solidFill>
                      <a:prstDash val="solid"/>
                    </a:lnL>
                    <a:lnR w="12700">
                      <a:solidFill>
                        <a:srgbClr val="274E13"/>
                      </a:solidFill>
                      <a:prstDash val="solid"/>
                    </a:lnR>
                    <a:lnT w="9525">
                      <a:solidFill>
                        <a:srgbClr val="274E13"/>
                      </a:solidFill>
                      <a:prstDash val="solid"/>
                    </a:lnT>
                    <a:solidFill>
                      <a:srgbClr val="6AA84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775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155CC"/>
                      </a:solidFill>
                      <a:prstDash val="solid"/>
                    </a:lnL>
                    <a:lnR w="9525">
                      <a:solidFill>
                        <a:srgbClr val="274E13"/>
                      </a:solidFill>
                      <a:prstDash val="solid"/>
                    </a:lnR>
                    <a:lnB w="9525">
                      <a:solidFill>
                        <a:srgbClr val="1155CC"/>
                      </a:solidFill>
                      <a:prstDash val="solid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74E13"/>
                      </a:solidFill>
                      <a:prstDash val="solid"/>
                    </a:lnL>
                    <a:lnR w="9525">
                      <a:solidFill>
                        <a:srgbClr val="274E13"/>
                      </a:solidFill>
                      <a:prstDash val="solid"/>
                    </a:lnR>
                    <a:lnB w="9525">
                      <a:solidFill>
                        <a:srgbClr val="274E13"/>
                      </a:solidFill>
                      <a:prstDash val="soli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Action</a:t>
                      </a:r>
                      <a:endParaRPr sz="2800">
                        <a:latin typeface="Proxima Nova Rg"/>
                        <a:cs typeface="Proxima Nova Rg"/>
                      </a:endParaRPr>
                    </a:p>
                  </a:txBody>
                  <a:tcPr marL="0" marR="0" marB="0" marT="71120">
                    <a:lnL w="9525">
                      <a:solidFill>
                        <a:srgbClr val="274E13"/>
                      </a:solidFill>
                      <a:prstDash val="solid"/>
                    </a:lnL>
                    <a:lnR w="12700">
                      <a:solidFill>
                        <a:srgbClr val="274E13"/>
                      </a:solidFill>
                      <a:prstDash val="solid"/>
                    </a:lnR>
                    <a:lnT w="9525">
                      <a:solidFill>
                        <a:srgbClr val="274E13"/>
                      </a:solidFill>
                      <a:prstDash val="solid"/>
                    </a:lnT>
                    <a:lnB w="9525">
                      <a:solidFill>
                        <a:srgbClr val="274E13"/>
                      </a:solidFill>
                      <a:prstDash val="solid"/>
                    </a:lnB>
                    <a:solidFill>
                      <a:srgbClr val="E69137"/>
                    </a:solidFill>
                  </a:tcPr>
                </a:tc>
              </a:tr>
              <a:tr h="6508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155CC"/>
                      </a:solidFill>
                      <a:prstDash val="solid"/>
                    </a:lnL>
                    <a:lnR w="9525">
                      <a:solidFill>
                        <a:srgbClr val="274E13"/>
                      </a:solidFill>
                      <a:prstDash val="solid"/>
                    </a:lnR>
                    <a:lnB w="9525">
                      <a:solidFill>
                        <a:srgbClr val="1155CC"/>
                      </a:solidFill>
                      <a:prstDash val="solid"/>
                    </a:lnB>
                    <a:solidFill>
                      <a:srgbClr val="3D85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Step</a:t>
                      </a:r>
                      <a:r>
                        <a:rPr dirty="0" sz="2800" spc="-85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 </a:t>
                      </a:r>
                      <a:r>
                        <a:rPr dirty="0" sz="2800" spc="-50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2</a:t>
                      </a:r>
                      <a:endParaRPr sz="2800">
                        <a:latin typeface="Proxima Nova Rg"/>
                        <a:cs typeface="Proxima Nova Rg"/>
                      </a:endParaRPr>
                    </a:p>
                  </a:txBody>
                  <a:tcPr marL="0" marR="0" marB="0" marT="71120">
                    <a:lnL w="9525">
                      <a:solidFill>
                        <a:srgbClr val="274E13"/>
                      </a:solidFill>
                      <a:prstDash val="solid"/>
                    </a:lnL>
                    <a:lnR w="12700">
                      <a:solidFill>
                        <a:srgbClr val="274E13"/>
                      </a:solidFill>
                      <a:prstDash val="solid"/>
                    </a:lnR>
                    <a:lnT w="9525">
                      <a:solidFill>
                        <a:srgbClr val="274E13"/>
                      </a:solidFill>
                      <a:prstDash val="solid"/>
                    </a:lnT>
                    <a:solidFill>
                      <a:srgbClr val="6AA84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775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1155CC"/>
                      </a:solidFill>
                      <a:prstDash val="solid"/>
                    </a:lnL>
                    <a:lnR w="9525">
                      <a:solidFill>
                        <a:srgbClr val="274E13"/>
                      </a:solidFill>
                      <a:prstDash val="solid"/>
                    </a:lnR>
                    <a:lnB w="9525">
                      <a:solidFill>
                        <a:srgbClr val="1155CC"/>
                      </a:solidFill>
                      <a:prstDash val="solid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74E13"/>
                      </a:solidFill>
                      <a:prstDash val="solid"/>
                    </a:lnL>
                    <a:lnR w="9525">
                      <a:solidFill>
                        <a:srgbClr val="274E13"/>
                      </a:solidFill>
                      <a:prstDash val="solid"/>
                    </a:lnR>
                    <a:lnB w="9525">
                      <a:solidFill>
                        <a:srgbClr val="274E13"/>
                      </a:solidFill>
                      <a:prstDash val="soli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Proxima Nova Rg"/>
                          <a:cs typeface="Proxima Nova Rg"/>
                        </a:rPr>
                        <a:t>Action</a:t>
                      </a:r>
                      <a:endParaRPr sz="2800">
                        <a:latin typeface="Proxima Nova Rg"/>
                        <a:cs typeface="Proxima Nova Rg"/>
                      </a:endParaRPr>
                    </a:p>
                  </a:txBody>
                  <a:tcPr marL="0" marR="0" marB="0" marT="71120">
                    <a:lnL w="9525">
                      <a:solidFill>
                        <a:srgbClr val="274E13"/>
                      </a:solidFill>
                      <a:prstDash val="solid"/>
                    </a:lnL>
                    <a:lnR w="12700">
                      <a:solidFill>
                        <a:srgbClr val="274E13"/>
                      </a:solidFill>
                      <a:prstDash val="solid"/>
                    </a:lnR>
                    <a:lnT w="9525">
                      <a:solidFill>
                        <a:srgbClr val="274E13"/>
                      </a:solidFill>
                      <a:prstDash val="solid"/>
                    </a:lnT>
                    <a:lnB w="9525">
                      <a:solidFill>
                        <a:srgbClr val="274E13"/>
                      </a:solidFill>
                      <a:prstDash val="solid"/>
                    </a:lnB>
                    <a:solidFill>
                      <a:srgbClr val="E69137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1604737" y="1550287"/>
            <a:ext cx="796290" cy="375285"/>
            <a:chOff x="1604737" y="1550287"/>
            <a:chExt cx="796290" cy="375285"/>
          </a:xfrm>
        </p:grpSpPr>
        <p:sp>
          <p:nvSpPr>
            <p:cNvPr id="6" name="object 6" descr=""/>
            <p:cNvSpPr/>
            <p:nvPr/>
          </p:nvSpPr>
          <p:spPr>
            <a:xfrm>
              <a:off x="1609500" y="1555049"/>
              <a:ext cx="786765" cy="365760"/>
            </a:xfrm>
            <a:custGeom>
              <a:avLst/>
              <a:gdLst/>
              <a:ahLst/>
              <a:cxnLst/>
              <a:rect l="l" t="t" r="r" b="b"/>
              <a:pathLst>
                <a:path w="786764" h="365760">
                  <a:moveTo>
                    <a:pt x="603899" y="365399"/>
                  </a:moveTo>
                  <a:lnTo>
                    <a:pt x="603899" y="274049"/>
                  </a:lnTo>
                  <a:lnTo>
                    <a:pt x="0" y="274049"/>
                  </a:lnTo>
                  <a:lnTo>
                    <a:pt x="0" y="91349"/>
                  </a:lnTo>
                  <a:lnTo>
                    <a:pt x="603899" y="91349"/>
                  </a:lnTo>
                  <a:lnTo>
                    <a:pt x="603899" y="0"/>
                  </a:lnTo>
                  <a:lnTo>
                    <a:pt x="786599" y="182699"/>
                  </a:lnTo>
                  <a:lnTo>
                    <a:pt x="603899" y="365399"/>
                  </a:lnTo>
                  <a:close/>
                </a:path>
              </a:pathLst>
            </a:custGeom>
            <a:solidFill>
              <a:srgbClr val="F1C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09500" y="1555049"/>
              <a:ext cx="786765" cy="365760"/>
            </a:xfrm>
            <a:custGeom>
              <a:avLst/>
              <a:gdLst/>
              <a:ahLst/>
              <a:cxnLst/>
              <a:rect l="l" t="t" r="r" b="b"/>
              <a:pathLst>
                <a:path w="786764" h="365760">
                  <a:moveTo>
                    <a:pt x="0" y="91349"/>
                  </a:moveTo>
                  <a:lnTo>
                    <a:pt x="603899" y="91349"/>
                  </a:lnTo>
                  <a:lnTo>
                    <a:pt x="603899" y="0"/>
                  </a:lnTo>
                  <a:lnTo>
                    <a:pt x="786599" y="182699"/>
                  </a:lnTo>
                  <a:lnTo>
                    <a:pt x="603899" y="365399"/>
                  </a:lnTo>
                  <a:lnTo>
                    <a:pt x="603899" y="274049"/>
                  </a:lnTo>
                  <a:lnTo>
                    <a:pt x="0" y="274049"/>
                  </a:lnTo>
                  <a:lnTo>
                    <a:pt x="0" y="91349"/>
                  </a:lnTo>
                  <a:close/>
                </a:path>
              </a:pathLst>
            </a:custGeom>
            <a:ln w="9524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84725" y="2162765"/>
            <a:ext cx="14636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616161"/>
                </a:solidFill>
                <a:latin typeface="Proxima Nova Rg"/>
                <a:cs typeface="Proxima Nova Rg"/>
              </a:rPr>
              <a:t>Push</a:t>
            </a:r>
            <a:endParaRPr sz="20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616161"/>
                </a:solidFill>
                <a:latin typeface="Proxima Nova Rg"/>
                <a:cs typeface="Proxima Nova Rg"/>
              </a:rPr>
              <a:t>Pull </a:t>
            </a:r>
            <a:r>
              <a:rPr dirty="0" sz="2000" spc="-10" b="1">
                <a:solidFill>
                  <a:srgbClr val="616161"/>
                </a:solidFill>
                <a:latin typeface="Proxima Nova Rg"/>
                <a:cs typeface="Proxima Nova Rg"/>
              </a:rPr>
              <a:t>Request</a:t>
            </a:r>
            <a:endParaRPr sz="2000">
              <a:latin typeface="Proxima Nova Rg"/>
              <a:cs typeface="Proxima Nova Rg"/>
            </a:endParaRPr>
          </a:p>
          <a:p>
            <a:pPr marL="12700">
              <a:lnSpc>
                <a:spcPct val="100000"/>
              </a:lnSpc>
            </a:pPr>
            <a:r>
              <a:rPr dirty="0" sz="2000" spc="-25" b="1">
                <a:solidFill>
                  <a:srgbClr val="616161"/>
                </a:solidFill>
                <a:latin typeface="Proxima Nova Rg"/>
                <a:cs typeface="Proxima Nova Rg"/>
              </a:rPr>
              <a:t>...</a:t>
            </a:r>
            <a:endParaRPr sz="2000">
              <a:latin typeface="Proxima Nova Rg"/>
              <a:cs typeface="Proxima Nova Rg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45025" y="1617915"/>
            <a:ext cx="35159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616161"/>
                </a:solidFill>
                <a:latin typeface="Proxima Nova Rg"/>
                <a:cs typeface="Proxima Nova Rg"/>
              </a:rPr>
              <a:t>Build</a:t>
            </a:r>
            <a:r>
              <a:rPr dirty="0" sz="2000">
                <a:solidFill>
                  <a:srgbClr val="616161"/>
                </a:solidFill>
                <a:latin typeface="Proxima Nova Rg"/>
                <a:cs typeface="Proxima Nova Rg"/>
              </a:rPr>
              <a:t>,</a:t>
            </a:r>
            <a:r>
              <a:rPr dirty="0" sz="2000" spc="-35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 spc="-25" b="1">
                <a:solidFill>
                  <a:srgbClr val="616161"/>
                </a:solidFill>
                <a:latin typeface="Proxima Nova Rg"/>
                <a:cs typeface="Proxima Nova Rg"/>
              </a:rPr>
              <a:t>Test</a:t>
            </a:r>
            <a:r>
              <a:rPr dirty="0" sz="2000" spc="-25">
                <a:solidFill>
                  <a:srgbClr val="616161"/>
                </a:solidFill>
                <a:latin typeface="Proxima Nova Rg"/>
                <a:cs typeface="Proxima Nova Rg"/>
              </a:rPr>
              <a:t>,</a:t>
            </a:r>
            <a:r>
              <a:rPr dirty="0" sz="2000" spc="-3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 b="1">
                <a:solidFill>
                  <a:srgbClr val="616161"/>
                </a:solidFill>
                <a:latin typeface="Proxima Nova Rg"/>
                <a:cs typeface="Proxima Nova Rg"/>
              </a:rPr>
              <a:t>Deploy</a:t>
            </a:r>
            <a:r>
              <a:rPr dirty="0" sz="2000" spc="-30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>
                <a:solidFill>
                  <a:srgbClr val="616161"/>
                </a:solidFill>
                <a:latin typeface="Proxima Nova Rg"/>
                <a:cs typeface="Proxima Nova Rg"/>
              </a:rPr>
              <a:t>or</a:t>
            </a:r>
            <a:r>
              <a:rPr dirty="0" sz="2000" spc="-3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 spc="-10" b="1">
                <a:solidFill>
                  <a:srgbClr val="616161"/>
                </a:solidFill>
                <a:latin typeface="Proxima Nova Rg"/>
                <a:cs typeface="Proxima Nova Rg"/>
              </a:rPr>
              <a:t>anything</a:t>
            </a:r>
            <a:endParaRPr sz="2000">
              <a:latin typeface="Proxima Nova Rg"/>
              <a:cs typeface="Proxima Nova Rg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45025" y="2840589"/>
            <a:ext cx="25603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616161"/>
                </a:solidFill>
                <a:latin typeface="Proxima Nova Rg"/>
                <a:cs typeface="Proxima Nova Rg"/>
              </a:rPr>
              <a:t>Install</a:t>
            </a:r>
            <a:r>
              <a:rPr dirty="0" sz="2000" spc="-1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 b="1">
                <a:solidFill>
                  <a:srgbClr val="616161"/>
                </a:solidFill>
                <a:latin typeface="Proxima Nova Rg"/>
                <a:cs typeface="Proxima Nova Rg"/>
              </a:rPr>
              <a:t>nodejs</a:t>
            </a:r>
            <a:r>
              <a:rPr dirty="0" sz="2000" spc="-5" b="1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>
                <a:solidFill>
                  <a:srgbClr val="616161"/>
                </a:solidFill>
                <a:latin typeface="Proxima Nova Rg"/>
                <a:cs typeface="Proxima Nova Rg"/>
              </a:rPr>
              <a:t>and</a:t>
            </a:r>
            <a:r>
              <a:rPr dirty="0" sz="2000" spc="-1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 spc="-25" b="1">
                <a:solidFill>
                  <a:srgbClr val="616161"/>
                </a:solidFill>
                <a:latin typeface="Proxima Nova Rg"/>
                <a:cs typeface="Proxima Nova Rg"/>
              </a:rPr>
              <a:t>npm</a:t>
            </a:r>
            <a:endParaRPr sz="2000">
              <a:latin typeface="Proxima Nova Rg"/>
              <a:cs typeface="Proxima Nova Rg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45025" y="4169564"/>
            <a:ext cx="16744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616161"/>
                </a:solidFill>
                <a:latin typeface="Proxima Nova Rg"/>
                <a:cs typeface="Proxima Nova Rg"/>
              </a:rPr>
              <a:t>Run</a:t>
            </a:r>
            <a:r>
              <a:rPr dirty="0" sz="2000" spc="-10">
                <a:solidFill>
                  <a:srgbClr val="616161"/>
                </a:solidFill>
                <a:latin typeface="Proxima Nova Rg"/>
                <a:cs typeface="Proxima Nova Rg"/>
              </a:rPr>
              <a:t> </a:t>
            </a:r>
            <a:r>
              <a:rPr dirty="0" sz="2000" b="1">
                <a:solidFill>
                  <a:srgbClr val="616161"/>
                </a:solidFill>
                <a:latin typeface="Proxima Nova Rg"/>
                <a:cs typeface="Proxima Nova Rg"/>
              </a:rPr>
              <a:t>npm </a:t>
            </a:r>
            <a:r>
              <a:rPr dirty="0" sz="2000" spc="-10" b="1">
                <a:solidFill>
                  <a:srgbClr val="616161"/>
                </a:solidFill>
                <a:latin typeface="Proxima Nova Rg"/>
                <a:cs typeface="Proxima Nova Rg"/>
              </a:rPr>
              <a:t>build</a:t>
            </a:r>
            <a:endParaRPr sz="20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0" y="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24218" y="1937286"/>
            <a:ext cx="3328670" cy="1126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90955" marR="5080" indent="-1278890">
              <a:lnSpc>
                <a:spcPct val="100699"/>
              </a:lnSpc>
              <a:spcBef>
                <a:spcPts val="70"/>
              </a:spcBef>
            </a:pPr>
            <a:r>
              <a:rPr dirty="0" sz="3600" b="1">
                <a:solidFill>
                  <a:srgbClr val="202729"/>
                </a:solidFill>
                <a:latin typeface="Proxima Nova Rg"/>
                <a:cs typeface="Proxima Nova Rg"/>
              </a:rPr>
              <a:t>Demo </a:t>
            </a:r>
            <a:r>
              <a:rPr dirty="0" sz="3600" spc="-30" b="1">
                <a:solidFill>
                  <a:srgbClr val="202729"/>
                </a:solidFill>
                <a:latin typeface="Proxima Nova Rg"/>
                <a:cs typeface="Proxima Nova Rg"/>
              </a:rPr>
              <a:t>Workﬂow </a:t>
            </a:r>
            <a:r>
              <a:rPr dirty="0" sz="3600" spc="-20" b="1">
                <a:solidFill>
                  <a:srgbClr val="202729"/>
                </a:solidFill>
                <a:latin typeface="Proxima Nova Rg"/>
                <a:cs typeface="Proxima Nova Rg"/>
              </a:rPr>
              <a:t>File</a:t>
            </a:r>
            <a:endParaRPr sz="3600">
              <a:latin typeface="Proxima Nova Rg"/>
              <a:cs typeface="Proxima Nova Rg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7175" y="351663"/>
            <a:ext cx="1978660" cy="448309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35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My</a:t>
            </a:r>
            <a:r>
              <a:rPr dirty="0" sz="14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CI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Workflow </a:t>
            </a:r>
            <a:r>
              <a:rPr dirty="0" sz="1400" spc="-25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17175" y="770763"/>
            <a:ext cx="3931285" cy="38011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3227070" indent="194945">
              <a:lnSpc>
                <a:spcPts val="1650"/>
              </a:lnSpc>
              <a:spcBef>
                <a:spcPts val="180"/>
              </a:spcBef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push: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jobs: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585"/>
              </a:lnSpc>
            </a:pP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build:</a:t>
            </a:r>
            <a:endParaRPr sz="1400">
              <a:latin typeface="Consolas"/>
              <a:cs typeface="Consolas"/>
            </a:endParaRPr>
          </a:p>
          <a:p>
            <a:pPr marL="402590" marR="1468755">
              <a:lnSpc>
                <a:spcPts val="1650"/>
              </a:lnSpc>
              <a:spcBef>
                <a:spcPts val="65"/>
              </a:spcBef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runs-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r>
              <a:rPr dirty="0" sz="1400" spc="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ubuntu-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20.04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steps:</a:t>
            </a:r>
            <a:endParaRPr sz="1400">
              <a:latin typeface="Consolas"/>
              <a:cs typeface="Consolas"/>
            </a:endParaRPr>
          </a:p>
          <a:p>
            <a:pPr marL="793115" marR="688340" indent="-195580">
              <a:lnSpc>
                <a:spcPts val="1650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Clone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repository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actions/checkout@v2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585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3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Set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up</a:t>
            </a:r>
            <a:r>
              <a:rPr dirty="0" sz="14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Node.js</a:t>
            </a:r>
            <a:endParaRPr sz="1400">
              <a:latin typeface="Consolas"/>
              <a:cs typeface="Consolas"/>
            </a:endParaRPr>
          </a:p>
          <a:p>
            <a:pPr marL="793115">
              <a:lnSpc>
                <a:spcPts val="1650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actions/setup-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node@v2</a:t>
            </a:r>
            <a:endParaRPr sz="1400">
              <a:latin typeface="Consolas"/>
              <a:cs typeface="Consolas"/>
            </a:endParaRPr>
          </a:p>
          <a:p>
            <a:pPr marL="793115" marR="200025" indent="-195580">
              <a:lnSpc>
                <a:spcPts val="1650"/>
              </a:lnSpc>
              <a:spcBef>
                <a:spcPts val="65"/>
              </a:spcBef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dependencies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-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4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endParaRPr sz="1400">
              <a:latin typeface="Consolas"/>
              <a:cs typeface="Consolas"/>
            </a:endParaRPr>
          </a:p>
          <a:p>
            <a:pPr marL="793115" marR="1078230" indent="-195580">
              <a:lnSpc>
                <a:spcPts val="1650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artifacts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run:</a:t>
            </a:r>
            <a:r>
              <a:rPr dirty="0" sz="1400" spc="-3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4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585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70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Archive</a:t>
            </a:r>
            <a:r>
              <a:rPr dirty="0" sz="1400" spc="-7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artifacts</a:t>
            </a:r>
            <a:endParaRPr sz="1400">
              <a:latin typeface="Consolas"/>
              <a:cs typeface="Consolas"/>
            </a:endParaRPr>
          </a:p>
          <a:p>
            <a:pPr marL="793115" marR="5080">
              <a:lnSpc>
                <a:spcPts val="1650"/>
              </a:lnSpc>
              <a:spcBef>
                <a:spcPts val="65"/>
              </a:spcBef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actions/upload-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artifact@v2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with:</a:t>
            </a:r>
            <a:endParaRPr sz="1400">
              <a:latin typeface="Consolas"/>
              <a:cs typeface="Consolas"/>
            </a:endParaRPr>
          </a:p>
          <a:p>
            <a:pPr marL="988694" marR="1957070">
              <a:lnSpc>
                <a:spcPts val="1650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3F3F3"/>
                </a:solidFill>
                <a:latin typeface="Consolas"/>
                <a:cs typeface="Consolas"/>
              </a:rPr>
              <a:t>demo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path: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dist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0" y="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45123" y="2213511"/>
            <a:ext cx="34867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202729"/>
                </a:solidFill>
                <a:latin typeface="Proxima Nova Rg"/>
                <a:cs typeface="Proxima Nova Rg"/>
              </a:rPr>
              <a:t>Workﬂow</a:t>
            </a:r>
            <a:r>
              <a:rPr dirty="0" sz="3600" spc="-155" b="1">
                <a:solidFill>
                  <a:srgbClr val="202729"/>
                </a:solidFill>
                <a:latin typeface="Proxima Nova Rg"/>
                <a:cs typeface="Proxima Nova Rg"/>
              </a:rPr>
              <a:t> </a:t>
            </a:r>
            <a:r>
              <a:rPr dirty="0" sz="3600" spc="-10" b="1">
                <a:solidFill>
                  <a:srgbClr val="202729"/>
                </a:solidFill>
                <a:latin typeface="Proxima Nova Rg"/>
                <a:cs typeface="Proxima Nova Rg"/>
              </a:rPr>
              <a:t>Events</a:t>
            </a:r>
            <a:endParaRPr sz="3600">
              <a:latin typeface="Proxima Nova Rg"/>
              <a:cs typeface="Proxima Nova Rg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7175" y="687937"/>
            <a:ext cx="1978025" cy="448309"/>
          </a:xfrm>
          <a:prstGeom prst="rect"/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>
                <a:solidFill>
                  <a:srgbClr val="4BA173"/>
                </a:solidFill>
                <a:latin typeface="Consolas"/>
                <a:cs typeface="Consolas"/>
              </a:rPr>
              <a:t>name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4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My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CI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Workflow </a:t>
            </a:r>
            <a:r>
              <a:rPr dirty="0" sz="1400" spc="-25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12399" y="1107037"/>
            <a:ext cx="1490345" cy="2124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push: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branches:</a:t>
            </a:r>
            <a:endParaRPr sz="1400">
              <a:latin typeface="Consolas"/>
              <a:cs typeface="Consolas"/>
            </a:endParaRPr>
          </a:p>
          <a:p>
            <a:pPr marL="598170" indent="-195580">
              <a:lnSpc>
                <a:spcPts val="1650"/>
              </a:lnSpc>
              <a:buClr>
                <a:srgbClr val="4BA173"/>
              </a:buClr>
              <a:buChar char="-"/>
              <a:tabLst>
                <a:tab pos="598170" algn="l"/>
              </a:tabLst>
            </a:pP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master</a:t>
            </a:r>
            <a:endParaRPr sz="1400">
              <a:latin typeface="Consolas"/>
              <a:cs typeface="Consolas"/>
            </a:endParaRPr>
          </a:p>
          <a:p>
            <a:pPr marL="207645" marR="5715" indent="390525">
              <a:lnSpc>
                <a:spcPts val="1650"/>
              </a:lnSpc>
              <a:spcBef>
                <a:spcPts val="65"/>
              </a:spcBef>
              <a:buClr>
                <a:srgbClr val="4BA173"/>
              </a:buClr>
              <a:buChar char="-"/>
              <a:tabLst>
                <a:tab pos="598170" algn="l"/>
              </a:tabLst>
            </a:pP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release/*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tags:</a:t>
            </a:r>
            <a:endParaRPr sz="1400">
              <a:latin typeface="Consolas"/>
              <a:cs typeface="Consolas"/>
            </a:endParaRPr>
          </a:p>
          <a:p>
            <a:pPr algn="ctr" marL="12700" marR="200660" indent="97790">
              <a:lnSpc>
                <a:spcPts val="1650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v1.*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pull_request: branches:</a:t>
            </a:r>
            <a:endParaRPr sz="1400">
              <a:latin typeface="Consolas"/>
              <a:cs typeface="Consolas"/>
            </a:endParaRPr>
          </a:p>
          <a:p>
            <a:pPr marL="12700" marR="492759" indent="585470">
              <a:lnSpc>
                <a:spcPts val="1650"/>
              </a:lnSpc>
              <a:buClr>
                <a:srgbClr val="4BA173"/>
              </a:buClr>
              <a:buChar char="-"/>
              <a:tabLst>
                <a:tab pos="598170" algn="l"/>
              </a:tabLst>
            </a:pP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main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schedule: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17175" y="3202537"/>
            <a:ext cx="2369820" cy="6578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07645" marR="5080" indent="194945">
              <a:lnSpc>
                <a:spcPts val="1650"/>
              </a:lnSpc>
              <a:spcBef>
                <a:spcPts val="180"/>
              </a:spcBef>
              <a:tabLst>
                <a:tab pos="1282700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-</a:t>
            </a:r>
            <a:r>
              <a:rPr dirty="0" sz="1400" spc="-1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cron: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	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'0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0</a:t>
            </a:r>
            <a:r>
              <a:rPr dirty="0" sz="14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  <a:r>
              <a:rPr dirty="0" sz="14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  <a:r>
              <a:rPr dirty="0" sz="14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Consolas"/>
                <a:cs typeface="Consolas"/>
              </a:rPr>
              <a:t>*'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workflow_dispatch: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00"/>
              </a:lnSpc>
            </a:pPr>
            <a:r>
              <a:rPr dirty="0" sz="1400" spc="-25" b="1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0" y="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55435" y="2213511"/>
            <a:ext cx="30657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202729"/>
                </a:solidFill>
                <a:latin typeface="Proxima Nova Rg"/>
                <a:cs typeface="Proxima Nova Rg"/>
              </a:rPr>
              <a:t>Workﬂow</a:t>
            </a:r>
            <a:r>
              <a:rPr dirty="0" sz="3600" spc="-145" b="1">
                <a:solidFill>
                  <a:srgbClr val="202729"/>
                </a:solidFill>
                <a:latin typeface="Proxima Nova Rg"/>
                <a:cs typeface="Proxima Nova Rg"/>
              </a:rPr>
              <a:t> </a:t>
            </a:r>
            <a:r>
              <a:rPr dirty="0" sz="3600" spc="-20" b="1">
                <a:solidFill>
                  <a:srgbClr val="202729"/>
                </a:solidFill>
                <a:latin typeface="Proxima Nova Rg"/>
                <a:cs typeface="Proxima Nova Rg"/>
              </a:rPr>
              <a:t>Jobs</a:t>
            </a:r>
            <a:endParaRPr sz="3600">
              <a:latin typeface="Proxima Nova Rg"/>
              <a:cs typeface="Proxima Nova Rg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7175" y="687937"/>
            <a:ext cx="1978025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BA173"/>
                </a:solidFill>
                <a:latin typeface="Consolas"/>
                <a:cs typeface="Consolas"/>
              </a:rPr>
              <a:t>name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4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My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CI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Workflow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17175" y="897487"/>
            <a:ext cx="4029075" cy="338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jobs: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build:</a:t>
            </a:r>
            <a:endParaRPr sz="1400">
              <a:latin typeface="Consolas"/>
              <a:cs typeface="Consolas"/>
            </a:endParaRPr>
          </a:p>
          <a:p>
            <a:pPr marL="402590" marR="1567815">
              <a:lnSpc>
                <a:spcPts val="1650"/>
              </a:lnSpc>
              <a:spcBef>
                <a:spcPts val="65"/>
              </a:spcBef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runs-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ubuntu-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20.04 steps:</a:t>
            </a:r>
            <a:endParaRPr sz="1400">
              <a:latin typeface="Consolas"/>
              <a:cs typeface="Consolas"/>
            </a:endParaRPr>
          </a:p>
          <a:p>
            <a:pPr marL="793115" marR="785495" indent="-195580">
              <a:lnSpc>
                <a:spcPts val="1650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Clone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repository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actions/checkout@v2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585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3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Set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up</a:t>
            </a:r>
            <a:r>
              <a:rPr dirty="0" sz="14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Node.js</a:t>
            </a:r>
            <a:endParaRPr sz="1400">
              <a:latin typeface="Consolas"/>
              <a:cs typeface="Consolas"/>
            </a:endParaRPr>
          </a:p>
          <a:p>
            <a:pPr marL="793115">
              <a:lnSpc>
                <a:spcPts val="1650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actions/setup-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node@v2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650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and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endParaRPr sz="1400">
              <a:latin typeface="Consolas"/>
              <a:cs typeface="Consolas"/>
            </a:endParaRPr>
          </a:p>
          <a:p>
            <a:pPr marL="207645" marR="5080" indent="585470">
              <a:lnSpc>
                <a:spcPts val="1650"/>
              </a:lnSpc>
              <a:spcBef>
                <a:spcPts val="65"/>
              </a:spcBef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run:</a:t>
            </a:r>
            <a:r>
              <a:rPr dirty="0" sz="1400" spc="-40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install</a:t>
            </a:r>
            <a:r>
              <a:rPr dirty="0" sz="14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&amp;&amp;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4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build 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deliver:</a:t>
            </a:r>
            <a:endParaRPr sz="1400">
              <a:latin typeface="Consolas"/>
              <a:cs typeface="Consolas"/>
            </a:endParaRPr>
          </a:p>
          <a:p>
            <a:pPr marL="402590" marR="1567815">
              <a:lnSpc>
                <a:spcPts val="1650"/>
              </a:lnSpc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runs-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ubuntu-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20.04 steps:</a:t>
            </a:r>
            <a:endParaRPr sz="1400">
              <a:latin typeface="Consolas"/>
              <a:cs typeface="Consolas"/>
            </a:endParaRPr>
          </a:p>
          <a:p>
            <a:pPr marL="793115" marR="1273810" indent="-195580">
              <a:lnSpc>
                <a:spcPts val="1650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40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Push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to</a:t>
            </a:r>
            <a:r>
              <a:rPr dirty="0" sz="14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remote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run:</a:t>
            </a:r>
            <a:r>
              <a:rPr dirty="0" sz="1400" spc="-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some-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command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72000" y="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60794" y="1937286"/>
            <a:ext cx="3255645" cy="1126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400050" marR="5080" indent="-387985">
              <a:lnSpc>
                <a:spcPct val="100699"/>
              </a:lnSpc>
              <a:spcBef>
                <a:spcPts val="70"/>
              </a:spcBef>
            </a:pPr>
            <a:r>
              <a:rPr dirty="0" sz="3600" b="1">
                <a:solidFill>
                  <a:srgbClr val="202729"/>
                </a:solidFill>
                <a:latin typeface="Proxima Nova Rg"/>
                <a:cs typeface="Proxima Nova Rg"/>
              </a:rPr>
              <a:t>Workﬂow</a:t>
            </a:r>
            <a:r>
              <a:rPr dirty="0" sz="3600" spc="-145" b="1">
                <a:solidFill>
                  <a:srgbClr val="202729"/>
                </a:solidFill>
                <a:latin typeface="Proxima Nova Rg"/>
                <a:cs typeface="Proxima Nova Rg"/>
              </a:rPr>
              <a:t> </a:t>
            </a:r>
            <a:r>
              <a:rPr dirty="0" sz="3600" spc="-20" b="1">
                <a:solidFill>
                  <a:srgbClr val="202729"/>
                </a:solidFill>
                <a:latin typeface="Proxima Nova Rg"/>
                <a:cs typeface="Proxima Nova Rg"/>
              </a:rPr>
              <a:t>Steps </a:t>
            </a:r>
            <a:r>
              <a:rPr dirty="0" sz="3600" b="1">
                <a:solidFill>
                  <a:srgbClr val="202729"/>
                </a:solidFill>
                <a:latin typeface="Proxima Nova Rg"/>
                <a:cs typeface="Proxima Nova Rg"/>
              </a:rPr>
              <a:t>and</a:t>
            </a:r>
            <a:r>
              <a:rPr dirty="0" sz="3600" spc="-65" b="1">
                <a:solidFill>
                  <a:srgbClr val="202729"/>
                </a:solidFill>
                <a:latin typeface="Proxima Nova Rg"/>
                <a:cs typeface="Proxima Nova Rg"/>
              </a:rPr>
              <a:t> </a:t>
            </a:r>
            <a:r>
              <a:rPr dirty="0" sz="3600" spc="-10" b="1">
                <a:solidFill>
                  <a:srgbClr val="202729"/>
                </a:solidFill>
                <a:latin typeface="Proxima Nova Rg"/>
                <a:cs typeface="Proxima Nova Rg"/>
              </a:rPr>
              <a:t>Actions</a:t>
            </a:r>
            <a:endParaRPr sz="3600">
              <a:latin typeface="Proxima Nova Rg"/>
              <a:cs typeface="Proxima Nova Rg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7175" y="687937"/>
            <a:ext cx="1978025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BA173"/>
                </a:solidFill>
                <a:latin typeface="Consolas"/>
                <a:cs typeface="Consolas"/>
              </a:rPr>
              <a:t>name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r>
              <a:rPr dirty="0" sz="14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My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FFFFFF"/>
                </a:solidFill>
                <a:latin typeface="Consolas"/>
                <a:cs typeface="Consolas"/>
              </a:rPr>
              <a:t>CI</a:t>
            </a:r>
            <a:r>
              <a:rPr dirty="0" sz="14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nsolas"/>
                <a:cs typeface="Consolas"/>
              </a:rPr>
              <a:t>Workflow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17175" y="897487"/>
            <a:ext cx="3833495" cy="3382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0"/>
              </a:lnSpc>
            </a:pP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jobs: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650"/>
              </a:lnSpc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build-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linux:</a:t>
            </a:r>
            <a:endParaRPr sz="1400">
              <a:latin typeface="Consolas"/>
              <a:cs typeface="Consolas"/>
            </a:endParaRPr>
          </a:p>
          <a:p>
            <a:pPr marL="402590" marR="1372235">
              <a:lnSpc>
                <a:spcPts val="1650"/>
              </a:lnSpc>
              <a:spcBef>
                <a:spcPts val="65"/>
              </a:spcBef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runs-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ubuntu-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20.04 steps: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585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3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Set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up</a:t>
            </a:r>
            <a:r>
              <a:rPr dirty="0" sz="14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Node.js</a:t>
            </a:r>
            <a:endParaRPr sz="1400">
              <a:latin typeface="Consolas"/>
              <a:cs typeface="Consolas"/>
            </a:endParaRPr>
          </a:p>
          <a:p>
            <a:pPr marL="793115">
              <a:lnSpc>
                <a:spcPts val="1650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actions/setup-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node@v2</a:t>
            </a:r>
            <a:endParaRPr sz="1400">
              <a:latin typeface="Consolas"/>
              <a:cs typeface="Consolas"/>
            </a:endParaRPr>
          </a:p>
          <a:p>
            <a:pPr marL="793115" marR="1273810" indent="-195580">
              <a:lnSpc>
                <a:spcPts val="1650"/>
              </a:lnSpc>
              <a:spcBef>
                <a:spcPts val="65"/>
              </a:spcBef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4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commands 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run:</a:t>
            </a:r>
            <a:r>
              <a:rPr dirty="0" sz="1400" spc="-3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4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endParaRPr sz="1400">
              <a:latin typeface="Consolas"/>
              <a:cs typeface="Consolas"/>
            </a:endParaRPr>
          </a:p>
          <a:p>
            <a:pPr marL="207645">
              <a:lnSpc>
                <a:spcPts val="1585"/>
              </a:lnSpc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build-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windows:</a:t>
            </a:r>
            <a:endParaRPr sz="1400">
              <a:latin typeface="Consolas"/>
              <a:cs typeface="Consolas"/>
            </a:endParaRPr>
          </a:p>
          <a:p>
            <a:pPr marL="402590" marR="1177290">
              <a:lnSpc>
                <a:spcPts val="1650"/>
              </a:lnSpc>
              <a:spcBef>
                <a:spcPts val="65"/>
              </a:spcBef>
            </a:pP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runs-</a:t>
            </a: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on:</a:t>
            </a:r>
            <a:r>
              <a:rPr dirty="0" sz="1400" spc="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4BA173"/>
                </a:solidFill>
                <a:latin typeface="Consolas"/>
                <a:cs typeface="Consolas"/>
              </a:rPr>
              <a:t>windows-</a:t>
            </a:r>
            <a:r>
              <a:rPr dirty="0" sz="1400" spc="-10" b="1">
                <a:solidFill>
                  <a:srgbClr val="4BA173"/>
                </a:solidFill>
                <a:latin typeface="Consolas"/>
                <a:cs typeface="Consolas"/>
              </a:rPr>
              <a:t>latest steps: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585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3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Set</a:t>
            </a:r>
            <a:r>
              <a:rPr dirty="0" sz="1400" spc="-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up</a:t>
            </a:r>
            <a:r>
              <a:rPr dirty="0" sz="14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.NET</a:t>
            </a:r>
            <a:endParaRPr sz="1400">
              <a:latin typeface="Consolas"/>
              <a:cs typeface="Consolas"/>
            </a:endParaRPr>
          </a:p>
          <a:p>
            <a:pPr marL="793115">
              <a:lnSpc>
                <a:spcPts val="1650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uses:</a:t>
            </a:r>
            <a:r>
              <a:rPr dirty="0" sz="1400" spc="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Consolas"/>
                <a:cs typeface="Consolas"/>
              </a:rPr>
              <a:t>actions/setup-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dotnet@v1</a:t>
            </a:r>
            <a:endParaRPr sz="1400">
              <a:latin typeface="Consolas"/>
              <a:cs typeface="Consolas"/>
            </a:endParaRPr>
          </a:p>
          <a:p>
            <a:pPr marL="793115" indent="-194945">
              <a:lnSpc>
                <a:spcPts val="1650"/>
              </a:lnSpc>
              <a:buChar char="-"/>
              <a:tabLst>
                <a:tab pos="793115" algn="l"/>
              </a:tabLst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name:</a:t>
            </a:r>
            <a:r>
              <a:rPr dirty="0" sz="1400" spc="-4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Run</a:t>
            </a:r>
            <a:r>
              <a:rPr dirty="0" sz="14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commands</a:t>
            </a:r>
            <a:endParaRPr sz="1400">
              <a:latin typeface="Consolas"/>
              <a:cs typeface="Consolas"/>
            </a:endParaRPr>
          </a:p>
          <a:p>
            <a:pPr marL="793115">
              <a:lnSpc>
                <a:spcPts val="1664"/>
              </a:lnSpc>
            </a:pPr>
            <a:r>
              <a:rPr dirty="0" sz="1400" b="1">
                <a:solidFill>
                  <a:srgbClr val="4BA173"/>
                </a:solidFill>
                <a:latin typeface="Consolas"/>
                <a:cs typeface="Consolas"/>
              </a:rPr>
              <a:t>run:</a:t>
            </a:r>
            <a:r>
              <a:rPr dirty="0" sz="1400" spc="-55" b="1">
                <a:solidFill>
                  <a:srgbClr val="4BA173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dotnet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nsolas"/>
                <a:cs typeface="Consolas"/>
              </a:rPr>
              <a:t>build</a:t>
            </a:r>
            <a:r>
              <a:rPr dirty="0" sz="14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nsolas"/>
                <a:cs typeface="Consolas"/>
              </a:rPr>
              <a:t>myawesomeproj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3275" y="1727073"/>
            <a:ext cx="153289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0" b="1">
                <a:solidFill>
                  <a:srgbClr val="202729"/>
                </a:solidFill>
                <a:latin typeface="Proxima Nova Rg"/>
                <a:cs typeface="Proxima Nova Rg"/>
              </a:rPr>
              <a:t>Demo</a:t>
            </a:r>
            <a:endParaRPr sz="4400">
              <a:latin typeface="Proxima Nova Rg"/>
              <a:cs typeface="Proxima Nova Rg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3275" y="3073273"/>
            <a:ext cx="54768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202729"/>
                </a:solidFill>
                <a:latin typeface="Proxima Nova Rg"/>
                <a:cs typeface="Proxima Nova Rg"/>
                <a:hlinkClick r:id="rId2"/>
              </a:rPr>
              <a:t>https://github.com/beacloudpro/github-cicd-</a:t>
            </a:r>
            <a:r>
              <a:rPr dirty="0" sz="1900" spc="-20" b="1">
                <a:solidFill>
                  <a:srgbClr val="202729"/>
                </a:solidFill>
                <a:latin typeface="Proxima Nova Rg"/>
                <a:cs typeface="Proxima Nova Rg"/>
                <a:hlinkClick r:id="rId2"/>
              </a:rPr>
              <a:t>demo</a:t>
            </a:r>
            <a:endParaRPr sz="1900">
              <a:latin typeface="Proxima Nova Rg"/>
              <a:cs typeface="Proxima Nova Rg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18450" y="2161794"/>
            <a:ext cx="8769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1">
                <a:solidFill>
                  <a:srgbClr val="202729"/>
                </a:solidFill>
                <a:latin typeface="Proxima Nova Rg"/>
                <a:cs typeface="Proxima Nova Rg"/>
              </a:rPr>
              <a:t>Q&amp;A</a:t>
            </a:r>
            <a:endParaRPr sz="3200">
              <a:latin typeface="Proxima Nova Rg"/>
              <a:cs typeface="Proxima Nova Rg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755" y="335756"/>
            <a:ext cx="4524300" cy="48077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2025-06-23T00:02:30Z</dcterms:created>
  <dcterms:modified xsi:type="dcterms:W3CDTF">2025-06-23T00:02:30Z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2025-06-23T00:00:00Z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2025-06-23T00:00:00Z</vt:filetime>
  </property>
</Properties>
</file>