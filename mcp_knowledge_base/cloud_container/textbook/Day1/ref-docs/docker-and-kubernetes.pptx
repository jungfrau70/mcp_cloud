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61" r:id="rId3"/>
    <p:sldId id="284" r:id="rId4"/>
    <p:sldId id="280" r:id="rId5"/>
    <p:sldId id="308" r:id="rId6"/>
    <p:sldId id="274" r:id="rId7"/>
    <p:sldId id="269" r:id="rId8"/>
    <p:sldId id="275" r:id="rId9"/>
    <p:sldId id="273" r:id="rId10"/>
    <p:sldId id="279" r:id="rId11"/>
    <p:sldId id="286" r:id="rId12"/>
    <p:sldId id="297" r:id="rId13"/>
    <p:sldId id="291" r:id="rId14"/>
    <p:sldId id="294" r:id="rId15"/>
    <p:sldId id="306" r:id="rId16"/>
    <p:sldId id="311" r:id="rId17"/>
    <p:sldId id="307" r:id="rId18"/>
    <p:sldId id="295" r:id="rId19"/>
    <p:sldId id="293" r:id="rId20"/>
    <p:sldId id="281" r:id="rId21"/>
    <p:sldId id="310" r:id="rId22"/>
    <p:sldId id="309" r:id="rId23"/>
    <p:sldId id="320" r:id="rId24"/>
    <p:sldId id="276" r:id="rId25"/>
    <p:sldId id="315" r:id="rId26"/>
    <p:sldId id="312" r:id="rId27"/>
    <p:sldId id="317" r:id="rId28"/>
    <p:sldId id="324" r:id="rId29"/>
    <p:sldId id="326" r:id="rId30"/>
    <p:sldId id="277" r:id="rId31"/>
    <p:sldId id="321" r:id="rId32"/>
    <p:sldId id="325" r:id="rId33"/>
    <p:sldId id="260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0000"/>
    <a:srgbClr val="E14C3A"/>
    <a:srgbClr val="F6B500"/>
    <a:srgbClr val="387FF8"/>
    <a:srgbClr val="DE402D"/>
    <a:srgbClr val="009D54"/>
    <a:srgbClr val="AB3DB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2"/>
    <p:restoredTop sz="86697"/>
  </p:normalViewPr>
  <p:slideViewPr>
    <p:cSldViewPr snapToGrid="0" snapToObjects="1">
      <p:cViewPr>
        <p:scale>
          <a:sx n="125" d="100"/>
          <a:sy n="125" d="100"/>
        </p:scale>
        <p:origin x="576" y="42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E90D8-13E6-5543-BF5B-81069182E54C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C8C38-D388-EE45-9C3F-A37927DBEE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933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5818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298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3543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0907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2838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1437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3176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279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428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9106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1493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8412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6968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839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0965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A486F-3EDF-1143-9E59-AAA3CE96FC71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8512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4218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4144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0715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1065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53437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35801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A486F-3EDF-1143-9E59-AAA3CE96FC71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6686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8C38-D388-EE45-9C3F-A37927DBEE55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277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smtClean="0"/>
              <a:t>마스터 부제목 스타일 편집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1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8914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838200" y="992459"/>
            <a:ext cx="10515600" cy="5184504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A034701-5318-5C45-BD76-DAA92925E43A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6A1C96-7FD6-794C-8CE5-F91C127B82E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84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79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8914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9" name="내용 개체 틀 2"/>
          <p:cNvSpPr>
            <a:spLocks noGrp="1"/>
          </p:cNvSpPr>
          <p:nvPr>
            <p:ph sz="half" idx="1"/>
          </p:nvPr>
        </p:nvSpPr>
        <p:spPr>
          <a:xfrm>
            <a:off x="838200" y="992459"/>
            <a:ext cx="5181600" cy="5184504"/>
          </a:xfrm>
        </p:spPr>
        <p:txBody>
          <a:bodyPr/>
          <a:lstStyle/>
          <a:p>
            <a:pPr lvl="0"/>
            <a:r>
              <a:rPr kumimoji="1" lang="ko-KR" altLang="en-US" dirty="0" smtClean="0"/>
              <a:t>마스터 텍스트 스타일을 편집하려면 클릭</a:t>
            </a:r>
          </a:p>
          <a:p>
            <a:pPr lvl="1"/>
            <a:r>
              <a:rPr kumimoji="1" lang="ko-KR" altLang="en-US" dirty="0" smtClean="0"/>
              <a:t>두 번째 수준</a:t>
            </a:r>
          </a:p>
          <a:p>
            <a:pPr lvl="2"/>
            <a:r>
              <a:rPr kumimoji="1" lang="ko-KR" altLang="en-US" dirty="0" smtClean="0"/>
              <a:t>세 번째 수준</a:t>
            </a:r>
          </a:p>
          <a:p>
            <a:pPr lvl="3"/>
            <a:r>
              <a:rPr kumimoji="1" lang="ko-KR" altLang="en-US" dirty="0" smtClean="0"/>
              <a:t>네 번째 수준</a:t>
            </a:r>
          </a:p>
          <a:p>
            <a:pPr lvl="4"/>
            <a:r>
              <a:rPr kumimoji="1" lang="ko-KR" altLang="en-US" dirty="0" smtClean="0"/>
              <a:t>다섯 번째 수준</a:t>
            </a:r>
            <a:endParaRPr kumimoji="1" lang="ko-KR" altLang="en-US" dirty="0"/>
          </a:p>
        </p:txBody>
      </p:sp>
      <p:sp>
        <p:nvSpPr>
          <p:cNvPr id="10" name="내용 개체 틀 3"/>
          <p:cNvSpPr>
            <a:spLocks noGrp="1"/>
          </p:cNvSpPr>
          <p:nvPr>
            <p:ph sz="half" idx="2"/>
          </p:nvPr>
        </p:nvSpPr>
        <p:spPr>
          <a:xfrm>
            <a:off x="6172200" y="992459"/>
            <a:ext cx="5181600" cy="5184504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A034701-5318-5C45-BD76-DAA92925E43A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6A1C96-7FD6-794C-8CE5-F91C127B82E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9915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582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710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072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224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298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441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F55C7A-8E84-2744-A8B7-40444E478687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9C843-C3AB-AC4E-A65C-65B7562ED49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457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8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992459"/>
            <a:ext cx="10515600" cy="5184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 smtClean="0"/>
              <a:t>마스터 텍스트 스타일을 편집하려면 클릭</a:t>
            </a:r>
          </a:p>
          <a:p>
            <a:pPr lvl="1"/>
            <a:r>
              <a:rPr kumimoji="1" lang="ko-KR" altLang="en-US" dirty="0" smtClean="0"/>
              <a:t>두 번째 수준</a:t>
            </a:r>
          </a:p>
          <a:p>
            <a:pPr lvl="2"/>
            <a:r>
              <a:rPr kumimoji="1" lang="ko-KR" altLang="en-US" dirty="0" smtClean="0"/>
              <a:t>세 번째 수준</a:t>
            </a:r>
          </a:p>
          <a:p>
            <a:pPr lvl="3"/>
            <a:r>
              <a:rPr kumimoji="1" lang="ko-KR" altLang="en-US" dirty="0" smtClean="0"/>
              <a:t>네 번째 수준</a:t>
            </a:r>
          </a:p>
          <a:p>
            <a:pPr lvl="4"/>
            <a:r>
              <a:rPr kumimoji="1" lang="ko-KR" altLang="en-US" dirty="0" smtClean="0"/>
              <a:t>다섯 번째 수준</a:t>
            </a:r>
            <a:endParaRPr kumimoji="1" lang="ko-KR" altLang="en-US" dirty="0"/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34701-5318-5C45-BD76-DAA92925E43A}" type="datetimeFigureOut">
              <a:rPr kumimoji="1" lang="ko-KR" altLang="en-US" smtClean="0"/>
              <a:t>2017. 3. 2.</a:t>
            </a:fld>
            <a:endParaRPr kumimoji="1"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A1C96-7FD6-794C-8CE5-F91C127B82E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729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4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tif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4" Type="http://schemas.openxmlformats.org/officeDocument/2006/relationships/image" Target="../media/image12.tiff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tif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tif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docker.com/engine/getstarted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lideshare.net/ssuser6bb12d/kubernetes-introduction-71846110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hyperlink" Target="https://kubernetes.io/docs/whatisk8s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tif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tif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2.tif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2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36.tiff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32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b="1" dirty="0" smtClean="0"/>
              <a:t>Docker</a:t>
            </a:r>
            <a:r>
              <a:rPr kumimoji="1" lang="en-US" altLang="ko-KR" dirty="0" smtClean="0"/>
              <a:t> &amp; </a:t>
            </a:r>
            <a:r>
              <a:rPr kumimoji="1" lang="en-US" altLang="ko-KR" b="1" dirty="0" smtClean="0"/>
              <a:t>Kubernetes</a:t>
            </a:r>
            <a:endParaRPr kumimoji="1" lang="ko-KR" altLang="en-US" b="1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762930"/>
            <a:ext cx="9144000" cy="1655762"/>
          </a:xfrm>
        </p:spPr>
        <p:txBody>
          <a:bodyPr/>
          <a:lstStyle/>
          <a:p>
            <a:r>
              <a:rPr kumimoji="1" lang="en-US" altLang="ko-KR" dirty="0" smtClean="0"/>
              <a:t>Dongwon Kim, PhD</a:t>
            </a:r>
          </a:p>
          <a:p>
            <a:r>
              <a:rPr kumimoji="1" lang="en-US" altLang="ko-KR" dirty="0" smtClean="0"/>
              <a:t>Big Data Tech. Lab</a:t>
            </a:r>
          </a:p>
          <a:p>
            <a:r>
              <a:rPr kumimoji="1" lang="en-US" altLang="ko-KR" dirty="0" smtClean="0"/>
              <a:t>SK Telecom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712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 smtClean="0"/>
              <a:t>Big Data Tech. Lab in SK telecom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 smtClean="0"/>
              <a:t>Discovery Group</a:t>
            </a:r>
          </a:p>
          <a:p>
            <a:r>
              <a:rPr kumimoji="1" lang="en-US" altLang="ko-KR" sz="2400" dirty="0" smtClean="0"/>
              <a:t>Predictive Maintenance Group</a:t>
            </a:r>
          </a:p>
          <a:p>
            <a:r>
              <a:rPr kumimoji="1" lang="en-US" altLang="ko-KR" sz="2400" dirty="0" smtClean="0"/>
              <a:t>Manufacturing Solution Group</a:t>
            </a:r>
          </a:p>
          <a:p>
            <a:pPr lvl="1"/>
            <a:r>
              <a:rPr kumimoji="1" lang="en-US" altLang="ko-KR" sz="2000" dirty="0" smtClean="0"/>
              <a:t>Groups making own solutions</a:t>
            </a:r>
          </a:p>
          <a:p>
            <a:endParaRPr kumimoji="1" lang="en-US" altLang="ko-KR" sz="2400" b="1" dirty="0" smtClean="0"/>
          </a:p>
          <a:p>
            <a:r>
              <a:rPr kumimoji="1" lang="en-US" altLang="ko-KR" sz="2400" b="1" dirty="0" smtClean="0"/>
              <a:t>Technology and Architecture Leading Group</a:t>
            </a:r>
          </a:p>
          <a:p>
            <a:pPr lvl="1"/>
            <a:r>
              <a:rPr kumimoji="1" lang="en-US" altLang="ko-KR" sz="2000" dirty="0" smtClean="0"/>
              <a:t>Big data processing engine</a:t>
            </a:r>
          </a:p>
          <a:p>
            <a:pPr lvl="1"/>
            <a:r>
              <a:rPr kumimoji="1" lang="en-US" altLang="ko-KR" sz="2000" dirty="0" smtClean="0"/>
              <a:t>Advanced analytics algorithms</a:t>
            </a:r>
          </a:p>
          <a:p>
            <a:pPr lvl="1"/>
            <a:r>
              <a:rPr kumimoji="1" lang="en-US" altLang="ko-KR" sz="2000" b="1" dirty="0"/>
              <a:t>Systematize </a:t>
            </a:r>
            <a:r>
              <a:rPr kumimoji="1" lang="en-US" altLang="ko-KR" sz="2000" b="1" dirty="0" smtClean="0">
                <a:solidFill>
                  <a:srgbClr val="FF0000"/>
                </a:solidFill>
              </a:rPr>
              <a:t>service deployment</a:t>
            </a:r>
            <a:r>
              <a:rPr kumimoji="1" lang="en-US" altLang="ko-KR" sz="2000" b="1" dirty="0" smtClean="0"/>
              <a:t> </a:t>
            </a:r>
            <a:r>
              <a:rPr kumimoji="1" lang="en-US" altLang="ko-KR" sz="2000" b="1" dirty="0"/>
              <a:t>and </a:t>
            </a:r>
            <a:r>
              <a:rPr kumimoji="1" lang="en-US" altLang="ko-KR" sz="2000" b="1" dirty="0" smtClean="0">
                <a:solidFill>
                  <a:schemeClr val="accent5"/>
                </a:solidFill>
              </a:rPr>
              <a:t>service operation</a:t>
            </a:r>
            <a:r>
              <a:rPr kumimoji="1" lang="en-US" altLang="ko-KR" sz="2000" b="1" dirty="0" smtClean="0"/>
              <a:t> </a:t>
            </a:r>
            <a:r>
              <a:rPr kumimoji="1" lang="en-US" altLang="ko-KR" sz="2000" b="1" dirty="0"/>
              <a:t>on cluster </a:t>
            </a:r>
          </a:p>
          <a:p>
            <a:pPr lvl="2"/>
            <a:r>
              <a:rPr kumimoji="1" lang="en-US" altLang="ko-KR" sz="1800" b="1" dirty="0" smtClean="0">
                <a:solidFill>
                  <a:srgbClr val="FF0000"/>
                </a:solidFill>
              </a:rPr>
              <a:t>Docker </a:t>
            </a:r>
            <a:endParaRPr kumimoji="1" lang="en-US" altLang="ko-KR" sz="1800" dirty="0" smtClean="0">
              <a:solidFill>
                <a:srgbClr val="FF0000"/>
              </a:solidFill>
            </a:endParaRPr>
          </a:p>
          <a:p>
            <a:pPr lvl="2"/>
            <a:r>
              <a:rPr kumimoji="1" lang="en-US" altLang="ko-KR" sz="1800" b="1" dirty="0" smtClean="0">
                <a:solidFill>
                  <a:schemeClr val="accent5"/>
                </a:solidFill>
              </a:rPr>
              <a:t>Kubernetes</a:t>
            </a:r>
            <a:endParaRPr kumimoji="1" lang="en-US" altLang="ko-KR" sz="1800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62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</a:t>
            </a:r>
            <a:r>
              <a:rPr lang="en-US" altLang="ko-KR" dirty="0" smtClean="0"/>
              <a:t>repare for an era of </a:t>
            </a:r>
            <a:r>
              <a:rPr lang="en-US" altLang="ko-KR" b="1" dirty="0" smtClean="0"/>
              <a:t>cloud </a:t>
            </a:r>
            <a:r>
              <a:rPr lang="en-US" altLang="ko-KR" dirty="0" smtClean="0"/>
              <a:t>with </a:t>
            </a:r>
            <a:r>
              <a:rPr lang="en-US" altLang="ko-KR" b="1" dirty="0" smtClean="0"/>
              <a:t>Docker</a:t>
            </a:r>
            <a:r>
              <a:rPr lang="en-US" altLang="ko-KR" dirty="0" smtClean="0"/>
              <a:t> and </a:t>
            </a:r>
            <a:r>
              <a:rPr lang="en-US" altLang="ko-KR" b="1" dirty="0" smtClean="0"/>
              <a:t>Kubernetes</a:t>
            </a:r>
            <a:endParaRPr lang="ko-KR" altLang="en-US" b="1" dirty="0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408" y="4845951"/>
            <a:ext cx="7530369" cy="17467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408" y="1115903"/>
            <a:ext cx="7530369" cy="17467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4" name="텍스트 상자 33"/>
          <p:cNvSpPr txBox="1"/>
          <p:nvPr/>
        </p:nvSpPr>
        <p:spPr>
          <a:xfrm>
            <a:off x="3087295" y="1685677"/>
            <a:ext cx="830404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smtClean="0">
                <a:solidFill>
                  <a:srgbClr val="387FF8"/>
                </a:solidFill>
              </a:rPr>
              <a:t>oracle</a:t>
            </a:r>
            <a:endParaRPr kumimoji="1" lang="ko-KR" altLang="en-US" sz="1400" b="1" dirty="0">
              <a:solidFill>
                <a:srgbClr val="387FF8"/>
              </a:solidFill>
            </a:endParaRPr>
          </a:p>
        </p:txBody>
      </p:sp>
      <p:sp>
        <p:nvSpPr>
          <p:cNvPr id="35" name="텍스트 상자 34"/>
          <p:cNvSpPr txBox="1"/>
          <p:nvPr/>
        </p:nvSpPr>
        <p:spPr>
          <a:xfrm>
            <a:off x="6570719" y="1394372"/>
            <a:ext cx="787944" cy="302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smtClean="0">
                <a:solidFill>
                  <a:srgbClr val="DE402D"/>
                </a:solidFill>
              </a:rPr>
              <a:t>ubuntu</a:t>
            </a:r>
            <a:endParaRPr kumimoji="1" lang="ko-KR" altLang="en-US" sz="1400" b="1" dirty="0">
              <a:solidFill>
                <a:srgbClr val="DE402D"/>
              </a:solidFill>
            </a:endParaRPr>
          </a:p>
        </p:txBody>
      </p:sp>
      <p:sp>
        <p:nvSpPr>
          <p:cNvPr id="36" name="텍스트 상자 35"/>
          <p:cNvSpPr txBox="1"/>
          <p:nvPr/>
        </p:nvSpPr>
        <p:spPr>
          <a:xfrm>
            <a:off x="5235031" y="2332566"/>
            <a:ext cx="742865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smtClean="0">
                <a:solidFill>
                  <a:srgbClr val="F6B500"/>
                </a:solidFill>
              </a:rPr>
              <a:t>cloud</a:t>
            </a:r>
            <a:endParaRPr kumimoji="1" lang="ko-KR" altLang="en-US" sz="1400" b="1" dirty="0">
              <a:solidFill>
                <a:srgbClr val="F6B500"/>
              </a:solidFill>
            </a:endParaRPr>
          </a:p>
        </p:txBody>
      </p:sp>
      <p:sp>
        <p:nvSpPr>
          <p:cNvPr id="51" name="텍스트 상자 50"/>
          <p:cNvSpPr txBox="1"/>
          <p:nvPr/>
        </p:nvSpPr>
        <p:spPr>
          <a:xfrm>
            <a:off x="434276" y="1111582"/>
            <a:ext cx="231411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b="1" dirty="0" smtClean="0"/>
              <a:t>Major technologies</a:t>
            </a:r>
          </a:p>
        </p:txBody>
      </p:sp>
      <p:sp>
        <p:nvSpPr>
          <p:cNvPr id="28" name="텍스트 상자 27"/>
          <p:cNvSpPr txBox="1"/>
          <p:nvPr/>
        </p:nvSpPr>
        <p:spPr>
          <a:xfrm>
            <a:off x="9797847" y="5888688"/>
            <a:ext cx="914952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smtClean="0">
                <a:solidFill>
                  <a:srgbClr val="E14C3A"/>
                </a:solidFill>
              </a:rPr>
              <a:t>Docker</a:t>
            </a:r>
            <a:endParaRPr kumimoji="1" lang="ko-KR" altLang="en-US" sz="1400" b="1" dirty="0">
              <a:solidFill>
                <a:srgbClr val="E14C3A"/>
              </a:solidFill>
            </a:endParaRPr>
          </a:p>
        </p:txBody>
      </p:sp>
      <p:sp>
        <p:nvSpPr>
          <p:cNvPr id="29" name="텍스트 상자 28"/>
          <p:cNvSpPr txBox="1"/>
          <p:nvPr/>
        </p:nvSpPr>
        <p:spPr>
          <a:xfrm>
            <a:off x="9400156" y="6352626"/>
            <a:ext cx="1349941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smtClean="0">
                <a:solidFill>
                  <a:srgbClr val="387FF8"/>
                </a:solidFill>
              </a:rPr>
              <a:t>Kubernetes</a:t>
            </a:r>
            <a:endParaRPr kumimoji="1" lang="ko-KR" altLang="en-US" sz="1400" b="1" dirty="0">
              <a:solidFill>
                <a:srgbClr val="387FF8"/>
              </a:solidFill>
            </a:endParaRPr>
          </a:p>
        </p:txBody>
      </p:sp>
      <p:sp>
        <p:nvSpPr>
          <p:cNvPr id="30" name="텍스트 상자 29"/>
          <p:cNvSpPr txBox="1"/>
          <p:nvPr/>
        </p:nvSpPr>
        <p:spPr>
          <a:xfrm>
            <a:off x="7907089" y="5034701"/>
            <a:ext cx="2062218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smtClean="0">
                <a:solidFill>
                  <a:srgbClr val="7030A0"/>
                </a:solidFill>
              </a:rPr>
              <a:t>Amazon Web Service</a:t>
            </a:r>
          </a:p>
        </p:txBody>
      </p:sp>
      <p:sp>
        <p:nvSpPr>
          <p:cNvPr id="31" name="텍스트 상자 30"/>
          <p:cNvSpPr txBox="1"/>
          <p:nvPr/>
        </p:nvSpPr>
        <p:spPr>
          <a:xfrm>
            <a:off x="5141119" y="5828800"/>
            <a:ext cx="2229515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smtClean="0">
                <a:solidFill>
                  <a:srgbClr val="009D54"/>
                </a:solidFill>
              </a:rPr>
              <a:t>Microsoft azure</a:t>
            </a:r>
            <a:endParaRPr kumimoji="1" lang="ko-KR" altLang="en-US" sz="1400" b="1" dirty="0">
              <a:solidFill>
                <a:srgbClr val="009D54"/>
              </a:solidFill>
            </a:endParaRPr>
          </a:p>
        </p:txBody>
      </p:sp>
      <p:sp>
        <p:nvSpPr>
          <p:cNvPr id="37" name="텍스트 상자 36"/>
          <p:cNvSpPr txBox="1"/>
          <p:nvPr/>
        </p:nvSpPr>
        <p:spPr>
          <a:xfrm>
            <a:off x="328283" y="4835822"/>
            <a:ext cx="2420106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b="1" dirty="0" smtClean="0"/>
              <a:t>Cloud</a:t>
            </a:r>
            <a:r>
              <a:rPr kumimoji="1" lang="en-US" altLang="ko-KR" sz="1600" b="1" dirty="0" smtClean="0">
                <a:solidFill>
                  <a:srgbClr val="F6B500"/>
                </a:solidFill>
              </a:rPr>
              <a:t> </a:t>
            </a:r>
            <a:r>
              <a:rPr kumimoji="1" lang="en-US" altLang="ko-KR" sz="1600" b="1" dirty="0" smtClean="0"/>
              <a:t>technologies</a:t>
            </a:r>
          </a:p>
          <a:p>
            <a:pPr algn="ctr"/>
            <a:r>
              <a:rPr kumimoji="1" lang="en-US" altLang="ko-KR" sz="1400" dirty="0" smtClean="0"/>
              <a:t>for service providers</a:t>
            </a: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408" y="2972120"/>
            <a:ext cx="7530369" cy="17467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3" name="텍스트 상자 52"/>
          <p:cNvSpPr txBox="1"/>
          <p:nvPr/>
        </p:nvSpPr>
        <p:spPr>
          <a:xfrm>
            <a:off x="6523292" y="3092160"/>
            <a:ext cx="803759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err="1" smtClean="0">
                <a:solidFill>
                  <a:srgbClr val="387FF8"/>
                </a:solidFill>
              </a:rPr>
              <a:t>icloud</a:t>
            </a:r>
            <a:endParaRPr kumimoji="1" lang="en-US" altLang="ko-KR" sz="1400" b="1" dirty="0">
              <a:solidFill>
                <a:srgbClr val="387FF8"/>
              </a:solidFill>
            </a:endParaRPr>
          </a:p>
        </p:txBody>
      </p:sp>
      <p:sp>
        <p:nvSpPr>
          <p:cNvPr id="52" name="텍스트 상자 51"/>
          <p:cNvSpPr txBox="1"/>
          <p:nvPr/>
        </p:nvSpPr>
        <p:spPr>
          <a:xfrm>
            <a:off x="907472" y="2963773"/>
            <a:ext cx="1840918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b="1" dirty="0" smtClean="0"/>
              <a:t>Cloud</a:t>
            </a:r>
            <a:r>
              <a:rPr kumimoji="1" lang="en-US" altLang="ko-KR" sz="1600" b="1" dirty="0" smtClean="0">
                <a:solidFill>
                  <a:srgbClr val="F6B500"/>
                </a:solidFill>
              </a:rPr>
              <a:t> </a:t>
            </a:r>
            <a:r>
              <a:rPr kumimoji="1" lang="en-US" altLang="ko-KR" sz="1600" b="1" dirty="0" smtClean="0"/>
              <a:t>services</a:t>
            </a:r>
          </a:p>
          <a:p>
            <a:pPr algn="ctr"/>
            <a:r>
              <a:rPr kumimoji="1" lang="en-US" altLang="ko-KR" sz="1400" dirty="0" smtClean="0"/>
              <a:t>for users</a:t>
            </a:r>
            <a:endParaRPr kumimoji="1" lang="en-US" altLang="ko-KR" sz="1400" dirty="0"/>
          </a:p>
        </p:txBody>
      </p:sp>
      <p:sp>
        <p:nvSpPr>
          <p:cNvPr id="54" name="텍스트 상자 53"/>
          <p:cNvSpPr txBox="1"/>
          <p:nvPr/>
        </p:nvSpPr>
        <p:spPr>
          <a:xfrm>
            <a:off x="9083417" y="4473052"/>
            <a:ext cx="1166997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smtClean="0">
                <a:solidFill>
                  <a:srgbClr val="009D54"/>
                </a:solidFill>
              </a:rPr>
              <a:t>one drive</a:t>
            </a:r>
            <a:endParaRPr kumimoji="1" lang="ko-KR" altLang="en-US" sz="1400" b="1" dirty="0">
              <a:solidFill>
                <a:srgbClr val="009D54"/>
              </a:solidFill>
            </a:endParaRPr>
          </a:p>
        </p:txBody>
      </p:sp>
      <p:sp>
        <p:nvSpPr>
          <p:cNvPr id="55" name="텍스트 상자 54"/>
          <p:cNvSpPr txBox="1"/>
          <p:nvPr/>
        </p:nvSpPr>
        <p:spPr>
          <a:xfrm>
            <a:off x="10215943" y="4186988"/>
            <a:ext cx="1019250" cy="30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 err="1" smtClean="0">
                <a:solidFill>
                  <a:srgbClr val="DE402D"/>
                </a:solidFill>
              </a:rPr>
              <a:t>dropbox</a:t>
            </a:r>
            <a:endParaRPr kumimoji="1" lang="ko-KR" altLang="en-US" sz="1400" b="1" dirty="0">
              <a:solidFill>
                <a:srgbClr val="DE402D"/>
              </a:solidFill>
            </a:endParaRPr>
          </a:p>
        </p:txBody>
      </p:sp>
      <p:sp>
        <p:nvSpPr>
          <p:cNvPr id="56" name="텍스트 상자 55"/>
          <p:cNvSpPr txBox="1"/>
          <p:nvPr/>
        </p:nvSpPr>
        <p:spPr>
          <a:xfrm>
            <a:off x="10301640" y="3409763"/>
            <a:ext cx="847853" cy="514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smtClean="0">
                <a:solidFill>
                  <a:srgbClr val="7030A0"/>
                </a:solidFill>
              </a:rPr>
              <a:t>google</a:t>
            </a:r>
          </a:p>
          <a:p>
            <a:pPr algn="ctr"/>
            <a:r>
              <a:rPr kumimoji="1" lang="en-US" altLang="ko-KR" sz="1400" b="1" dirty="0" smtClean="0">
                <a:solidFill>
                  <a:srgbClr val="7030A0"/>
                </a:solidFill>
              </a:rPr>
              <a:t>drive</a:t>
            </a:r>
            <a:endParaRPr kumimoji="1" lang="ko-KR" altLang="en-US" sz="1400" b="1" dirty="0">
              <a:solidFill>
                <a:srgbClr val="7030A0"/>
              </a:solidFill>
            </a:endParaRPr>
          </a:p>
        </p:txBody>
      </p:sp>
      <p:sp>
        <p:nvSpPr>
          <p:cNvPr id="3" name="텍스트 상자 2"/>
          <p:cNvSpPr txBox="1"/>
          <p:nvPr/>
        </p:nvSpPr>
        <p:spPr>
          <a:xfrm>
            <a:off x="7907090" y="1114879"/>
            <a:ext cx="2432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 smtClean="0"/>
              <a:t>Trend</a:t>
            </a:r>
            <a:endParaRPr kumimoji="1" lang="en-US" altLang="ko-KR" sz="1400" b="1" dirty="0" smtClean="0"/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Buy both SW &amp; HW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>
                <a:sym typeface="Wingdings"/>
              </a:rPr>
              <a:t>Buy HW and DIY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Run your SW on </a:t>
            </a:r>
            <a:r>
              <a:rPr kumimoji="1" lang="en-US" altLang="ko-KR" sz="1400" b="1" dirty="0" smtClean="0"/>
              <a:t>cloud</a:t>
            </a:r>
            <a:endParaRPr kumimoji="1" lang="ko-KR" altLang="en-US" sz="1400" b="1" dirty="0"/>
          </a:p>
        </p:txBody>
      </p:sp>
      <p:sp>
        <p:nvSpPr>
          <p:cNvPr id="4" name="텍스트 상자 3"/>
          <p:cNvSpPr txBox="1"/>
          <p:nvPr/>
        </p:nvSpPr>
        <p:spPr>
          <a:xfrm>
            <a:off x="3094449" y="2957265"/>
            <a:ext cx="2412474" cy="514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 smtClean="0"/>
              <a:t>Ubiquitous cloud services </a:t>
            </a:r>
          </a:p>
          <a:p>
            <a:pPr algn="ctr"/>
            <a:r>
              <a:rPr kumimoji="1" lang="en-US" altLang="ko-KR" sz="1400" b="1" dirty="0" smtClean="0"/>
              <a:t>around us</a:t>
            </a:r>
            <a:endParaRPr kumimoji="1" lang="ko-KR" altLang="en-US" sz="1400" b="1" dirty="0"/>
          </a:p>
        </p:txBody>
      </p:sp>
      <p:sp>
        <p:nvSpPr>
          <p:cNvPr id="22" name="텍스트 상자 21"/>
          <p:cNvSpPr txBox="1"/>
          <p:nvPr/>
        </p:nvSpPr>
        <p:spPr>
          <a:xfrm>
            <a:off x="3125169" y="4844462"/>
            <a:ext cx="2351039" cy="514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 smtClean="0"/>
              <a:t>Enabling technologies</a:t>
            </a:r>
          </a:p>
          <a:p>
            <a:pPr algn="ctr"/>
            <a:r>
              <a:rPr kumimoji="1" lang="en-US" altLang="ko-KR" sz="1400" b="1" dirty="0" smtClean="0"/>
              <a:t>for custom cloud services</a:t>
            </a:r>
            <a:endParaRPr kumimoji="1"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6957826" y="801155"/>
            <a:ext cx="33819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* technology </a:t>
            </a:r>
            <a:r>
              <a:rPr lang="en-US" altLang="ko-KR" sz="1400" dirty="0"/>
              <a:t>trend in USA </a:t>
            </a:r>
            <a:r>
              <a:rPr lang="en-US" altLang="ko-KR" sz="1400" dirty="0" smtClean="0"/>
              <a:t>(2004-2017)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4344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51" grpId="0" animBg="1"/>
      <p:bldP spid="28" grpId="0"/>
      <p:bldP spid="29" grpId="0"/>
      <p:bldP spid="30" grpId="0"/>
      <p:bldP spid="31" grpId="0"/>
      <p:bldP spid="37" grpId="0" animBg="1"/>
      <p:bldP spid="53" grpId="0"/>
      <p:bldP spid="52" grpId="0" animBg="1"/>
      <p:bldP spid="54" grpId="0"/>
      <p:bldP spid="55" grpId="0"/>
      <p:bldP spid="56" grpId="0"/>
      <p:bldP spid="3" grpId="0"/>
      <p:bldP spid="4" grpId="0"/>
      <p:bldP spid="2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Overview &amp; Conclusion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94990"/>
            <a:ext cx="10515600" cy="2332191"/>
          </a:xfrm>
        </p:spPr>
        <p:txBody>
          <a:bodyPr>
            <a:normAutofit/>
          </a:bodyPr>
          <a:lstStyle/>
          <a:p>
            <a:r>
              <a:rPr kumimoji="1" lang="en-US" altLang="ko-KR" b="1" dirty="0" smtClean="0">
                <a:solidFill>
                  <a:srgbClr val="C00000"/>
                </a:solidFill>
              </a:rPr>
              <a:t>Docker</a:t>
            </a:r>
            <a:r>
              <a:rPr kumimoji="1" lang="en-US" altLang="ko-KR" b="1" dirty="0" smtClean="0">
                <a:solidFill>
                  <a:srgbClr val="DE402D"/>
                </a:solidFill>
              </a:rPr>
              <a:t> </a:t>
            </a:r>
            <a:r>
              <a:rPr kumimoji="1" lang="en-US" altLang="ko-KR" dirty="0" smtClean="0"/>
              <a:t>to build </a:t>
            </a:r>
            <a:r>
              <a:rPr kumimoji="1" lang="en-US" altLang="ko-KR" b="1" i="1" u="sng" dirty="0" smtClean="0"/>
              <a:t>portable</a:t>
            </a:r>
            <a:r>
              <a:rPr kumimoji="1" lang="en-US" altLang="ko-KR" dirty="0" smtClean="0"/>
              <a:t> software</a:t>
            </a:r>
          </a:p>
          <a:p>
            <a:pPr lvl="1"/>
            <a:r>
              <a:rPr kumimoji="1" lang="en-US" altLang="ko-KR" sz="2000" dirty="0" smtClean="0"/>
              <a:t>Build your software upon </a:t>
            </a:r>
            <a:r>
              <a:rPr kumimoji="1" lang="en-US" altLang="ko-KR" sz="2000" b="1" dirty="0" smtClean="0">
                <a:solidFill>
                  <a:srgbClr val="C00000"/>
                </a:solidFill>
              </a:rPr>
              <a:t>Docker </a:t>
            </a:r>
          </a:p>
          <a:p>
            <a:pPr lvl="1"/>
            <a:r>
              <a:rPr kumimoji="1" lang="en-US" altLang="ko-KR" sz="2000" dirty="0" smtClean="0"/>
              <a:t>Then distribute it anywhere (even on MS Azure and Amazon Web Service)</a:t>
            </a:r>
          </a:p>
          <a:p>
            <a:r>
              <a:rPr kumimoji="1" lang="en-US" altLang="ko-KR" b="1" dirty="0" smtClean="0">
                <a:solidFill>
                  <a:srgbClr val="387FF8"/>
                </a:solidFill>
              </a:rPr>
              <a:t>Kubernetes</a:t>
            </a:r>
            <a:r>
              <a:rPr kumimoji="1" lang="en-US" altLang="ko-KR" dirty="0" smtClean="0"/>
              <a:t> to orchestrate multiple </a:t>
            </a:r>
            <a:r>
              <a:rPr kumimoji="1" lang="en-US" altLang="ko-KR" b="1" dirty="0" smtClean="0">
                <a:solidFill>
                  <a:srgbClr val="C00000"/>
                </a:solidFill>
              </a:rPr>
              <a:t>Docker</a:t>
            </a:r>
            <a:r>
              <a:rPr kumimoji="1" lang="en-US" altLang="ko-KR" b="1" dirty="0" smtClean="0">
                <a:solidFill>
                  <a:srgbClr val="FF0000"/>
                </a:solidFill>
              </a:rPr>
              <a:t> </a:t>
            </a:r>
            <a:r>
              <a:rPr kumimoji="1" lang="en-US" altLang="ko-KR" dirty="0" smtClean="0"/>
              <a:t>instances</a:t>
            </a:r>
          </a:p>
          <a:p>
            <a:r>
              <a:rPr kumimoji="1" lang="en-US" altLang="ko-KR" dirty="0" smtClean="0"/>
              <a:t>Start using </a:t>
            </a:r>
            <a:r>
              <a:rPr kumimoji="1" lang="en-US" altLang="ko-KR" b="1" dirty="0" smtClean="0">
                <a:solidFill>
                  <a:srgbClr val="C00000"/>
                </a:solidFill>
              </a:rPr>
              <a:t>Docker</a:t>
            </a:r>
            <a:r>
              <a:rPr kumimoji="1" lang="en-US" altLang="ko-KR" dirty="0" smtClean="0">
                <a:solidFill>
                  <a:srgbClr val="C00000"/>
                </a:solidFill>
              </a:rPr>
              <a:t> </a:t>
            </a:r>
            <a:r>
              <a:rPr kumimoji="1" lang="en-US" altLang="ko-KR" dirty="0" smtClean="0"/>
              <a:t>and </a:t>
            </a:r>
            <a:r>
              <a:rPr kumimoji="1" lang="en-US" altLang="ko-KR" b="1" dirty="0" smtClean="0">
                <a:solidFill>
                  <a:srgbClr val="387FF8"/>
                </a:solidFill>
              </a:rPr>
              <a:t>Kubernetes</a:t>
            </a:r>
            <a:r>
              <a:rPr kumimoji="1" lang="en-US" altLang="ko-KR" dirty="0" smtClean="0"/>
              <a:t> before too late!</a:t>
            </a:r>
          </a:p>
          <a:p>
            <a:pPr lvl="1"/>
            <a:r>
              <a:rPr kumimoji="1" lang="en-US" altLang="ko-KR" dirty="0" smtClean="0"/>
              <a:t>Google has been using container technologies more than 10 years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394718" y="3554232"/>
            <a:ext cx="7263407" cy="2669159"/>
            <a:chOff x="838200" y="1177500"/>
            <a:chExt cx="10515600" cy="2439187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1177500"/>
              <a:ext cx="10515600" cy="24391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17" name="텍스트 상자 16"/>
            <p:cNvSpPr txBox="1"/>
            <p:nvPr/>
          </p:nvSpPr>
          <p:spPr>
            <a:xfrm>
              <a:off x="8918018" y="2149333"/>
              <a:ext cx="1070812" cy="414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b="1" dirty="0" smtClean="0">
                  <a:solidFill>
                    <a:srgbClr val="E14C3A"/>
                  </a:solidFill>
                </a:rPr>
                <a:t>Docker</a:t>
              </a:r>
              <a:endParaRPr kumimoji="1" lang="ko-KR" altLang="en-US" b="1" dirty="0">
                <a:solidFill>
                  <a:srgbClr val="E14C3A"/>
                </a:solidFill>
              </a:endParaRPr>
            </a:p>
          </p:txBody>
        </p:sp>
        <p:sp>
          <p:nvSpPr>
            <p:cNvPr id="18" name="텍스트 상자 17"/>
            <p:cNvSpPr txBox="1"/>
            <p:nvPr/>
          </p:nvSpPr>
          <p:spPr>
            <a:xfrm>
              <a:off x="9433258" y="2876007"/>
              <a:ext cx="1601466" cy="414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b="1" dirty="0" smtClean="0">
                  <a:solidFill>
                    <a:srgbClr val="387FF8"/>
                  </a:solidFill>
                </a:rPr>
                <a:t>Kubernetes</a:t>
              </a:r>
              <a:endParaRPr kumimoji="1" lang="ko-KR" altLang="en-US" b="1" dirty="0">
                <a:solidFill>
                  <a:srgbClr val="387FF8"/>
                </a:solidFill>
              </a:endParaRPr>
            </a:p>
          </p:txBody>
        </p:sp>
        <p:sp>
          <p:nvSpPr>
            <p:cNvPr id="19" name="텍스트 상자 18"/>
            <p:cNvSpPr txBox="1"/>
            <p:nvPr/>
          </p:nvSpPr>
          <p:spPr>
            <a:xfrm>
              <a:off x="6180580" y="1540789"/>
              <a:ext cx="1191670" cy="414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b="1" dirty="0" smtClean="0">
                  <a:solidFill>
                    <a:srgbClr val="F6B500"/>
                  </a:solidFill>
                </a:rPr>
                <a:t>Hadoop</a:t>
              </a: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222" y="3576422"/>
            <a:ext cx="3878343" cy="2646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직사각형 5"/>
          <p:cNvSpPr/>
          <p:nvPr/>
        </p:nvSpPr>
        <p:spPr>
          <a:xfrm>
            <a:off x="8106934" y="6253532"/>
            <a:ext cx="34140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ko-KR" sz="1600" b="1" dirty="0"/>
              <a:t>The Enterprise IT Adoption Cycle</a:t>
            </a:r>
            <a:endParaRPr lang="ko-KR" altLang="en-US" sz="1600" b="1" dirty="0"/>
          </a:p>
        </p:txBody>
      </p:sp>
      <p:sp>
        <p:nvSpPr>
          <p:cNvPr id="13" name="텍스트 상자 12"/>
          <p:cNvSpPr txBox="1"/>
          <p:nvPr/>
        </p:nvSpPr>
        <p:spPr>
          <a:xfrm>
            <a:off x="1456270" y="6243269"/>
            <a:ext cx="5140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b="1" dirty="0" smtClean="0"/>
              <a:t>Popularity of </a:t>
            </a:r>
            <a:r>
              <a:rPr kumimoji="1" lang="en-US" altLang="ko-KR" sz="1600" b="1" dirty="0" smtClean="0">
                <a:solidFill>
                  <a:srgbClr val="DE402D"/>
                </a:solidFill>
              </a:rPr>
              <a:t>Docker</a:t>
            </a:r>
            <a:r>
              <a:rPr kumimoji="1" lang="en-US" altLang="ko-KR" sz="1600" b="1" dirty="0" smtClean="0"/>
              <a:t> and </a:t>
            </a:r>
            <a:r>
              <a:rPr kumimoji="1" lang="en-US" altLang="ko-KR" sz="1600" b="1" dirty="0" smtClean="0">
                <a:solidFill>
                  <a:srgbClr val="387FF8"/>
                </a:solidFill>
              </a:rPr>
              <a:t>Kubernetes</a:t>
            </a:r>
            <a:endParaRPr kumimoji="1" lang="ko-KR" altLang="en-US" sz="1600" b="1" dirty="0"/>
          </a:p>
        </p:txBody>
      </p:sp>
      <p:cxnSp>
        <p:nvCxnSpPr>
          <p:cNvPr id="12" name="꺾인 연결선[E] 11"/>
          <p:cNvCxnSpPr>
            <a:endCxn id="21" idx="0"/>
          </p:cNvCxnSpPr>
          <p:nvPr/>
        </p:nvCxnSpPr>
        <p:spPr>
          <a:xfrm>
            <a:off x="7297445" y="2743200"/>
            <a:ext cx="3439828" cy="2279073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10487891" y="5022273"/>
            <a:ext cx="498764" cy="187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791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Docker</a:t>
            </a:r>
            <a:endParaRPr kumimoji="1"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smtClean="0"/>
              <a:t>Motivation</a:t>
            </a:r>
          </a:p>
          <a:p>
            <a:r>
              <a:rPr kumimoji="1" lang="en-US" altLang="ko-KR" dirty="0" smtClean="0"/>
              <a:t>Enabling technologies for Docker</a:t>
            </a:r>
          </a:p>
          <a:p>
            <a:r>
              <a:rPr kumimoji="1" lang="en-US" altLang="ko-KR" dirty="0" smtClean="0"/>
              <a:t>How to use Docker</a:t>
            </a:r>
          </a:p>
        </p:txBody>
      </p:sp>
    </p:spTree>
    <p:extLst>
      <p:ext uri="{BB962C8B-B14F-4D97-AF65-F5344CB8AC3E}">
        <p14:creationId xmlns:p14="http://schemas.microsoft.com/office/powerpoint/2010/main" val="123128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 smtClean="0"/>
              <a:t>Docker</a:t>
            </a:r>
            <a:r>
              <a:rPr kumimoji="1" lang="en-US" altLang="ko-KR" dirty="0" smtClean="0"/>
              <a:t> came to save us from the </a:t>
            </a:r>
            <a:r>
              <a:rPr kumimoji="1" lang="en-US" altLang="ko-KR" b="1" dirty="0" smtClean="0"/>
              <a:t>dependency hell</a:t>
            </a:r>
            <a:endParaRPr kumimoji="1"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043404" y="1772915"/>
            <a:ext cx="8105192" cy="4572000"/>
          </a:xfrm>
          <a:prstGeom prst="rect">
            <a:avLst/>
          </a:prstGeom>
        </p:spPr>
      </p:pic>
      <p:sp>
        <p:nvSpPr>
          <p:cNvPr id="5" name="텍스트 상자 4"/>
          <p:cNvSpPr txBox="1"/>
          <p:nvPr/>
        </p:nvSpPr>
        <p:spPr>
          <a:xfrm>
            <a:off x="3470987" y="1311250"/>
            <a:ext cx="153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b="1" dirty="0" smtClean="0"/>
              <a:t>Docker</a:t>
            </a:r>
            <a:endParaRPr kumimoji="1" lang="ko-KR" altLang="en-US" sz="2400" b="1" dirty="0"/>
          </a:p>
        </p:txBody>
      </p:sp>
      <p:sp>
        <p:nvSpPr>
          <p:cNvPr id="6" name="텍스트 상자 5"/>
          <p:cNvSpPr txBox="1"/>
          <p:nvPr/>
        </p:nvSpPr>
        <p:spPr>
          <a:xfrm>
            <a:off x="6668277" y="1311250"/>
            <a:ext cx="3287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b="1" dirty="0" smtClean="0"/>
              <a:t>Dependency hell</a:t>
            </a:r>
            <a:endParaRPr kumimoji="1" lang="ko-KR" altLang="en-US" sz="2400" b="1" dirty="0"/>
          </a:p>
        </p:txBody>
      </p:sp>
      <p:sp>
        <p:nvSpPr>
          <p:cNvPr id="7" name="텍스트 상자 6"/>
          <p:cNvSpPr txBox="1"/>
          <p:nvPr/>
        </p:nvSpPr>
        <p:spPr>
          <a:xfrm>
            <a:off x="4240763" y="5698584"/>
            <a:ext cx="4091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600" b="1" dirty="0" smtClean="0">
                <a:solidFill>
                  <a:schemeClr val="bg1"/>
                </a:solidFill>
              </a:rPr>
              <a:t>Portable software</a:t>
            </a:r>
            <a:endParaRPr kumimoji="1" lang="ko-KR" alt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26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 smtClean="0"/>
              <a:t>Dependency hell</a:t>
            </a:r>
            <a:endParaRPr kumimoji="1" lang="ko-KR" altLang="en-US" dirty="0"/>
          </a:p>
        </p:txBody>
      </p:sp>
      <p:sp>
        <p:nvSpPr>
          <p:cNvPr id="7" name="텍스트 상자 6"/>
          <p:cNvSpPr txBox="1"/>
          <p:nvPr/>
        </p:nvSpPr>
        <p:spPr>
          <a:xfrm>
            <a:off x="1082352" y="1086038"/>
            <a:ext cx="2161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smtClean="0"/>
              <a:t>Development</a:t>
            </a:r>
          </a:p>
          <a:p>
            <a:pPr algn="ctr"/>
            <a:r>
              <a:rPr kumimoji="1" lang="en-US" altLang="ko-KR" dirty="0" smtClean="0"/>
              <a:t>environment</a:t>
            </a:r>
            <a:endParaRPr kumimoji="1" lang="ko-KR" altLang="en-US" dirty="0"/>
          </a:p>
        </p:txBody>
      </p:sp>
      <p:sp>
        <p:nvSpPr>
          <p:cNvPr id="9" name="텍스트 상자 8"/>
          <p:cNvSpPr txBox="1"/>
          <p:nvPr/>
        </p:nvSpPr>
        <p:spPr>
          <a:xfrm>
            <a:off x="5173289" y="1084598"/>
            <a:ext cx="2265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 smtClean="0"/>
              <a:t>Production</a:t>
            </a:r>
          </a:p>
          <a:p>
            <a:pPr algn="ctr"/>
            <a:r>
              <a:rPr kumimoji="1" lang="en-US" altLang="ko-KR" dirty="0" smtClean="0"/>
              <a:t>environment</a:t>
            </a:r>
            <a:endParaRPr kumimoji="1"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8169" y="1735697"/>
            <a:ext cx="2670111" cy="153994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직사각형 16"/>
          <p:cNvSpPr/>
          <p:nvPr/>
        </p:nvSpPr>
        <p:spPr>
          <a:xfrm>
            <a:off x="1302873" y="3558171"/>
            <a:ext cx="1680974" cy="42425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Your program</a:t>
            </a:r>
            <a:endParaRPr kumimoji="1"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232148" y="4689200"/>
            <a:ext cx="3817453" cy="1488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kumimoji="1" lang="ko-KR" altLang="en-US" b="1" dirty="0"/>
          </a:p>
        </p:txBody>
      </p:sp>
      <p:sp>
        <p:nvSpPr>
          <p:cNvPr id="19" name="직사각형 18"/>
          <p:cNvSpPr/>
          <p:nvPr/>
        </p:nvSpPr>
        <p:spPr>
          <a:xfrm>
            <a:off x="455622" y="4944102"/>
            <a:ext cx="1008000" cy="687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program1</a:t>
            </a:r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b="1" dirty="0"/>
          </a:p>
        </p:txBody>
      </p:sp>
      <p:sp>
        <p:nvSpPr>
          <p:cNvPr id="45" name="직사각형 44"/>
          <p:cNvSpPr/>
          <p:nvPr/>
        </p:nvSpPr>
        <p:spPr>
          <a:xfrm>
            <a:off x="1636875" y="4944102"/>
            <a:ext cx="1008000" cy="687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program2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sz="1400" b="1" dirty="0"/>
          </a:p>
        </p:txBody>
      </p:sp>
      <p:sp>
        <p:nvSpPr>
          <p:cNvPr id="46" name="직사각형 45"/>
          <p:cNvSpPr/>
          <p:nvPr/>
        </p:nvSpPr>
        <p:spPr>
          <a:xfrm>
            <a:off x="2818128" y="4944102"/>
            <a:ext cx="1008000" cy="6876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program3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sz="1400" b="1" dirty="0"/>
          </a:p>
        </p:txBody>
      </p:sp>
      <p:cxnSp>
        <p:nvCxnSpPr>
          <p:cNvPr id="48" name="꺾인 연결선[E] 47"/>
          <p:cNvCxnSpPr>
            <a:stCxn id="17" idx="2"/>
            <a:endCxn id="19" idx="0"/>
          </p:cNvCxnSpPr>
          <p:nvPr/>
        </p:nvCxnSpPr>
        <p:spPr>
          <a:xfrm rot="5400000">
            <a:off x="1070651" y="3871393"/>
            <a:ext cx="961680" cy="118373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꺾인 연결선[E] 49"/>
          <p:cNvCxnSpPr>
            <a:stCxn id="17" idx="2"/>
            <a:endCxn id="46" idx="0"/>
          </p:cNvCxnSpPr>
          <p:nvPr/>
        </p:nvCxnSpPr>
        <p:spPr>
          <a:xfrm rot="16200000" flipH="1">
            <a:off x="2251904" y="3873878"/>
            <a:ext cx="961680" cy="117876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17" idx="2"/>
            <a:endCxn id="45" idx="0"/>
          </p:cNvCxnSpPr>
          <p:nvPr/>
        </p:nvCxnSpPr>
        <p:spPr>
          <a:xfrm flipH="1">
            <a:off x="2140875" y="3982422"/>
            <a:ext cx="2485" cy="96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5" name="그림 8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7905" y="1730930"/>
            <a:ext cx="3355910" cy="1544714"/>
          </a:xfrm>
          <a:prstGeom prst="rect">
            <a:avLst/>
          </a:prstGeom>
        </p:spPr>
      </p:pic>
      <p:sp>
        <p:nvSpPr>
          <p:cNvPr id="86" name="직사각형 85"/>
          <p:cNvSpPr/>
          <p:nvPr/>
        </p:nvSpPr>
        <p:spPr>
          <a:xfrm>
            <a:off x="4273075" y="4689198"/>
            <a:ext cx="7660778" cy="14881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kumimoji="1" lang="ko-KR" altLang="en-US" b="1" dirty="0"/>
          </a:p>
        </p:txBody>
      </p:sp>
      <p:sp>
        <p:nvSpPr>
          <p:cNvPr id="123" name="텍스트 상자 122"/>
          <p:cNvSpPr txBox="1"/>
          <p:nvPr/>
        </p:nvSpPr>
        <p:spPr>
          <a:xfrm>
            <a:off x="2140875" y="4051232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dirty="0" smtClean="0"/>
              <a:t>depends on</a:t>
            </a:r>
            <a:endParaRPr kumimoji="1" lang="ko-KR" altLang="en-US" sz="1400" dirty="0"/>
          </a:p>
        </p:txBody>
      </p:sp>
      <p:sp>
        <p:nvSpPr>
          <p:cNvPr id="136" name="직사각형 135"/>
          <p:cNvSpPr/>
          <p:nvPr/>
        </p:nvSpPr>
        <p:spPr>
          <a:xfrm>
            <a:off x="5349208" y="3558171"/>
            <a:ext cx="1680974" cy="42425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Your program</a:t>
            </a:r>
            <a:endParaRPr kumimoji="1" lang="ko-KR" altLang="en-US" dirty="0"/>
          </a:p>
        </p:txBody>
      </p:sp>
      <p:sp>
        <p:nvSpPr>
          <p:cNvPr id="137" name="직사각형 136"/>
          <p:cNvSpPr/>
          <p:nvPr/>
        </p:nvSpPr>
        <p:spPr>
          <a:xfrm>
            <a:off x="4501957" y="4958462"/>
            <a:ext cx="1008000" cy="687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program1</a:t>
            </a:r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sz="1400" b="1" dirty="0"/>
          </a:p>
        </p:txBody>
      </p:sp>
      <p:sp>
        <p:nvSpPr>
          <p:cNvPr id="138" name="직사각형 137"/>
          <p:cNvSpPr/>
          <p:nvPr/>
        </p:nvSpPr>
        <p:spPr>
          <a:xfrm>
            <a:off x="5683210" y="4958462"/>
            <a:ext cx="1008000" cy="687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program2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b="1" dirty="0"/>
          </a:p>
        </p:txBody>
      </p:sp>
      <p:sp>
        <p:nvSpPr>
          <p:cNvPr id="139" name="직사각형 138"/>
          <p:cNvSpPr/>
          <p:nvPr/>
        </p:nvSpPr>
        <p:spPr>
          <a:xfrm>
            <a:off x="6864463" y="4958462"/>
            <a:ext cx="1008000" cy="6876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program3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sz="1400" b="1" dirty="0"/>
          </a:p>
        </p:txBody>
      </p:sp>
      <p:cxnSp>
        <p:nvCxnSpPr>
          <p:cNvPr id="140" name="꺾인 연결선[E] 139"/>
          <p:cNvCxnSpPr/>
          <p:nvPr/>
        </p:nvCxnSpPr>
        <p:spPr>
          <a:xfrm rot="5400000">
            <a:off x="5109806" y="3878573"/>
            <a:ext cx="976040" cy="118373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1" name="꺾인 연결선[E] 140"/>
          <p:cNvCxnSpPr/>
          <p:nvPr/>
        </p:nvCxnSpPr>
        <p:spPr>
          <a:xfrm rot="16200000" flipH="1">
            <a:off x="6291059" y="3881058"/>
            <a:ext cx="976040" cy="117876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2" name="직선 화살표 연결선 141"/>
          <p:cNvCxnSpPr/>
          <p:nvPr/>
        </p:nvCxnSpPr>
        <p:spPr>
          <a:xfrm flipH="1">
            <a:off x="6187210" y="3982422"/>
            <a:ext cx="2485" cy="976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3" name="텍스트 상자 142"/>
          <p:cNvSpPr txBox="1"/>
          <p:nvPr/>
        </p:nvSpPr>
        <p:spPr>
          <a:xfrm>
            <a:off x="6187210" y="4065592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dirty="0" smtClean="0"/>
              <a:t>depends on</a:t>
            </a:r>
            <a:endParaRPr kumimoji="1" lang="ko-KR" altLang="en-US" sz="1400" dirty="0"/>
          </a:p>
        </p:txBody>
      </p:sp>
      <p:cxnSp>
        <p:nvCxnSpPr>
          <p:cNvPr id="156" name="꺾인 연결선[E] 155"/>
          <p:cNvCxnSpPr>
            <a:stCxn id="177" idx="2"/>
            <a:endCxn id="188" idx="0"/>
          </p:cNvCxnSpPr>
          <p:nvPr/>
        </p:nvCxnSpPr>
        <p:spPr>
          <a:xfrm rot="5400000">
            <a:off x="8927768" y="3879124"/>
            <a:ext cx="974979" cy="11836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8" name="텍스트 상자 157"/>
          <p:cNvSpPr txBox="1"/>
          <p:nvPr/>
        </p:nvSpPr>
        <p:spPr>
          <a:xfrm>
            <a:off x="10005883" y="4065592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dirty="0" smtClean="0"/>
              <a:t>depends on</a:t>
            </a:r>
            <a:endParaRPr kumimoji="1" lang="ko-KR" altLang="en-US" sz="1400" dirty="0"/>
          </a:p>
        </p:txBody>
      </p:sp>
      <p:pic>
        <p:nvPicPr>
          <p:cNvPr id="176" name="그림 1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783" y="1190325"/>
            <a:ext cx="3688070" cy="2074540"/>
          </a:xfrm>
          <a:prstGeom prst="rect">
            <a:avLst/>
          </a:prstGeom>
        </p:spPr>
      </p:pic>
      <p:sp>
        <p:nvSpPr>
          <p:cNvPr id="177" name="직사각형 176"/>
          <p:cNvSpPr/>
          <p:nvPr/>
        </p:nvSpPr>
        <p:spPr>
          <a:xfrm>
            <a:off x="8819613" y="3559232"/>
            <a:ext cx="2374984" cy="424251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Customer program</a:t>
            </a:r>
            <a:endParaRPr kumimoji="1" lang="ko-KR" altLang="en-US" dirty="0"/>
          </a:p>
        </p:txBody>
      </p:sp>
      <p:sp>
        <p:nvSpPr>
          <p:cNvPr id="188" name="직사각형 187"/>
          <p:cNvSpPr/>
          <p:nvPr/>
        </p:nvSpPr>
        <p:spPr>
          <a:xfrm>
            <a:off x="8319409" y="4958462"/>
            <a:ext cx="1008000" cy="687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smtClean="0"/>
              <a:t>program1</a:t>
            </a:r>
            <a:endParaRPr kumimoji="1" lang="en-US" altLang="ko-KR" sz="1400" dirty="0" smtClean="0"/>
          </a:p>
          <a:p>
            <a:pPr algn="ctr"/>
            <a:r>
              <a:rPr kumimoji="1" lang="en-US" altLang="ko-KR" b="1" dirty="0" smtClean="0"/>
              <a:t>v1</a:t>
            </a:r>
            <a:endParaRPr kumimoji="1" lang="ko-KR" altLang="en-US" sz="1400" b="1" dirty="0"/>
          </a:p>
        </p:txBody>
      </p:sp>
      <p:sp>
        <p:nvSpPr>
          <p:cNvPr id="189" name="직사각형 188"/>
          <p:cNvSpPr/>
          <p:nvPr/>
        </p:nvSpPr>
        <p:spPr>
          <a:xfrm>
            <a:off x="9500662" y="4958462"/>
            <a:ext cx="1008000" cy="687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program2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v1</a:t>
            </a:r>
            <a:endParaRPr kumimoji="1" lang="ko-KR" altLang="en-US" sz="1400" b="1" dirty="0"/>
          </a:p>
        </p:txBody>
      </p:sp>
      <p:sp>
        <p:nvSpPr>
          <p:cNvPr id="190" name="직사각형 189"/>
          <p:cNvSpPr/>
          <p:nvPr/>
        </p:nvSpPr>
        <p:spPr>
          <a:xfrm>
            <a:off x="10681915" y="4958462"/>
            <a:ext cx="1008000" cy="6876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program3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v1</a:t>
            </a:r>
            <a:endParaRPr kumimoji="1" lang="ko-KR" altLang="en-US" sz="1400" b="1" dirty="0"/>
          </a:p>
        </p:txBody>
      </p:sp>
      <p:cxnSp>
        <p:nvCxnSpPr>
          <p:cNvPr id="193" name="꺾인 연결선[E] 192"/>
          <p:cNvCxnSpPr>
            <a:stCxn id="177" idx="2"/>
            <a:endCxn id="190" idx="0"/>
          </p:cNvCxnSpPr>
          <p:nvPr/>
        </p:nvCxnSpPr>
        <p:spPr>
          <a:xfrm rot="16200000" flipH="1">
            <a:off x="10109021" y="3881567"/>
            <a:ext cx="974979" cy="11788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9" name="직선 화살표 연결선 198"/>
          <p:cNvCxnSpPr>
            <a:stCxn id="177" idx="2"/>
            <a:endCxn id="189" idx="0"/>
          </p:cNvCxnSpPr>
          <p:nvPr/>
        </p:nvCxnSpPr>
        <p:spPr>
          <a:xfrm flipH="1">
            <a:off x="10004662" y="3983483"/>
            <a:ext cx="2443" cy="9749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9" name="텍스트 상자 218"/>
          <p:cNvSpPr txBox="1"/>
          <p:nvPr/>
        </p:nvSpPr>
        <p:spPr>
          <a:xfrm>
            <a:off x="7368463" y="5715670"/>
            <a:ext cx="1368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i="1" dirty="0" smtClean="0">
                <a:solidFill>
                  <a:srgbClr val="FF0000"/>
                </a:solidFill>
              </a:rPr>
              <a:t>conflict!</a:t>
            </a:r>
            <a:endParaRPr kumimoji="1" lang="ko-KR" altLang="en-US" sz="2400" b="1" i="1" dirty="0">
              <a:solidFill>
                <a:srgbClr val="FF0000"/>
              </a:solidFill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1097768" y="6177335"/>
            <a:ext cx="2130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ko-KR" b="1" dirty="0"/>
              <a:t>Package manager</a:t>
            </a:r>
            <a:endParaRPr kumimoji="1" lang="ko-KR" altLang="en-US" b="1" dirty="0"/>
          </a:p>
        </p:txBody>
      </p:sp>
      <p:sp>
        <p:nvSpPr>
          <p:cNvPr id="221" name="직사각형 220"/>
          <p:cNvSpPr/>
          <p:nvPr/>
        </p:nvSpPr>
        <p:spPr>
          <a:xfrm>
            <a:off x="7030182" y="6177335"/>
            <a:ext cx="2130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ko-KR" b="1"/>
              <a:t>Package manager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4823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 animBg="1"/>
      <p:bldP spid="19" grpId="0" animBg="1"/>
      <p:bldP spid="45" grpId="0" animBg="1"/>
      <p:bldP spid="46" grpId="0" animBg="1"/>
      <p:bldP spid="86" grpId="0" animBg="1"/>
      <p:bldP spid="123" grpId="0"/>
      <p:bldP spid="136" grpId="0" animBg="1"/>
      <p:bldP spid="137" grpId="0" animBg="1"/>
      <p:bldP spid="138" grpId="0" animBg="1"/>
      <p:bldP spid="139" grpId="0" animBg="1"/>
      <p:bldP spid="143" grpId="0"/>
      <p:bldP spid="158" grpId="0"/>
      <p:bldP spid="177" grpId="0" animBg="1"/>
      <p:bldP spid="188" grpId="0" animBg="1"/>
      <p:bldP spid="189" grpId="0" animBg="1"/>
      <p:bldP spid="190" grpId="0" animBg="1"/>
      <p:bldP spid="219" grpId="0"/>
      <p:bldP spid="220" grpId="0"/>
      <p:bldP spid="2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Few choices left to you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4579951"/>
            <a:ext cx="10515600" cy="176768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 smtClean="0"/>
              <a:t>Convince your customer (a.k.a. </a:t>
            </a:r>
            <a:r>
              <a:rPr lang="ko-KR" altLang="en-US" sz="2400" dirty="0" smtClean="0"/>
              <a:t>甲</a:t>
            </a:r>
            <a:r>
              <a:rPr kumimoji="1" lang="en-US" altLang="ko-KR" sz="24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 smtClean="0"/>
              <a:t>Install all the dependencies manually (without the package manager)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 smtClean="0"/>
              <a:t>Modify your program to make it depend v1</a:t>
            </a:r>
            <a:endParaRPr kumimoji="1" lang="en-US" altLang="ko-KR" sz="22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48017" y="1104560"/>
            <a:ext cx="5868107" cy="314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4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6606029" y="1139690"/>
            <a:ext cx="4534230" cy="312007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b="1" dirty="0" smtClean="0">
                <a:solidFill>
                  <a:srgbClr val="FF0000"/>
                </a:solidFill>
              </a:rPr>
              <a:t>Docker container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002755" y="2464129"/>
            <a:ext cx="4239975" cy="2374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b="1" dirty="0"/>
              <a:t>Package </a:t>
            </a:r>
            <a:r>
              <a:rPr kumimoji="1" lang="en-US" altLang="ko-KR" b="1" dirty="0" smtClean="0"/>
              <a:t>manager in host OS</a:t>
            </a:r>
            <a:endParaRPr kumimoji="1" lang="ko-KR" altLang="en-US" b="1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Use </a:t>
            </a:r>
            <a:r>
              <a:rPr kumimoji="1" lang="en-US" altLang="ko-KR" b="1" dirty="0" smtClean="0"/>
              <a:t>Docker</a:t>
            </a:r>
            <a:r>
              <a:rPr kumimoji="1" lang="en-US" altLang="ko-KR" dirty="0" smtClean="0"/>
              <a:t> for isolating your application</a:t>
            </a:r>
            <a:endParaRPr kumimoji="1"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919983" y="2464129"/>
            <a:ext cx="3909908" cy="1364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b="1" dirty="0" smtClean="0"/>
              <a:t>Package manager in guest OS</a:t>
            </a:r>
            <a:endParaRPr kumimoji="1" lang="ko-KR" altLang="en-US" b="1" dirty="0"/>
          </a:p>
        </p:txBody>
      </p:sp>
      <p:sp>
        <p:nvSpPr>
          <p:cNvPr id="7" name="직사각형 6"/>
          <p:cNvSpPr/>
          <p:nvPr/>
        </p:nvSpPr>
        <p:spPr>
          <a:xfrm>
            <a:off x="8032949" y="1536858"/>
            <a:ext cx="1680974" cy="42425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Your program</a:t>
            </a:r>
            <a:endParaRPr kumimoji="1"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189684" y="2752054"/>
            <a:ext cx="1008000" cy="687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program1</a:t>
            </a:r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8370937" y="2752054"/>
            <a:ext cx="1008000" cy="687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program2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b="1" dirty="0"/>
          </a:p>
        </p:txBody>
      </p:sp>
      <p:sp>
        <p:nvSpPr>
          <p:cNvPr id="10" name="직사각형 9"/>
          <p:cNvSpPr/>
          <p:nvPr/>
        </p:nvSpPr>
        <p:spPr>
          <a:xfrm>
            <a:off x="9552190" y="2752054"/>
            <a:ext cx="1008000" cy="6876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program3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v2</a:t>
            </a:r>
            <a:endParaRPr kumimoji="1" lang="ko-KR" altLang="en-US" sz="1400" b="1" dirty="0"/>
          </a:p>
        </p:txBody>
      </p:sp>
      <p:cxnSp>
        <p:nvCxnSpPr>
          <p:cNvPr id="11" name="꺾인 연결선[E] 10"/>
          <p:cNvCxnSpPr>
            <a:stCxn id="7" idx="2"/>
            <a:endCxn id="8" idx="0"/>
          </p:cNvCxnSpPr>
          <p:nvPr/>
        </p:nvCxnSpPr>
        <p:spPr>
          <a:xfrm rot="5400000">
            <a:off x="7888088" y="1766705"/>
            <a:ext cx="790945" cy="117975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꺾인 연결선[E] 11"/>
          <p:cNvCxnSpPr>
            <a:stCxn id="7" idx="2"/>
            <a:endCxn id="10" idx="0"/>
          </p:cNvCxnSpPr>
          <p:nvPr/>
        </p:nvCxnSpPr>
        <p:spPr>
          <a:xfrm rot="16200000" flipH="1">
            <a:off x="9069341" y="1765204"/>
            <a:ext cx="790945" cy="11827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7" idx="2"/>
            <a:endCxn id="9" idx="0"/>
          </p:cNvCxnSpPr>
          <p:nvPr/>
        </p:nvCxnSpPr>
        <p:spPr>
          <a:xfrm>
            <a:off x="8873436" y="1961109"/>
            <a:ext cx="1501" cy="7909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텍스트 상자 13"/>
          <p:cNvSpPr txBox="1"/>
          <p:nvPr/>
        </p:nvSpPr>
        <p:spPr>
          <a:xfrm>
            <a:off x="8874937" y="1995561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dirty="0" smtClean="0"/>
              <a:t>depends on</a:t>
            </a:r>
            <a:endParaRPr kumimoji="1" lang="ko-KR" altLang="en-US" sz="1400" dirty="0"/>
          </a:p>
        </p:txBody>
      </p:sp>
      <p:cxnSp>
        <p:nvCxnSpPr>
          <p:cNvPr id="15" name="꺾인 연결선[E] 14"/>
          <p:cNvCxnSpPr>
            <a:stCxn id="18" idx="2"/>
            <a:endCxn id="19" idx="0"/>
          </p:cNvCxnSpPr>
          <p:nvPr/>
        </p:nvCxnSpPr>
        <p:spPr>
          <a:xfrm rot="5400000">
            <a:off x="3136007" y="1730061"/>
            <a:ext cx="794663" cy="11836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텍스트 상자 15"/>
          <p:cNvSpPr txBox="1"/>
          <p:nvPr/>
        </p:nvSpPr>
        <p:spPr>
          <a:xfrm>
            <a:off x="4123964" y="1963294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dirty="0" smtClean="0"/>
              <a:t>depends on</a:t>
            </a:r>
            <a:endParaRPr kumimoji="1" lang="ko-KR" altLang="en-US" sz="1400" dirty="0"/>
          </a:p>
        </p:txBody>
      </p:sp>
      <p:sp>
        <p:nvSpPr>
          <p:cNvPr id="18" name="직사각형 17"/>
          <p:cNvSpPr/>
          <p:nvPr/>
        </p:nvSpPr>
        <p:spPr>
          <a:xfrm>
            <a:off x="2937694" y="1500327"/>
            <a:ext cx="2374984" cy="42425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Customer program</a:t>
            </a:r>
            <a:endParaRPr kumimoji="1"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2437490" y="2719241"/>
            <a:ext cx="1008000" cy="687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smtClean="0"/>
              <a:t>program1</a:t>
            </a:r>
            <a:endParaRPr kumimoji="1" lang="en-US" altLang="ko-KR" sz="1400" dirty="0" smtClean="0"/>
          </a:p>
          <a:p>
            <a:pPr algn="ctr"/>
            <a:r>
              <a:rPr kumimoji="1" lang="en-US" altLang="ko-KR" b="1" dirty="0" smtClean="0"/>
              <a:t>v1</a:t>
            </a:r>
            <a:endParaRPr kumimoji="1" lang="ko-KR" altLang="en-US" sz="1400" b="1" dirty="0"/>
          </a:p>
        </p:txBody>
      </p:sp>
      <p:sp>
        <p:nvSpPr>
          <p:cNvPr id="20" name="직사각형 19"/>
          <p:cNvSpPr/>
          <p:nvPr/>
        </p:nvSpPr>
        <p:spPr>
          <a:xfrm>
            <a:off x="3618743" y="2719241"/>
            <a:ext cx="1008000" cy="687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program2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v1</a:t>
            </a:r>
            <a:endParaRPr kumimoji="1" lang="ko-KR" altLang="en-US" sz="1400" b="1" dirty="0"/>
          </a:p>
        </p:txBody>
      </p:sp>
      <p:sp>
        <p:nvSpPr>
          <p:cNvPr id="21" name="직사각형 20"/>
          <p:cNvSpPr/>
          <p:nvPr/>
        </p:nvSpPr>
        <p:spPr>
          <a:xfrm>
            <a:off x="4799996" y="2719241"/>
            <a:ext cx="1008000" cy="6876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program3</a:t>
            </a:r>
            <a:endParaRPr kumimoji="1" lang="en-US" altLang="ko-KR" sz="1400" dirty="0"/>
          </a:p>
          <a:p>
            <a:pPr algn="ctr"/>
            <a:r>
              <a:rPr kumimoji="1" lang="en-US" altLang="ko-KR" b="1" dirty="0" smtClean="0"/>
              <a:t>v1</a:t>
            </a:r>
            <a:endParaRPr kumimoji="1" lang="ko-KR" altLang="en-US" sz="1400" b="1" dirty="0"/>
          </a:p>
        </p:txBody>
      </p:sp>
      <p:cxnSp>
        <p:nvCxnSpPr>
          <p:cNvPr id="22" name="꺾인 연결선[E] 21"/>
          <p:cNvCxnSpPr>
            <a:stCxn id="18" idx="2"/>
            <a:endCxn id="21" idx="0"/>
          </p:cNvCxnSpPr>
          <p:nvPr/>
        </p:nvCxnSpPr>
        <p:spPr>
          <a:xfrm rot="16200000" flipH="1">
            <a:off x="4317260" y="1732504"/>
            <a:ext cx="794663" cy="11788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8" idx="2"/>
            <a:endCxn id="20" idx="0"/>
          </p:cNvCxnSpPr>
          <p:nvPr/>
        </p:nvCxnSpPr>
        <p:spPr>
          <a:xfrm flipH="1">
            <a:off x="4122743" y="1924578"/>
            <a:ext cx="2443" cy="7946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2937694" y="4995144"/>
            <a:ext cx="8202564" cy="10749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smtClean="0"/>
              <a:t>Host operating system</a:t>
            </a:r>
          </a:p>
          <a:p>
            <a:pPr algn="ctr"/>
            <a:r>
              <a:rPr kumimoji="1" lang="en-US" altLang="ko-KR" sz="1600" dirty="0" smtClean="0"/>
              <a:t>Linux kernel must be </a:t>
            </a:r>
            <a:r>
              <a:rPr kumimoji="1" lang="en-US" altLang="ko-KR" sz="1600" b="1" dirty="0" smtClean="0"/>
              <a:t>≥</a:t>
            </a:r>
            <a:r>
              <a:rPr kumimoji="1" lang="en-US" altLang="ko-KR" sz="1600" dirty="0" smtClean="0"/>
              <a:t>3.10 (such as Ubuntu 14.04 and CentOS 7)</a:t>
            </a:r>
            <a:endParaRPr kumimoji="1" lang="ko-KR" altLang="en-US" sz="1600" dirty="0"/>
          </a:p>
        </p:txBody>
      </p:sp>
      <p:sp>
        <p:nvSpPr>
          <p:cNvPr id="58" name="직사각형 57"/>
          <p:cNvSpPr/>
          <p:nvPr/>
        </p:nvSpPr>
        <p:spPr>
          <a:xfrm>
            <a:off x="6606029" y="4390667"/>
            <a:ext cx="4534229" cy="44812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smtClean="0">
                <a:solidFill>
                  <a:srgbClr val="FF0000"/>
                </a:solidFill>
              </a:rPr>
              <a:t>Docker engine (daemon)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437490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64" name="직사각형 63"/>
          <p:cNvSpPr/>
          <p:nvPr/>
        </p:nvSpPr>
        <p:spPr>
          <a:xfrm>
            <a:off x="2876942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65" name="직사각형 64"/>
          <p:cNvSpPr/>
          <p:nvPr/>
        </p:nvSpPr>
        <p:spPr>
          <a:xfrm>
            <a:off x="2437490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66" name="직사각형 65"/>
          <p:cNvSpPr/>
          <p:nvPr/>
        </p:nvSpPr>
        <p:spPr>
          <a:xfrm>
            <a:off x="2876942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67" name="직사각형 66"/>
          <p:cNvSpPr/>
          <p:nvPr/>
        </p:nvSpPr>
        <p:spPr>
          <a:xfrm>
            <a:off x="3316394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68" name="직사각형 67"/>
          <p:cNvSpPr/>
          <p:nvPr/>
        </p:nvSpPr>
        <p:spPr>
          <a:xfrm>
            <a:off x="3755846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69" name="직사각형 68"/>
          <p:cNvSpPr/>
          <p:nvPr/>
        </p:nvSpPr>
        <p:spPr>
          <a:xfrm>
            <a:off x="3316394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0" name="직사각형 69"/>
          <p:cNvSpPr/>
          <p:nvPr/>
        </p:nvSpPr>
        <p:spPr>
          <a:xfrm>
            <a:off x="3755846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1" name="직사각형 70"/>
          <p:cNvSpPr/>
          <p:nvPr/>
        </p:nvSpPr>
        <p:spPr>
          <a:xfrm>
            <a:off x="4195298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2" name="직사각형 71"/>
          <p:cNvSpPr/>
          <p:nvPr/>
        </p:nvSpPr>
        <p:spPr>
          <a:xfrm>
            <a:off x="4634750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3" name="직사각형 72"/>
          <p:cNvSpPr/>
          <p:nvPr/>
        </p:nvSpPr>
        <p:spPr>
          <a:xfrm>
            <a:off x="4195298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4" name="직사각형 73"/>
          <p:cNvSpPr/>
          <p:nvPr/>
        </p:nvSpPr>
        <p:spPr>
          <a:xfrm>
            <a:off x="4634750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5" name="직사각형 74"/>
          <p:cNvSpPr/>
          <p:nvPr/>
        </p:nvSpPr>
        <p:spPr>
          <a:xfrm>
            <a:off x="5074202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6" name="직사각형 75"/>
          <p:cNvSpPr/>
          <p:nvPr/>
        </p:nvSpPr>
        <p:spPr>
          <a:xfrm>
            <a:off x="5513655" y="3636688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7" name="직사각형 76"/>
          <p:cNvSpPr/>
          <p:nvPr/>
        </p:nvSpPr>
        <p:spPr>
          <a:xfrm>
            <a:off x="5074202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sp>
        <p:nvSpPr>
          <p:cNvPr id="78" name="직사각형 77"/>
          <p:cNvSpPr/>
          <p:nvPr/>
        </p:nvSpPr>
        <p:spPr>
          <a:xfrm>
            <a:off x="5513655" y="4052614"/>
            <a:ext cx="288000" cy="28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038" y="4854220"/>
            <a:ext cx="3156808" cy="14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/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Virtual machines </a:t>
            </a:r>
            <a:r>
              <a:rPr lang="en-US" altLang="ko-KR" dirty="0" smtClean="0"/>
              <a:t>and </a:t>
            </a:r>
            <a:r>
              <a:rPr lang="en-US" altLang="ko-KR" b="1" dirty="0" err="1" smtClean="0"/>
              <a:t>docker</a:t>
            </a:r>
            <a:r>
              <a:rPr lang="en-US" altLang="ko-KR" b="1" dirty="0" smtClean="0"/>
              <a:t> containers</a:t>
            </a:r>
            <a:endParaRPr lang="ko-KR" altLang="en-US" b="1" dirty="0"/>
          </a:p>
        </p:txBody>
      </p:sp>
      <p:sp>
        <p:nvSpPr>
          <p:cNvPr id="11" name="직사각형 10"/>
          <p:cNvSpPr/>
          <p:nvPr/>
        </p:nvSpPr>
        <p:spPr>
          <a:xfrm>
            <a:off x="1116982" y="5245574"/>
            <a:ext cx="4471639" cy="12409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dirty="0" smtClean="0"/>
              <a:t>Host Operating System</a:t>
            </a:r>
            <a:endParaRPr kumimoji="1"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490135" y="5406291"/>
            <a:ext cx="1686292" cy="662502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smtClean="0"/>
              <a:t>Kernel</a:t>
            </a:r>
            <a:endParaRPr kumimoji="1" lang="ko-KR" altLang="en-US" sz="1600" dirty="0"/>
          </a:p>
        </p:txBody>
      </p:sp>
      <p:sp>
        <p:nvSpPr>
          <p:cNvPr id="21" name="직사각형 20"/>
          <p:cNvSpPr/>
          <p:nvPr/>
        </p:nvSpPr>
        <p:spPr>
          <a:xfrm>
            <a:off x="1116982" y="4703000"/>
            <a:ext cx="4471639" cy="43489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Hypervisor</a:t>
            </a:r>
            <a:endParaRPr kumimoji="1"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6882161" y="4702999"/>
            <a:ext cx="4471639" cy="43489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Docker engine</a:t>
            </a:r>
            <a:endParaRPr kumimoji="1" lang="ko-KR" altLang="en-US" dirty="0"/>
          </a:p>
        </p:txBody>
      </p:sp>
      <p:sp>
        <p:nvSpPr>
          <p:cNvPr id="26" name="텍스트 상자 25"/>
          <p:cNvSpPr txBox="1"/>
          <p:nvPr/>
        </p:nvSpPr>
        <p:spPr>
          <a:xfrm>
            <a:off x="2028753" y="956157"/>
            <a:ext cx="2648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 smtClean="0">
                <a:solidFill>
                  <a:schemeClr val="accent5"/>
                </a:solidFill>
              </a:rPr>
              <a:t>Virtual machines</a:t>
            </a:r>
            <a:endParaRPr kumimoji="1" lang="ko-KR" altLang="en-US" sz="2400" b="1" dirty="0">
              <a:solidFill>
                <a:schemeClr val="accent5"/>
              </a:solidFill>
            </a:endParaRPr>
          </a:p>
        </p:txBody>
      </p:sp>
      <p:sp>
        <p:nvSpPr>
          <p:cNvPr id="27" name="텍스트 상자 26"/>
          <p:cNvSpPr txBox="1"/>
          <p:nvPr/>
        </p:nvSpPr>
        <p:spPr>
          <a:xfrm>
            <a:off x="7695096" y="956157"/>
            <a:ext cx="2845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 smtClean="0">
                <a:solidFill>
                  <a:srgbClr val="C00000"/>
                </a:solidFill>
              </a:rPr>
              <a:t>Docker containers</a:t>
            </a:r>
            <a:endParaRPr kumimoji="1"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674846" y="5405336"/>
            <a:ext cx="1661080" cy="5443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32" name="직사각형 31"/>
          <p:cNvSpPr/>
          <p:nvPr/>
        </p:nvSpPr>
        <p:spPr>
          <a:xfrm>
            <a:off x="3612212" y="5464869"/>
            <a:ext cx="1661080" cy="5443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33" name="직사각형 32"/>
          <p:cNvSpPr/>
          <p:nvPr/>
        </p:nvSpPr>
        <p:spPr>
          <a:xfrm>
            <a:off x="3549578" y="5524401"/>
            <a:ext cx="1661080" cy="5443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smtClean="0"/>
              <a:t>Device drivers</a:t>
            </a:r>
            <a:endParaRPr kumimoji="1" lang="ko-KR" altLang="en-US" sz="1600" dirty="0"/>
          </a:p>
        </p:txBody>
      </p:sp>
      <p:sp>
        <p:nvSpPr>
          <p:cNvPr id="38" name="직사각형 37"/>
          <p:cNvSpPr/>
          <p:nvPr/>
        </p:nvSpPr>
        <p:spPr>
          <a:xfrm>
            <a:off x="6882160" y="5245574"/>
            <a:ext cx="4471639" cy="12409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dirty="0" smtClean="0"/>
              <a:t>Host Operating System</a:t>
            </a:r>
            <a:endParaRPr kumimoji="1"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7255313" y="5406291"/>
            <a:ext cx="1686292" cy="662502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smtClean="0"/>
              <a:t>Kernel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9493039" y="5405336"/>
            <a:ext cx="1661081" cy="5443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7" name="직사각형 46"/>
          <p:cNvSpPr/>
          <p:nvPr/>
        </p:nvSpPr>
        <p:spPr>
          <a:xfrm>
            <a:off x="9433227" y="5464869"/>
            <a:ext cx="1661081" cy="5443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8" name="직사각형 47"/>
          <p:cNvSpPr/>
          <p:nvPr/>
        </p:nvSpPr>
        <p:spPr>
          <a:xfrm>
            <a:off x="9373415" y="5524401"/>
            <a:ext cx="1661081" cy="5443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smtClean="0"/>
              <a:t>Device drivers</a:t>
            </a:r>
            <a:endParaRPr kumimoji="1" lang="ko-KR" altLang="en-US" sz="1600" dirty="0"/>
          </a:p>
        </p:txBody>
      </p:sp>
      <p:grpSp>
        <p:nvGrpSpPr>
          <p:cNvPr id="7" name="그룹 6"/>
          <p:cNvGrpSpPr/>
          <p:nvPr/>
        </p:nvGrpSpPr>
        <p:grpSpPr>
          <a:xfrm>
            <a:off x="9173735" y="1457818"/>
            <a:ext cx="2180064" cy="3137583"/>
            <a:chOff x="9173735" y="1457818"/>
            <a:chExt cx="2180064" cy="3137583"/>
          </a:xfrm>
        </p:grpSpPr>
        <p:sp>
          <p:nvSpPr>
            <p:cNvPr id="103" name="직사각형 102"/>
            <p:cNvSpPr/>
            <p:nvPr/>
          </p:nvSpPr>
          <p:spPr>
            <a:xfrm>
              <a:off x="9173735" y="1457818"/>
              <a:ext cx="2180064" cy="31375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dirty="0" smtClean="0"/>
                <a:t>CentOS-like</a:t>
              </a:r>
            </a:p>
            <a:p>
              <a:pPr algn="ctr"/>
              <a:r>
                <a:rPr kumimoji="1" lang="en-US" altLang="ko-KR" dirty="0" smtClean="0">
                  <a:solidFill>
                    <a:srgbClr val="C00000"/>
                  </a:solidFill>
                </a:rPr>
                <a:t>container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9323435" y="3311809"/>
              <a:ext cx="1926080" cy="4206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yum</a:t>
              </a:r>
              <a:endParaRPr kumimoji="1" lang="ko-KR" altLang="en-US" sz="1600" dirty="0"/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9376013" y="2744107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9349724" y="2766739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323435" y="2789371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/>
                <a:t>Libraries</a:t>
              </a:r>
              <a:endParaRPr kumimoji="1" lang="ko-KR" altLang="en-US" sz="1600" dirty="0"/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9323435" y="2187629"/>
              <a:ext cx="1926080" cy="500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smtClean="0"/>
                <a:t>App</a:t>
              </a:r>
              <a:endParaRPr kumimoji="1" lang="ko-KR" altLang="en-US" sz="1600" dirty="0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6882160" y="1457656"/>
            <a:ext cx="2180064" cy="3137583"/>
            <a:chOff x="6882160" y="1457656"/>
            <a:chExt cx="2180064" cy="3137583"/>
          </a:xfrm>
        </p:grpSpPr>
        <p:sp>
          <p:nvSpPr>
            <p:cNvPr id="94" name="직사각형 93"/>
            <p:cNvSpPr/>
            <p:nvPr/>
          </p:nvSpPr>
          <p:spPr>
            <a:xfrm>
              <a:off x="6882160" y="1457656"/>
              <a:ext cx="2180064" cy="31375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dirty="0" smtClean="0"/>
                <a:t>Ubuntu-like</a:t>
              </a:r>
            </a:p>
            <a:p>
              <a:pPr algn="ctr"/>
              <a:r>
                <a:rPr kumimoji="1" lang="en-US" altLang="ko-KR" dirty="0" smtClean="0">
                  <a:solidFill>
                    <a:srgbClr val="C00000"/>
                  </a:solidFill>
                </a:rPr>
                <a:t>container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7031860" y="3311647"/>
              <a:ext cx="1926080" cy="4206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apt</a:t>
              </a:r>
              <a:endParaRPr kumimoji="1" lang="ko-KR" altLang="en-US" sz="1600" dirty="0"/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031860" y="2187629"/>
              <a:ext cx="1926080" cy="500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smtClean="0"/>
                <a:t>App</a:t>
              </a:r>
              <a:endParaRPr kumimoji="1" lang="ko-KR" altLang="en-US" sz="1600" dirty="0"/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084438" y="2749765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7058149" y="2772397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7031860" y="2795029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/>
                <a:t>Libraries</a:t>
              </a:r>
              <a:endParaRPr kumimoji="1" lang="ko-KR" altLang="en-US" sz="1600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408557" y="1457900"/>
            <a:ext cx="2180064" cy="3137583"/>
            <a:chOff x="3408557" y="1457900"/>
            <a:chExt cx="2180064" cy="3137583"/>
          </a:xfrm>
        </p:grpSpPr>
        <p:sp>
          <p:nvSpPr>
            <p:cNvPr id="85" name="직사각형 84"/>
            <p:cNvSpPr/>
            <p:nvPr/>
          </p:nvSpPr>
          <p:spPr>
            <a:xfrm>
              <a:off x="3408557" y="1457900"/>
              <a:ext cx="2180064" cy="31375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dirty="0" smtClean="0"/>
                <a:t>CentOS</a:t>
              </a:r>
            </a:p>
            <a:p>
              <a:pPr algn="ctr"/>
              <a:r>
                <a:rPr kumimoji="1" lang="en-US" altLang="ko-KR" dirty="0" smtClean="0">
                  <a:solidFill>
                    <a:schemeClr val="accent5"/>
                  </a:solidFill>
                </a:rPr>
                <a:t>virtual machine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3558257" y="3823349"/>
              <a:ext cx="843146" cy="571791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Kernel</a:t>
              </a:r>
              <a:endParaRPr kumimoji="1" lang="ko-KR" altLang="en-US" sz="1600" dirty="0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4553079" y="3827589"/>
              <a:ext cx="931258" cy="5046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4526790" y="3859019"/>
              <a:ext cx="931258" cy="5046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4500501" y="3890449"/>
              <a:ext cx="931258" cy="5046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Device drivers</a:t>
              </a:r>
              <a:endParaRPr kumimoji="1" lang="ko-KR" altLang="en-US" sz="1600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3558257" y="3311891"/>
              <a:ext cx="1926080" cy="4206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yum</a:t>
              </a:r>
              <a:endParaRPr kumimoji="1" lang="ko-KR" altLang="en-US" sz="1600" dirty="0"/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3610835" y="2755423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3584546" y="2778055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3558257" y="2800687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/>
                <a:t>Libraries</a:t>
              </a:r>
              <a:endParaRPr kumimoji="1" lang="ko-KR" altLang="en-US" sz="1600" dirty="0"/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3558257" y="2191998"/>
              <a:ext cx="1926080" cy="500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smtClean="0"/>
                <a:t>App</a:t>
              </a:r>
              <a:endParaRPr kumimoji="1" lang="ko-KR" altLang="en-US" sz="1600" dirty="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116982" y="1457738"/>
            <a:ext cx="2180064" cy="3137583"/>
            <a:chOff x="1116982" y="1457738"/>
            <a:chExt cx="2180064" cy="3137583"/>
          </a:xfrm>
        </p:grpSpPr>
        <p:sp>
          <p:nvSpPr>
            <p:cNvPr id="35" name="직사각형 34"/>
            <p:cNvSpPr/>
            <p:nvPr/>
          </p:nvSpPr>
          <p:spPr>
            <a:xfrm>
              <a:off x="1116982" y="1457738"/>
              <a:ext cx="2180064" cy="31375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dirty="0" smtClean="0"/>
                <a:t>Ubuntu</a:t>
              </a:r>
            </a:p>
            <a:p>
              <a:pPr algn="ctr"/>
              <a:r>
                <a:rPr kumimoji="1" lang="en-US" altLang="ko-KR" dirty="0" smtClean="0">
                  <a:solidFill>
                    <a:schemeClr val="accent5"/>
                  </a:solidFill>
                </a:rPr>
                <a:t>virtual machine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266682" y="3823187"/>
              <a:ext cx="843146" cy="571791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Kernel</a:t>
              </a:r>
              <a:endParaRPr kumimoji="1" lang="ko-KR" altLang="en-US" sz="1600" dirty="0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266682" y="3311729"/>
              <a:ext cx="1926080" cy="4206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apt</a:t>
              </a:r>
              <a:endParaRPr kumimoji="1" lang="ko-KR" altLang="en-US" sz="1600" dirty="0"/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1266682" y="2191998"/>
              <a:ext cx="1926080" cy="500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smtClean="0"/>
                <a:t>App</a:t>
              </a:r>
              <a:endParaRPr kumimoji="1" lang="ko-KR" altLang="en-US" sz="1600" dirty="0"/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1319260" y="2761081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1292971" y="2783713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1266682" y="2806341"/>
              <a:ext cx="1873502" cy="432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/>
                <a:t>Libraries</a:t>
              </a:r>
              <a:endParaRPr kumimoji="1" lang="ko-KR" altLang="en-US" sz="1600" dirty="0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261504" y="3827589"/>
              <a:ext cx="931258" cy="5046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2235215" y="3859019"/>
              <a:ext cx="931258" cy="5046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2208926" y="3890449"/>
              <a:ext cx="931258" cy="5046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 smtClean="0"/>
                <a:t>Device drivers</a:t>
              </a:r>
              <a:endParaRPr kumimoji="1" lang="ko-KR" altLang="en-US" sz="1600" dirty="0"/>
            </a:p>
          </p:txBody>
        </p:sp>
      </p:grpSp>
      <p:sp>
        <p:nvSpPr>
          <p:cNvPr id="53" name="직사각형 52"/>
          <p:cNvSpPr/>
          <p:nvPr/>
        </p:nvSpPr>
        <p:spPr>
          <a:xfrm>
            <a:off x="7031860" y="3823187"/>
            <a:ext cx="4217655" cy="571791"/>
          </a:xfrm>
          <a:prstGeom prst="rect">
            <a:avLst/>
          </a:prstGeom>
          <a:ln w="3810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smtClean="0"/>
              <a:t>Containers share the kernel in the host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4880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 smtClean="0"/>
              <a:t>Linux namespaces </a:t>
            </a:r>
            <a:r>
              <a:rPr kumimoji="1" lang="mr-IN" altLang="ko-KR" dirty="0" smtClean="0"/>
              <a:t>–</a:t>
            </a:r>
            <a:r>
              <a:rPr kumimoji="1" lang="en-US" altLang="ko-KR" dirty="0" smtClean="0"/>
              <a:t> what makes </a:t>
            </a:r>
            <a:r>
              <a:rPr kumimoji="1" lang="en-US" altLang="ko-KR" b="1" dirty="0" smtClean="0">
                <a:solidFill>
                  <a:srgbClr val="FF0000"/>
                </a:solidFill>
              </a:rPr>
              <a:t>isolated</a:t>
            </a:r>
            <a:r>
              <a:rPr kumimoji="1" lang="en-US" altLang="ko-KR" b="1" dirty="0" smtClean="0"/>
              <a:t> environments</a:t>
            </a:r>
            <a:r>
              <a:rPr kumimoji="1" lang="en-US" altLang="ko-KR" dirty="0" smtClean="0"/>
              <a:t> in a host OS</a:t>
            </a:r>
            <a:endParaRPr kumimoji="1"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44960" y="6021975"/>
            <a:ext cx="10902079" cy="4112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Host Operating System</a:t>
            </a:r>
            <a:endParaRPr kumimoji="1"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44961" y="5527941"/>
            <a:ext cx="10902079" cy="4112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Docker engine</a:t>
            </a:r>
            <a:endParaRPr kumimoji="1" lang="ko-KR" altLang="en-US" dirty="0"/>
          </a:p>
        </p:txBody>
      </p:sp>
      <p:sp>
        <p:nvSpPr>
          <p:cNvPr id="58" name="직사각형 57"/>
          <p:cNvSpPr/>
          <p:nvPr/>
        </p:nvSpPr>
        <p:spPr>
          <a:xfrm>
            <a:off x="644960" y="1972169"/>
            <a:ext cx="6321497" cy="34729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ko-KR" dirty="0" smtClean="0"/>
              <a:t>Container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779543" y="2388941"/>
            <a:ext cx="600523" cy="90716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pid</a:t>
            </a:r>
            <a:endParaRPr kumimoji="1" lang="en-US" altLang="ko-KR" sz="1600" b="1" dirty="0" smtClean="0"/>
          </a:p>
        </p:txBody>
      </p:sp>
      <p:sp>
        <p:nvSpPr>
          <p:cNvPr id="66" name="직사각형 65"/>
          <p:cNvSpPr/>
          <p:nvPr/>
        </p:nvSpPr>
        <p:spPr>
          <a:xfrm>
            <a:off x="779543" y="3429992"/>
            <a:ext cx="600523" cy="90716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ipc</a:t>
            </a:r>
            <a:endParaRPr kumimoji="1" lang="en-US" altLang="ko-KR" sz="1600" b="1" dirty="0" smtClean="0"/>
          </a:p>
        </p:txBody>
      </p:sp>
      <p:sp>
        <p:nvSpPr>
          <p:cNvPr id="67" name="직사각형 66"/>
          <p:cNvSpPr/>
          <p:nvPr/>
        </p:nvSpPr>
        <p:spPr>
          <a:xfrm>
            <a:off x="779543" y="4471042"/>
            <a:ext cx="600523" cy="90716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uts</a:t>
            </a:r>
            <a:endParaRPr kumimoji="1" lang="en-US" altLang="ko-KR" sz="1600" b="1" dirty="0" smtClean="0"/>
          </a:p>
        </p:txBody>
      </p:sp>
      <p:sp>
        <p:nvSpPr>
          <p:cNvPr id="68" name="직사각형 67"/>
          <p:cNvSpPr/>
          <p:nvPr/>
        </p:nvSpPr>
        <p:spPr>
          <a:xfrm>
            <a:off x="3847234" y="2388941"/>
            <a:ext cx="600523" cy="90716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net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3847234" y="3429992"/>
            <a:ext cx="600523" cy="90716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mnt</a:t>
            </a:r>
            <a:endParaRPr kumimoji="1" lang="en-US" altLang="ko-KR" sz="1600" b="1" dirty="0" smtClean="0"/>
          </a:p>
        </p:txBody>
      </p:sp>
      <p:sp>
        <p:nvSpPr>
          <p:cNvPr id="70" name="직사각형 69"/>
          <p:cNvSpPr/>
          <p:nvPr/>
        </p:nvSpPr>
        <p:spPr>
          <a:xfrm>
            <a:off x="3847237" y="4471041"/>
            <a:ext cx="600523" cy="90716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user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1380068" y="3429990"/>
            <a:ext cx="2350975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Various </a:t>
            </a:r>
            <a:r>
              <a:rPr kumimoji="1" lang="en-US" altLang="ko-KR" sz="1400" dirty="0" err="1" smtClean="0"/>
              <a:t>ipc</a:t>
            </a:r>
            <a:r>
              <a:rPr kumimoji="1" lang="en-US" altLang="ko-KR" sz="1400" dirty="0" smtClean="0"/>
              <a:t> objects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POSIX </a:t>
            </a:r>
            <a:r>
              <a:rPr kumimoji="1" lang="en-US" altLang="ko-KR" sz="1400" dirty="0"/>
              <a:t>message </a:t>
            </a:r>
            <a:r>
              <a:rPr kumimoji="1" lang="en-US" altLang="ko-KR" sz="1400" dirty="0" smtClean="0"/>
              <a:t>queue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err="1" smtClean="0"/>
              <a:t>SystemV</a:t>
            </a:r>
            <a:r>
              <a:rPr kumimoji="1" lang="en-US" altLang="ko-KR" sz="1400" dirty="0" smtClean="0"/>
              <a:t> IPC objects</a:t>
            </a:r>
            <a:r>
              <a:rPr kumimoji="1" lang="en-US" altLang="ko-KR" sz="1400" dirty="0"/>
              <a:t/>
            </a:r>
            <a:br>
              <a:rPr kumimoji="1" lang="en-US" altLang="ko-KR" sz="1400" dirty="0"/>
            </a:br>
            <a:r>
              <a:rPr kumimoji="1" lang="en-US" altLang="ko-KR" sz="1400" dirty="0" smtClean="0"/>
              <a:t>(</a:t>
            </a:r>
            <a:r>
              <a:rPr kumimoji="1" lang="en-US" altLang="ko-KR" sz="1400" dirty="0" err="1" smtClean="0"/>
              <a:t>mq</a:t>
            </a:r>
            <a:r>
              <a:rPr kumimoji="1" lang="en-US" altLang="ko-KR" sz="1400" dirty="0" smtClean="0"/>
              <a:t>, </a:t>
            </a:r>
            <a:r>
              <a:rPr kumimoji="1" lang="en-US" altLang="ko-KR" sz="1400" dirty="0" err="1" smtClean="0"/>
              <a:t>sem</a:t>
            </a:r>
            <a:r>
              <a:rPr kumimoji="1" lang="en-US" altLang="ko-KR" sz="1400" dirty="0" smtClean="0"/>
              <a:t>, </a:t>
            </a:r>
            <a:r>
              <a:rPr kumimoji="1" lang="en-US" altLang="ko-KR" sz="1400" dirty="0" err="1" smtClean="0"/>
              <a:t>shm</a:t>
            </a:r>
            <a:r>
              <a:rPr kumimoji="1" lang="en-US" altLang="ko-KR" sz="1400" dirty="0" smtClean="0"/>
              <a:t>)</a:t>
            </a:r>
            <a:endParaRPr kumimoji="1" lang="en-US" altLang="ko-KR" sz="1400" dirty="0"/>
          </a:p>
        </p:txBody>
      </p:sp>
      <p:sp>
        <p:nvSpPr>
          <p:cNvPr id="61" name="직사각형 60"/>
          <p:cNvSpPr/>
          <p:nvPr/>
        </p:nvSpPr>
        <p:spPr>
          <a:xfrm>
            <a:off x="1380068" y="4471041"/>
            <a:ext cx="2350975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System identifiers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hostname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NIS domain name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4447758" y="2388941"/>
            <a:ext cx="2350975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Network devices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Network devices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IPv4, IPv6 stacks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Routing tables, Firewall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4447759" y="3429991"/>
            <a:ext cx="2350975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Mount points</a:t>
            </a:r>
          </a:p>
          <a:p>
            <a:pPr algn="ctr"/>
            <a:r>
              <a:rPr kumimoji="1" lang="en-US" altLang="ko-KR" sz="1400" dirty="0" smtClean="0"/>
              <a:t>(directory hierarchy)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4447759" y="4471041"/>
            <a:ext cx="2350975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Security-related identifiers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User IDs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400" dirty="0" smtClean="0"/>
              <a:t>Group IDs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1380066" y="2388940"/>
            <a:ext cx="2350975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Process ID number space</a:t>
            </a:r>
          </a:p>
          <a:p>
            <a:pPr algn="ctr"/>
            <a:r>
              <a:rPr kumimoji="1" lang="en-US" altLang="ko-KR" sz="1400" dirty="0" smtClean="0"/>
              <a:t>(staring from 1)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7106316" y="1972169"/>
            <a:ext cx="2127723" cy="347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ko-KR" dirty="0" smtClean="0"/>
              <a:t>Container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7216052" y="2388940"/>
            <a:ext cx="915803" cy="90717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pid</a:t>
            </a:r>
            <a:endParaRPr kumimoji="1" lang="en-US" altLang="ko-KR" sz="1600" b="1" dirty="0" smtClean="0"/>
          </a:p>
        </p:txBody>
      </p:sp>
      <p:sp>
        <p:nvSpPr>
          <p:cNvPr id="125" name="직사각형 124"/>
          <p:cNvSpPr/>
          <p:nvPr/>
        </p:nvSpPr>
        <p:spPr>
          <a:xfrm>
            <a:off x="7216052" y="3429990"/>
            <a:ext cx="915803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ipc</a:t>
            </a:r>
            <a:endParaRPr kumimoji="1" lang="en-US" altLang="ko-KR" sz="1600" b="1" dirty="0" smtClean="0"/>
          </a:p>
        </p:txBody>
      </p:sp>
      <p:sp>
        <p:nvSpPr>
          <p:cNvPr id="126" name="직사각형 125"/>
          <p:cNvSpPr/>
          <p:nvPr/>
        </p:nvSpPr>
        <p:spPr>
          <a:xfrm>
            <a:off x="7216052" y="4471041"/>
            <a:ext cx="915803" cy="904772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uts</a:t>
            </a:r>
            <a:endParaRPr kumimoji="1" lang="en-US" altLang="ko-KR" sz="1600" b="1" dirty="0" smtClean="0"/>
          </a:p>
        </p:txBody>
      </p:sp>
      <p:sp>
        <p:nvSpPr>
          <p:cNvPr id="127" name="직사각형 126"/>
          <p:cNvSpPr/>
          <p:nvPr/>
        </p:nvSpPr>
        <p:spPr>
          <a:xfrm>
            <a:off x="8219532" y="2388941"/>
            <a:ext cx="915803" cy="90717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net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8219532" y="3429990"/>
            <a:ext cx="915803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mnt</a:t>
            </a:r>
            <a:endParaRPr kumimoji="1" lang="en-US" altLang="ko-KR" sz="1600" b="1" dirty="0" smtClean="0"/>
          </a:p>
        </p:txBody>
      </p:sp>
      <p:sp>
        <p:nvSpPr>
          <p:cNvPr id="129" name="직사각형 128"/>
          <p:cNvSpPr/>
          <p:nvPr/>
        </p:nvSpPr>
        <p:spPr>
          <a:xfrm>
            <a:off x="8219532" y="4471041"/>
            <a:ext cx="915803" cy="90477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user</a:t>
            </a:r>
          </a:p>
        </p:txBody>
      </p:sp>
      <p:sp>
        <p:nvSpPr>
          <p:cNvPr id="161" name="직사각형 160"/>
          <p:cNvSpPr/>
          <p:nvPr/>
        </p:nvSpPr>
        <p:spPr>
          <a:xfrm>
            <a:off x="9419316" y="1969476"/>
            <a:ext cx="2127723" cy="347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ko-KR" dirty="0" smtClean="0"/>
              <a:t>Container</a:t>
            </a:r>
          </a:p>
        </p:txBody>
      </p:sp>
      <p:sp>
        <p:nvSpPr>
          <p:cNvPr id="162" name="직사각형 161"/>
          <p:cNvSpPr/>
          <p:nvPr/>
        </p:nvSpPr>
        <p:spPr>
          <a:xfrm>
            <a:off x="9529052" y="2386247"/>
            <a:ext cx="915803" cy="90717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pid</a:t>
            </a:r>
            <a:endParaRPr kumimoji="1" lang="en-US" altLang="ko-KR" sz="1600" b="1" dirty="0" smtClean="0"/>
          </a:p>
        </p:txBody>
      </p:sp>
      <p:sp>
        <p:nvSpPr>
          <p:cNvPr id="163" name="직사각형 162"/>
          <p:cNvSpPr/>
          <p:nvPr/>
        </p:nvSpPr>
        <p:spPr>
          <a:xfrm>
            <a:off x="9529052" y="3427297"/>
            <a:ext cx="915803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ipc</a:t>
            </a:r>
            <a:endParaRPr kumimoji="1" lang="en-US" altLang="ko-KR" sz="1600" b="1" dirty="0" smtClean="0"/>
          </a:p>
        </p:txBody>
      </p:sp>
      <p:sp>
        <p:nvSpPr>
          <p:cNvPr id="164" name="직사각형 163"/>
          <p:cNvSpPr/>
          <p:nvPr/>
        </p:nvSpPr>
        <p:spPr>
          <a:xfrm>
            <a:off x="9529052" y="4468348"/>
            <a:ext cx="915803" cy="904772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uts</a:t>
            </a:r>
            <a:endParaRPr kumimoji="1" lang="en-US" altLang="ko-KR" sz="1600" b="1" dirty="0" smtClean="0"/>
          </a:p>
        </p:txBody>
      </p:sp>
      <p:sp>
        <p:nvSpPr>
          <p:cNvPr id="165" name="직사각형 164"/>
          <p:cNvSpPr/>
          <p:nvPr/>
        </p:nvSpPr>
        <p:spPr>
          <a:xfrm>
            <a:off x="10532532" y="2386247"/>
            <a:ext cx="915803" cy="90717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net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10532532" y="3427297"/>
            <a:ext cx="915803" cy="90716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 smtClean="0"/>
              <a:t>mnt</a:t>
            </a:r>
            <a:endParaRPr kumimoji="1" lang="en-US" altLang="ko-KR" sz="1600" b="1" dirty="0" smtClean="0"/>
          </a:p>
        </p:txBody>
      </p:sp>
      <p:sp>
        <p:nvSpPr>
          <p:cNvPr id="167" name="직사각형 166"/>
          <p:cNvSpPr/>
          <p:nvPr/>
        </p:nvSpPr>
        <p:spPr>
          <a:xfrm>
            <a:off x="10532532" y="4468348"/>
            <a:ext cx="915803" cy="90477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user</a:t>
            </a:r>
          </a:p>
        </p:txBody>
      </p:sp>
      <p:sp>
        <p:nvSpPr>
          <p:cNvPr id="8" name="텍스트 상자 7"/>
          <p:cNvSpPr txBox="1"/>
          <p:nvPr/>
        </p:nvSpPr>
        <p:spPr>
          <a:xfrm>
            <a:off x="1006047" y="1278259"/>
            <a:ext cx="10179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 smtClean="0">
                <a:solidFill>
                  <a:srgbClr val="FF0000"/>
                </a:solidFill>
              </a:rPr>
              <a:t>Six namespaces </a:t>
            </a:r>
            <a:r>
              <a:rPr kumimoji="1" lang="en-US" altLang="ko-KR" sz="2000" dirty="0" smtClean="0"/>
              <a:t>are enough to give </a:t>
            </a:r>
            <a:r>
              <a:rPr kumimoji="1" lang="en-US" altLang="ko-KR" sz="2000" b="1" i="1" dirty="0" smtClean="0"/>
              <a:t>an illusion of running inside a virtual machine</a:t>
            </a:r>
            <a:endParaRPr kumimoji="1" lang="ko-KR" alt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111843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89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1745659" y="3823334"/>
            <a:ext cx="10141503" cy="2817699"/>
          </a:xfrm>
          <a:prstGeom prst="rect">
            <a:avLst/>
          </a:prstGeom>
          <a:solidFill>
            <a:srgbClr val="E14C3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41336" y="993531"/>
            <a:ext cx="10108818" cy="2611315"/>
          </a:xfrm>
          <a:prstGeom prst="rect">
            <a:avLst/>
          </a:pr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Analogy between </a:t>
            </a:r>
            <a:r>
              <a:rPr kumimoji="1" lang="en-US" altLang="ko-KR" b="1" dirty="0" smtClean="0"/>
              <a:t>program </a:t>
            </a:r>
            <a:r>
              <a:rPr kumimoji="1" lang="en-US" altLang="ko-KR" dirty="0" smtClean="0"/>
              <a:t>and </a:t>
            </a:r>
            <a:r>
              <a:rPr kumimoji="1" lang="en-US" altLang="ko-KR" b="1" dirty="0" err="1" smtClean="0"/>
              <a:t>docker</a:t>
            </a:r>
            <a:endParaRPr kumimoji="1" lang="ko-KR" altLang="en-US" b="1" dirty="0"/>
          </a:p>
        </p:txBody>
      </p:sp>
      <p:sp>
        <p:nvSpPr>
          <p:cNvPr id="9" name="텍스트 상자 8"/>
          <p:cNvSpPr txBox="1"/>
          <p:nvPr/>
        </p:nvSpPr>
        <p:spPr>
          <a:xfrm>
            <a:off x="2739757" y="4072536"/>
            <a:ext cx="130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 smtClean="0"/>
              <a:t>Dockerfile</a:t>
            </a:r>
            <a:endParaRPr kumimoji="1" lang="ko-KR" altLang="en-US" b="1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9875" y="4565077"/>
            <a:ext cx="2067698" cy="1786159"/>
          </a:xfrm>
          <a:prstGeom prst="rect">
            <a:avLst/>
          </a:prstGeom>
        </p:spPr>
      </p:pic>
      <p:sp>
        <p:nvSpPr>
          <p:cNvPr id="11" name="텍스트 상자 10"/>
          <p:cNvSpPr txBox="1"/>
          <p:nvPr/>
        </p:nvSpPr>
        <p:spPr>
          <a:xfrm>
            <a:off x="6079293" y="3964815"/>
            <a:ext cx="1708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b="1" dirty="0" smtClean="0"/>
              <a:t>Docker image</a:t>
            </a:r>
          </a:p>
          <a:p>
            <a:pPr algn="ctr"/>
            <a:r>
              <a:rPr kumimoji="1" lang="en-US" altLang="ko-KR" sz="1400" dirty="0" smtClean="0"/>
              <a:t>(read-only </a:t>
            </a:r>
            <a:r>
              <a:rPr kumimoji="1" lang="en-US" altLang="ko-KR" sz="1400" b="1" dirty="0" smtClean="0">
                <a:solidFill>
                  <a:srgbClr val="FF0000"/>
                </a:solidFill>
              </a:rPr>
              <a:t>layers</a:t>
            </a:r>
            <a:r>
              <a:rPr kumimoji="1" lang="en-US" altLang="ko-KR" sz="1400" dirty="0" smtClean="0"/>
              <a:t>)</a:t>
            </a:r>
            <a:endParaRPr kumimoji="1" lang="ko-KR" altLang="en-US" sz="14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39543" y="4582661"/>
            <a:ext cx="2810611" cy="1952854"/>
          </a:xfrm>
          <a:prstGeom prst="rect">
            <a:avLst/>
          </a:prstGeom>
        </p:spPr>
      </p:pic>
      <p:sp>
        <p:nvSpPr>
          <p:cNvPr id="13" name="텍스트 상자 12"/>
          <p:cNvSpPr txBox="1"/>
          <p:nvPr/>
        </p:nvSpPr>
        <p:spPr>
          <a:xfrm>
            <a:off x="8405091" y="3980302"/>
            <a:ext cx="3044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b="1" dirty="0" smtClean="0"/>
              <a:t>Docker container</a:t>
            </a:r>
          </a:p>
          <a:p>
            <a:pPr algn="ctr"/>
            <a:r>
              <a:rPr kumimoji="1" lang="en-US" altLang="ko-KR" sz="1400" dirty="0" smtClean="0"/>
              <a:t>(read-only </a:t>
            </a:r>
            <a:r>
              <a:rPr kumimoji="1" lang="en-US" altLang="ko-KR" sz="1400" b="1" dirty="0" smtClean="0">
                <a:solidFill>
                  <a:srgbClr val="FF0000"/>
                </a:solidFill>
              </a:rPr>
              <a:t>layers</a:t>
            </a:r>
            <a:r>
              <a:rPr kumimoji="1" lang="en-US" altLang="ko-KR" sz="1400" dirty="0" smtClean="0">
                <a:solidFill>
                  <a:srgbClr val="FF0000"/>
                </a:solidFill>
              </a:rPr>
              <a:t> </a:t>
            </a:r>
            <a:r>
              <a:rPr kumimoji="1" lang="en-US" altLang="ko-KR" sz="1400" dirty="0" smtClean="0"/>
              <a:t>+ </a:t>
            </a:r>
            <a:r>
              <a:rPr kumimoji="1" lang="en-US" altLang="ko-KR" sz="1400" b="1" dirty="0" smtClean="0">
                <a:solidFill>
                  <a:srgbClr val="FF0000"/>
                </a:solidFill>
              </a:rPr>
              <a:t>writable layer</a:t>
            </a:r>
            <a:r>
              <a:rPr kumimoji="1" lang="en-US" altLang="ko-KR" sz="1400" dirty="0" smtClean="0"/>
              <a:t>)</a:t>
            </a:r>
            <a:endParaRPr kumimoji="1" lang="ko-KR" altLang="en-US" sz="1400" dirty="0"/>
          </a:p>
        </p:txBody>
      </p:sp>
      <p:sp>
        <p:nvSpPr>
          <p:cNvPr id="14" name="텍스트 상자 13"/>
          <p:cNvSpPr txBox="1"/>
          <p:nvPr/>
        </p:nvSpPr>
        <p:spPr>
          <a:xfrm>
            <a:off x="2486837" y="1210555"/>
            <a:ext cx="1807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 smtClean="0"/>
              <a:t>Source code</a:t>
            </a:r>
            <a:endParaRPr kumimoji="1" lang="ko-KR" altLang="en-US" sz="2000" b="1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635" y="1779838"/>
            <a:ext cx="3185631" cy="136091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125" y="1779836"/>
            <a:ext cx="1937941" cy="1531549"/>
          </a:xfrm>
          <a:prstGeom prst="rect">
            <a:avLst/>
          </a:prstGeom>
        </p:spPr>
      </p:pic>
      <p:sp>
        <p:nvSpPr>
          <p:cNvPr id="23" name="텍스트 상자 22"/>
          <p:cNvSpPr txBox="1"/>
          <p:nvPr/>
        </p:nvSpPr>
        <p:spPr>
          <a:xfrm>
            <a:off x="5665975" y="1102560"/>
            <a:ext cx="2535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b="1" dirty="0" smtClean="0"/>
              <a:t>Byte/machine code</a:t>
            </a:r>
          </a:p>
          <a:p>
            <a:pPr algn="ctr"/>
            <a:r>
              <a:rPr kumimoji="1" lang="en-US" altLang="ko-KR" sz="1600" b="1" dirty="0" smtClean="0"/>
              <a:t>(read only)</a:t>
            </a:r>
            <a:endParaRPr kumimoji="1" lang="ko-KR" altLang="en-US" sz="1600" b="1" dirty="0"/>
          </a:p>
        </p:txBody>
      </p:sp>
      <p:sp>
        <p:nvSpPr>
          <p:cNvPr id="15" name="텍스트 상자 14"/>
          <p:cNvSpPr txBox="1"/>
          <p:nvPr/>
        </p:nvSpPr>
        <p:spPr>
          <a:xfrm>
            <a:off x="9344305" y="1102559"/>
            <a:ext cx="125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b="1" dirty="0" smtClean="0"/>
              <a:t>Process</a:t>
            </a:r>
          </a:p>
          <a:p>
            <a:pPr algn="ctr"/>
            <a:r>
              <a:rPr kumimoji="1" lang="en-US" altLang="ko-KR" sz="1600" b="1" dirty="0" smtClean="0"/>
              <a:t>(read only)</a:t>
            </a:r>
            <a:endParaRPr kumimoji="1" lang="ko-KR" altLang="en-US" sz="1600" b="1" dirty="0"/>
          </a:p>
        </p:txBody>
      </p:sp>
      <p:sp>
        <p:nvSpPr>
          <p:cNvPr id="3" name="갈매기형 수장[C] 2"/>
          <p:cNvSpPr/>
          <p:nvPr/>
        </p:nvSpPr>
        <p:spPr>
          <a:xfrm>
            <a:off x="5444448" y="2377338"/>
            <a:ext cx="248256" cy="324112"/>
          </a:xfrm>
          <a:prstGeom prst="chevron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7" name="갈매기형 수장[C] 16"/>
          <p:cNvSpPr/>
          <p:nvPr/>
        </p:nvSpPr>
        <p:spPr>
          <a:xfrm>
            <a:off x="5444448" y="5218861"/>
            <a:ext cx="248256" cy="324112"/>
          </a:xfrm>
          <a:prstGeom prst="chevr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8" name="갈매기형 수장[C] 17"/>
          <p:cNvSpPr/>
          <p:nvPr/>
        </p:nvSpPr>
        <p:spPr>
          <a:xfrm>
            <a:off x="8319291" y="5218861"/>
            <a:ext cx="248256" cy="324112"/>
          </a:xfrm>
          <a:prstGeom prst="chevr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9" name="갈매기형 수장[C] 18"/>
          <p:cNvSpPr/>
          <p:nvPr/>
        </p:nvSpPr>
        <p:spPr>
          <a:xfrm>
            <a:off x="8319291" y="2377338"/>
            <a:ext cx="248256" cy="324112"/>
          </a:xfrm>
          <a:prstGeom prst="chevron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1" name="갈매기형 수장[C] 60"/>
          <p:cNvSpPr/>
          <p:nvPr/>
        </p:nvSpPr>
        <p:spPr>
          <a:xfrm>
            <a:off x="5290746" y="2377338"/>
            <a:ext cx="248256" cy="324112"/>
          </a:xfrm>
          <a:prstGeom prst="chevron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2" name="갈매기형 수장[C] 61"/>
          <p:cNvSpPr/>
          <p:nvPr/>
        </p:nvSpPr>
        <p:spPr>
          <a:xfrm>
            <a:off x="5290746" y="5218861"/>
            <a:ext cx="248256" cy="324112"/>
          </a:xfrm>
          <a:prstGeom prst="chevr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3" name="갈매기형 수장[C] 62"/>
          <p:cNvSpPr/>
          <p:nvPr/>
        </p:nvSpPr>
        <p:spPr>
          <a:xfrm>
            <a:off x="8165589" y="5218861"/>
            <a:ext cx="248256" cy="324112"/>
          </a:xfrm>
          <a:prstGeom prst="chevr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4" name="갈매기형 수장[C] 63"/>
          <p:cNvSpPr/>
          <p:nvPr/>
        </p:nvSpPr>
        <p:spPr>
          <a:xfrm>
            <a:off x="8165589" y="2377338"/>
            <a:ext cx="248256" cy="324112"/>
          </a:xfrm>
          <a:prstGeom prst="chevron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8892586" y="1857918"/>
            <a:ext cx="2727083" cy="1685778"/>
            <a:chOff x="8892586" y="1857918"/>
            <a:chExt cx="2727083" cy="1685778"/>
          </a:xfrm>
        </p:grpSpPr>
        <p:grpSp>
          <p:nvGrpSpPr>
            <p:cNvPr id="35" name="그룹 34"/>
            <p:cNvGrpSpPr/>
            <p:nvPr/>
          </p:nvGrpSpPr>
          <p:grpSpPr>
            <a:xfrm>
              <a:off x="8892586" y="1857918"/>
              <a:ext cx="808581" cy="1453467"/>
              <a:chOff x="10696393" y="1623404"/>
              <a:chExt cx="915349" cy="1701471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10696393" y="3013749"/>
                <a:ext cx="915349" cy="31112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smtClean="0"/>
                  <a:t>text</a:t>
                </a:r>
                <a:endParaRPr kumimoji="1" lang="ko-KR" altLang="en-US" sz="1100" dirty="0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10696393" y="2686807"/>
                <a:ext cx="915349" cy="326943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smtClean="0"/>
                  <a:t>data</a:t>
                </a:r>
                <a:endParaRPr kumimoji="1" lang="ko-KR" altLang="en-US" sz="1100" dirty="0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10696393" y="2359864"/>
                <a:ext cx="915349" cy="32694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smtClean="0"/>
                  <a:t>heap</a:t>
                </a:r>
                <a:endParaRPr kumimoji="1" lang="ko-KR" altLang="en-US" sz="1100" dirty="0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10696393" y="1623404"/>
                <a:ext cx="915349" cy="31112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smtClean="0"/>
                  <a:t>stack</a:t>
                </a:r>
                <a:endParaRPr kumimoji="1" lang="ko-KR" altLang="en-US" sz="1100" dirty="0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10696393" y="1934530"/>
                <a:ext cx="915349" cy="425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100" dirty="0"/>
              </a:p>
            </p:txBody>
          </p:sp>
          <p:cxnSp>
            <p:nvCxnSpPr>
              <p:cNvPr id="7" name="직선 화살표 연결선 6"/>
              <p:cNvCxnSpPr>
                <a:stCxn id="25" idx="0"/>
              </p:cNvCxnSpPr>
              <p:nvPr/>
            </p:nvCxnSpPr>
            <p:spPr>
              <a:xfrm>
                <a:off x="11154068" y="1934530"/>
                <a:ext cx="0" cy="1785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화살표 연결선 25"/>
              <p:cNvCxnSpPr>
                <a:stCxn id="21" idx="0"/>
              </p:cNvCxnSpPr>
              <p:nvPr/>
            </p:nvCxnSpPr>
            <p:spPr>
              <a:xfrm flipV="1">
                <a:off x="11154068" y="2182111"/>
                <a:ext cx="0" cy="1777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16311" y="2078822"/>
              <a:ext cx="1303358" cy="1127057"/>
            </a:xfrm>
            <a:prstGeom prst="rect">
              <a:avLst/>
            </a:prstGeom>
          </p:spPr>
        </p:pic>
        <p:sp>
          <p:nvSpPr>
            <p:cNvPr id="53" name="왼쪽/오른쪽 화살표[L] 52"/>
            <p:cNvSpPr/>
            <p:nvPr/>
          </p:nvSpPr>
          <p:spPr>
            <a:xfrm>
              <a:off x="9835028" y="2374646"/>
              <a:ext cx="509869" cy="283684"/>
            </a:xfrm>
            <a:prstGeom prst="left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65" name="그림 6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7730" y="3108279"/>
              <a:ext cx="550954" cy="435417"/>
            </a:xfrm>
            <a:prstGeom prst="rect">
              <a:avLst/>
            </a:prstGeom>
          </p:spPr>
        </p:pic>
      </p:grpSp>
      <p:sp>
        <p:nvSpPr>
          <p:cNvPr id="6" name="텍스트 상자 5"/>
          <p:cNvSpPr txBox="1"/>
          <p:nvPr/>
        </p:nvSpPr>
        <p:spPr>
          <a:xfrm>
            <a:off x="5109833" y="2089092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dirty="0" smtClean="0"/>
              <a:t>compile</a:t>
            </a:r>
            <a:endParaRPr kumimoji="1" lang="ko-KR" altLang="en-US" sz="1200" dirty="0"/>
          </a:p>
        </p:txBody>
      </p:sp>
      <p:sp>
        <p:nvSpPr>
          <p:cNvPr id="38" name="텍스트 상자 37"/>
          <p:cNvSpPr txBox="1"/>
          <p:nvPr/>
        </p:nvSpPr>
        <p:spPr>
          <a:xfrm>
            <a:off x="7989592" y="2084252"/>
            <a:ext cx="714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dirty="0" smtClean="0"/>
              <a:t>execute</a:t>
            </a:r>
            <a:endParaRPr kumimoji="1" lang="ko-KR" altLang="en-US" sz="1200" dirty="0"/>
          </a:p>
        </p:txBody>
      </p:sp>
      <p:sp>
        <p:nvSpPr>
          <p:cNvPr id="39" name="텍스트 상자 38"/>
          <p:cNvSpPr txBox="1"/>
          <p:nvPr/>
        </p:nvSpPr>
        <p:spPr>
          <a:xfrm>
            <a:off x="5207063" y="4932445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smtClean="0"/>
              <a:t>build</a:t>
            </a:r>
            <a:endParaRPr kumimoji="1" lang="ko-KR" altLang="en-US" sz="1200" dirty="0"/>
          </a:p>
        </p:txBody>
      </p:sp>
      <p:sp>
        <p:nvSpPr>
          <p:cNvPr id="40" name="텍스트 상자 39"/>
          <p:cNvSpPr txBox="1"/>
          <p:nvPr/>
        </p:nvSpPr>
        <p:spPr>
          <a:xfrm>
            <a:off x="8137454" y="4932444"/>
            <a:ext cx="41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dirty="0" smtClean="0"/>
              <a:t>run</a:t>
            </a:r>
            <a:endParaRPr kumimoji="1" lang="ko-KR" altLang="en-US" sz="1200" dirty="0"/>
          </a:p>
        </p:txBody>
      </p:sp>
      <p:grpSp>
        <p:nvGrpSpPr>
          <p:cNvPr id="29" name="그룹 28"/>
          <p:cNvGrpSpPr/>
          <p:nvPr/>
        </p:nvGrpSpPr>
        <p:grpSpPr>
          <a:xfrm>
            <a:off x="1915635" y="4582661"/>
            <a:ext cx="3185630" cy="1565891"/>
            <a:chOff x="2288345" y="4565078"/>
            <a:chExt cx="3748738" cy="1789631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88345" y="4565078"/>
              <a:ext cx="3748738" cy="1204148"/>
            </a:xfrm>
            <a:prstGeom prst="rect">
              <a:avLst/>
            </a:prstGeom>
          </p:spPr>
        </p:pic>
        <p:pic>
          <p:nvPicPr>
            <p:cNvPr id="55" name="그림 54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88345" y="5837547"/>
              <a:ext cx="3748738" cy="517162"/>
            </a:xfrm>
            <a:prstGeom prst="rect">
              <a:avLst/>
            </a:prstGeom>
          </p:spPr>
        </p:pic>
      </p:grpSp>
      <p:sp>
        <p:nvSpPr>
          <p:cNvPr id="30" name="직사각형 29"/>
          <p:cNvSpPr/>
          <p:nvPr/>
        </p:nvSpPr>
        <p:spPr>
          <a:xfrm>
            <a:off x="293560" y="2248077"/>
            <a:ext cx="1449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ko-KR" sz="2400" b="1"/>
              <a:t>Program</a:t>
            </a:r>
            <a:endParaRPr kumimoji="1" lang="ko-KR" altLang="en-US" sz="2400" b="1" dirty="0"/>
          </a:p>
        </p:txBody>
      </p:sp>
      <p:sp>
        <p:nvSpPr>
          <p:cNvPr id="31" name="직사각형 30"/>
          <p:cNvSpPr/>
          <p:nvPr/>
        </p:nvSpPr>
        <p:spPr>
          <a:xfrm>
            <a:off x="525970" y="5001350"/>
            <a:ext cx="1213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ko-KR" sz="2400" b="1" dirty="0"/>
              <a:t>Docker</a:t>
            </a:r>
            <a:endParaRPr kumimoji="1"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4977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23" grpId="0"/>
      <p:bldP spid="15" grpId="0"/>
      <p:bldP spid="3" grpId="0" animBg="1"/>
      <p:bldP spid="17" grpId="0" animBg="1"/>
      <p:bldP spid="18" grpId="0" animBg="1"/>
      <p:bldP spid="19" grpId="0" animBg="1"/>
      <p:bldP spid="61" grpId="0" animBg="1"/>
      <p:bldP spid="62" grpId="0" animBg="1"/>
      <p:bldP spid="63" grpId="0" animBg="1"/>
      <p:bldP spid="64" grpId="0" animBg="1"/>
      <p:bldP spid="6" grpId="0"/>
      <p:bldP spid="38" grpId="0"/>
      <p:bldP spid="39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How to define </a:t>
            </a:r>
            <a:r>
              <a:rPr lang="en-US" altLang="ko-KR" b="1" dirty="0" smtClean="0">
                <a:solidFill>
                  <a:srgbClr val="C00000"/>
                </a:solidFill>
              </a:rPr>
              <a:t>an image</a:t>
            </a:r>
            <a:r>
              <a:rPr lang="en-US" altLang="ko-KR" dirty="0" smtClean="0"/>
              <a:t> and run </a:t>
            </a:r>
            <a:r>
              <a:rPr lang="en-US" altLang="ko-KR" b="1" dirty="0" smtClean="0">
                <a:solidFill>
                  <a:schemeClr val="accent5"/>
                </a:solidFill>
              </a:rPr>
              <a:t>a container</a:t>
            </a:r>
            <a:r>
              <a:rPr lang="en-US" altLang="ko-KR" dirty="0" smtClean="0"/>
              <a:t> from it?</a:t>
            </a:r>
            <a:endParaRPr lang="ko-KR" altLang="en-US" dirty="0"/>
          </a:p>
        </p:txBody>
      </p:sp>
      <p:sp>
        <p:nvSpPr>
          <p:cNvPr id="15" name="텍스트 상자 14"/>
          <p:cNvSpPr txBox="1"/>
          <p:nvPr/>
        </p:nvSpPr>
        <p:spPr>
          <a:xfrm>
            <a:off x="728133" y="1028490"/>
            <a:ext cx="515477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kumimoji="1" lang="en-US" altLang="ko-KR" sz="2000" b="1" dirty="0" smtClean="0"/>
              <a:t>Write </a:t>
            </a:r>
            <a:r>
              <a:rPr kumimoji="1" lang="en-US" altLang="ko-KR" sz="2000" b="1" dirty="0" err="1" smtClean="0"/>
              <a:t>Dockerfile</a:t>
            </a:r>
            <a:endParaRPr kumimoji="1" lang="en-US" altLang="ko-KR" sz="1600" b="1" dirty="0"/>
          </a:p>
          <a:p>
            <a:pPr marL="285750" indent="-285750">
              <a:buFontTx/>
              <a:buChar char="-"/>
            </a:pPr>
            <a:r>
              <a:rPr kumimoji="1" lang="en-US" altLang="ko-KR" sz="1600" dirty="0" smtClean="0"/>
              <a:t>Specify to install </a:t>
            </a:r>
            <a:r>
              <a:rPr kumimoji="1" lang="en-US" altLang="ko-KR" sz="1600" b="1" dirty="0" smtClean="0"/>
              <a:t>python </a:t>
            </a:r>
            <a:r>
              <a:rPr kumimoji="1" lang="en-US" altLang="ko-KR" sz="1600" dirty="0" smtClean="0"/>
              <a:t>with </a:t>
            </a:r>
            <a:r>
              <a:rPr kumimoji="1" lang="en-US" altLang="ko-KR" sz="1600" b="1" dirty="0" smtClean="0"/>
              <a:t>pip</a:t>
            </a:r>
            <a:r>
              <a:rPr kumimoji="1" lang="en-US" altLang="ko-KR" sz="1600" dirty="0" smtClean="0"/>
              <a:t> on </a:t>
            </a:r>
            <a:r>
              <a:rPr kumimoji="1" lang="en-US" altLang="ko-KR" sz="1600" b="1" dirty="0" err="1" smtClean="0"/>
              <a:t>ubuntu</a:t>
            </a:r>
            <a:endParaRPr kumimoji="1" lang="en-US" altLang="ko-KR" sz="1600" b="1" dirty="0" smtClean="0"/>
          </a:p>
          <a:p>
            <a:pPr marL="285750" indent="-285750">
              <a:buFontTx/>
              <a:buChar char="-"/>
            </a:pPr>
            <a:r>
              <a:rPr kumimoji="1" lang="en-US" altLang="ko-KR" sz="1600" dirty="0" smtClean="0"/>
              <a:t>Tell </a:t>
            </a:r>
            <a:r>
              <a:rPr kumimoji="1" lang="en-US" altLang="ko-KR" sz="1600" b="1" dirty="0" smtClean="0"/>
              <a:t>pip </a:t>
            </a:r>
            <a:r>
              <a:rPr kumimoji="1" lang="en-US" altLang="ko-KR" sz="1600" dirty="0" smtClean="0"/>
              <a:t>to install </a:t>
            </a:r>
            <a:r>
              <a:rPr kumimoji="1" lang="en-US" altLang="ko-KR" sz="1600" b="1" dirty="0" err="1" smtClean="0"/>
              <a:t>numpy</a:t>
            </a:r>
            <a:endParaRPr kumimoji="1" lang="en-US" altLang="ko-KR" sz="1600" b="1" dirty="0" smtClean="0"/>
          </a:p>
        </p:txBody>
      </p:sp>
      <p:sp>
        <p:nvSpPr>
          <p:cNvPr id="16" name="텍스트 상자 15"/>
          <p:cNvSpPr txBox="1"/>
          <p:nvPr/>
        </p:nvSpPr>
        <p:spPr>
          <a:xfrm>
            <a:off x="6579133" y="1028490"/>
            <a:ext cx="517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 smtClean="0"/>
              <a:t>2) </a:t>
            </a:r>
            <a:r>
              <a:rPr kumimoji="1" lang="en-US" altLang="ko-KR" sz="2000" b="1" dirty="0" smtClean="0"/>
              <a:t>Build </a:t>
            </a:r>
            <a:r>
              <a:rPr kumimoji="1" lang="en-US" altLang="ko-KR" sz="2000" b="1" dirty="0" smtClean="0">
                <a:solidFill>
                  <a:srgbClr val="FF0000"/>
                </a:solidFill>
              </a:rPr>
              <a:t>an image </a:t>
            </a:r>
            <a:r>
              <a:rPr kumimoji="1" lang="en-US" altLang="ko-KR" sz="2000" b="1" dirty="0" smtClean="0"/>
              <a:t>from </a:t>
            </a:r>
            <a:r>
              <a:rPr kumimoji="1" lang="en-US" altLang="ko-KR" sz="2000" b="1" dirty="0" err="1" smtClean="0"/>
              <a:t>Dockerfile</a:t>
            </a:r>
            <a:endParaRPr kumimoji="1" lang="en-US" altLang="ko-KR" sz="2000" b="1" dirty="0" smtClean="0"/>
          </a:p>
          <a:p>
            <a:pPr marL="285750" indent="-285750">
              <a:buFontTx/>
              <a:buChar char="-"/>
            </a:pPr>
            <a:r>
              <a:rPr kumimoji="1" lang="en-US" altLang="ko-KR" sz="1600" dirty="0" smtClean="0"/>
              <a:t>Execute each line of </a:t>
            </a:r>
            <a:r>
              <a:rPr kumimoji="1" lang="en-US" altLang="ko-KR" sz="1600" dirty="0" err="1" smtClean="0"/>
              <a:t>Dockerfile</a:t>
            </a:r>
            <a:r>
              <a:rPr kumimoji="1" lang="en-US" altLang="ko-KR" sz="1600" dirty="0" smtClean="0"/>
              <a:t> to build </a:t>
            </a:r>
            <a:r>
              <a:rPr kumimoji="1" lang="en-US" altLang="ko-KR" sz="1600" b="1" dirty="0" smtClean="0">
                <a:solidFill>
                  <a:srgbClr val="FF0000"/>
                </a:solidFill>
              </a:rPr>
              <a:t>an image </a:t>
            </a:r>
          </a:p>
        </p:txBody>
      </p:sp>
      <p:sp>
        <p:nvSpPr>
          <p:cNvPr id="25" name="텍스트 상자 24"/>
          <p:cNvSpPr txBox="1"/>
          <p:nvPr/>
        </p:nvSpPr>
        <p:spPr>
          <a:xfrm>
            <a:off x="3180019" y="4594099"/>
            <a:ext cx="5858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 smtClean="0"/>
              <a:t>3) Execute </a:t>
            </a:r>
            <a:r>
              <a:rPr kumimoji="1" lang="en-US" altLang="ko-KR" sz="2000" b="1" dirty="0" smtClean="0">
                <a:solidFill>
                  <a:schemeClr val="accent1"/>
                </a:solidFill>
              </a:rPr>
              <a:t>a Docker container </a:t>
            </a:r>
            <a:r>
              <a:rPr kumimoji="1" lang="en-US" altLang="ko-KR" sz="2000" b="1" dirty="0" smtClean="0"/>
              <a:t>from </a:t>
            </a:r>
            <a:r>
              <a:rPr kumimoji="1" lang="en-US" altLang="ko-KR" sz="2000" b="1" dirty="0" smtClean="0">
                <a:solidFill>
                  <a:srgbClr val="FF0000"/>
                </a:solidFill>
              </a:rPr>
              <a:t>the image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019" y="4994209"/>
            <a:ext cx="5549575" cy="156820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33" y="2131486"/>
            <a:ext cx="4371443" cy="180014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34" y="1748854"/>
            <a:ext cx="4628974" cy="2483839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728133" y="2131485"/>
            <a:ext cx="4371443" cy="3722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728133" y="2503763"/>
            <a:ext cx="4371443" cy="7615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28133" y="3265279"/>
            <a:ext cx="4371443" cy="398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728133" y="3662920"/>
            <a:ext cx="4371443" cy="3638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6579133" y="2131485"/>
            <a:ext cx="4628975" cy="3722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6579133" y="2503763"/>
            <a:ext cx="4628975" cy="7615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579133" y="3265279"/>
            <a:ext cx="4628975" cy="398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6579133" y="3662920"/>
            <a:ext cx="4628975" cy="3638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" name="직선 화살표 연결선 3"/>
          <p:cNvCxnSpPr>
            <a:stCxn id="34" idx="3"/>
            <a:endCxn id="24" idx="1"/>
          </p:cNvCxnSpPr>
          <p:nvPr/>
        </p:nvCxnSpPr>
        <p:spPr>
          <a:xfrm>
            <a:off x="5099576" y="2317624"/>
            <a:ext cx="1479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35" idx="3"/>
            <a:endCxn id="26" idx="1"/>
          </p:cNvCxnSpPr>
          <p:nvPr/>
        </p:nvCxnSpPr>
        <p:spPr>
          <a:xfrm>
            <a:off x="5099576" y="2884521"/>
            <a:ext cx="1479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36" idx="3"/>
            <a:endCxn id="27" idx="1"/>
          </p:cNvCxnSpPr>
          <p:nvPr/>
        </p:nvCxnSpPr>
        <p:spPr>
          <a:xfrm>
            <a:off x="5099576" y="3464488"/>
            <a:ext cx="1479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37" idx="3"/>
            <a:endCxn id="28" idx="1"/>
          </p:cNvCxnSpPr>
          <p:nvPr/>
        </p:nvCxnSpPr>
        <p:spPr>
          <a:xfrm>
            <a:off x="5099576" y="3844858"/>
            <a:ext cx="1479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6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4" grpId="0" animBg="1"/>
      <p:bldP spid="35" grpId="0" animBg="1"/>
      <p:bldP spid="36" grpId="0" animBg="1"/>
      <p:bldP spid="37" grpId="0" animBg="1"/>
      <p:bldP spid="24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 smtClean="0">
                <a:solidFill>
                  <a:srgbClr val="C00000"/>
                </a:solidFill>
              </a:rPr>
              <a:t>1</a:t>
            </a:r>
            <a:r>
              <a:rPr kumimoji="1" lang="en-US" altLang="ko-KR" dirty="0"/>
              <a:t> </a:t>
            </a:r>
            <a:r>
              <a:rPr kumimoji="1" lang="en-US" altLang="ko-KR" dirty="0" smtClean="0"/>
              <a:t>to </a:t>
            </a:r>
            <a:r>
              <a:rPr kumimoji="1" lang="en-US" altLang="ko-KR" b="1" dirty="0" smtClean="0">
                <a:solidFill>
                  <a:schemeClr val="accent5"/>
                </a:solidFill>
              </a:rPr>
              <a:t>N</a:t>
            </a:r>
            <a:r>
              <a:rPr kumimoji="1" lang="en-US" altLang="ko-KR" dirty="0" smtClean="0"/>
              <a:t> relationship between </a:t>
            </a:r>
            <a:r>
              <a:rPr kumimoji="1" lang="en-US" altLang="ko-KR" b="1" dirty="0" smtClean="0">
                <a:solidFill>
                  <a:srgbClr val="C00000"/>
                </a:solidFill>
              </a:rPr>
              <a:t>image</a:t>
            </a:r>
            <a:r>
              <a:rPr kumimoji="1" lang="en-US" altLang="ko-KR" b="1" dirty="0" smtClean="0"/>
              <a:t> </a:t>
            </a:r>
            <a:r>
              <a:rPr kumimoji="1" lang="en-US" altLang="ko-KR" dirty="0" smtClean="0"/>
              <a:t>and </a:t>
            </a:r>
            <a:r>
              <a:rPr kumimoji="1" lang="en-US" altLang="ko-KR" b="1" dirty="0" smtClean="0">
                <a:solidFill>
                  <a:schemeClr val="accent5"/>
                </a:solidFill>
              </a:rPr>
              <a:t>container</a:t>
            </a:r>
            <a:endParaRPr kumimoji="1" lang="ko-KR" altLang="en-US" b="1" dirty="0">
              <a:solidFill>
                <a:schemeClr val="accent5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84" y="1009100"/>
            <a:ext cx="9425832" cy="6147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3084" y="1662997"/>
            <a:ext cx="5689943" cy="2031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3084" y="1909813"/>
            <a:ext cx="5689943" cy="20319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3084" y="2154027"/>
            <a:ext cx="5689943" cy="20319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3084" y="2403088"/>
            <a:ext cx="5689943" cy="20319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3084" y="2647302"/>
            <a:ext cx="5689943" cy="20319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084" y="2891516"/>
            <a:ext cx="6361783" cy="1424822"/>
          </a:xfrm>
          <a:prstGeom prst="rect">
            <a:avLst/>
          </a:prstGeom>
        </p:spPr>
      </p:pic>
      <p:sp>
        <p:nvSpPr>
          <p:cNvPr id="5" name="텍스트 상자 4"/>
          <p:cNvSpPr txBox="1"/>
          <p:nvPr/>
        </p:nvSpPr>
        <p:spPr>
          <a:xfrm>
            <a:off x="7241019" y="2073005"/>
            <a:ext cx="449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 smtClean="0"/>
              <a:t>Execute </a:t>
            </a:r>
            <a:r>
              <a:rPr kumimoji="1" lang="en-US" altLang="ko-KR" b="1" dirty="0" smtClean="0">
                <a:solidFill>
                  <a:schemeClr val="accent5"/>
                </a:solidFill>
              </a:rPr>
              <a:t>five containers</a:t>
            </a:r>
            <a:r>
              <a:rPr kumimoji="1" lang="en-US" altLang="ko-KR" dirty="0" smtClean="0"/>
              <a:t> from </a:t>
            </a:r>
            <a:r>
              <a:rPr kumimoji="1" lang="en-US" altLang="ko-KR" b="1" dirty="0" smtClean="0">
                <a:solidFill>
                  <a:srgbClr val="C00000"/>
                </a:solidFill>
              </a:rPr>
              <a:t>an image</a:t>
            </a:r>
            <a:endParaRPr kumimoji="1" lang="ko-KR" altLang="en-US" dirty="0"/>
          </a:p>
        </p:txBody>
      </p:sp>
      <p:sp>
        <p:nvSpPr>
          <p:cNvPr id="13" name="텍스트 상자 12"/>
          <p:cNvSpPr txBox="1"/>
          <p:nvPr/>
        </p:nvSpPr>
        <p:spPr>
          <a:xfrm>
            <a:off x="1302819" y="4672610"/>
            <a:ext cx="104926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b="1" dirty="0" smtClean="0"/>
              <a:t>Q)</a:t>
            </a:r>
            <a:r>
              <a:rPr kumimoji="1" lang="en-US" altLang="ko-KR" sz="2400" dirty="0" smtClean="0"/>
              <a:t> Five containers take up 2,445MB (=489MB*5) in the host?</a:t>
            </a:r>
          </a:p>
          <a:p>
            <a:endParaRPr kumimoji="1" lang="en-US" altLang="ko-KR" sz="2400" dirty="0" smtClean="0"/>
          </a:p>
          <a:p>
            <a:r>
              <a:rPr kumimoji="1" lang="en-US" altLang="ko-KR" sz="3200" b="1" dirty="0" smtClean="0"/>
              <a:t>A)</a:t>
            </a:r>
            <a:r>
              <a:rPr kumimoji="1" lang="en-US" altLang="ko-KR" sz="2400" dirty="0" smtClean="0"/>
              <a:t> No due to </a:t>
            </a:r>
            <a:r>
              <a:rPr kumimoji="1" lang="en-US" altLang="ko-KR" sz="2400" b="1" dirty="0" smtClean="0">
                <a:solidFill>
                  <a:srgbClr val="FF0000"/>
                </a:solidFill>
              </a:rPr>
              <a:t>image layering &amp; sharing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9962984" y="1152939"/>
            <a:ext cx="845932" cy="470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954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C00000"/>
                </a:solidFill>
              </a:rPr>
              <a:t>Images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consists of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</a:rPr>
              <a:t>layers</a:t>
            </a:r>
            <a:r>
              <a:rPr lang="en-US" altLang="ko-KR" b="1" dirty="0"/>
              <a:t> </a:t>
            </a:r>
            <a:r>
              <a:rPr lang="en-US" altLang="ko-KR" dirty="0" smtClean="0"/>
              <a:t>each of which is </a:t>
            </a:r>
            <a:r>
              <a:rPr lang="en-US" altLang="ko-KR" b="1" dirty="0" smtClean="0"/>
              <a:t>a set of files</a:t>
            </a:r>
            <a:endParaRPr lang="ko-KR" altLang="en-US" b="1" dirty="0"/>
          </a:p>
        </p:txBody>
      </p:sp>
      <p:sp>
        <p:nvSpPr>
          <p:cNvPr id="56" name="내용 개체 틀 55"/>
          <p:cNvSpPr>
            <a:spLocks noGrp="1"/>
          </p:cNvSpPr>
          <p:nvPr>
            <p:ph idx="1"/>
          </p:nvPr>
        </p:nvSpPr>
        <p:spPr>
          <a:xfrm>
            <a:off x="838200" y="4574273"/>
            <a:ext cx="10515600" cy="1736881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kumimoji="1" lang="en-US" altLang="ko-KR" sz="2600" b="1" dirty="0" smtClean="0"/>
              <a:t>Instructions</a:t>
            </a:r>
            <a:r>
              <a:rPr kumimoji="1" lang="en-US" altLang="ko-KR" sz="2600" dirty="0" smtClean="0"/>
              <a:t> (FROM, RUN, CMD, </a:t>
            </a:r>
            <a:r>
              <a:rPr kumimoji="1" lang="en-US" altLang="ko-KR" sz="2600" dirty="0" err="1" smtClean="0"/>
              <a:t>etc</a:t>
            </a:r>
            <a:r>
              <a:rPr kumimoji="1" lang="en-US" altLang="ko-KR" sz="2600" dirty="0" smtClean="0"/>
              <a:t>)</a:t>
            </a:r>
            <a:r>
              <a:rPr kumimoji="1" lang="en-US" altLang="ko-KR" sz="2600" b="1" dirty="0" smtClean="0"/>
              <a:t> </a:t>
            </a:r>
            <a:r>
              <a:rPr kumimoji="1" lang="en-US" altLang="ko-KR" sz="2600" dirty="0" smtClean="0"/>
              <a:t>create </a:t>
            </a:r>
            <a:r>
              <a:rPr kumimoji="1" lang="en-US" altLang="ko-KR" sz="2600" b="1" dirty="0" smtClean="0"/>
              <a:t>layers</a:t>
            </a:r>
          </a:p>
          <a:p>
            <a:pPr marL="800100" lvl="1" indent="-342900">
              <a:buFont typeface="Arial" charset="0"/>
              <a:buChar char="•"/>
            </a:pPr>
            <a:r>
              <a:rPr kumimoji="1" lang="en-US" altLang="ko-KR" sz="2400" b="1" dirty="0" smtClean="0"/>
              <a:t>Base images</a:t>
            </a:r>
            <a:r>
              <a:rPr kumimoji="1" lang="en-US" altLang="ko-KR" sz="2400" dirty="0" smtClean="0"/>
              <a:t> (imported by “FROM”) also consist of layers</a:t>
            </a:r>
            <a:endParaRPr kumimoji="1" lang="en-US" altLang="ko-KR" sz="2600" dirty="0" smtClean="0"/>
          </a:p>
          <a:p>
            <a:pPr marL="342900" indent="-342900">
              <a:buFont typeface="Arial" charset="0"/>
              <a:buChar char="•"/>
            </a:pPr>
            <a:r>
              <a:rPr kumimoji="1" lang="en-US" altLang="ko-KR" sz="2600" dirty="0" smtClean="0"/>
              <a:t>If </a:t>
            </a:r>
            <a:r>
              <a:rPr kumimoji="1" lang="en-US" altLang="ko-KR" sz="2600" dirty="0"/>
              <a:t>a file exists in multiple layers, </a:t>
            </a:r>
            <a:r>
              <a:rPr kumimoji="1" lang="en-US" altLang="ko-KR" sz="2600" dirty="0" smtClean="0"/>
              <a:t>the one in the </a:t>
            </a:r>
            <a:r>
              <a:rPr kumimoji="1" lang="en-US" altLang="ko-KR" sz="2600" dirty="0"/>
              <a:t>upper </a:t>
            </a:r>
            <a:r>
              <a:rPr kumimoji="1" lang="en-US" altLang="ko-KR" sz="2600" dirty="0" smtClean="0"/>
              <a:t>layer is seen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08" y="1803098"/>
            <a:ext cx="5178639" cy="2132543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6103408" y="1803098"/>
            <a:ext cx="5178639" cy="4410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103408" y="2244117"/>
            <a:ext cx="5178639" cy="9021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6103408" y="3146248"/>
            <a:ext cx="5178639" cy="4719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103408" y="3627253"/>
            <a:ext cx="5178639" cy="4310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204659" y="1802982"/>
            <a:ext cx="3941125" cy="22553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8" name="텍스트 상자 27"/>
          <p:cNvSpPr txBox="1"/>
          <p:nvPr/>
        </p:nvSpPr>
        <p:spPr>
          <a:xfrm>
            <a:off x="7813706" y="1411302"/>
            <a:ext cx="1765952" cy="343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 err="1" smtClean="0"/>
              <a:t>Dockerfile</a:t>
            </a:r>
            <a:endParaRPr kumimoji="1" lang="ko-KR" altLang="en-US" sz="2000" b="1" dirty="0"/>
          </a:p>
        </p:txBody>
      </p:sp>
      <p:cxnSp>
        <p:nvCxnSpPr>
          <p:cNvPr id="30" name="직선 화살표 연결선 29"/>
          <p:cNvCxnSpPr>
            <a:stCxn id="18" idx="1"/>
            <a:endCxn id="13" idx="3"/>
          </p:cNvCxnSpPr>
          <p:nvPr/>
        </p:nvCxnSpPr>
        <p:spPr>
          <a:xfrm flipH="1">
            <a:off x="5034775" y="2023608"/>
            <a:ext cx="1068633" cy="1472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9" idx="1"/>
            <a:endCxn id="14" idx="3"/>
          </p:cNvCxnSpPr>
          <p:nvPr/>
        </p:nvCxnSpPr>
        <p:spPr>
          <a:xfrm flipH="1">
            <a:off x="5034775" y="2695183"/>
            <a:ext cx="1068633" cy="93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0" idx="1"/>
            <a:endCxn id="15" idx="3"/>
          </p:cNvCxnSpPr>
          <p:nvPr/>
        </p:nvCxnSpPr>
        <p:spPr>
          <a:xfrm flipH="1" flipV="1">
            <a:off x="5034775" y="2428088"/>
            <a:ext cx="1068633" cy="954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21" idx="1"/>
            <a:endCxn id="22" idx="3"/>
          </p:cNvCxnSpPr>
          <p:nvPr/>
        </p:nvCxnSpPr>
        <p:spPr>
          <a:xfrm flipH="1" flipV="1">
            <a:off x="5034775" y="2067375"/>
            <a:ext cx="1068633" cy="177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312236" y="2995014"/>
            <a:ext cx="3722539" cy="10022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ko-KR" sz="1400" b="1" dirty="0" smtClean="0">
                <a:solidFill>
                  <a:srgbClr val="C00000"/>
                </a:solidFill>
              </a:rPr>
              <a:t>Base </a:t>
            </a:r>
            <a:r>
              <a:rPr kumimoji="1" lang="en-US" altLang="ko-KR" sz="1400" b="1" dirty="0" err="1" smtClean="0">
                <a:solidFill>
                  <a:srgbClr val="C00000"/>
                </a:solidFill>
              </a:rPr>
              <a:t>ubuntu</a:t>
            </a:r>
            <a:r>
              <a:rPr kumimoji="1" lang="en-US" altLang="ko-KR" sz="1400" b="1" dirty="0" smtClean="0">
                <a:solidFill>
                  <a:srgbClr val="C00000"/>
                </a:solidFill>
              </a:rPr>
              <a:t> image</a:t>
            </a:r>
            <a:endParaRPr kumimoji="1" lang="ko-KR" altLang="en-US" sz="1400" b="1" dirty="0"/>
          </a:p>
        </p:txBody>
      </p:sp>
      <p:sp>
        <p:nvSpPr>
          <p:cNvPr id="14" name="직사각형 13"/>
          <p:cNvSpPr/>
          <p:nvPr/>
        </p:nvSpPr>
        <p:spPr>
          <a:xfrm>
            <a:off x="1312237" y="2634300"/>
            <a:ext cx="3722538" cy="3090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Layer </a:t>
            </a:r>
            <a:r>
              <a:rPr kumimoji="1" lang="en-US" altLang="ko-KR" sz="1200" dirty="0" smtClean="0"/>
              <a:t>(apt-get install python-dev python-pip)</a:t>
            </a:r>
            <a:endParaRPr kumimoji="1"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1312237" y="2273586"/>
            <a:ext cx="3722538" cy="3090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Layer </a:t>
            </a:r>
            <a:r>
              <a:rPr kumimoji="1" lang="en-US" altLang="ko-KR" sz="1200" dirty="0" smtClean="0"/>
              <a:t>(pip install </a:t>
            </a:r>
            <a:r>
              <a:rPr kumimoji="1" lang="en-US" altLang="ko-KR" sz="1200" dirty="0" err="1" smtClean="0"/>
              <a:t>numpy</a:t>
            </a:r>
            <a:r>
              <a:rPr kumimoji="1" lang="en-US" altLang="ko-KR" sz="1200" dirty="0" smtClean="0"/>
              <a:t>)</a:t>
            </a:r>
            <a:endParaRPr kumimoji="1" lang="ko-KR" altLang="en-US" sz="1200" dirty="0"/>
          </a:p>
        </p:txBody>
      </p:sp>
      <p:sp>
        <p:nvSpPr>
          <p:cNvPr id="22" name="직사각형 21"/>
          <p:cNvSpPr/>
          <p:nvPr/>
        </p:nvSpPr>
        <p:spPr>
          <a:xfrm>
            <a:off x="1312237" y="1912873"/>
            <a:ext cx="3722538" cy="3090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Layer</a:t>
            </a:r>
            <a:endParaRPr kumimoji="1" lang="ko-KR" altLang="en-US" sz="1400" dirty="0"/>
          </a:p>
        </p:txBody>
      </p:sp>
      <p:sp>
        <p:nvSpPr>
          <p:cNvPr id="25" name="직사각형 24"/>
          <p:cNvSpPr/>
          <p:nvPr/>
        </p:nvSpPr>
        <p:spPr>
          <a:xfrm>
            <a:off x="1445883" y="3274817"/>
            <a:ext cx="3500548" cy="21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Layer (files)</a:t>
            </a:r>
            <a:endParaRPr kumimoji="1" lang="ko-KR" altLang="en-US" sz="1400" dirty="0"/>
          </a:p>
        </p:txBody>
      </p:sp>
      <p:sp>
        <p:nvSpPr>
          <p:cNvPr id="26" name="직사각형 25"/>
          <p:cNvSpPr/>
          <p:nvPr/>
        </p:nvSpPr>
        <p:spPr>
          <a:xfrm>
            <a:off x="1445883" y="3490817"/>
            <a:ext cx="3500548" cy="21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Layer (files)</a:t>
            </a:r>
            <a:endParaRPr kumimoji="1" lang="ko-KR" altLang="en-US" sz="1400" dirty="0"/>
          </a:p>
        </p:txBody>
      </p:sp>
      <p:sp>
        <p:nvSpPr>
          <p:cNvPr id="27" name="직사각형 26"/>
          <p:cNvSpPr/>
          <p:nvPr/>
        </p:nvSpPr>
        <p:spPr>
          <a:xfrm>
            <a:off x="1445883" y="3707534"/>
            <a:ext cx="3500548" cy="21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400" dirty="0" smtClean="0"/>
              <a:t>Layer (files)</a:t>
            </a:r>
            <a:endParaRPr kumimoji="1" lang="ko-KR" altLang="en-US" sz="1400" dirty="0"/>
          </a:p>
        </p:txBody>
      </p:sp>
      <p:sp>
        <p:nvSpPr>
          <p:cNvPr id="46" name="직사각형 45"/>
          <p:cNvSpPr/>
          <p:nvPr/>
        </p:nvSpPr>
        <p:spPr>
          <a:xfrm>
            <a:off x="1737828" y="1357932"/>
            <a:ext cx="28713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000" b="1" dirty="0" smtClean="0">
                <a:solidFill>
                  <a:srgbClr val="C00000"/>
                </a:solidFill>
              </a:rPr>
              <a:t>Image</a:t>
            </a:r>
            <a:endParaRPr kumimoji="1"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061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13" grpId="0" animBg="1"/>
      <p:bldP spid="14" grpId="0" animBg="1"/>
      <p:bldP spid="15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Docker container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070072"/>
            <a:ext cx="6443444" cy="2814838"/>
          </a:xfrm>
        </p:spPr>
        <p:txBody>
          <a:bodyPr>
            <a:noAutofit/>
          </a:bodyPr>
          <a:lstStyle/>
          <a:p>
            <a:r>
              <a:rPr kumimoji="1" lang="en-US" altLang="ko-KR" sz="2400" b="1" dirty="0" smtClean="0"/>
              <a:t>A container </a:t>
            </a:r>
            <a:r>
              <a:rPr kumimoji="1" lang="en-US" altLang="ko-KR" sz="2400" dirty="0" smtClean="0"/>
              <a:t>is just </a:t>
            </a:r>
            <a:r>
              <a:rPr kumimoji="1" lang="en-US" altLang="ko-KR" sz="2400" b="1" dirty="0" smtClean="0">
                <a:solidFill>
                  <a:srgbClr val="FF0000"/>
                </a:solidFill>
              </a:rPr>
              <a:t>a thin read/write layer</a:t>
            </a:r>
          </a:p>
          <a:p>
            <a:pPr lvl="1"/>
            <a:r>
              <a:rPr kumimoji="1" lang="en-US" altLang="ko-KR" sz="2000" dirty="0" smtClean="0"/>
              <a:t>base images are not copied to containers</a:t>
            </a:r>
          </a:p>
          <a:p>
            <a:pPr lvl="1"/>
            <a:endParaRPr kumimoji="1" lang="en-US" altLang="ko-KR" sz="2400" dirty="0" smtClean="0"/>
          </a:p>
          <a:p>
            <a:pPr marL="228600" lvl="1">
              <a:spcBef>
                <a:spcPts val="1000"/>
              </a:spcBef>
            </a:pPr>
            <a:r>
              <a:rPr kumimoji="1" lang="en-US" altLang="ko-KR" sz="2400" dirty="0"/>
              <a:t>Copy-On-Write (</a:t>
            </a:r>
            <a:r>
              <a:rPr kumimoji="1" lang="en-US" altLang="ko-KR" sz="2400" b="1" dirty="0"/>
              <a:t>COW</a:t>
            </a:r>
            <a:r>
              <a:rPr kumimoji="1" lang="en-US" altLang="ko-KR" sz="2400" dirty="0" smtClean="0"/>
              <a:t>)</a:t>
            </a:r>
            <a:endParaRPr kumimoji="1" lang="en-US" altLang="ko-KR" sz="3200" dirty="0" smtClean="0"/>
          </a:p>
          <a:p>
            <a:pPr lvl="1"/>
            <a:r>
              <a:rPr kumimoji="1" lang="en-US" altLang="ko-KR" sz="2200" dirty="0" smtClean="0"/>
              <a:t>When </a:t>
            </a:r>
            <a:r>
              <a:rPr kumimoji="1" lang="en-US" altLang="ko-KR" sz="2200" b="1" dirty="0" smtClean="0"/>
              <a:t>a file in the base image </a:t>
            </a:r>
            <a:r>
              <a:rPr kumimoji="1" lang="en-US" altLang="ko-KR" sz="2200" dirty="0" smtClean="0"/>
              <a:t>is modified,</a:t>
            </a:r>
            <a:endParaRPr kumimoji="1" lang="en-US" altLang="ko-KR" sz="2200" dirty="0"/>
          </a:p>
          <a:p>
            <a:pPr lvl="2"/>
            <a:r>
              <a:rPr kumimoji="1" lang="en-US" altLang="ko-KR" sz="2000" b="1" dirty="0" smtClean="0"/>
              <a:t>copy </a:t>
            </a:r>
            <a:r>
              <a:rPr kumimoji="1" lang="en-US" altLang="ko-KR" sz="2000" dirty="0" smtClean="0"/>
              <a:t>the file to the R/W layer</a:t>
            </a:r>
          </a:p>
          <a:p>
            <a:pPr lvl="2"/>
            <a:r>
              <a:rPr kumimoji="1" lang="en-US" altLang="ko-KR" sz="2000" dirty="0" smtClean="0"/>
              <a:t>and </a:t>
            </a:r>
            <a:r>
              <a:rPr kumimoji="1" lang="en-US" altLang="ko-KR" sz="2000" b="1" dirty="0" smtClean="0"/>
              <a:t>then modify </a:t>
            </a:r>
            <a:r>
              <a:rPr kumimoji="1" lang="en-US" altLang="ko-KR" sz="2000" dirty="0" smtClean="0"/>
              <a:t>the copied file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151" y="1967420"/>
            <a:ext cx="4578926" cy="318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0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Image sharing between containers</a:t>
            </a:r>
            <a:endParaRPr kumimoji="1"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265" y="1262532"/>
            <a:ext cx="5809484" cy="3588432"/>
          </a:xfrm>
          <a:prstGeom prst="rect">
            <a:avLst/>
          </a:prstGeom>
        </p:spPr>
      </p:pic>
      <p:sp>
        <p:nvSpPr>
          <p:cNvPr id="17" name="텍스트 상자 16"/>
          <p:cNvSpPr txBox="1"/>
          <p:nvPr/>
        </p:nvSpPr>
        <p:spPr>
          <a:xfrm>
            <a:off x="976394" y="5105727"/>
            <a:ext cx="10115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b="1" dirty="0" smtClean="0"/>
              <a:t>ubuntu:15.04 image (~188MB) </a:t>
            </a:r>
            <a:r>
              <a:rPr kumimoji="1" lang="en-US" altLang="ko-KR" sz="2400" dirty="0" smtClean="0"/>
              <a:t>does not copied to </a:t>
            </a:r>
            <a:r>
              <a:rPr kumimoji="1" lang="en-US" altLang="ko-KR" sz="2400" smtClean="0"/>
              <a:t>all containers</a:t>
            </a:r>
            <a:endParaRPr kumimoji="1"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35729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Layer sharing between images</a:t>
            </a:r>
            <a:endParaRPr kumimoji="1" lang="en-US" altLang="ko-KR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154" y="4677512"/>
            <a:ext cx="5291537" cy="12156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8"/>
          <a:stretch/>
        </p:blipFill>
        <p:spPr>
          <a:xfrm>
            <a:off x="6393239" y="4677512"/>
            <a:ext cx="5291537" cy="1215650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49151" y="5221746"/>
            <a:ext cx="11035625" cy="66227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텍스트 상자 15"/>
          <p:cNvSpPr txBox="1"/>
          <p:nvPr/>
        </p:nvSpPr>
        <p:spPr>
          <a:xfrm>
            <a:off x="649152" y="1451824"/>
            <a:ext cx="93950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 smtClean="0"/>
              <a:t>If multiple </a:t>
            </a:r>
            <a:r>
              <a:rPr kumimoji="1" lang="en-US" altLang="ko-KR" sz="2000" dirty="0" err="1" smtClean="0"/>
              <a:t>Dockerfiles</a:t>
            </a:r>
            <a:endParaRPr kumimoji="1" lang="en-US" altLang="ko-KR" sz="2000" dirty="0" smtClean="0"/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000" dirty="0" smtClean="0"/>
              <a:t>start from the same base image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000" dirty="0" smtClean="0"/>
              <a:t>share a sequence of instructions (one RUN instruction in a below example)</a:t>
            </a:r>
            <a:endParaRPr kumimoji="1" lang="ko-KR" altLang="en-US" sz="2000" dirty="0"/>
          </a:p>
        </p:txBody>
      </p:sp>
      <p:sp>
        <p:nvSpPr>
          <p:cNvPr id="17" name="텍스트 상자 16"/>
          <p:cNvSpPr txBox="1"/>
          <p:nvPr/>
        </p:nvSpPr>
        <p:spPr>
          <a:xfrm>
            <a:off x="649151" y="4129816"/>
            <a:ext cx="69372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 smtClean="0"/>
              <a:t>, then </a:t>
            </a:r>
            <a:r>
              <a:rPr kumimoji="1" lang="en-US" altLang="ko-KR" sz="2000" dirty="0" err="1" smtClean="0"/>
              <a:t>docker</a:t>
            </a:r>
            <a:r>
              <a:rPr kumimoji="1" lang="en-US" altLang="ko-KR" sz="2000" dirty="0" smtClean="0"/>
              <a:t> engine </a:t>
            </a:r>
            <a:r>
              <a:rPr kumimoji="1" lang="en-US" altLang="ko-KR" sz="2000" dirty="0"/>
              <a:t>automatically </a:t>
            </a:r>
            <a:r>
              <a:rPr kumimoji="1" lang="en-US" altLang="ko-KR" sz="2000" dirty="0" smtClean="0"/>
              <a:t>reuses existing layers </a:t>
            </a:r>
            <a:endParaRPr kumimoji="1" lang="en-US" altLang="ko-KR" sz="160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0346" y="2481998"/>
            <a:ext cx="3247224" cy="12911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4430" y="2481998"/>
            <a:ext cx="3247224" cy="129111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600345" y="2481999"/>
            <a:ext cx="8991309" cy="23322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600345" y="2715223"/>
            <a:ext cx="8991309" cy="510198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137012" y="1810828"/>
            <a:ext cx="3810000" cy="31447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137012" y="2125299"/>
            <a:ext cx="3853442" cy="29611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649152" y="5100519"/>
            <a:ext cx="11035624" cy="124689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600" dirty="0"/>
          </a:p>
        </p:txBody>
      </p:sp>
      <p:sp>
        <p:nvSpPr>
          <p:cNvPr id="24" name="텍스트 상자 23"/>
          <p:cNvSpPr txBox="1"/>
          <p:nvPr/>
        </p:nvSpPr>
        <p:spPr>
          <a:xfrm>
            <a:off x="3138063" y="3471007"/>
            <a:ext cx="1709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 err="1" smtClean="0"/>
              <a:t>numpy</a:t>
            </a:r>
            <a:r>
              <a:rPr kumimoji="1" lang="en-US" altLang="ko-KR" sz="1400" b="1" dirty="0" smtClean="0"/>
              <a:t> </a:t>
            </a:r>
            <a:r>
              <a:rPr kumimoji="1" lang="en-US" altLang="ko-KR" sz="1400" b="1" dirty="0" err="1" smtClean="0"/>
              <a:t>Dockerfile</a:t>
            </a:r>
            <a:endParaRPr kumimoji="1" lang="ko-KR" altLang="en-US" sz="1400" b="1" dirty="0"/>
          </a:p>
        </p:txBody>
      </p:sp>
      <p:sp>
        <p:nvSpPr>
          <p:cNvPr id="25" name="텍스트 상자 24"/>
          <p:cNvSpPr txBox="1"/>
          <p:nvPr/>
        </p:nvSpPr>
        <p:spPr>
          <a:xfrm>
            <a:off x="8588798" y="3462800"/>
            <a:ext cx="2002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 err="1" smtClean="0"/>
              <a:t>matplotlib</a:t>
            </a:r>
            <a:r>
              <a:rPr kumimoji="1" lang="en-US" altLang="ko-KR" sz="1400" b="1" dirty="0" smtClean="0"/>
              <a:t> </a:t>
            </a:r>
            <a:r>
              <a:rPr kumimoji="1" lang="en-US" altLang="ko-KR" sz="1400" b="1" dirty="0" err="1" smtClean="0"/>
              <a:t>Dockerfile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3562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 animBg="1"/>
      <p:bldP spid="18" grpId="0" animBg="1"/>
      <p:bldP spid="19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of stacking </a:t>
            </a:r>
            <a:r>
              <a:rPr lang="en-US" altLang="ko-KR" dirty="0" err="1" smtClean="0"/>
              <a:t>docker</a:t>
            </a:r>
            <a:r>
              <a:rPr lang="en-US" altLang="ko-KR" dirty="0" smtClean="0"/>
              <a:t> images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2859045" y="4976556"/>
            <a:ext cx="1344800" cy="1555842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200" dirty="0" smtClean="0">
                <a:solidFill>
                  <a:schemeClr val="tx1"/>
                </a:solidFill>
              </a:rPr>
              <a:t>Kafka broker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4559947" y="4976556"/>
            <a:ext cx="4248418" cy="1553345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200" dirty="0" err="1" smtClean="0">
                <a:solidFill>
                  <a:schemeClr val="tx1"/>
                </a:solidFill>
              </a:rPr>
              <a:t>PdM</a:t>
            </a:r>
            <a:r>
              <a:rPr kumimoji="1" lang="en-US" altLang="ko-KR" sz="1200" dirty="0" smtClean="0">
                <a:solidFill>
                  <a:schemeClr val="tx1"/>
                </a:solidFill>
              </a:rPr>
              <a:t> engine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913431" y="2690968"/>
            <a:ext cx="1253519" cy="394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accent2"/>
                </a:solidFill>
              </a:rPr>
              <a:t> </a:t>
            </a:r>
            <a:r>
              <a:rPr kumimoji="1" lang="en-US" altLang="ko-KR" sz="1200" b="1" dirty="0" err="1" smtClean="0">
                <a:solidFill>
                  <a:schemeClr val="accent2"/>
                </a:solidFill>
              </a:rPr>
              <a:t>kafka</a:t>
            </a:r>
            <a:r>
              <a:rPr kumimoji="1" lang="en-US" altLang="ko-KR" sz="1200" b="1" dirty="0" smtClean="0">
                <a:solidFill>
                  <a:schemeClr val="accent2"/>
                </a:solidFill>
              </a:rPr>
              <a:t> </a:t>
            </a:r>
          </a:p>
          <a:p>
            <a:pPr algn="ctr"/>
            <a:r>
              <a:rPr kumimoji="1" lang="en-US" altLang="ko-KR" sz="1200" b="1" dirty="0" smtClean="0">
                <a:solidFill>
                  <a:schemeClr val="accent2"/>
                </a:solidFill>
              </a:rPr>
              <a:t>(with </a:t>
            </a:r>
            <a:r>
              <a:rPr kumimoji="1" lang="en-US" altLang="ko-KR" sz="1200" b="1" dirty="0" err="1" smtClean="0">
                <a:solidFill>
                  <a:schemeClr val="accent2"/>
                </a:solidFill>
              </a:rPr>
              <a:t>scala</a:t>
            </a:r>
            <a:r>
              <a:rPr kumimoji="1" lang="en-US" altLang="ko-KR" sz="1200" b="1" dirty="0" smtClean="0">
                <a:solidFill>
                  <a:schemeClr val="accent2"/>
                </a:solidFill>
              </a:rPr>
              <a:t>)</a:t>
            </a:r>
            <a:endParaRPr kumimoji="1" lang="ko-KR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223349" y="2408542"/>
            <a:ext cx="15640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dirty="0" smtClean="0">
                <a:solidFill>
                  <a:schemeClr val="accent5"/>
                </a:solidFill>
              </a:rPr>
              <a:t>Zookeeper</a:t>
            </a:r>
            <a:endParaRPr kumimoji="1" lang="en-US" altLang="ko-KR" sz="1600" b="1" dirty="0">
              <a:solidFill>
                <a:schemeClr val="accent5"/>
              </a:solidFill>
            </a:endParaRPr>
          </a:p>
          <a:p>
            <a:pPr algn="ctr"/>
            <a:r>
              <a:rPr kumimoji="1" lang="en-US" altLang="ko-KR" sz="1600" b="1" dirty="0" smtClean="0">
                <a:solidFill>
                  <a:schemeClr val="accent5"/>
                </a:solidFill>
              </a:rPr>
              <a:t>container</a:t>
            </a:r>
            <a:endParaRPr kumimoji="1" lang="ko-KR" altLang="en-US" sz="1600" b="1" dirty="0">
              <a:solidFill>
                <a:schemeClr val="accent5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859045" y="1993223"/>
            <a:ext cx="13643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dirty="0" smtClean="0">
                <a:solidFill>
                  <a:schemeClr val="accent2"/>
                </a:solidFill>
              </a:rPr>
              <a:t>Kafka</a:t>
            </a:r>
          </a:p>
          <a:p>
            <a:pPr algn="ctr"/>
            <a:r>
              <a:rPr kumimoji="1" lang="en-US" altLang="ko-KR" sz="1600" b="1" dirty="0" smtClean="0">
                <a:solidFill>
                  <a:schemeClr val="accent2"/>
                </a:solidFill>
              </a:rPr>
              <a:t>container</a:t>
            </a:r>
            <a:endParaRPr kumimoji="1" lang="ko-KR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385643" y="1244963"/>
            <a:ext cx="2237192" cy="5539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PdM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 engine</a:t>
            </a:r>
          </a:p>
          <a:p>
            <a:pPr algn="ctr"/>
            <a:r>
              <a:rPr kumimoji="1" lang="en-US" altLang="ko-KR" sz="1200" b="1" dirty="0" smtClean="0">
                <a:solidFill>
                  <a:schemeClr val="accent6"/>
                </a:solidFill>
              </a:rPr>
              <a:t>(</a:t>
            </a:r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librdkafka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, </a:t>
            </a:r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avro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, flask)</a:t>
            </a:r>
            <a:endParaRPr kumimoji="1" lang="ko-KR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814839" y="2275267"/>
            <a:ext cx="2223717" cy="3653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cuda</a:t>
            </a:r>
            <a:endParaRPr kumimoji="1" lang="en-US" altLang="ko-KR" sz="1200" b="1" dirty="0" smtClean="0">
              <a:solidFill>
                <a:schemeClr val="accent6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814840" y="1243766"/>
            <a:ext cx="2219700" cy="5539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PdM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 </a:t>
            </a:r>
            <a:r>
              <a:rPr kumimoji="1" lang="en-US" altLang="ko-KR" sz="1200" b="1" dirty="0">
                <a:solidFill>
                  <a:schemeClr val="accent6"/>
                </a:solidFill>
              </a:rPr>
              <a:t>engine</a:t>
            </a:r>
          </a:p>
          <a:p>
            <a:pPr algn="ctr"/>
            <a:r>
              <a:rPr kumimoji="1" lang="en-US" altLang="ko-KR" sz="1200" b="1" dirty="0">
                <a:solidFill>
                  <a:schemeClr val="accent6"/>
                </a:solidFill>
              </a:rPr>
              <a:t>(</a:t>
            </a:r>
            <a:r>
              <a:rPr kumimoji="1" lang="en-US" altLang="ko-KR" sz="1200" b="1" dirty="0" err="1">
                <a:solidFill>
                  <a:schemeClr val="accent6"/>
                </a:solidFill>
              </a:rPr>
              <a:t>librdkafka</a:t>
            </a:r>
            <a:r>
              <a:rPr kumimoji="1" lang="en-US" altLang="ko-KR" sz="1200" b="1" dirty="0">
                <a:solidFill>
                  <a:schemeClr val="accent6"/>
                </a:solidFill>
              </a:rPr>
              <a:t>, </a:t>
            </a:r>
            <a:r>
              <a:rPr kumimoji="1" lang="en-US" altLang="ko-KR" sz="1200" b="1" dirty="0" err="1">
                <a:solidFill>
                  <a:schemeClr val="accent6"/>
                </a:solidFill>
              </a:rPr>
              <a:t>avro</a:t>
            </a:r>
            <a:r>
              <a:rPr kumimoji="1" lang="en-US" altLang="ko-KR" sz="1200" b="1" dirty="0">
                <a:solidFill>
                  <a:schemeClr val="accent6"/>
                </a:solidFill>
              </a:rPr>
              <a:t>, flask)</a:t>
            </a:r>
            <a:endParaRPr kumimoji="1" lang="ko-KR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387392" y="2678644"/>
            <a:ext cx="4640350" cy="3915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scipy</a:t>
            </a:r>
            <a:endParaRPr kumimoji="1" lang="en-US" altLang="ko-KR" sz="1200" b="1" dirty="0" smtClean="0">
              <a:solidFill>
                <a:schemeClr val="accent6"/>
              </a:solidFill>
            </a:endParaRPr>
          </a:p>
          <a:p>
            <a:pPr algn="ctr"/>
            <a:r>
              <a:rPr kumimoji="1" lang="en-US" altLang="ko-KR" sz="1000" b="1" dirty="0" smtClean="0">
                <a:solidFill>
                  <a:schemeClr val="accent6"/>
                </a:solidFill>
              </a:rPr>
              <a:t>(</a:t>
            </a:r>
            <a:r>
              <a:rPr kumimoji="1" lang="en-US" altLang="ko-KR" sz="1000" b="1" dirty="0" err="1" smtClean="0">
                <a:solidFill>
                  <a:schemeClr val="accent6"/>
                </a:solidFill>
              </a:rPr>
              <a:t>numpy</a:t>
            </a:r>
            <a:r>
              <a:rPr kumimoji="1" lang="en-US" altLang="ko-KR" sz="1000" b="1" dirty="0" smtClean="0">
                <a:solidFill>
                  <a:schemeClr val="accent6"/>
                </a:solidFill>
              </a:rPr>
              <a:t>, </a:t>
            </a:r>
            <a:r>
              <a:rPr kumimoji="1" lang="en-US" altLang="ko-KR" sz="1000" b="1" dirty="0" err="1" smtClean="0">
                <a:solidFill>
                  <a:schemeClr val="accent6"/>
                </a:solidFill>
              </a:rPr>
              <a:t>scipy</a:t>
            </a:r>
            <a:r>
              <a:rPr kumimoji="1" lang="en-US" altLang="ko-KR" sz="1000" b="1" dirty="0" smtClean="0">
                <a:solidFill>
                  <a:schemeClr val="accent6"/>
                </a:solidFill>
              </a:rPr>
              <a:t>, </a:t>
            </a:r>
            <a:r>
              <a:rPr kumimoji="1" lang="en-US" altLang="ko-KR" sz="1000" b="1" dirty="0" err="1" smtClean="0">
                <a:solidFill>
                  <a:schemeClr val="accent6"/>
                </a:solidFill>
              </a:rPr>
              <a:t>matplotlib</a:t>
            </a:r>
            <a:r>
              <a:rPr kumimoji="1" lang="en-US" altLang="ko-KR" sz="1000" b="1" dirty="0" smtClean="0">
                <a:solidFill>
                  <a:schemeClr val="accent6"/>
                </a:solidFill>
              </a:rPr>
              <a:t>, </a:t>
            </a:r>
            <a:r>
              <a:rPr kumimoji="1" lang="en-US" altLang="ko-KR" sz="1000" b="1" dirty="0" err="1" smtClean="0">
                <a:solidFill>
                  <a:schemeClr val="accent6"/>
                </a:solidFill>
              </a:rPr>
              <a:t>ipython</a:t>
            </a:r>
            <a:r>
              <a:rPr kumimoji="1" lang="en-US" altLang="ko-KR" sz="1000" b="1" dirty="0">
                <a:solidFill>
                  <a:schemeClr val="accent6"/>
                </a:solidFill>
              </a:rPr>
              <a:t>, </a:t>
            </a:r>
            <a:r>
              <a:rPr kumimoji="1" lang="en-US" altLang="ko-KR" sz="1000" b="1" dirty="0" err="1" smtClean="0">
                <a:solidFill>
                  <a:schemeClr val="accent6"/>
                </a:solidFill>
              </a:rPr>
              <a:t>jupyter</a:t>
            </a:r>
            <a:r>
              <a:rPr kumimoji="1" lang="en-US" altLang="ko-KR" sz="1000" b="1" dirty="0" smtClean="0">
                <a:solidFill>
                  <a:schemeClr val="accent6"/>
                </a:solidFill>
              </a:rPr>
              <a:t>, pandas, </a:t>
            </a:r>
            <a:r>
              <a:rPr kumimoji="1" lang="en-US" altLang="ko-KR" sz="1000" b="1" dirty="0" err="1" smtClean="0">
                <a:solidFill>
                  <a:schemeClr val="accent6"/>
                </a:solidFill>
              </a:rPr>
              <a:t>scikit</a:t>
            </a:r>
            <a:r>
              <a:rPr kumimoji="1" lang="en-US" altLang="ko-KR" sz="1000" b="1" dirty="0" smtClean="0">
                <a:solidFill>
                  <a:schemeClr val="accent6"/>
                </a:solidFill>
              </a:rPr>
              <a:t>-learn, h5py)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6814839" y="1864113"/>
            <a:ext cx="2223717" cy="3653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theano-gpu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 (</a:t>
            </a:r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theano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, </a:t>
            </a:r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keras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4385644" y="1859736"/>
            <a:ext cx="2223717" cy="7703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theano-cpu</a:t>
            </a:r>
            <a:endParaRPr kumimoji="1" lang="en-US" altLang="ko-KR" sz="1200" b="1" dirty="0" smtClean="0">
              <a:solidFill>
                <a:schemeClr val="accent6"/>
              </a:solidFill>
            </a:endParaRPr>
          </a:p>
          <a:p>
            <a:pPr algn="ctr"/>
            <a:r>
              <a:rPr kumimoji="1" lang="en-US" altLang="ko-KR" sz="1200" b="1" dirty="0" smtClean="0">
                <a:solidFill>
                  <a:schemeClr val="accent6"/>
                </a:solidFill>
              </a:rPr>
              <a:t>(</a:t>
            </a:r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theano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, </a:t>
            </a:r>
            <a:r>
              <a:rPr kumimoji="1" lang="en-US" altLang="ko-KR" sz="1200" b="1" dirty="0" err="1" smtClean="0">
                <a:solidFill>
                  <a:schemeClr val="accent6"/>
                </a:solidFill>
              </a:rPr>
              <a:t>keras</a:t>
            </a:r>
            <a:r>
              <a:rPr kumimoji="1" lang="en-US" altLang="ko-KR" sz="1200" b="1" dirty="0" smtClean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294245" y="3481176"/>
            <a:ext cx="2872706" cy="329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openjdk:8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294245" y="3122453"/>
            <a:ext cx="2872706" cy="3271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accent5"/>
                </a:solidFill>
              </a:rPr>
              <a:t>zookeeper</a:t>
            </a:r>
            <a:endParaRPr kumimoji="1" lang="ko-KR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385643" y="3477320"/>
            <a:ext cx="4642099" cy="329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tx1"/>
                </a:solidFill>
              </a:rPr>
              <a:t>buildpack-deps:jessie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385644" y="3115954"/>
            <a:ext cx="4642098" cy="3314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python:2.7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1294245" y="3834917"/>
            <a:ext cx="7733497" cy="3321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tx1"/>
                </a:solidFill>
              </a:rPr>
              <a:t>buildpack-deps:jessie-curl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217081" y="3170336"/>
            <a:ext cx="702115" cy="21432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</a:rPr>
              <a:t>official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7575639" y="3535013"/>
            <a:ext cx="702115" cy="21432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</a:rPr>
              <a:t>official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6162316" y="3896010"/>
            <a:ext cx="702115" cy="21432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</a:rPr>
              <a:t>official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3225430" y="3543116"/>
            <a:ext cx="702115" cy="21432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 smtClean="0">
                <a:solidFill>
                  <a:schemeClr val="tx1"/>
                </a:solidFill>
              </a:rPr>
              <a:t>official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grpSp>
        <p:nvGrpSpPr>
          <p:cNvPr id="195" name="그룹 194"/>
          <p:cNvGrpSpPr/>
          <p:nvPr/>
        </p:nvGrpSpPr>
        <p:grpSpPr>
          <a:xfrm>
            <a:off x="1186748" y="4976556"/>
            <a:ext cx="1600633" cy="1555842"/>
            <a:chOff x="2274383" y="5052348"/>
            <a:chExt cx="1916616" cy="1862983"/>
          </a:xfrm>
        </p:grpSpPr>
        <p:sp>
          <p:nvSpPr>
            <p:cNvPr id="54" name="직사각형 53"/>
            <p:cNvSpPr/>
            <p:nvPr/>
          </p:nvSpPr>
          <p:spPr>
            <a:xfrm>
              <a:off x="2274383" y="5052348"/>
              <a:ext cx="1916616" cy="1862983"/>
            </a:xfrm>
            <a:prstGeom prst="rect">
              <a:avLst/>
            </a:prstGeom>
            <a:solidFill>
              <a:srgbClr val="5B9BD5">
                <a:alpha val="3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200" dirty="0" smtClean="0">
                  <a:solidFill>
                    <a:schemeClr val="tx1"/>
                  </a:solidFill>
                </a:rPr>
                <a:t>Zookeeper cluster</a:t>
              </a:r>
              <a:endParaRPr kumimoji="1" lang="ko-KR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93" name="그룹 192"/>
            <p:cNvGrpSpPr/>
            <p:nvPr/>
          </p:nvGrpSpPr>
          <p:grpSpPr>
            <a:xfrm>
              <a:off x="2423848" y="5418618"/>
              <a:ext cx="1617688" cy="1383872"/>
              <a:chOff x="8904347" y="1808763"/>
              <a:chExt cx="1342060" cy="1148082"/>
            </a:xfrm>
          </p:grpSpPr>
          <p:sp>
            <p:nvSpPr>
              <p:cNvPr id="191" name="타원 190"/>
              <p:cNvSpPr/>
              <p:nvPr/>
            </p:nvSpPr>
            <p:spPr>
              <a:xfrm>
                <a:off x="9064717" y="1896954"/>
                <a:ext cx="1021319" cy="102131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/>
              </a:p>
            </p:txBody>
          </p:sp>
          <p:sp>
            <p:nvSpPr>
              <p:cNvPr id="63" name="모서리가 둥근 직사각형 62"/>
              <p:cNvSpPr/>
              <p:nvPr/>
            </p:nvSpPr>
            <p:spPr>
              <a:xfrm>
                <a:off x="8904347" y="2161083"/>
                <a:ext cx="369578" cy="264639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err="1"/>
                  <a:t>zk</a:t>
                </a:r>
                <a:endParaRPr kumimoji="1" lang="ko-KR" altLang="en-US" sz="1100" dirty="0"/>
              </a:p>
            </p:txBody>
          </p:sp>
          <p:sp>
            <p:nvSpPr>
              <p:cNvPr id="64" name="모서리가 둥근 직사각형 63"/>
              <p:cNvSpPr/>
              <p:nvPr/>
            </p:nvSpPr>
            <p:spPr>
              <a:xfrm>
                <a:off x="9392161" y="1808763"/>
                <a:ext cx="369578" cy="264639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err="1" smtClean="0"/>
                  <a:t>zk</a:t>
                </a:r>
                <a:endParaRPr kumimoji="1" lang="ko-KR" altLang="en-US" sz="1100" dirty="0"/>
              </a:p>
            </p:txBody>
          </p:sp>
          <p:sp>
            <p:nvSpPr>
              <p:cNvPr id="65" name="모서리가 둥근 직사각형 64"/>
              <p:cNvSpPr/>
              <p:nvPr/>
            </p:nvSpPr>
            <p:spPr>
              <a:xfrm>
                <a:off x="9692039" y="2691028"/>
                <a:ext cx="369578" cy="264639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err="1"/>
                  <a:t>zk</a:t>
                </a:r>
                <a:endParaRPr kumimoji="1" lang="ko-KR" altLang="en-US" sz="1100" dirty="0"/>
              </a:p>
            </p:txBody>
          </p:sp>
          <p:sp>
            <p:nvSpPr>
              <p:cNvPr id="164" name="모서리가 둥근 직사각형 163"/>
              <p:cNvSpPr/>
              <p:nvPr/>
            </p:nvSpPr>
            <p:spPr>
              <a:xfrm>
                <a:off x="9120853" y="2692206"/>
                <a:ext cx="369578" cy="264639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err="1"/>
                  <a:t>zk</a:t>
                </a:r>
                <a:endParaRPr kumimoji="1" lang="ko-KR" altLang="en-US" sz="1100" dirty="0"/>
              </a:p>
            </p:txBody>
          </p:sp>
          <p:sp>
            <p:nvSpPr>
              <p:cNvPr id="167" name="모서리가 둥근 직사각형 166"/>
              <p:cNvSpPr/>
              <p:nvPr/>
            </p:nvSpPr>
            <p:spPr>
              <a:xfrm>
                <a:off x="9876829" y="2161083"/>
                <a:ext cx="369578" cy="264639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100" dirty="0" err="1"/>
                  <a:t>zk</a:t>
                </a:r>
                <a:endParaRPr kumimoji="1" lang="ko-KR" altLang="en-US" sz="1100" dirty="0"/>
              </a:p>
            </p:txBody>
          </p:sp>
        </p:grpSp>
      </p:grpSp>
      <p:sp>
        <p:nvSpPr>
          <p:cNvPr id="199" name="직사각형 198"/>
          <p:cNvSpPr/>
          <p:nvPr/>
        </p:nvSpPr>
        <p:spPr>
          <a:xfrm>
            <a:off x="3139308" y="5284346"/>
            <a:ext cx="782937" cy="31710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broker</a:t>
            </a:r>
            <a:endParaRPr kumimoji="1" lang="ko-KR" altLang="en-US" sz="1100" dirty="0"/>
          </a:p>
        </p:txBody>
      </p:sp>
      <p:sp>
        <p:nvSpPr>
          <p:cNvPr id="202" name="직사각형 201"/>
          <p:cNvSpPr/>
          <p:nvPr/>
        </p:nvSpPr>
        <p:spPr>
          <a:xfrm>
            <a:off x="3139308" y="5683285"/>
            <a:ext cx="782937" cy="31710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broker</a:t>
            </a:r>
            <a:endParaRPr kumimoji="1" lang="ko-KR" altLang="en-US" sz="1100" dirty="0"/>
          </a:p>
        </p:txBody>
      </p:sp>
      <p:sp>
        <p:nvSpPr>
          <p:cNvPr id="204" name="직사각형 203"/>
          <p:cNvSpPr/>
          <p:nvPr/>
        </p:nvSpPr>
        <p:spPr>
          <a:xfrm>
            <a:off x="3139308" y="6082224"/>
            <a:ext cx="782937" cy="31710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broker</a:t>
            </a:r>
            <a:endParaRPr kumimoji="1" lang="ko-KR" altLang="en-US" sz="1100" dirty="0"/>
          </a:p>
        </p:txBody>
      </p:sp>
      <p:sp>
        <p:nvSpPr>
          <p:cNvPr id="207" name="직사각형 206"/>
          <p:cNvSpPr/>
          <p:nvPr/>
        </p:nvSpPr>
        <p:spPr>
          <a:xfrm>
            <a:off x="4755829" y="5321177"/>
            <a:ext cx="3734012" cy="10930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ko-KR" sz="1100" dirty="0" smtClean="0"/>
          </a:p>
        </p:txBody>
      </p:sp>
      <p:sp>
        <p:nvSpPr>
          <p:cNvPr id="208" name="직사각형 207"/>
          <p:cNvSpPr/>
          <p:nvPr/>
        </p:nvSpPr>
        <p:spPr>
          <a:xfrm>
            <a:off x="5006220" y="6211259"/>
            <a:ext cx="656010" cy="3761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 smtClean="0"/>
              <a:t>Kafka</a:t>
            </a:r>
          </a:p>
          <a:p>
            <a:pPr algn="ctr"/>
            <a:r>
              <a:rPr kumimoji="1" lang="en-US" altLang="ko-KR" sz="800" dirty="0" smtClean="0"/>
              <a:t>consumer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5953351" y="6211259"/>
            <a:ext cx="656010" cy="333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 smtClean="0"/>
              <a:t>Kafka </a:t>
            </a:r>
          </a:p>
          <a:p>
            <a:pPr algn="ctr"/>
            <a:r>
              <a:rPr kumimoji="1" lang="en-US" altLang="ko-KR" sz="800" dirty="0" smtClean="0"/>
              <a:t>producer</a:t>
            </a:r>
            <a:endParaRPr kumimoji="1" lang="ko-KR" altLang="en-US" sz="800" dirty="0"/>
          </a:p>
        </p:txBody>
      </p:sp>
      <p:sp>
        <p:nvSpPr>
          <p:cNvPr id="210" name="직사각형 209"/>
          <p:cNvSpPr/>
          <p:nvPr/>
        </p:nvSpPr>
        <p:spPr>
          <a:xfrm>
            <a:off x="6891546" y="5461049"/>
            <a:ext cx="1237087" cy="7777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Web server</a:t>
            </a:r>
          </a:p>
        </p:txBody>
      </p:sp>
      <p:pic>
        <p:nvPicPr>
          <p:cNvPr id="211" name="그림 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20" y="5461049"/>
            <a:ext cx="1604334" cy="683941"/>
          </a:xfrm>
          <a:prstGeom prst="rect">
            <a:avLst/>
          </a:prstGeom>
        </p:spPr>
      </p:pic>
      <p:cxnSp>
        <p:nvCxnSpPr>
          <p:cNvPr id="215" name="꺾인 연결선[E] 214"/>
          <p:cNvCxnSpPr>
            <a:stCxn id="209" idx="2"/>
            <a:endCxn id="69" idx="2"/>
          </p:cNvCxnSpPr>
          <p:nvPr/>
        </p:nvCxnSpPr>
        <p:spPr>
          <a:xfrm rot="5400000" flipH="1">
            <a:off x="4900319" y="5163525"/>
            <a:ext cx="12163" cy="2749911"/>
          </a:xfrm>
          <a:prstGeom prst="bentConnector3">
            <a:avLst>
              <a:gd name="adj1" fmla="val -1139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꺾인 연결선[E] 216"/>
          <p:cNvCxnSpPr>
            <a:stCxn id="208" idx="2"/>
            <a:endCxn id="54" idx="2"/>
          </p:cNvCxnSpPr>
          <p:nvPr/>
        </p:nvCxnSpPr>
        <p:spPr>
          <a:xfrm rot="5400000" flipH="1">
            <a:off x="3633140" y="4886323"/>
            <a:ext cx="55009" cy="3347160"/>
          </a:xfrm>
          <a:prstGeom prst="bentConnector3">
            <a:avLst>
              <a:gd name="adj1" fmla="val -2770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사각형 설명선[R] 225"/>
          <p:cNvSpPr/>
          <p:nvPr/>
        </p:nvSpPr>
        <p:spPr>
          <a:xfrm>
            <a:off x="9276135" y="2678644"/>
            <a:ext cx="2635921" cy="768806"/>
          </a:xfrm>
          <a:prstGeom prst="wedgeRectCallout">
            <a:avLst>
              <a:gd name="adj1" fmla="val -66590"/>
              <a:gd name="adj2" fmla="val -189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err="1" smtClean="0"/>
              <a:t>scipy</a:t>
            </a:r>
            <a:r>
              <a:rPr kumimoji="1" lang="en-US" altLang="ko-KR" sz="1400" b="1" dirty="0" smtClean="0"/>
              <a:t> </a:t>
            </a:r>
            <a:r>
              <a:rPr kumimoji="1" lang="en-US" altLang="ko-KR" sz="1400" dirty="0" smtClean="0"/>
              <a:t>libraries has nothing to do with GPU, so share it</a:t>
            </a:r>
            <a:endParaRPr kumimoji="1" lang="ko-KR" altLang="en-US" sz="1400" dirty="0"/>
          </a:p>
        </p:txBody>
      </p:sp>
      <p:sp>
        <p:nvSpPr>
          <p:cNvPr id="227" name="사각형 설명선[R] 226"/>
          <p:cNvSpPr/>
          <p:nvPr/>
        </p:nvSpPr>
        <p:spPr>
          <a:xfrm>
            <a:off x="9276136" y="1770143"/>
            <a:ext cx="2437270" cy="716529"/>
          </a:xfrm>
          <a:prstGeom prst="wedgeRectCallout">
            <a:avLst>
              <a:gd name="adj1" fmla="val -64056"/>
              <a:gd name="adj2" fmla="val 2259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err="1" smtClean="0"/>
              <a:t>theano</a:t>
            </a:r>
            <a:r>
              <a:rPr kumimoji="1" lang="en-US" altLang="ko-KR" sz="1400" dirty="0"/>
              <a:t> </a:t>
            </a:r>
            <a:r>
              <a:rPr kumimoji="1" lang="en-US" altLang="ko-KR" sz="1400" dirty="0" smtClean="0"/>
              <a:t>compiles</a:t>
            </a:r>
          </a:p>
          <a:p>
            <a:pPr algn="ctr"/>
            <a:r>
              <a:rPr kumimoji="1" lang="en-US" altLang="ko-KR" sz="1400" dirty="0" smtClean="0"/>
              <a:t>its expression graphs into </a:t>
            </a:r>
          </a:p>
          <a:p>
            <a:pPr algn="ctr"/>
            <a:r>
              <a:rPr kumimoji="1" lang="en-US" altLang="ko-KR" sz="1400" dirty="0" smtClean="0"/>
              <a:t>CPU/GPU instructions</a:t>
            </a:r>
            <a:endParaRPr kumimoji="1" lang="ko-KR" altLang="en-US" sz="1400" dirty="0"/>
          </a:p>
        </p:txBody>
      </p:sp>
      <p:sp>
        <p:nvSpPr>
          <p:cNvPr id="56" name="직사각형 55"/>
          <p:cNvSpPr/>
          <p:nvPr/>
        </p:nvSpPr>
        <p:spPr>
          <a:xfrm>
            <a:off x="4342580" y="831444"/>
            <a:ext cx="23231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dirty="0" err="1" smtClean="0">
                <a:solidFill>
                  <a:schemeClr val="accent6"/>
                </a:solidFill>
              </a:rPr>
              <a:t>PdM</a:t>
            </a:r>
            <a:r>
              <a:rPr kumimoji="1" lang="en-US" altLang="ko-KR" sz="1600" b="1" dirty="0" smtClean="0">
                <a:solidFill>
                  <a:schemeClr val="accent6"/>
                </a:solidFill>
              </a:rPr>
              <a:t> container (</a:t>
            </a:r>
            <a:r>
              <a:rPr kumimoji="1" lang="en-US" altLang="ko-KR" sz="1600" b="1" dirty="0" err="1" smtClean="0">
                <a:solidFill>
                  <a:schemeClr val="accent6"/>
                </a:solidFill>
              </a:rPr>
              <a:t>cpu</a:t>
            </a:r>
            <a:r>
              <a:rPr kumimoji="1" lang="en-US" altLang="ko-KR" sz="1600" b="1" dirty="0" smtClean="0">
                <a:solidFill>
                  <a:schemeClr val="accent6"/>
                </a:solidFill>
              </a:rPr>
              <a:t>)</a:t>
            </a:r>
            <a:endParaRPr kumimoji="1" lang="ko-KR" altLang="en-US" sz="1600" b="1" dirty="0">
              <a:solidFill>
                <a:schemeClr val="accent6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763092" y="832293"/>
            <a:ext cx="23231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dirty="0" err="1" smtClean="0">
                <a:solidFill>
                  <a:schemeClr val="accent6"/>
                </a:solidFill>
              </a:rPr>
              <a:t>PdM</a:t>
            </a:r>
            <a:r>
              <a:rPr kumimoji="1" lang="en-US" altLang="ko-KR" sz="1600" b="1" dirty="0" smtClean="0">
                <a:solidFill>
                  <a:schemeClr val="accent6"/>
                </a:solidFill>
              </a:rPr>
              <a:t> container (</a:t>
            </a:r>
            <a:r>
              <a:rPr kumimoji="1" lang="en-US" altLang="ko-KR" sz="1600" b="1" dirty="0" err="1" smtClean="0">
                <a:solidFill>
                  <a:schemeClr val="accent6"/>
                </a:solidFill>
              </a:rPr>
              <a:t>gpu</a:t>
            </a:r>
            <a:r>
              <a:rPr kumimoji="1" lang="en-US" altLang="ko-KR" sz="1600" b="1" dirty="0" smtClean="0">
                <a:solidFill>
                  <a:schemeClr val="accent6"/>
                </a:solidFill>
              </a:rPr>
              <a:t>)</a:t>
            </a:r>
            <a:endParaRPr kumimoji="1" lang="ko-KR" altLang="en-US" sz="1600" b="1" dirty="0">
              <a:solidFill>
                <a:schemeClr val="accent6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294244" y="4191325"/>
            <a:ext cx="7733497" cy="3321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tx1"/>
                </a:solidFill>
              </a:rPr>
              <a:t>buildpack-deps:jessie-scm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94244" y="4550002"/>
            <a:ext cx="7733497" cy="3321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 smtClean="0">
                <a:solidFill>
                  <a:schemeClr val="tx1"/>
                </a:solidFill>
              </a:rPr>
              <a:t>debian:jessie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6162316" y="4241943"/>
            <a:ext cx="702115" cy="21432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</a:rPr>
              <a:t>official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5681874" y="4608925"/>
            <a:ext cx="702115" cy="21432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</a:rPr>
              <a:t>official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223349" y="3055336"/>
            <a:ext cx="1564801" cy="188239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600" b="1" dirty="0">
              <a:solidFill>
                <a:schemeClr val="accent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859045" y="2636236"/>
            <a:ext cx="1364385" cy="229747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sz="1600" b="1" dirty="0">
              <a:solidFill>
                <a:schemeClr val="accent6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333773" y="1172495"/>
            <a:ext cx="2340810" cy="376121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745479" y="1172485"/>
            <a:ext cx="2340809" cy="37612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225" name="사각형 설명선[R] 224"/>
          <p:cNvSpPr/>
          <p:nvPr/>
        </p:nvSpPr>
        <p:spPr>
          <a:xfrm>
            <a:off x="9276136" y="4558850"/>
            <a:ext cx="2348256" cy="646640"/>
          </a:xfrm>
          <a:prstGeom prst="wedgeRectCallout">
            <a:avLst>
              <a:gd name="adj1" fmla="val -66584"/>
              <a:gd name="adj2" fmla="val -2492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err="1" smtClean="0"/>
              <a:t>jessie</a:t>
            </a:r>
            <a:r>
              <a:rPr kumimoji="1" lang="en-US" altLang="ko-KR" sz="1400" dirty="0" smtClean="0"/>
              <a:t> is the latest, stable </a:t>
            </a:r>
            <a:r>
              <a:rPr kumimoji="1" lang="en-US" altLang="ko-KR" sz="1400" dirty="0" err="1" smtClean="0"/>
              <a:t>Debian</a:t>
            </a:r>
            <a:r>
              <a:rPr kumimoji="1" lang="en-US" altLang="ko-KR" sz="1400" dirty="0" smtClean="0"/>
              <a:t> release</a:t>
            </a:r>
            <a:endParaRPr kumimoji="1" lang="ko-KR" altLang="en-US" sz="1400" dirty="0"/>
          </a:p>
        </p:txBody>
      </p:sp>
      <p:sp>
        <p:nvSpPr>
          <p:cNvPr id="67" name="사각형 설명선[R] 66"/>
          <p:cNvSpPr/>
          <p:nvPr/>
        </p:nvSpPr>
        <p:spPr>
          <a:xfrm>
            <a:off x="9276136" y="3535013"/>
            <a:ext cx="2635920" cy="727498"/>
          </a:xfrm>
          <a:prstGeom prst="wedgeRectCallout">
            <a:avLst>
              <a:gd name="adj1" fmla="val -66584"/>
              <a:gd name="adj2" fmla="val -2492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err="1" smtClean="0"/>
              <a:t>buildpack</a:t>
            </a:r>
            <a:r>
              <a:rPr kumimoji="1" lang="en-US" altLang="ko-KR" sz="1400" b="1" dirty="0" smtClean="0"/>
              <a:t>-deps</a:t>
            </a:r>
            <a:r>
              <a:rPr kumimoji="1" lang="en-US" altLang="ko-KR" sz="1400" dirty="0" smtClean="0"/>
              <a:t> contains essential tools to download/compile </a:t>
            </a:r>
            <a:r>
              <a:rPr kumimoji="1" lang="en-US" altLang="ko-KR" sz="1400" dirty="0" err="1" smtClean="0"/>
              <a:t>softwares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6537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 smtClean="0"/>
              <a:t>Enabling technologies for </a:t>
            </a:r>
            <a:r>
              <a:rPr kumimoji="1" lang="en-US" altLang="ko-KR" dirty="0" err="1" smtClean="0"/>
              <a:t>docker</a:t>
            </a:r>
            <a:r>
              <a:rPr kumimoji="1" lang="en-US" altLang="ko-KR" dirty="0" smtClean="0"/>
              <a:t> (wrap-up)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600" b="1" dirty="0" smtClean="0"/>
              <a:t>Linux namespaces</a:t>
            </a:r>
            <a:r>
              <a:rPr kumimoji="1" lang="en-US" altLang="ko-KR" sz="2600" dirty="0" smtClean="0"/>
              <a:t> (covered)</a:t>
            </a:r>
          </a:p>
          <a:p>
            <a:pPr lvl="1"/>
            <a:r>
              <a:rPr kumimoji="1" lang="en-US" altLang="ko-KR" sz="2400" dirty="0" smtClean="0"/>
              <a:t>To isolate system resources</a:t>
            </a:r>
          </a:p>
          <a:p>
            <a:pPr lvl="2"/>
            <a:r>
              <a:rPr kumimoji="1" lang="en-US" altLang="ko-KR" sz="2000" dirty="0" err="1" smtClean="0"/>
              <a:t>pid</a:t>
            </a:r>
            <a:r>
              <a:rPr kumimoji="1" lang="en-US" altLang="ko-KR" sz="2000" dirty="0" smtClean="0"/>
              <a:t>, net, </a:t>
            </a:r>
            <a:r>
              <a:rPr kumimoji="1" lang="en-US" altLang="ko-KR" sz="2000" dirty="0" err="1" smtClean="0"/>
              <a:t>ipc</a:t>
            </a:r>
            <a:r>
              <a:rPr kumimoji="1" lang="en-US" altLang="ko-KR" sz="2000" dirty="0" smtClean="0"/>
              <a:t>, </a:t>
            </a:r>
            <a:r>
              <a:rPr kumimoji="1" lang="en-US" altLang="ko-KR" sz="2000" dirty="0" err="1" smtClean="0"/>
              <a:t>mnt</a:t>
            </a:r>
            <a:r>
              <a:rPr kumimoji="1" lang="en-US" altLang="ko-KR" sz="2000" dirty="0" smtClean="0"/>
              <a:t>, </a:t>
            </a:r>
            <a:r>
              <a:rPr kumimoji="1" lang="en-US" altLang="ko-KR" sz="2000" dirty="0" err="1" smtClean="0"/>
              <a:t>uts</a:t>
            </a:r>
            <a:r>
              <a:rPr kumimoji="1" lang="en-US" altLang="ko-KR" sz="2000" dirty="0" smtClean="0"/>
              <a:t>, user</a:t>
            </a:r>
          </a:p>
          <a:p>
            <a:pPr lvl="1"/>
            <a:r>
              <a:rPr kumimoji="1" lang="en-US" altLang="ko-KR" sz="2400" dirty="0" smtClean="0"/>
              <a:t>It makes a secure &amp; isolate environment (like a VM)</a:t>
            </a:r>
            <a:endParaRPr kumimoji="1" lang="en-US" altLang="ko-KR" sz="2600" dirty="0" smtClean="0"/>
          </a:p>
          <a:p>
            <a:endParaRPr kumimoji="1" lang="en-US" altLang="ko-KR" sz="2600" b="1" dirty="0" smtClean="0"/>
          </a:p>
          <a:p>
            <a:r>
              <a:rPr kumimoji="1" lang="en-US" altLang="ko-KR" sz="2600" b="1" dirty="0"/>
              <a:t>Advanced multi-layer unification File </a:t>
            </a:r>
            <a:r>
              <a:rPr kumimoji="1" lang="en-US" altLang="ko-KR" sz="2600" b="1" dirty="0" smtClean="0"/>
              <a:t>System </a:t>
            </a:r>
            <a:r>
              <a:rPr kumimoji="1" lang="en-US" altLang="ko-KR" sz="2600" dirty="0" smtClean="0"/>
              <a:t>(</a:t>
            </a:r>
            <a:r>
              <a:rPr kumimoji="1" lang="en-US" altLang="ko-KR" sz="2600" dirty="0"/>
              <a:t>covered)</a:t>
            </a:r>
            <a:endParaRPr kumimoji="1" lang="en-US" altLang="ko-KR" sz="2600" dirty="0" smtClean="0"/>
          </a:p>
          <a:p>
            <a:pPr lvl="1"/>
            <a:r>
              <a:rPr kumimoji="1" lang="en-US" altLang="ko-KR" sz="2400" dirty="0" smtClean="0"/>
              <a:t>Image layering &amp; sharing</a:t>
            </a:r>
          </a:p>
          <a:p>
            <a:endParaRPr kumimoji="1" lang="en-US" altLang="ko-KR" sz="2600" b="1" dirty="0" smtClean="0"/>
          </a:p>
          <a:p>
            <a:r>
              <a:rPr kumimoji="1" lang="en-US" altLang="ko-KR" sz="2600" b="1" dirty="0" smtClean="0"/>
              <a:t>Linux control groups</a:t>
            </a:r>
            <a:r>
              <a:rPr kumimoji="1" lang="en-US" altLang="ko-KR" sz="2600" dirty="0" smtClean="0"/>
              <a:t> (not covered)</a:t>
            </a:r>
          </a:p>
          <a:p>
            <a:pPr lvl="1"/>
            <a:r>
              <a:rPr kumimoji="1" lang="en-US" altLang="ko-KR" sz="2400" dirty="0" smtClean="0"/>
              <a:t>To track, limit, and isolate resources</a:t>
            </a:r>
          </a:p>
          <a:p>
            <a:pPr lvl="2"/>
            <a:r>
              <a:rPr kumimoji="1" lang="en-US" altLang="ko-KR" sz="2200" dirty="0" smtClean="0"/>
              <a:t>CPU, memory, network, and IO</a:t>
            </a:r>
            <a:endParaRPr kumimoji="1" lang="en-US" altLang="ko-KR" b="1" dirty="0" smtClean="0"/>
          </a:p>
        </p:txBody>
      </p:sp>
      <p:grpSp>
        <p:nvGrpSpPr>
          <p:cNvPr id="6" name="그룹 5"/>
          <p:cNvGrpSpPr/>
          <p:nvPr/>
        </p:nvGrpSpPr>
        <p:grpSpPr>
          <a:xfrm>
            <a:off x="7014575" y="4007245"/>
            <a:ext cx="4505480" cy="2065734"/>
            <a:chOff x="6959156" y="4111229"/>
            <a:chExt cx="4505480" cy="2065734"/>
          </a:xfrm>
        </p:grpSpPr>
        <p:sp>
          <p:nvSpPr>
            <p:cNvPr id="4" name="직사각형 3"/>
            <p:cNvSpPr/>
            <p:nvPr/>
          </p:nvSpPr>
          <p:spPr>
            <a:xfrm>
              <a:off x="6959156" y="5915353"/>
              <a:ext cx="4505480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smtClean="0"/>
                <a:t>* </a:t>
              </a:r>
              <a:r>
                <a:rPr lang="ko-KR" altLang="en-US" sz="1100" dirty="0" smtClean="0"/>
                <a:t>https</a:t>
              </a:r>
              <a:r>
                <a:rPr lang="ko-KR" altLang="en-US" sz="1100" dirty="0"/>
                <a:t>://</a:t>
              </a:r>
              <a:r>
                <a:rPr lang="ko-KR" altLang="en-US" sz="1100" dirty="0" smtClean="0"/>
                <a:t>mairin.wordpress.com/2011/05/13/ideas-for-a-cgroups-ui/</a:t>
              </a:r>
              <a:endParaRPr lang="ko-KR" altLang="en-US" sz="1100" dirty="0"/>
            </a:p>
          </p:txBody>
        </p:sp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8447" y="4111229"/>
              <a:ext cx="4406899" cy="20657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777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Docker topics not covered here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06313"/>
            <a:ext cx="10515600" cy="4480087"/>
          </a:xfrm>
        </p:spPr>
        <p:txBody>
          <a:bodyPr>
            <a:normAutofit/>
          </a:bodyPr>
          <a:lstStyle/>
          <a:p>
            <a:r>
              <a:rPr kumimoji="1" lang="en-US" altLang="ko-KR" sz="2400" dirty="0" smtClean="0"/>
              <a:t>How to install </a:t>
            </a:r>
            <a:r>
              <a:rPr kumimoji="1" lang="en-US" altLang="ko-KR" sz="2400" b="1" dirty="0" smtClean="0"/>
              <a:t>Docker engine</a:t>
            </a:r>
            <a:endParaRPr kumimoji="1" lang="en-US" altLang="ko-KR" sz="2400" dirty="0" smtClean="0"/>
          </a:p>
          <a:p>
            <a:r>
              <a:rPr kumimoji="1" lang="en-US" altLang="ko-KR" sz="2400" dirty="0" smtClean="0"/>
              <a:t>What are the </a:t>
            </a:r>
            <a:r>
              <a:rPr kumimoji="1" lang="en-US" altLang="ko-KR" sz="2400" dirty="0" err="1" smtClean="0"/>
              <a:t>docker</a:t>
            </a:r>
            <a:r>
              <a:rPr kumimoji="1" lang="en-US" altLang="ko-KR" sz="2400" dirty="0" smtClean="0"/>
              <a:t> instructions other than </a:t>
            </a:r>
            <a:r>
              <a:rPr kumimoji="1" lang="en-US" altLang="ko-KR" sz="2400" b="1" dirty="0" smtClean="0"/>
              <a:t>FROM</a:t>
            </a:r>
            <a:r>
              <a:rPr kumimoji="1" lang="en-US" altLang="ko-KR" sz="2400" dirty="0" smtClean="0"/>
              <a:t>, </a:t>
            </a:r>
            <a:r>
              <a:rPr kumimoji="1" lang="en-US" altLang="ko-KR" sz="2400" b="1" dirty="0" smtClean="0"/>
              <a:t>RUN</a:t>
            </a:r>
            <a:r>
              <a:rPr kumimoji="1" lang="en-US" altLang="ko-KR" sz="2400" dirty="0" smtClean="0"/>
              <a:t>, and </a:t>
            </a:r>
            <a:r>
              <a:rPr kumimoji="1" lang="en-US" altLang="ko-KR" sz="2400" b="1" dirty="0" smtClean="0"/>
              <a:t>CMD</a:t>
            </a:r>
          </a:p>
          <a:p>
            <a:pPr lvl="1"/>
            <a:r>
              <a:rPr kumimoji="1" lang="en-US" altLang="ko-KR" sz="2000" dirty="0" smtClean="0"/>
              <a:t>ENV / ADD / ENTRYPOINT / LABEL / EXPOSE / COPY / VOLUME / WORKDIR / ONBUILD </a:t>
            </a:r>
          </a:p>
          <a:p>
            <a:r>
              <a:rPr kumimoji="1" lang="en-US" altLang="ko-KR" sz="2400" dirty="0" smtClean="0"/>
              <a:t>How to push </a:t>
            </a:r>
            <a:r>
              <a:rPr kumimoji="1" lang="en-US" altLang="ko-KR" sz="2400" b="1" dirty="0" smtClean="0"/>
              <a:t>local Docker images </a:t>
            </a:r>
            <a:r>
              <a:rPr kumimoji="1" lang="en-US" altLang="ko-KR" sz="2400" dirty="0" smtClean="0"/>
              <a:t>to </a:t>
            </a:r>
            <a:r>
              <a:rPr kumimoji="1" lang="en-US" altLang="ko-KR" sz="2400" dirty="0" err="1" smtClean="0"/>
              <a:t>docker</a:t>
            </a:r>
            <a:r>
              <a:rPr kumimoji="1" lang="en-US" altLang="ko-KR" sz="2400" dirty="0" smtClean="0"/>
              <a:t> hub</a:t>
            </a:r>
          </a:p>
          <a:p>
            <a:r>
              <a:rPr kumimoji="1" lang="en-US" altLang="ko-KR" sz="2400" dirty="0" smtClean="0"/>
              <a:t>How to pull </a:t>
            </a:r>
            <a:r>
              <a:rPr kumimoji="1" lang="en-US" altLang="ko-KR" sz="2400" b="1" dirty="0" smtClean="0"/>
              <a:t>remote images </a:t>
            </a:r>
            <a:r>
              <a:rPr kumimoji="1" lang="en-US" altLang="ko-KR" sz="2400" dirty="0" smtClean="0"/>
              <a:t>from </a:t>
            </a:r>
            <a:r>
              <a:rPr kumimoji="1" lang="en-US" altLang="ko-KR" sz="2400" dirty="0" err="1" smtClean="0"/>
              <a:t>docker</a:t>
            </a:r>
            <a:r>
              <a:rPr kumimoji="1" lang="en-US" altLang="ko-KR" sz="2400" dirty="0" smtClean="0"/>
              <a:t> hub</a:t>
            </a:r>
          </a:p>
          <a:p>
            <a:r>
              <a:rPr kumimoji="1" lang="en-US" altLang="ko-KR" sz="2400" dirty="0" smtClean="0"/>
              <a:t>...</a:t>
            </a:r>
            <a:endParaRPr kumimoji="1"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>
            <a:off x="1107134" y="4318062"/>
            <a:ext cx="9977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/>
              <a:t>Consult with </a:t>
            </a:r>
            <a:r>
              <a:rPr lang="ko-KR" altLang="en-US" sz="2800" b="1" dirty="0" smtClean="0">
                <a:hlinkClick r:id="rId3"/>
              </a:rPr>
              <a:t>https</a:t>
            </a:r>
            <a:r>
              <a:rPr lang="ko-KR" altLang="en-US" sz="2800" b="1" dirty="0">
                <a:hlinkClick r:id="rId3"/>
              </a:rPr>
              <a:t>://docs.docker.com/engine/getstarted</a:t>
            </a:r>
            <a:r>
              <a:rPr lang="ko-KR" altLang="en-US" sz="2800" b="1" dirty="0" smtClean="0">
                <a:hlinkClick r:id="rId3"/>
              </a:rPr>
              <a:t>/</a:t>
            </a:r>
            <a:endParaRPr lang="en-US" altLang="ko-KR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50038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Kubernetes</a:t>
            </a:r>
            <a:endParaRPr kumimoji="1"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smtClean="0"/>
              <a:t>Motivation</a:t>
            </a:r>
          </a:p>
          <a:p>
            <a:r>
              <a:rPr kumimoji="1" lang="en-US" altLang="ko-KR" dirty="0" smtClean="0"/>
              <a:t>A motivating example</a:t>
            </a:r>
          </a:p>
        </p:txBody>
      </p:sp>
    </p:spTree>
    <p:extLst>
      <p:ext uri="{BB962C8B-B14F-4D97-AF65-F5344CB8AC3E}">
        <p14:creationId xmlns:p14="http://schemas.microsoft.com/office/powerpoint/2010/main" val="139126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Disclaimer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800" dirty="0" smtClean="0"/>
              <a:t>The purpose of this section is </a:t>
            </a:r>
            <a:br>
              <a:rPr kumimoji="1" lang="en-US" altLang="ko-KR" sz="2800" dirty="0" smtClean="0"/>
            </a:br>
            <a:r>
              <a:rPr kumimoji="1" lang="en-US" altLang="ko-KR" sz="2800" dirty="0" smtClean="0"/>
              <a:t>to briefly explain Kubernetes</a:t>
            </a:r>
            <a:r>
              <a:rPr kumimoji="1" lang="ko-KR" altLang="en-US" sz="2800" dirty="0" smtClean="0"/>
              <a:t> </a:t>
            </a:r>
            <a:r>
              <a:rPr kumimoji="1" lang="en-US" altLang="ko-KR" sz="2800" b="1" dirty="0" smtClean="0"/>
              <a:t>without details</a:t>
            </a:r>
          </a:p>
          <a:p>
            <a:endParaRPr kumimoji="1" lang="en-US" altLang="ko-KR" sz="2800" dirty="0"/>
          </a:p>
          <a:p>
            <a:r>
              <a:rPr kumimoji="1" lang="en-US" altLang="ko-KR" sz="2800" dirty="0" smtClean="0"/>
              <a:t>For a detailed explanation </a:t>
            </a:r>
            <a:br>
              <a:rPr kumimoji="1" lang="en-US" altLang="ko-KR" sz="2800" dirty="0" smtClean="0"/>
            </a:br>
            <a:r>
              <a:rPr kumimoji="1" lang="en-US" altLang="ko-KR" sz="2800" dirty="0" smtClean="0"/>
              <a:t>with the exact Kubernetes terminology,</a:t>
            </a:r>
            <a:br>
              <a:rPr kumimoji="1" lang="en-US" altLang="ko-KR" sz="2800" dirty="0" smtClean="0"/>
            </a:br>
            <a:r>
              <a:rPr kumimoji="1" lang="en-US" altLang="ko-KR" sz="2800" dirty="0" smtClean="0"/>
              <a:t>see the following slide</a:t>
            </a:r>
          </a:p>
          <a:p>
            <a:pPr lvl="1"/>
            <a:r>
              <a:rPr kumimoji="1" lang="en-US" altLang="ko-KR" sz="2400" dirty="0" smtClean="0">
                <a:hlinkClick r:id="rId2"/>
              </a:rPr>
              <a:t>https</a:t>
            </a:r>
            <a:r>
              <a:rPr kumimoji="1" lang="en-US" altLang="ko-KR" sz="2400" dirty="0">
                <a:hlinkClick r:id="rId2"/>
              </a:rPr>
              <a:t>://</a:t>
            </a:r>
            <a:r>
              <a:rPr kumimoji="1" lang="en-US" altLang="ko-KR" sz="2400" dirty="0" smtClean="0">
                <a:hlinkClick r:id="rId2"/>
              </a:rPr>
              <a:t>www.slideshare.net/ssuser6bb12d/kubernetes-introduction-71846110</a:t>
            </a:r>
            <a:endParaRPr kumimoji="1"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130340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What is Kubernetes for?</a:t>
            </a:r>
            <a:endParaRPr kumimoji="1" lang="ko-KR" altLang="en-US" dirty="0"/>
          </a:p>
        </p:txBody>
      </p:sp>
      <p:sp>
        <p:nvSpPr>
          <p:cNvPr id="4" name="텍스트 상자 3"/>
          <p:cNvSpPr txBox="1"/>
          <p:nvPr/>
        </p:nvSpPr>
        <p:spPr>
          <a:xfrm>
            <a:off x="470822" y="1129738"/>
            <a:ext cx="5334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800" b="1" dirty="0" smtClean="0">
                <a:solidFill>
                  <a:srgbClr val="FF0000"/>
                </a:solidFill>
              </a:rPr>
              <a:t>Container</a:t>
            </a:r>
            <a:r>
              <a:rPr kumimoji="1" lang="en-US" altLang="ko-KR" sz="2800" b="1" dirty="0" smtClean="0"/>
              <a:t>-based virtualization</a:t>
            </a:r>
          </a:p>
        </p:txBody>
      </p:sp>
      <p:sp>
        <p:nvSpPr>
          <p:cNvPr id="6" name="텍스트 상자 5"/>
          <p:cNvSpPr txBox="1"/>
          <p:nvPr/>
        </p:nvSpPr>
        <p:spPr>
          <a:xfrm>
            <a:off x="6128341" y="1129738"/>
            <a:ext cx="567377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 dirty="0" smtClean="0"/>
              <a:t>+    </a:t>
            </a:r>
            <a:r>
              <a:rPr kumimoji="1" lang="en-US" altLang="ko-KR" sz="2800" b="1" dirty="0" smtClean="0">
                <a:solidFill>
                  <a:srgbClr val="FF0000"/>
                </a:solidFill>
              </a:rPr>
              <a:t>Container</a:t>
            </a:r>
            <a:r>
              <a:rPr kumimoji="1" lang="en-US" altLang="ko-KR" sz="2800" b="1" dirty="0" smtClean="0"/>
              <a:t> orchestration</a:t>
            </a:r>
          </a:p>
          <a:p>
            <a:pPr algn="ctr"/>
            <a:r>
              <a:rPr kumimoji="1" lang="en-US" altLang="ko-KR" sz="1600" b="1" dirty="0" smtClean="0"/>
              <a:t>To satisfy common needs in </a:t>
            </a:r>
            <a:r>
              <a:rPr kumimoji="1" lang="en-US" altLang="ko-KR" sz="1600" b="1" dirty="0" smtClean="0">
                <a:solidFill>
                  <a:srgbClr val="FF0000"/>
                </a:solidFill>
              </a:rPr>
              <a:t>production</a:t>
            </a:r>
          </a:p>
          <a:p>
            <a:pPr algn="ctr"/>
            <a:endParaRPr kumimoji="1" lang="en-US" altLang="ko-KR" sz="1400" dirty="0" smtClean="0"/>
          </a:p>
          <a:p>
            <a:pPr algn="ctr"/>
            <a:endParaRPr kumimoji="1" lang="en-US" altLang="ko-KR" sz="1400" dirty="0" smtClean="0"/>
          </a:p>
          <a:p>
            <a:pPr algn="ctr"/>
            <a:r>
              <a:rPr kumimoji="1" lang="en-US" altLang="ko-KR" sz="2000" b="1" dirty="0" smtClean="0"/>
              <a:t>replicating application instances</a:t>
            </a:r>
          </a:p>
          <a:p>
            <a:pPr algn="ctr"/>
            <a:r>
              <a:rPr kumimoji="1" lang="en-US" altLang="ko-KR" sz="2000" b="1" dirty="0" smtClean="0"/>
              <a:t>naming and discovery</a:t>
            </a:r>
          </a:p>
          <a:p>
            <a:pPr algn="ctr"/>
            <a:r>
              <a:rPr kumimoji="1" lang="en-US" altLang="ko-KR" sz="2000" b="1" dirty="0" smtClean="0"/>
              <a:t>load balancing</a:t>
            </a:r>
          </a:p>
          <a:p>
            <a:pPr algn="ctr"/>
            <a:r>
              <a:rPr kumimoji="1" lang="en-US" altLang="ko-KR" sz="2000" b="1" dirty="0"/>
              <a:t>horizontal </a:t>
            </a:r>
            <a:r>
              <a:rPr kumimoji="1" lang="en-US" altLang="ko-KR" sz="2000" b="1" dirty="0" smtClean="0"/>
              <a:t>auto-scaling</a:t>
            </a:r>
          </a:p>
          <a:p>
            <a:pPr algn="ctr"/>
            <a:r>
              <a:rPr kumimoji="1" lang="en-US" altLang="ko-KR" sz="2000" dirty="0" smtClean="0"/>
              <a:t>co-locating helper processes</a:t>
            </a:r>
          </a:p>
          <a:p>
            <a:pPr algn="ctr"/>
            <a:r>
              <a:rPr kumimoji="1" lang="en-US" altLang="ko-KR" sz="2000" dirty="0" smtClean="0"/>
              <a:t>mounting storage systems</a:t>
            </a:r>
          </a:p>
          <a:p>
            <a:pPr algn="ctr"/>
            <a:r>
              <a:rPr kumimoji="1" lang="en-US" altLang="ko-KR" sz="2000" dirty="0" smtClean="0"/>
              <a:t>distributing secrets</a:t>
            </a:r>
          </a:p>
          <a:p>
            <a:pPr algn="ctr"/>
            <a:r>
              <a:rPr kumimoji="1" lang="en-US" altLang="ko-KR" sz="2000" dirty="0" smtClean="0"/>
              <a:t>application health checking</a:t>
            </a:r>
          </a:p>
          <a:p>
            <a:pPr algn="ctr"/>
            <a:r>
              <a:rPr kumimoji="1" lang="en-US" altLang="ko-KR" sz="2000" dirty="0" smtClean="0"/>
              <a:t>rolling updates</a:t>
            </a:r>
          </a:p>
          <a:p>
            <a:pPr algn="ctr"/>
            <a:r>
              <a:rPr kumimoji="1" lang="en-US" altLang="ko-KR" sz="2000" dirty="0" smtClean="0"/>
              <a:t>resource monitoring</a:t>
            </a:r>
          </a:p>
          <a:p>
            <a:pPr algn="ctr"/>
            <a:r>
              <a:rPr kumimoji="1" lang="en-US" altLang="ko-KR" sz="2000" dirty="0" smtClean="0"/>
              <a:t>log access and ingestion</a:t>
            </a:r>
          </a:p>
          <a:p>
            <a:pPr algn="ctr"/>
            <a:r>
              <a:rPr kumimoji="1" lang="en-US" altLang="ko-KR" sz="2000" dirty="0" smtClean="0"/>
              <a:t>...</a:t>
            </a:r>
          </a:p>
          <a:p>
            <a:pPr algn="ctr"/>
            <a:r>
              <a:rPr kumimoji="1" lang="en-US" altLang="ko-KR" sz="2000" b="1" dirty="0" smtClean="0"/>
              <a:t> 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94" y="1955694"/>
            <a:ext cx="5151841" cy="3912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직사각형 15"/>
          <p:cNvSpPr/>
          <p:nvPr/>
        </p:nvSpPr>
        <p:spPr>
          <a:xfrm>
            <a:off x="562394" y="6217493"/>
            <a:ext cx="46321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/>
              <a:t>from the official site : </a:t>
            </a:r>
            <a:r>
              <a:rPr lang="ko-KR" altLang="en-US" sz="1200" b="1" dirty="0" smtClean="0">
                <a:hlinkClick r:id="rId4"/>
              </a:rPr>
              <a:t>https</a:t>
            </a:r>
            <a:r>
              <a:rPr lang="ko-KR" altLang="en-US" sz="1200" b="1" dirty="0">
                <a:hlinkClick r:id="rId4"/>
              </a:rPr>
              <a:t>://kubernetes.io/docs/whatisk8s</a:t>
            </a:r>
            <a:r>
              <a:rPr lang="ko-KR" altLang="en-US" sz="1200" b="1" dirty="0" smtClean="0">
                <a:hlinkClick r:id="rId4"/>
              </a:rPr>
              <a:t>/</a:t>
            </a:r>
            <a:endParaRPr lang="en-US" altLang="ko-KR" sz="12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1450265" y="275350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09586" y="275350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450265" y="343295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509586" y="343295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273318" y="3064659"/>
            <a:ext cx="171450" cy="1714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294539" y="3064659"/>
            <a:ext cx="171450" cy="1714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273318" y="4156859"/>
            <a:ext cx="171450" cy="17145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294539" y="4156859"/>
            <a:ext cx="171450" cy="17145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64490" y="3985409"/>
            <a:ext cx="171450" cy="1714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114816" y="3985409"/>
            <a:ext cx="171450" cy="1714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2377996" y="3985409"/>
            <a:ext cx="171450" cy="17145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227670" y="3985409"/>
            <a:ext cx="171450" cy="17145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270966" y="258205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5292187" y="258205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4270966" y="367425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5292187" y="3674259"/>
            <a:ext cx="171450" cy="17145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" name="구부러진 연결선[U] 6"/>
          <p:cNvCxnSpPr>
            <a:stCxn id="3" idx="1"/>
            <a:endCxn id="21" idx="0"/>
          </p:cNvCxnSpPr>
          <p:nvPr/>
        </p:nvCxnSpPr>
        <p:spPr>
          <a:xfrm rot="10800000" flipV="1">
            <a:off x="1050215" y="2839233"/>
            <a:ext cx="400050" cy="1146175"/>
          </a:xfrm>
          <a:prstGeom prst="curvedConnector2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구부러진 연결선[U] 28"/>
          <p:cNvCxnSpPr>
            <a:stCxn id="9" idx="1"/>
            <a:endCxn id="24" idx="0"/>
          </p:cNvCxnSpPr>
          <p:nvPr/>
        </p:nvCxnSpPr>
        <p:spPr>
          <a:xfrm rot="10800000" flipV="1">
            <a:off x="1313395" y="3518683"/>
            <a:ext cx="136870" cy="466725"/>
          </a:xfrm>
          <a:prstGeom prst="curvedConnector2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구부러진 연결선[U] 31"/>
          <p:cNvCxnSpPr>
            <a:stCxn id="8" idx="1"/>
            <a:endCxn id="22" idx="0"/>
          </p:cNvCxnSpPr>
          <p:nvPr/>
        </p:nvCxnSpPr>
        <p:spPr>
          <a:xfrm rot="10800000" flipV="1">
            <a:off x="2200542" y="2839233"/>
            <a:ext cx="309045" cy="1146175"/>
          </a:xfrm>
          <a:prstGeom prst="curvedConnector2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5" name="구부러진 연결선[U] 34"/>
          <p:cNvCxnSpPr>
            <a:stCxn id="10" idx="1"/>
            <a:endCxn id="23" idx="0"/>
          </p:cNvCxnSpPr>
          <p:nvPr/>
        </p:nvCxnSpPr>
        <p:spPr>
          <a:xfrm rot="10800000" flipV="1">
            <a:off x="2463722" y="3518683"/>
            <a:ext cx="45865" cy="466725"/>
          </a:xfrm>
          <a:prstGeom prst="curvedConnector2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구부러진 연결선[U] 37"/>
          <p:cNvCxnSpPr>
            <a:stCxn id="25" idx="3"/>
            <a:endCxn id="11" idx="3"/>
          </p:cNvCxnSpPr>
          <p:nvPr/>
        </p:nvCxnSpPr>
        <p:spPr>
          <a:xfrm>
            <a:off x="4442416" y="2667784"/>
            <a:ext cx="2352" cy="482600"/>
          </a:xfrm>
          <a:prstGeom prst="curvedConnector3">
            <a:avLst>
              <a:gd name="adj1" fmla="val 9819388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구부러진 연결선[U] 38"/>
          <p:cNvCxnSpPr>
            <a:stCxn id="27" idx="3"/>
            <a:endCxn id="13" idx="3"/>
          </p:cNvCxnSpPr>
          <p:nvPr/>
        </p:nvCxnSpPr>
        <p:spPr>
          <a:xfrm>
            <a:off x="4442416" y="3759984"/>
            <a:ext cx="2352" cy="482600"/>
          </a:xfrm>
          <a:prstGeom prst="curvedConnector3">
            <a:avLst>
              <a:gd name="adj1" fmla="val 9819388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구부러진 연결선[U] 39"/>
          <p:cNvCxnSpPr>
            <a:stCxn id="26" idx="3"/>
            <a:endCxn id="12" idx="3"/>
          </p:cNvCxnSpPr>
          <p:nvPr/>
        </p:nvCxnSpPr>
        <p:spPr>
          <a:xfrm>
            <a:off x="5463637" y="2667784"/>
            <a:ext cx="2352" cy="482600"/>
          </a:xfrm>
          <a:prstGeom prst="curvedConnector3">
            <a:avLst>
              <a:gd name="adj1" fmla="val 9819388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구부러진 연결선[U] 40"/>
          <p:cNvCxnSpPr>
            <a:stCxn id="28" idx="3"/>
            <a:endCxn id="14" idx="3"/>
          </p:cNvCxnSpPr>
          <p:nvPr/>
        </p:nvCxnSpPr>
        <p:spPr>
          <a:xfrm>
            <a:off x="5463637" y="3759984"/>
            <a:ext cx="2352" cy="482600"/>
          </a:xfrm>
          <a:prstGeom prst="curvedConnector3">
            <a:avLst>
              <a:gd name="adj1" fmla="val 9819388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0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2" grpId="1" animBg="1"/>
      <p:bldP spid="13" grpId="0" animBg="1"/>
      <p:bldP spid="14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Why </a:t>
            </a:r>
            <a:r>
              <a:rPr kumimoji="1" lang="en-US" altLang="ko-KR" b="1" dirty="0"/>
              <a:t>Docker </a:t>
            </a:r>
            <a:r>
              <a:rPr kumimoji="1" lang="en-US" altLang="ko-KR" dirty="0"/>
              <a:t>with </a:t>
            </a:r>
            <a:r>
              <a:rPr kumimoji="1" lang="en-US" altLang="ko-KR" b="1" dirty="0"/>
              <a:t>Kubernetes?</a:t>
            </a:r>
            <a:endParaRPr kumimoji="1"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838200" y="1015130"/>
            <a:ext cx="10515600" cy="5184504"/>
          </a:xfrm>
        </p:spPr>
        <p:txBody>
          <a:bodyPr>
            <a:normAutofit/>
          </a:bodyPr>
          <a:lstStyle/>
          <a:p>
            <a:r>
              <a:rPr kumimoji="1" lang="en-US" altLang="ko-KR" dirty="0" smtClean="0"/>
              <a:t>A mission of our group</a:t>
            </a:r>
          </a:p>
          <a:p>
            <a:pPr lvl="1"/>
            <a:r>
              <a:rPr kumimoji="1" lang="en-US" altLang="ko-KR" b="1" dirty="0" smtClean="0"/>
              <a:t>Systematize </a:t>
            </a:r>
            <a:r>
              <a:rPr kumimoji="1" lang="en-US" altLang="ko-KR" b="1" dirty="0" smtClean="0">
                <a:solidFill>
                  <a:srgbClr val="FF0000"/>
                </a:solidFill>
              </a:rPr>
              <a:t>service deployment</a:t>
            </a:r>
            <a:r>
              <a:rPr kumimoji="1" lang="en-US" altLang="ko-KR" b="1" dirty="0" smtClean="0"/>
              <a:t> </a:t>
            </a:r>
            <a:r>
              <a:rPr kumimoji="1" lang="en-US" altLang="ko-KR" dirty="0" smtClean="0"/>
              <a:t>and</a:t>
            </a:r>
            <a:r>
              <a:rPr kumimoji="1" lang="en-US" altLang="ko-KR" b="1" dirty="0" smtClean="0"/>
              <a:t> </a:t>
            </a:r>
            <a:r>
              <a:rPr kumimoji="1" lang="en-US" altLang="ko-KR" b="1" dirty="0" smtClean="0">
                <a:solidFill>
                  <a:schemeClr val="accent5"/>
                </a:solidFill>
              </a:rPr>
              <a:t>service operation</a:t>
            </a:r>
            <a:r>
              <a:rPr kumimoji="1" lang="en-US" altLang="ko-KR" b="1" dirty="0" smtClean="0"/>
              <a:t> </a:t>
            </a:r>
            <a:r>
              <a:rPr kumimoji="1" lang="en-US" altLang="ko-KR" dirty="0" smtClean="0"/>
              <a:t>on cluster </a:t>
            </a:r>
          </a:p>
          <a:p>
            <a:pPr lvl="1"/>
            <a:r>
              <a:rPr kumimoji="1" lang="en-US" altLang="ko-KR" dirty="0" smtClean="0"/>
              <a:t>I believe that </a:t>
            </a:r>
            <a:r>
              <a:rPr kumimoji="1" lang="en-US" altLang="ko-KR" b="1" dirty="0" smtClean="0"/>
              <a:t>systematizing </a:t>
            </a:r>
            <a:r>
              <a:rPr kumimoji="1" lang="en-US" altLang="ko-KR" b="1" dirty="0" err="1" smtClean="0"/>
              <a:t>smth</a:t>
            </a:r>
            <a:r>
              <a:rPr kumimoji="1" lang="en-US" altLang="ko-KR" b="1" dirty="0" smtClean="0"/>
              <a:t>. </a:t>
            </a:r>
            <a:r>
              <a:rPr kumimoji="1" lang="en-US" altLang="ko-KR" dirty="0" smtClean="0"/>
              <a:t>is </a:t>
            </a:r>
            <a:r>
              <a:rPr kumimoji="1" lang="en-US" altLang="ko-KR" b="1" dirty="0" smtClean="0"/>
              <a:t>to minimize human efforts on </a:t>
            </a:r>
            <a:r>
              <a:rPr kumimoji="1" lang="en-US" altLang="ko-KR" b="1" dirty="0" err="1" smtClean="0"/>
              <a:t>smth</a:t>
            </a:r>
            <a:r>
              <a:rPr kumimoji="1" lang="en-US" altLang="ko-KR" b="1" dirty="0" smtClean="0"/>
              <a:t>.</a:t>
            </a:r>
          </a:p>
          <a:p>
            <a:pPr lvl="1"/>
            <a:endParaRPr kumimoji="1" lang="en-US" altLang="ko-KR" dirty="0" smtClean="0"/>
          </a:p>
          <a:p>
            <a:r>
              <a:rPr kumimoji="1" lang="en-US" altLang="ko-KR" dirty="0" smtClean="0"/>
              <a:t>How to </a:t>
            </a:r>
            <a:r>
              <a:rPr kumimoji="1" lang="en-US" altLang="ko-KR" b="1" dirty="0" smtClean="0"/>
              <a:t>minimize human efforts </a:t>
            </a:r>
            <a:r>
              <a:rPr kumimoji="1" lang="en-US" altLang="ko-KR" dirty="0" smtClean="0"/>
              <a:t>on </a:t>
            </a:r>
            <a:r>
              <a:rPr kumimoji="1" lang="en-US" altLang="ko-KR" b="1" dirty="0" smtClean="0">
                <a:solidFill>
                  <a:srgbClr val="FF0000"/>
                </a:solidFill>
              </a:rPr>
              <a:t>service deployment</a:t>
            </a:r>
            <a:r>
              <a:rPr kumimoji="1" lang="en-US" altLang="ko-KR" dirty="0" smtClean="0"/>
              <a:t>?</a:t>
            </a:r>
          </a:p>
          <a:p>
            <a:pPr lvl="1"/>
            <a:r>
              <a:rPr kumimoji="1" lang="en-US" altLang="ko-KR" dirty="0" smtClean="0"/>
              <a:t>Make software portable using </a:t>
            </a:r>
            <a:r>
              <a:rPr kumimoji="1" lang="en-US" altLang="ko-KR" b="1" dirty="0" smtClean="0"/>
              <a:t>a container technology</a:t>
            </a:r>
          </a:p>
          <a:p>
            <a:pPr lvl="2"/>
            <a:r>
              <a:rPr kumimoji="1" lang="en-US" altLang="ko-KR" b="1" dirty="0">
                <a:solidFill>
                  <a:srgbClr val="FF0000"/>
                </a:solidFill>
              </a:rPr>
              <a:t>Docker</a:t>
            </a:r>
            <a:r>
              <a:rPr kumimoji="1" lang="en-US" altLang="ko-KR" dirty="0">
                <a:solidFill>
                  <a:srgbClr val="FF0000"/>
                </a:solidFill>
              </a:rPr>
              <a:t> </a:t>
            </a:r>
            <a:r>
              <a:rPr kumimoji="1" lang="en-US" altLang="ko-KR" dirty="0"/>
              <a:t>(chosen for its maturity and popularity)</a:t>
            </a:r>
          </a:p>
          <a:p>
            <a:pPr lvl="2"/>
            <a:r>
              <a:rPr kumimoji="1" lang="en-US" altLang="ko-KR" b="1" dirty="0" err="1">
                <a:solidFill>
                  <a:srgbClr val="FF0000"/>
                </a:solidFill>
              </a:rPr>
              <a:t>Rkt</a:t>
            </a:r>
            <a:r>
              <a:rPr kumimoji="1" lang="en-US" altLang="ko-KR" dirty="0">
                <a:solidFill>
                  <a:srgbClr val="FF0000"/>
                </a:solidFill>
              </a:rPr>
              <a:t> </a:t>
            </a:r>
            <a:r>
              <a:rPr kumimoji="1" lang="en-US" altLang="ko-KR" dirty="0"/>
              <a:t>from CoreOS (alternative)</a:t>
            </a:r>
          </a:p>
          <a:p>
            <a:pPr lvl="1"/>
            <a:r>
              <a:rPr kumimoji="1" lang="en-US" altLang="ko-KR" dirty="0" smtClean="0"/>
              <a:t>Build images and run containers anywhere </a:t>
            </a:r>
          </a:p>
          <a:p>
            <a:pPr lvl="2"/>
            <a:r>
              <a:rPr kumimoji="1" lang="en-US" altLang="ko-KR" dirty="0" smtClean="0"/>
              <a:t>Your laptop, servers, </a:t>
            </a:r>
            <a:r>
              <a:rPr kumimoji="1" lang="en-US" altLang="ko-KR" dirty="0" err="1" smtClean="0"/>
              <a:t>on-premise</a:t>
            </a:r>
            <a:r>
              <a:rPr kumimoji="1" lang="en-US" altLang="ko-KR" dirty="0" smtClean="0"/>
              <a:t> clusters, even cloud</a:t>
            </a:r>
          </a:p>
          <a:p>
            <a:pPr lvl="1"/>
            <a:endParaRPr kumimoji="1" lang="en-US" altLang="ko-KR" dirty="0"/>
          </a:p>
          <a:p>
            <a:r>
              <a:rPr kumimoji="1" lang="en-US" altLang="ko-KR" dirty="0"/>
              <a:t>How to </a:t>
            </a:r>
            <a:r>
              <a:rPr kumimoji="1" lang="en-US" altLang="ko-KR" b="1" dirty="0"/>
              <a:t>minimize human efforts </a:t>
            </a:r>
            <a:r>
              <a:rPr kumimoji="1" lang="en-US" altLang="ko-KR" dirty="0"/>
              <a:t>on </a:t>
            </a:r>
            <a:r>
              <a:rPr kumimoji="1" lang="en-US" altLang="ko-KR" b="1" dirty="0">
                <a:solidFill>
                  <a:schemeClr val="accent5"/>
                </a:solidFill>
              </a:rPr>
              <a:t>service operation</a:t>
            </a:r>
            <a:r>
              <a:rPr kumimoji="1" lang="en-US" altLang="ko-KR" dirty="0"/>
              <a:t>?</a:t>
            </a:r>
          </a:p>
          <a:p>
            <a:pPr lvl="1"/>
            <a:r>
              <a:rPr kumimoji="1" lang="en-US" altLang="ko-KR" dirty="0"/>
              <a:t>Inform </a:t>
            </a:r>
            <a:r>
              <a:rPr kumimoji="1" lang="en-US" altLang="ko-KR" b="1" dirty="0"/>
              <a:t>a container orchestration runtime</a:t>
            </a:r>
            <a:r>
              <a:rPr kumimoji="1" lang="en-US" altLang="ko-KR" dirty="0"/>
              <a:t> of </a:t>
            </a:r>
            <a:r>
              <a:rPr kumimoji="1" lang="en-US" altLang="ko-KR" b="1" dirty="0"/>
              <a:t>service </a:t>
            </a:r>
            <a:r>
              <a:rPr kumimoji="1" lang="en-US" altLang="ko-KR" b="1" dirty="0" smtClean="0"/>
              <a:t>specification</a:t>
            </a:r>
            <a:endParaRPr kumimoji="1" lang="en-US" altLang="ko-KR" b="1" dirty="0"/>
          </a:p>
          <a:p>
            <a:pPr lvl="2"/>
            <a:r>
              <a:rPr kumimoji="1" lang="en-US" altLang="ko-KR" b="1" dirty="0">
                <a:solidFill>
                  <a:schemeClr val="accent5"/>
                </a:solidFill>
              </a:rPr>
              <a:t>Kubernetes</a:t>
            </a:r>
            <a:r>
              <a:rPr kumimoji="1" lang="en-US" altLang="ko-KR" dirty="0"/>
              <a:t> from Google (chosen for its </a:t>
            </a:r>
            <a:r>
              <a:rPr kumimoji="1" lang="en-US" altLang="ko-KR" b="1" dirty="0"/>
              <a:t>maturity</a:t>
            </a:r>
            <a:r>
              <a:rPr kumimoji="1" lang="en-US" altLang="ko-KR" dirty="0"/>
              <a:t> and </a:t>
            </a:r>
            <a:r>
              <a:rPr kumimoji="1" lang="en-US" altLang="ko-KR" b="1" dirty="0"/>
              <a:t>expressivity</a:t>
            </a:r>
            <a:r>
              <a:rPr kumimoji="1" lang="en-US" altLang="ko-KR" dirty="0"/>
              <a:t>)</a:t>
            </a:r>
          </a:p>
          <a:p>
            <a:pPr lvl="2"/>
            <a:r>
              <a:rPr kumimoji="1" lang="en-US" altLang="ko-KR" b="1" dirty="0">
                <a:solidFill>
                  <a:schemeClr val="accent5"/>
                </a:solidFill>
              </a:rPr>
              <a:t>Docker swarm </a:t>
            </a:r>
            <a:r>
              <a:rPr kumimoji="1" lang="en-US" altLang="ko-KR" dirty="0"/>
              <a:t>from </a:t>
            </a:r>
            <a:r>
              <a:rPr kumimoji="1" lang="en-US" altLang="ko-KR" dirty="0" smtClean="0"/>
              <a:t>Docker</a:t>
            </a:r>
          </a:p>
          <a:p>
            <a:pPr lvl="1"/>
            <a:r>
              <a:rPr kumimoji="1" lang="en-US" altLang="ko-KR" dirty="0" smtClean="0"/>
              <a:t>Define </a:t>
            </a:r>
            <a:r>
              <a:rPr kumimoji="1" lang="en-US" altLang="ko-KR" b="1" dirty="0" smtClean="0"/>
              <a:t>your specification </a:t>
            </a:r>
            <a:r>
              <a:rPr kumimoji="1" lang="en-US" altLang="ko-KR" dirty="0" smtClean="0"/>
              <a:t>and then the runtime operates your services as you wish</a:t>
            </a:r>
          </a:p>
        </p:txBody>
      </p:sp>
    </p:spTree>
    <p:extLst>
      <p:ext uri="{BB962C8B-B14F-4D97-AF65-F5344CB8AC3E}">
        <p14:creationId xmlns:p14="http://schemas.microsoft.com/office/powerpoint/2010/main" val="100199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Kubernetes architecture</a:t>
            </a:r>
            <a:endParaRPr kumimoji="1"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5" y="1007595"/>
            <a:ext cx="1368934" cy="1368934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758969" y="1447060"/>
            <a:ext cx="4268062" cy="20046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 smtClean="0"/>
              <a:t>Server</a:t>
            </a:r>
            <a:endParaRPr kumimoji="1" lang="en-US" altLang="ko-KR" sz="2000" b="1" dirty="0" smtClean="0"/>
          </a:p>
          <a:p>
            <a:pPr marL="285750" indent="-285750">
              <a:buFontTx/>
              <a:buChar char="-"/>
            </a:pPr>
            <a:r>
              <a:rPr kumimoji="1" lang="en-US" altLang="ko-KR" sz="1600" b="1" dirty="0" smtClean="0"/>
              <a:t>REST API server </a:t>
            </a:r>
            <a:r>
              <a:rPr kumimoji="1" lang="en-US" altLang="ko-KR" sz="1600" dirty="0" smtClean="0"/>
              <a:t>with a K/V store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600" b="1" dirty="0"/>
              <a:t>Scheduler</a:t>
            </a:r>
          </a:p>
          <a:p>
            <a:pPr marL="742950" lvl="1" indent="-285750">
              <a:buFontTx/>
              <a:buChar char="-"/>
            </a:pPr>
            <a:r>
              <a:rPr kumimoji="1" lang="en-US" altLang="ko-KR" sz="1400" dirty="0"/>
              <a:t>Find suitable machines for containers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600" b="1" dirty="0" smtClean="0"/>
              <a:t>Controller manager</a:t>
            </a:r>
          </a:p>
          <a:p>
            <a:pPr marL="742950" lvl="1" indent="-285750">
              <a:buFontTx/>
              <a:buChar char="-"/>
            </a:pPr>
            <a:r>
              <a:rPr kumimoji="1" lang="en-US" altLang="ko-KR" sz="1400" b="1" dirty="0" smtClean="0"/>
              <a:t>Current</a:t>
            </a:r>
            <a:r>
              <a:rPr kumimoji="1" lang="en-US" altLang="ko-KR" sz="1400" dirty="0" smtClean="0"/>
              <a:t> state </a:t>
            </a:r>
            <a:r>
              <a:rPr kumimoji="1" lang="en-US" altLang="ko-KR" sz="1400" dirty="0" smtClean="0">
                <a:sym typeface="Wingdings"/>
              </a:rPr>
              <a:t> </a:t>
            </a:r>
            <a:r>
              <a:rPr kumimoji="1" lang="en-US" altLang="ko-KR" sz="1400" b="1" dirty="0" smtClean="0">
                <a:solidFill>
                  <a:srgbClr val="FF0000"/>
                </a:solidFill>
                <a:sym typeface="Wingdings"/>
              </a:rPr>
              <a:t>Desired</a:t>
            </a:r>
            <a:r>
              <a:rPr kumimoji="1" lang="en-US" altLang="ko-KR" sz="1400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kumimoji="1" lang="en-US" altLang="ko-KR" sz="1400" dirty="0" smtClean="0">
                <a:sym typeface="Wingdings"/>
              </a:rPr>
              <a:t>state</a:t>
            </a:r>
          </a:p>
          <a:p>
            <a:pPr marL="742950" lvl="1" indent="-285750">
              <a:buFontTx/>
              <a:buChar char="-"/>
            </a:pPr>
            <a:r>
              <a:rPr kumimoji="1" lang="en-US" altLang="ko-KR" sz="1400" dirty="0" smtClean="0">
                <a:sym typeface="Wingdings"/>
              </a:rPr>
              <a:t>Make changes if states go </a:t>
            </a:r>
            <a:r>
              <a:rPr kumimoji="1" lang="en-US" altLang="ko-KR" sz="1400" b="1" dirty="0" smtClean="0">
                <a:sym typeface="Wingdings"/>
              </a:rPr>
              <a:t>undesirable</a:t>
            </a:r>
          </a:p>
        </p:txBody>
      </p:sp>
      <p:sp>
        <p:nvSpPr>
          <p:cNvPr id="10" name="세로로 말린 두루마리 모양[V] 9"/>
          <p:cNvSpPr/>
          <p:nvPr/>
        </p:nvSpPr>
        <p:spPr>
          <a:xfrm>
            <a:off x="1110214" y="1333306"/>
            <a:ext cx="3898666" cy="2232161"/>
          </a:xfrm>
          <a:prstGeom prst="verticalScroll">
            <a:avLst>
              <a:gd name="adj" fmla="val 568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 smtClean="0"/>
              <a:t>Service specification</a:t>
            </a:r>
            <a:br>
              <a:rPr kumimoji="1" lang="en-US" altLang="ko-KR" sz="2400" b="1" dirty="0" smtClean="0"/>
            </a:br>
            <a:r>
              <a:rPr kumimoji="1" lang="en-US" altLang="ko-KR" b="1" dirty="0" smtClean="0"/>
              <a:t>(written in </a:t>
            </a:r>
            <a:r>
              <a:rPr kumimoji="1" lang="en-US" altLang="ko-KR" b="1" dirty="0" err="1" smtClean="0"/>
              <a:t>yaml</a:t>
            </a:r>
            <a:r>
              <a:rPr kumimoji="1" lang="en-US" altLang="ko-KR" b="1" dirty="0" smtClean="0"/>
              <a:t>)</a:t>
            </a:r>
            <a:endParaRPr kumimoji="1" lang="en-US" altLang="ko-KR" sz="2400" b="1" dirty="0"/>
          </a:p>
          <a:p>
            <a:pPr marL="285750" indent="-285750">
              <a:buFontTx/>
              <a:buChar char="-"/>
            </a:pPr>
            <a:r>
              <a:rPr kumimoji="1" lang="en-US" altLang="ko-KR" dirty="0" smtClean="0"/>
              <a:t>Execute a web-server image</a:t>
            </a:r>
          </a:p>
          <a:p>
            <a:pPr marL="285750" lvl="1" indent="-285750">
              <a:buFontTx/>
              <a:buChar char="-"/>
            </a:pPr>
            <a:r>
              <a:rPr kumimoji="1" lang="en-US" altLang="ko-KR" dirty="0"/>
              <a:t>Two replicas for </a:t>
            </a:r>
            <a:r>
              <a:rPr kumimoji="1" lang="en-US" altLang="ko-KR" dirty="0" smtClean="0"/>
              <a:t>LB &amp; HA</a:t>
            </a:r>
          </a:p>
          <a:p>
            <a:pPr marL="742950" lvl="1" indent="-285750">
              <a:buFontTx/>
              <a:buChar char="-"/>
            </a:pPr>
            <a:r>
              <a:rPr kumimoji="1" lang="en-US" altLang="ko-KR" dirty="0" smtClean="0"/>
              <a:t>3GB memory each</a:t>
            </a:r>
          </a:p>
        </p:txBody>
      </p:sp>
      <p:cxnSp>
        <p:nvCxnSpPr>
          <p:cNvPr id="12" name="직선 화살표 연결선 11"/>
          <p:cNvCxnSpPr>
            <a:stCxn id="10" idx="3"/>
            <a:endCxn id="9" idx="1"/>
          </p:cNvCxnSpPr>
          <p:nvPr/>
        </p:nvCxnSpPr>
        <p:spPr>
          <a:xfrm>
            <a:off x="4882049" y="2449387"/>
            <a:ext cx="8769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꺾인 연결선[E] 42"/>
          <p:cNvCxnSpPr>
            <a:stCxn id="9" idx="2"/>
            <a:endCxn id="21" idx="0"/>
          </p:cNvCxnSpPr>
          <p:nvPr/>
        </p:nvCxnSpPr>
        <p:spPr>
          <a:xfrm rot="5400000">
            <a:off x="6235369" y="2414551"/>
            <a:ext cx="620469" cy="2694795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꺾인 연결선[E] 43"/>
          <p:cNvCxnSpPr>
            <a:stCxn id="9" idx="2"/>
            <a:endCxn id="117" idx="0"/>
          </p:cNvCxnSpPr>
          <p:nvPr/>
        </p:nvCxnSpPr>
        <p:spPr>
          <a:xfrm rot="16200000" flipH="1">
            <a:off x="7587205" y="3757509"/>
            <a:ext cx="620469" cy="887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꺾인 연결선[E] 46"/>
          <p:cNvCxnSpPr>
            <a:stCxn id="9" idx="2"/>
            <a:endCxn id="123" idx="0"/>
          </p:cNvCxnSpPr>
          <p:nvPr/>
        </p:nvCxnSpPr>
        <p:spPr>
          <a:xfrm rot="16200000" flipH="1">
            <a:off x="8928092" y="2416621"/>
            <a:ext cx="620469" cy="269065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4015119" y="4257911"/>
            <a:ext cx="2366172" cy="1894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kumimoji="1" lang="en-US" altLang="ko-KR" sz="1400" dirty="0" smtClean="0"/>
          </a:p>
        </p:txBody>
      </p:sp>
      <p:sp>
        <p:nvSpPr>
          <p:cNvPr id="19" name="직사각형 18"/>
          <p:cNvSpPr/>
          <p:nvPr/>
        </p:nvSpPr>
        <p:spPr>
          <a:xfrm>
            <a:off x="4335591" y="4685051"/>
            <a:ext cx="1725228" cy="3675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Docker engine</a:t>
            </a:r>
            <a:endParaRPr kumimoji="1"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4335591" y="4072183"/>
            <a:ext cx="1725228" cy="3650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smtClean="0"/>
              <a:t>Node agent</a:t>
            </a:r>
            <a:endParaRPr kumimoji="1" lang="ko-KR" altLang="en-US" b="1" dirty="0"/>
          </a:p>
        </p:txBody>
      </p:sp>
      <p:cxnSp>
        <p:nvCxnSpPr>
          <p:cNvPr id="24" name="직선 화살표 연결선 23"/>
          <p:cNvCxnSpPr>
            <a:stCxn id="21" idx="2"/>
            <a:endCxn id="19" idx="0"/>
          </p:cNvCxnSpPr>
          <p:nvPr/>
        </p:nvCxnSpPr>
        <p:spPr>
          <a:xfrm>
            <a:off x="5198205" y="4437225"/>
            <a:ext cx="0" cy="247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4516914" y="5300431"/>
            <a:ext cx="1362582" cy="671812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>
                <a:solidFill>
                  <a:schemeClr val="tx1"/>
                </a:solidFill>
              </a:rPr>
              <a:t>container</a:t>
            </a:r>
          </a:p>
          <a:p>
            <a:pPr algn="ctr"/>
            <a:r>
              <a:rPr kumimoji="1" lang="en-US" altLang="ko-KR" dirty="0" smtClean="0">
                <a:solidFill>
                  <a:schemeClr val="tx1"/>
                </a:solidFill>
              </a:rPr>
              <a:t>(3GB)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" name="직선 화살표 연결선 4"/>
          <p:cNvCxnSpPr>
            <a:stCxn id="19" idx="2"/>
            <a:endCxn id="3" idx="0"/>
          </p:cNvCxnSpPr>
          <p:nvPr/>
        </p:nvCxnSpPr>
        <p:spPr>
          <a:xfrm>
            <a:off x="5198205" y="5052604"/>
            <a:ext cx="0" cy="24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6718792" y="4249033"/>
            <a:ext cx="2366172" cy="1894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kumimoji="1" lang="en-US" altLang="ko-KR" sz="1400" dirty="0" smtClean="0"/>
          </a:p>
        </p:txBody>
      </p:sp>
      <p:sp>
        <p:nvSpPr>
          <p:cNvPr id="116" name="직사각형 115"/>
          <p:cNvSpPr/>
          <p:nvPr/>
        </p:nvSpPr>
        <p:spPr>
          <a:xfrm>
            <a:off x="7039264" y="4685051"/>
            <a:ext cx="1725228" cy="3675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mtClean="0"/>
              <a:t>Docker engine</a:t>
            </a:r>
            <a:endParaRPr kumimoji="1" lang="ko-KR" altLang="en-US" dirty="0"/>
          </a:p>
        </p:txBody>
      </p:sp>
      <p:sp>
        <p:nvSpPr>
          <p:cNvPr id="117" name="직사각형 116"/>
          <p:cNvSpPr/>
          <p:nvPr/>
        </p:nvSpPr>
        <p:spPr>
          <a:xfrm>
            <a:off x="7039264" y="4072183"/>
            <a:ext cx="1725228" cy="3650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smtClean="0"/>
              <a:t>Node agent</a:t>
            </a:r>
            <a:endParaRPr kumimoji="1" lang="ko-KR" altLang="en-US" b="1" dirty="0"/>
          </a:p>
        </p:txBody>
      </p:sp>
      <p:cxnSp>
        <p:nvCxnSpPr>
          <p:cNvPr id="118" name="직선 화살표 연결선 117"/>
          <p:cNvCxnSpPr>
            <a:stCxn id="117" idx="2"/>
            <a:endCxn id="116" idx="0"/>
          </p:cNvCxnSpPr>
          <p:nvPr/>
        </p:nvCxnSpPr>
        <p:spPr>
          <a:xfrm>
            <a:off x="7901878" y="4437225"/>
            <a:ext cx="0" cy="247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/>
          <p:cNvSpPr/>
          <p:nvPr/>
        </p:nvSpPr>
        <p:spPr>
          <a:xfrm>
            <a:off x="7220587" y="5300431"/>
            <a:ext cx="1362582" cy="671812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>
                <a:solidFill>
                  <a:schemeClr val="tx1"/>
                </a:solidFill>
              </a:rPr>
              <a:t>container</a:t>
            </a:r>
          </a:p>
          <a:p>
            <a:pPr algn="ctr"/>
            <a:r>
              <a:rPr kumimoji="1" lang="en-US" altLang="ko-KR" dirty="0" smtClean="0">
                <a:solidFill>
                  <a:schemeClr val="tx1"/>
                </a:solidFill>
              </a:rPr>
              <a:t>(3GB)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0" name="직선 화살표 연결선 119"/>
          <p:cNvCxnSpPr>
            <a:stCxn id="116" idx="2"/>
            <a:endCxn id="119" idx="0"/>
          </p:cNvCxnSpPr>
          <p:nvPr/>
        </p:nvCxnSpPr>
        <p:spPr>
          <a:xfrm>
            <a:off x="7901878" y="5052604"/>
            <a:ext cx="0" cy="24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/>
          <p:cNvSpPr/>
          <p:nvPr/>
        </p:nvSpPr>
        <p:spPr>
          <a:xfrm>
            <a:off x="9400567" y="4249033"/>
            <a:ext cx="2366172" cy="1894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kumimoji="1" lang="en-US" altLang="ko-KR" sz="1400" dirty="0" smtClean="0"/>
          </a:p>
        </p:txBody>
      </p:sp>
      <p:sp>
        <p:nvSpPr>
          <p:cNvPr id="122" name="직사각형 121"/>
          <p:cNvSpPr/>
          <p:nvPr/>
        </p:nvSpPr>
        <p:spPr>
          <a:xfrm>
            <a:off x="9721039" y="4685051"/>
            <a:ext cx="1725228" cy="3675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mtClean="0"/>
              <a:t>Docker engine</a:t>
            </a:r>
            <a:endParaRPr kumimoji="1" lang="ko-KR" altLang="en-US" dirty="0"/>
          </a:p>
        </p:txBody>
      </p:sp>
      <p:sp>
        <p:nvSpPr>
          <p:cNvPr id="123" name="직사각형 122"/>
          <p:cNvSpPr/>
          <p:nvPr/>
        </p:nvSpPr>
        <p:spPr>
          <a:xfrm>
            <a:off x="9721039" y="4072183"/>
            <a:ext cx="1725228" cy="3650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 smtClean="0"/>
              <a:t>Node agent</a:t>
            </a:r>
            <a:endParaRPr kumimoji="1" lang="ko-KR" altLang="en-US" b="1" dirty="0"/>
          </a:p>
        </p:txBody>
      </p:sp>
      <p:cxnSp>
        <p:nvCxnSpPr>
          <p:cNvPr id="124" name="직선 화살표 연결선 123"/>
          <p:cNvCxnSpPr>
            <a:stCxn id="123" idx="2"/>
            <a:endCxn id="122" idx="0"/>
          </p:cNvCxnSpPr>
          <p:nvPr/>
        </p:nvCxnSpPr>
        <p:spPr>
          <a:xfrm>
            <a:off x="10583653" y="4437225"/>
            <a:ext cx="0" cy="247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/>
          <p:cNvSpPr/>
          <p:nvPr/>
        </p:nvSpPr>
        <p:spPr>
          <a:xfrm>
            <a:off x="9902362" y="5300431"/>
            <a:ext cx="1362582" cy="671812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>
                <a:solidFill>
                  <a:schemeClr val="tx1"/>
                </a:solidFill>
              </a:rPr>
              <a:t>container</a:t>
            </a:r>
          </a:p>
          <a:p>
            <a:pPr algn="ctr"/>
            <a:r>
              <a:rPr kumimoji="1" lang="en-US" altLang="ko-KR" dirty="0" smtClean="0">
                <a:solidFill>
                  <a:schemeClr val="tx1"/>
                </a:solidFill>
              </a:rPr>
              <a:t>(3GB)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6" name="직선 화살표 연결선 125"/>
          <p:cNvCxnSpPr>
            <a:stCxn id="122" idx="2"/>
            <a:endCxn id="125" idx="0"/>
          </p:cNvCxnSpPr>
          <p:nvPr/>
        </p:nvCxnSpPr>
        <p:spPr>
          <a:xfrm>
            <a:off x="10583653" y="5052604"/>
            <a:ext cx="0" cy="24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십자형[C] 126"/>
          <p:cNvSpPr/>
          <p:nvPr/>
        </p:nvSpPr>
        <p:spPr>
          <a:xfrm rot="2700000">
            <a:off x="4195312" y="4173627"/>
            <a:ext cx="2005786" cy="2005780"/>
          </a:xfrm>
          <a:prstGeom prst="plus">
            <a:avLst>
              <a:gd name="adj" fmla="val 4264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0" name="텍스트 상자 139"/>
          <p:cNvSpPr txBox="1"/>
          <p:nvPr/>
        </p:nvSpPr>
        <p:spPr>
          <a:xfrm>
            <a:off x="351692" y="4557932"/>
            <a:ext cx="3428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b="1" i="1" dirty="0" smtClean="0"/>
              <a:t>Ensure a </a:t>
            </a:r>
            <a:r>
              <a:rPr kumimoji="1" lang="en-US" altLang="ko-KR" sz="2400" b="1" i="1" smtClean="0"/>
              <a:t>specified </a:t>
            </a:r>
          </a:p>
          <a:p>
            <a:pPr algn="ctr"/>
            <a:r>
              <a:rPr kumimoji="1" lang="en-US" altLang="ko-KR" sz="2400" b="1" i="1" dirty="0" smtClean="0"/>
              <a:t># of replicas running all the time</a:t>
            </a:r>
            <a:endParaRPr kumimoji="1" lang="ko-KR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61225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119" grpId="0" animBg="1"/>
      <p:bldP spid="125" grpId="0" animBg="1"/>
      <p:bldP spid="127" grpId="0" animBg="1"/>
      <p:bldP spid="14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직사각형 168"/>
          <p:cNvSpPr/>
          <p:nvPr/>
        </p:nvSpPr>
        <p:spPr>
          <a:xfrm>
            <a:off x="7085698" y="4084444"/>
            <a:ext cx="4401907" cy="1550503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kumimoji="1" lang="en-US" altLang="ko-KR" sz="1400" b="1" dirty="0" smtClean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 smtClean="0"/>
              <a:t>Web server example</a:t>
            </a:r>
            <a:endParaRPr kumimoji="1" lang="ko-KR" altLang="en-US" b="1" dirty="0"/>
          </a:p>
        </p:txBody>
      </p:sp>
      <p:sp>
        <p:nvSpPr>
          <p:cNvPr id="22" name="직사각형 21"/>
          <p:cNvSpPr/>
          <p:nvPr/>
        </p:nvSpPr>
        <p:spPr>
          <a:xfrm>
            <a:off x="5004753" y="2131509"/>
            <a:ext cx="2185552" cy="1410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500" dirty="0"/>
              <a:t>node </a:t>
            </a:r>
            <a:r>
              <a:rPr kumimoji="1" lang="en-US" altLang="ko-KR" sz="1500" dirty="0" smtClean="0"/>
              <a:t>2</a:t>
            </a:r>
            <a:endParaRPr kumimoji="1" lang="en-US" altLang="ko-KR" sz="1500" dirty="0"/>
          </a:p>
        </p:txBody>
      </p:sp>
      <p:sp>
        <p:nvSpPr>
          <p:cNvPr id="26" name="직사각형 25"/>
          <p:cNvSpPr/>
          <p:nvPr/>
        </p:nvSpPr>
        <p:spPr>
          <a:xfrm>
            <a:off x="5163175" y="2246016"/>
            <a:ext cx="1074696" cy="639156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webserver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6354194" y="2248733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751199" y="2248733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354194" y="2604488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751199" y="2604488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354194" y="2960242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751199" y="2960242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163175" y="2960242"/>
            <a:ext cx="280684" cy="28068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560181" y="2960242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957187" y="2960242"/>
            <a:ext cx="280684" cy="28068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302815" y="2131509"/>
            <a:ext cx="2188610" cy="1410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500" dirty="0" smtClean="0"/>
              <a:t>node 1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2859772" y="2603116"/>
            <a:ext cx="1074696" cy="639156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webserver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3653784" y="2247362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050790" y="2247362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462766" y="2247667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859772" y="2247667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256778" y="2247667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462766" y="2603421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049475" y="2603421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462766" y="2958870"/>
            <a:ext cx="280684" cy="28068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049475" y="2958870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7703633" y="2131509"/>
            <a:ext cx="2185552" cy="14107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500" dirty="0"/>
              <a:t>node </a:t>
            </a:r>
            <a:r>
              <a:rPr kumimoji="1" lang="en-US" altLang="ko-KR" sz="1500" dirty="0" smtClean="0"/>
              <a:t>3</a:t>
            </a:r>
            <a:endParaRPr kumimoji="1" lang="en-US" altLang="ko-KR" sz="1500" dirty="0"/>
          </a:p>
        </p:txBody>
      </p:sp>
      <p:sp>
        <p:nvSpPr>
          <p:cNvPr id="71" name="직사각형 70"/>
          <p:cNvSpPr/>
          <p:nvPr/>
        </p:nvSpPr>
        <p:spPr>
          <a:xfrm>
            <a:off x="8259061" y="2603116"/>
            <a:ext cx="1074696" cy="639156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webserver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9053073" y="2248733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9450080" y="2248733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7862055" y="2604488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450080" y="2604488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8656067" y="2247362"/>
            <a:ext cx="280684" cy="280684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450080" y="2960242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862055" y="2960242"/>
            <a:ext cx="280684" cy="28068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7862055" y="2247362"/>
            <a:ext cx="280684" cy="28068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8259061" y="2247362"/>
            <a:ext cx="280684" cy="28068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007696" y="1092206"/>
            <a:ext cx="61766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 smtClean="0"/>
              <a:t>Want to launch 3 replicas </a:t>
            </a:r>
          </a:p>
          <a:p>
            <a:pPr algn="ctr"/>
            <a:r>
              <a:rPr kumimoji="1" lang="en-US" altLang="ko-KR" sz="2400" dirty="0" smtClean="0"/>
              <a:t>for </a:t>
            </a:r>
            <a:r>
              <a:rPr kumimoji="1" lang="en-US" altLang="ko-KR" sz="2400" b="1" dirty="0" smtClean="0"/>
              <a:t>high availability</a:t>
            </a:r>
            <a:r>
              <a:rPr kumimoji="1" lang="en-US" altLang="ko-KR" sz="2400" dirty="0" smtClean="0"/>
              <a:t> and </a:t>
            </a:r>
            <a:r>
              <a:rPr kumimoji="1" lang="en-US" altLang="ko-KR" sz="2400" b="1" dirty="0" smtClean="0"/>
              <a:t>load balancing</a:t>
            </a:r>
            <a:endParaRPr kumimoji="1" lang="en-US" altLang="ko-KR" sz="2400" b="1" dirty="0"/>
          </a:p>
        </p:txBody>
      </p:sp>
      <p:sp>
        <p:nvSpPr>
          <p:cNvPr id="88" name="직사각형 87"/>
          <p:cNvSpPr/>
          <p:nvPr/>
        </p:nvSpPr>
        <p:spPr>
          <a:xfrm>
            <a:off x="756745" y="4138589"/>
            <a:ext cx="621268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sz="2800" b="1" dirty="0" smtClean="0"/>
              <a:t>How to achieve the followings?</a:t>
            </a:r>
          </a:p>
          <a:p>
            <a:pPr marL="342900" indent="-342900">
              <a:buFont typeface="Arial" charset="0"/>
              <a:buChar char="•"/>
            </a:pPr>
            <a:r>
              <a:rPr kumimoji="1" lang="en-US" altLang="ko-KR" sz="2400" dirty="0" smtClean="0"/>
              <a:t>Users </a:t>
            </a:r>
            <a:r>
              <a:rPr kumimoji="1" lang="en-US" altLang="ko-KR" sz="2400" dirty="0"/>
              <a:t>must be unaware </a:t>
            </a:r>
            <a:r>
              <a:rPr kumimoji="1" lang="en-US" altLang="ko-KR" sz="2400" dirty="0" smtClean="0"/>
              <a:t>of </a:t>
            </a:r>
            <a:r>
              <a:rPr kumimoji="1" lang="en-US" altLang="ko-KR" sz="2400" dirty="0"/>
              <a:t>the </a:t>
            </a:r>
            <a:r>
              <a:rPr kumimoji="1" lang="en-US" altLang="ko-KR" sz="2400" dirty="0" smtClean="0"/>
              <a:t>replicas</a:t>
            </a:r>
            <a:endParaRPr kumimoji="1" lang="en-US" altLang="ko-KR" sz="2400" dirty="0"/>
          </a:p>
          <a:p>
            <a:pPr marL="342900" indent="-342900">
              <a:buFont typeface="Arial" charset="0"/>
              <a:buChar char="•"/>
            </a:pPr>
            <a:r>
              <a:rPr kumimoji="1" lang="en-US" altLang="ko-KR" sz="2400" dirty="0"/>
              <a:t>Traffic is </a:t>
            </a:r>
            <a:r>
              <a:rPr kumimoji="1" lang="en-US" altLang="ko-KR" sz="2400" dirty="0" smtClean="0"/>
              <a:t>evenly distributed to replicas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7243957" y="4677198"/>
            <a:ext cx="1205066" cy="71669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4bp80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8684119" y="4677198"/>
            <a:ext cx="1205066" cy="71669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6dk12</a:t>
            </a:r>
          </a:p>
        </p:txBody>
      </p:sp>
      <p:sp>
        <p:nvSpPr>
          <p:cNvPr id="143" name="직사각형 142"/>
          <p:cNvSpPr/>
          <p:nvPr/>
        </p:nvSpPr>
        <p:spPr>
          <a:xfrm>
            <a:off x="10146431" y="4677198"/>
            <a:ext cx="1205066" cy="71669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400" b="1" dirty="0" smtClean="0">
                <a:solidFill>
                  <a:schemeClr val="tx1"/>
                </a:solidFill>
              </a:rPr>
              <a:t>g1sdf</a:t>
            </a:r>
          </a:p>
        </p:txBody>
      </p:sp>
      <p:pic>
        <p:nvPicPr>
          <p:cNvPr id="167" name="그림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955" y="1092206"/>
            <a:ext cx="1000720" cy="1000720"/>
          </a:xfrm>
          <a:prstGeom prst="rect">
            <a:avLst/>
          </a:prstGeom>
        </p:spPr>
      </p:pic>
      <p:cxnSp>
        <p:nvCxnSpPr>
          <p:cNvPr id="173" name="직선 화살표 연결선 172"/>
          <p:cNvCxnSpPr>
            <a:stCxn id="176" idx="2"/>
            <a:endCxn id="142" idx="0"/>
          </p:cNvCxnSpPr>
          <p:nvPr/>
        </p:nvCxnSpPr>
        <p:spPr>
          <a:xfrm>
            <a:off x="9286651" y="4278150"/>
            <a:ext cx="1" cy="39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직사각형 175"/>
          <p:cNvSpPr/>
          <p:nvPr/>
        </p:nvSpPr>
        <p:spPr>
          <a:xfrm>
            <a:off x="8100262" y="3942533"/>
            <a:ext cx="2372778" cy="335617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smtClean="0">
                <a:solidFill>
                  <a:schemeClr val="tx1"/>
                </a:solidFill>
              </a:rPr>
              <a:t>a well-known address</a:t>
            </a:r>
            <a:endParaRPr kumimoji="1" lang="en-US" altLang="ko-KR" sz="1400" b="1" dirty="0" smtClean="0">
              <a:solidFill>
                <a:schemeClr val="tx1"/>
              </a:solidFill>
            </a:endParaRPr>
          </a:p>
        </p:txBody>
      </p:sp>
      <p:cxnSp>
        <p:nvCxnSpPr>
          <p:cNvPr id="183" name="꺾인 연결선[E] 182"/>
          <p:cNvCxnSpPr>
            <a:stCxn id="176" idx="2"/>
            <a:endCxn id="141" idx="0"/>
          </p:cNvCxnSpPr>
          <p:nvPr/>
        </p:nvCxnSpPr>
        <p:spPr>
          <a:xfrm rot="5400000">
            <a:off x="8367047" y="3757594"/>
            <a:ext cx="399048" cy="1440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[E] 183"/>
          <p:cNvCxnSpPr>
            <a:stCxn id="176" idx="2"/>
            <a:endCxn id="143" idx="0"/>
          </p:cNvCxnSpPr>
          <p:nvPr/>
        </p:nvCxnSpPr>
        <p:spPr>
          <a:xfrm rot="16200000" flipH="1">
            <a:off x="9818283" y="3746517"/>
            <a:ext cx="399048" cy="14623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/>
          <p:cNvCxnSpPr>
            <a:endCxn id="176" idx="0"/>
          </p:cNvCxnSpPr>
          <p:nvPr/>
        </p:nvCxnSpPr>
        <p:spPr>
          <a:xfrm>
            <a:off x="9286650" y="3719104"/>
            <a:ext cx="1" cy="223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직사각형 205"/>
          <p:cNvSpPr/>
          <p:nvPr/>
        </p:nvSpPr>
        <p:spPr>
          <a:xfrm>
            <a:off x="2909110" y="6062203"/>
            <a:ext cx="64075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ko-KR" sz="2800" b="1"/>
              <a:t>It’s a piece of cake with Kubernetes!</a:t>
            </a:r>
            <a:endParaRPr kumimoji="1"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93561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  <p:bldP spid="26" grpId="0" animBg="1"/>
      <p:bldP spid="57" grpId="0" animBg="1"/>
      <p:bldP spid="71" grpId="0" animBg="1"/>
      <p:bldP spid="88" grpId="0"/>
      <p:bldP spid="141" grpId="0" animBg="1"/>
      <p:bldP spid="142" grpId="0" animBg="1"/>
      <p:bldP spid="143" grpId="0" animBg="1"/>
      <p:bldP spid="176" grpId="0" animBg="1"/>
      <p:bldP spid="20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그림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34" y="1074531"/>
            <a:ext cx="2724611" cy="304180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 smtClean="0"/>
              <a:t>How to replicate your service instances</a:t>
            </a:r>
            <a:endParaRPr kumimoji="1" lang="ko-KR" altLang="en-US" dirty="0"/>
          </a:p>
        </p:txBody>
      </p:sp>
      <p:sp>
        <p:nvSpPr>
          <p:cNvPr id="76" name="직사각형 75"/>
          <p:cNvSpPr/>
          <p:nvPr/>
        </p:nvSpPr>
        <p:spPr>
          <a:xfrm>
            <a:off x="1677760" y="3044415"/>
            <a:ext cx="2230984" cy="5496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7" name="직사각형 76"/>
          <p:cNvSpPr/>
          <p:nvPr/>
        </p:nvSpPr>
        <p:spPr>
          <a:xfrm>
            <a:off x="1352639" y="1973113"/>
            <a:ext cx="2556105" cy="1727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8" name="직사각형 77"/>
          <p:cNvSpPr/>
          <p:nvPr/>
        </p:nvSpPr>
        <p:spPr>
          <a:xfrm>
            <a:off x="1677760" y="2490596"/>
            <a:ext cx="1117600" cy="38607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611264" y="3882548"/>
            <a:ext cx="2397055" cy="25176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400" dirty="0"/>
              <a:t>node </a:t>
            </a:r>
            <a:r>
              <a:rPr kumimoji="1" lang="en-US" altLang="ko-KR" sz="1400" dirty="0" smtClean="0"/>
              <a:t>2</a:t>
            </a:r>
            <a:endParaRPr kumimoji="1" lang="en-US" altLang="ko-KR" sz="1400" dirty="0"/>
          </a:p>
        </p:txBody>
      </p:sp>
      <p:sp>
        <p:nvSpPr>
          <p:cNvPr id="5" name="직사각형 4"/>
          <p:cNvSpPr/>
          <p:nvPr/>
        </p:nvSpPr>
        <p:spPr>
          <a:xfrm>
            <a:off x="6785017" y="4978530"/>
            <a:ext cx="1178698" cy="701009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6dk12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091294" y="4981510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26719" y="4981510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091294" y="5371692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526719" y="5371692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091294" y="576187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26719" y="576187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785017" y="576187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220442" y="576187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655867" y="576187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096417" y="3882548"/>
            <a:ext cx="2400409" cy="25176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400" dirty="0" smtClean="0"/>
              <a:t>node 1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707272" y="4985935"/>
            <a:ext cx="1178698" cy="701009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4bp80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578123" y="5760369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013549" y="4980006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271846" y="4980340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707272" y="576070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142698" y="576070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71846" y="5370522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012107" y="5370522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71846" y="5760369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012107" y="5760369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122757" y="3882548"/>
            <a:ext cx="2397055" cy="25176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400" dirty="0"/>
              <a:t>node </a:t>
            </a:r>
            <a:r>
              <a:rPr kumimoji="1" lang="en-US" altLang="ko-KR" sz="1400" dirty="0" smtClean="0"/>
              <a:t>3</a:t>
            </a:r>
            <a:endParaRPr kumimoji="1" lang="en-US" altLang="ko-KR" sz="1400" dirty="0"/>
          </a:p>
        </p:txBody>
      </p:sp>
      <p:sp>
        <p:nvSpPr>
          <p:cNvPr id="27" name="직사각형 26"/>
          <p:cNvSpPr/>
          <p:nvPr/>
        </p:nvSpPr>
        <p:spPr>
          <a:xfrm>
            <a:off x="9296509" y="4984987"/>
            <a:ext cx="1178698" cy="701009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g1sdf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0162894" y="5766306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0598321" y="5766306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0602787" y="5371692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1038213" y="5370522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727468" y="5764802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1038213" y="576187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296509" y="5761873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02787" y="4980006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38213" y="4980006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583203" y="5343983"/>
            <a:ext cx="972543" cy="2952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 smtClean="0">
                <a:solidFill>
                  <a:schemeClr val="bg1"/>
                </a:solidFill>
              </a:rPr>
              <a:t>app=web1</a:t>
            </a:r>
            <a:endParaRPr kumimoji="1"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7655867" y="5339439"/>
            <a:ext cx="972543" cy="2952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 smtClean="0">
                <a:solidFill>
                  <a:schemeClr val="bg1"/>
                </a:solidFill>
              </a:rPr>
              <a:t>app=web1</a:t>
            </a:r>
            <a:endParaRPr kumimoji="1"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0167360" y="5345062"/>
            <a:ext cx="972543" cy="2952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 smtClean="0">
                <a:solidFill>
                  <a:schemeClr val="bg1"/>
                </a:solidFill>
              </a:rPr>
              <a:t>app=web1</a:t>
            </a:r>
            <a:endParaRPr kumimoji="1"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092864" y="2341792"/>
            <a:ext cx="1433856" cy="5151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smtClean="0"/>
              <a:t>Server</a:t>
            </a:r>
            <a:endParaRPr kumimoji="1" lang="en-US" altLang="ko-KR" sz="1400" dirty="0" smtClean="0"/>
          </a:p>
        </p:txBody>
      </p:sp>
      <p:cxnSp>
        <p:nvCxnSpPr>
          <p:cNvPr id="43" name="꺾인 연결선[E] 42"/>
          <p:cNvCxnSpPr>
            <a:stCxn id="42" idx="2"/>
            <a:endCxn id="46" idx="0"/>
          </p:cNvCxnSpPr>
          <p:nvPr/>
        </p:nvCxnSpPr>
        <p:spPr>
          <a:xfrm rot="5400000">
            <a:off x="6130387" y="2023215"/>
            <a:ext cx="845639" cy="2513172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꺾인 연결선[E] 43"/>
          <p:cNvCxnSpPr>
            <a:stCxn id="42" idx="2"/>
            <a:endCxn id="47" idx="0"/>
          </p:cNvCxnSpPr>
          <p:nvPr/>
        </p:nvCxnSpPr>
        <p:spPr>
          <a:xfrm rot="16200000" flipH="1">
            <a:off x="7389446" y="3277327"/>
            <a:ext cx="845639" cy="494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꺾인 연결선[E] 44"/>
          <p:cNvCxnSpPr>
            <a:stCxn id="42" idx="2"/>
            <a:endCxn id="48" idx="0"/>
          </p:cNvCxnSpPr>
          <p:nvPr/>
        </p:nvCxnSpPr>
        <p:spPr>
          <a:xfrm rot="16200000" flipH="1">
            <a:off x="8642010" y="2024764"/>
            <a:ext cx="845639" cy="2510074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4452881" y="3702621"/>
            <a:ext cx="1687478" cy="3570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Node agent</a:t>
            </a:r>
            <a:endParaRPr kumimoji="1" lang="ko-KR" altLang="en-US" sz="1600" b="1" dirty="0"/>
          </a:p>
        </p:txBody>
      </p:sp>
      <p:sp>
        <p:nvSpPr>
          <p:cNvPr id="47" name="직사각형 46"/>
          <p:cNvSpPr/>
          <p:nvPr/>
        </p:nvSpPr>
        <p:spPr>
          <a:xfrm>
            <a:off x="6971000" y="3702621"/>
            <a:ext cx="1687478" cy="3570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Node agent</a:t>
            </a:r>
            <a:endParaRPr kumimoji="1" lang="ko-KR" altLang="en-US" sz="1600" b="1" dirty="0"/>
          </a:p>
        </p:txBody>
      </p:sp>
      <p:sp>
        <p:nvSpPr>
          <p:cNvPr id="48" name="직사각형 47"/>
          <p:cNvSpPr/>
          <p:nvPr/>
        </p:nvSpPr>
        <p:spPr>
          <a:xfrm>
            <a:off x="9476127" y="3702621"/>
            <a:ext cx="1687478" cy="3570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smtClean="0"/>
              <a:t>Node agent</a:t>
            </a:r>
            <a:endParaRPr kumimoji="1" lang="ko-KR" altLang="en-US" sz="1600" b="1" dirty="0"/>
          </a:p>
        </p:txBody>
      </p:sp>
      <p:cxnSp>
        <p:nvCxnSpPr>
          <p:cNvPr id="65" name="직선 화살표 연결선 64"/>
          <p:cNvCxnSpPr>
            <a:stCxn id="85" idx="3"/>
            <a:endCxn id="42" idx="1"/>
          </p:cNvCxnSpPr>
          <p:nvPr/>
        </p:nvCxnSpPr>
        <p:spPr>
          <a:xfrm>
            <a:off x="3908745" y="2595433"/>
            <a:ext cx="3184119" cy="3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4452881" y="4315450"/>
            <a:ext cx="1687478" cy="3595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smtClean="0"/>
              <a:t>Docker engine</a:t>
            </a:r>
            <a:endParaRPr kumimoji="1" lang="ko-KR" altLang="en-US" sz="1600" dirty="0"/>
          </a:p>
        </p:txBody>
      </p:sp>
      <p:cxnSp>
        <p:nvCxnSpPr>
          <p:cNvPr id="116" name="직선 화살표 연결선 115"/>
          <p:cNvCxnSpPr>
            <a:stCxn id="46" idx="2"/>
            <a:endCxn id="115" idx="0"/>
          </p:cNvCxnSpPr>
          <p:nvPr/>
        </p:nvCxnSpPr>
        <p:spPr>
          <a:xfrm>
            <a:off x="5296621" y="4059676"/>
            <a:ext cx="0" cy="2557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6966052" y="4315449"/>
            <a:ext cx="1687478" cy="3595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smtClean="0"/>
              <a:t>Docker engine</a:t>
            </a:r>
            <a:endParaRPr kumimoji="1" lang="ko-KR" altLang="en-US" sz="1600" dirty="0"/>
          </a:p>
        </p:txBody>
      </p:sp>
      <p:cxnSp>
        <p:nvCxnSpPr>
          <p:cNvPr id="118" name="직선 화살표 연결선 117"/>
          <p:cNvCxnSpPr>
            <a:stCxn id="47" idx="2"/>
            <a:endCxn id="117" idx="0"/>
          </p:cNvCxnSpPr>
          <p:nvPr/>
        </p:nvCxnSpPr>
        <p:spPr>
          <a:xfrm flipH="1">
            <a:off x="7809791" y="4059676"/>
            <a:ext cx="4948" cy="2557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직사각형 118"/>
          <p:cNvSpPr/>
          <p:nvPr/>
        </p:nvSpPr>
        <p:spPr>
          <a:xfrm>
            <a:off x="9476127" y="4324457"/>
            <a:ext cx="1687478" cy="3595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smtClean="0"/>
              <a:t>Docker engine</a:t>
            </a:r>
            <a:endParaRPr kumimoji="1" lang="ko-KR" altLang="en-US" sz="1600" dirty="0"/>
          </a:p>
        </p:txBody>
      </p:sp>
      <p:cxnSp>
        <p:nvCxnSpPr>
          <p:cNvPr id="120" name="직선 화살표 연결선 119"/>
          <p:cNvCxnSpPr>
            <a:stCxn id="48" idx="2"/>
            <a:endCxn id="119" idx="0"/>
          </p:cNvCxnSpPr>
          <p:nvPr/>
        </p:nvCxnSpPr>
        <p:spPr>
          <a:xfrm>
            <a:off x="10319866" y="4059676"/>
            <a:ext cx="0" cy="264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직선 화살표 연결선 128"/>
          <p:cNvCxnSpPr>
            <a:stCxn id="115" idx="2"/>
            <a:endCxn id="16" idx="0"/>
          </p:cNvCxnSpPr>
          <p:nvPr/>
        </p:nvCxnSpPr>
        <p:spPr>
          <a:xfrm>
            <a:off x="5296621" y="4674961"/>
            <a:ext cx="0" cy="3109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직선 화살표 연결선 131"/>
          <p:cNvCxnSpPr>
            <a:endCxn id="5" idx="0"/>
          </p:cNvCxnSpPr>
          <p:nvPr/>
        </p:nvCxnSpPr>
        <p:spPr>
          <a:xfrm flipH="1">
            <a:off x="7374366" y="4683967"/>
            <a:ext cx="369744" cy="2945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직선 화살표 연결선 132"/>
          <p:cNvCxnSpPr>
            <a:stCxn id="119" idx="2"/>
            <a:endCxn id="27" idx="0"/>
          </p:cNvCxnSpPr>
          <p:nvPr/>
        </p:nvCxnSpPr>
        <p:spPr>
          <a:xfrm flipH="1">
            <a:off x="9885858" y="4683968"/>
            <a:ext cx="434008" cy="3010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1" name="그림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84" y="2974964"/>
            <a:ext cx="1812370" cy="1812370"/>
          </a:xfrm>
          <a:prstGeom prst="rect">
            <a:avLst/>
          </a:prstGeom>
        </p:spPr>
      </p:pic>
      <p:sp>
        <p:nvSpPr>
          <p:cNvPr id="163" name="텍스트 상자 162"/>
          <p:cNvSpPr txBox="1"/>
          <p:nvPr/>
        </p:nvSpPr>
        <p:spPr>
          <a:xfrm>
            <a:off x="4099766" y="1309636"/>
            <a:ext cx="7691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 smtClean="0"/>
              <a:t>Specify </a:t>
            </a:r>
            <a:r>
              <a:rPr kumimoji="1" lang="en-US" altLang="ko-KR" sz="2400" b="1" dirty="0" smtClean="0">
                <a:solidFill>
                  <a:schemeClr val="accent1"/>
                </a:solidFill>
              </a:rPr>
              <a:t>your Docker image </a:t>
            </a:r>
            <a:r>
              <a:rPr kumimoji="1" lang="en-US" altLang="ko-KR" sz="2400" dirty="0" smtClean="0"/>
              <a:t>and </a:t>
            </a:r>
            <a:r>
              <a:rPr kumimoji="1" lang="en-US" altLang="ko-KR" sz="2400" b="1" dirty="0" smtClean="0">
                <a:solidFill>
                  <a:schemeClr val="accent1"/>
                </a:solidFill>
              </a:rPr>
              <a:t>a replication factor</a:t>
            </a:r>
          </a:p>
          <a:p>
            <a:pPr algn="ctr"/>
            <a:r>
              <a:rPr kumimoji="1" lang="en-US" altLang="ko-KR" sz="2400" dirty="0" smtClean="0"/>
              <a:t>using Deployment</a:t>
            </a:r>
          </a:p>
        </p:txBody>
      </p:sp>
      <p:sp>
        <p:nvSpPr>
          <p:cNvPr id="166" name="텍스트 상자 165"/>
          <p:cNvSpPr txBox="1"/>
          <p:nvPr/>
        </p:nvSpPr>
        <p:spPr>
          <a:xfrm>
            <a:off x="253579" y="4978530"/>
            <a:ext cx="3548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 smtClean="0"/>
              <a:t>Specify </a:t>
            </a:r>
            <a:r>
              <a:rPr kumimoji="1" lang="en-US" altLang="ko-KR" sz="2000" b="1" dirty="0" smtClean="0">
                <a:solidFill>
                  <a:schemeClr val="accent2"/>
                </a:solidFill>
              </a:rPr>
              <a:t>a common label </a:t>
            </a:r>
          </a:p>
          <a:p>
            <a:pPr algn="ctr"/>
            <a:r>
              <a:rPr kumimoji="1" lang="en-US" altLang="ko-KR" sz="2000" dirty="0" smtClean="0"/>
              <a:t>to group containers with different names</a:t>
            </a:r>
          </a:p>
        </p:txBody>
      </p:sp>
    </p:spTree>
    <p:extLst>
      <p:ext uri="{BB962C8B-B14F-4D97-AF65-F5344CB8AC3E}">
        <p14:creationId xmlns:p14="http://schemas.microsoft.com/office/powerpoint/2010/main" val="31463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  <p:bldP spid="78" grpId="0" animBg="1"/>
      <p:bldP spid="5" grpId="0" animBg="1"/>
      <p:bldP spid="16" grpId="0" animBg="1"/>
      <p:bldP spid="27" grpId="0" animBg="1"/>
      <p:bldP spid="37" grpId="0" animBg="1"/>
      <p:bldP spid="38" grpId="0" animBg="1"/>
      <p:bldP spid="39" grpId="0" animBg="1"/>
      <p:bldP spid="163" grpId="0"/>
      <p:bldP spid="1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직사각형 241"/>
          <p:cNvSpPr/>
          <p:nvPr/>
        </p:nvSpPr>
        <p:spPr>
          <a:xfrm>
            <a:off x="6611264" y="4148968"/>
            <a:ext cx="2397055" cy="1566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400" dirty="0"/>
              <a:t>node </a:t>
            </a:r>
            <a:r>
              <a:rPr kumimoji="1" lang="en-US" altLang="ko-KR" sz="1400" dirty="0" smtClean="0"/>
              <a:t>2</a:t>
            </a:r>
            <a:endParaRPr kumimoji="1" lang="en-US" altLang="ko-KR" sz="1400" dirty="0"/>
          </a:p>
        </p:txBody>
      </p:sp>
      <p:sp>
        <p:nvSpPr>
          <p:cNvPr id="243" name="직사각형 242"/>
          <p:cNvSpPr/>
          <p:nvPr/>
        </p:nvSpPr>
        <p:spPr>
          <a:xfrm>
            <a:off x="4096417" y="4148968"/>
            <a:ext cx="2400409" cy="1566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400" dirty="0" smtClean="0"/>
              <a:t>node 1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9122757" y="4148968"/>
            <a:ext cx="2397055" cy="1566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400" dirty="0"/>
              <a:t>node </a:t>
            </a:r>
            <a:r>
              <a:rPr kumimoji="1" lang="en-US" altLang="ko-KR" sz="1400" dirty="0" smtClean="0"/>
              <a:t>3</a:t>
            </a:r>
            <a:endParaRPr kumimoji="1" lang="en-US" altLang="ko-KR" sz="1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Define </a:t>
            </a:r>
            <a:r>
              <a:rPr kumimoji="1" lang="en-US" altLang="ko-KR" b="1" dirty="0" smtClean="0"/>
              <a:t>a service</a:t>
            </a:r>
            <a:r>
              <a:rPr kumimoji="1" lang="en-US" altLang="ko-KR" dirty="0" smtClean="0"/>
              <a:t> to do round-robin forwarding</a:t>
            </a:r>
            <a:endParaRPr kumimoji="1" lang="ko-KR" altLang="en-US" dirty="0"/>
          </a:p>
        </p:txBody>
      </p:sp>
      <p:sp>
        <p:nvSpPr>
          <p:cNvPr id="166" name="직사각형 165"/>
          <p:cNvSpPr/>
          <p:nvPr/>
        </p:nvSpPr>
        <p:spPr>
          <a:xfrm>
            <a:off x="4271846" y="2057647"/>
            <a:ext cx="1306277" cy="4938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 smtClean="0"/>
              <a:t>Server</a:t>
            </a:r>
            <a:endParaRPr kumimoji="1" lang="en-US" altLang="ko-KR" sz="1400" dirty="0" smtClean="0"/>
          </a:p>
        </p:txBody>
      </p:sp>
      <p:cxnSp>
        <p:nvCxnSpPr>
          <p:cNvPr id="173" name="직선 화살표 연결선 172"/>
          <p:cNvCxnSpPr>
            <a:stCxn id="184" idx="3"/>
            <a:endCxn id="166" idx="1"/>
          </p:cNvCxnSpPr>
          <p:nvPr/>
        </p:nvCxnSpPr>
        <p:spPr>
          <a:xfrm>
            <a:off x="3594538" y="2304586"/>
            <a:ext cx="6773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4" name="그림 18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9533" y="1056674"/>
            <a:ext cx="2105005" cy="2495824"/>
          </a:xfrm>
          <a:prstGeom prst="rect">
            <a:avLst/>
          </a:prstGeom>
        </p:spPr>
      </p:pic>
      <p:sp>
        <p:nvSpPr>
          <p:cNvPr id="186" name="직사각형 185"/>
          <p:cNvSpPr/>
          <p:nvPr/>
        </p:nvSpPr>
        <p:spPr>
          <a:xfrm>
            <a:off x="1661676" y="2096413"/>
            <a:ext cx="1240143" cy="45084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85" name="그림 1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43" y="2725285"/>
            <a:ext cx="1812370" cy="1812370"/>
          </a:xfrm>
          <a:prstGeom prst="rect">
            <a:avLst/>
          </a:prstGeom>
        </p:spPr>
      </p:pic>
      <p:sp>
        <p:nvSpPr>
          <p:cNvPr id="192" name="직사각형 191"/>
          <p:cNvSpPr/>
          <p:nvPr/>
        </p:nvSpPr>
        <p:spPr>
          <a:xfrm>
            <a:off x="6426771" y="2547257"/>
            <a:ext cx="1895187" cy="76349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 smtClean="0"/>
              <a:t>&lt;service&gt;</a:t>
            </a:r>
          </a:p>
          <a:p>
            <a:pPr algn="ctr"/>
            <a:r>
              <a:rPr kumimoji="1" lang="en-US" altLang="ko-KR" sz="2000" b="1" dirty="0" smtClean="0"/>
              <a:t>webserver:80</a:t>
            </a:r>
            <a:endParaRPr kumimoji="1" lang="en-US" altLang="ko-KR" sz="1400" dirty="0" smtClean="0"/>
          </a:p>
        </p:txBody>
      </p:sp>
      <p:sp>
        <p:nvSpPr>
          <p:cNvPr id="197" name="직사각형 196"/>
          <p:cNvSpPr/>
          <p:nvPr/>
        </p:nvSpPr>
        <p:spPr>
          <a:xfrm>
            <a:off x="1451938" y="1283368"/>
            <a:ext cx="1844936" cy="61254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8" name="직사각형 197"/>
          <p:cNvSpPr/>
          <p:nvPr/>
        </p:nvSpPr>
        <p:spPr>
          <a:xfrm>
            <a:off x="1862357" y="3145871"/>
            <a:ext cx="914400" cy="2097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01" name="꺾인 연결선[E] 200"/>
          <p:cNvCxnSpPr>
            <a:stCxn id="192" idx="2"/>
            <a:endCxn id="218" idx="0"/>
          </p:cNvCxnSpPr>
          <p:nvPr/>
        </p:nvCxnSpPr>
        <p:spPr>
          <a:xfrm rot="5400000">
            <a:off x="5840326" y="2767050"/>
            <a:ext cx="990335" cy="2077744"/>
          </a:xfrm>
          <a:prstGeom prst="bent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꺾인 연결선[E] 201"/>
          <p:cNvCxnSpPr>
            <a:stCxn id="192" idx="2"/>
            <a:endCxn id="208" idx="0"/>
          </p:cNvCxnSpPr>
          <p:nvPr/>
        </p:nvCxnSpPr>
        <p:spPr>
          <a:xfrm rot="16200000" flipH="1">
            <a:off x="6882900" y="3802219"/>
            <a:ext cx="982930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[E] 203"/>
          <p:cNvCxnSpPr>
            <a:stCxn id="192" idx="2"/>
            <a:endCxn id="228" idx="0"/>
          </p:cNvCxnSpPr>
          <p:nvPr/>
        </p:nvCxnSpPr>
        <p:spPr>
          <a:xfrm rot="16200000" flipH="1">
            <a:off x="8135418" y="2549701"/>
            <a:ext cx="989387" cy="2511493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직사각형 207"/>
          <p:cNvSpPr/>
          <p:nvPr/>
        </p:nvSpPr>
        <p:spPr>
          <a:xfrm>
            <a:off x="6785017" y="4293685"/>
            <a:ext cx="1178698" cy="701009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6dk12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091294" y="4296665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8526719" y="4296665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8091294" y="4686847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8526719" y="4686847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8091294" y="507702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8526719" y="507702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6785017" y="507702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7220442" y="507702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7655867" y="507702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4707272" y="4301090"/>
            <a:ext cx="1178698" cy="701009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4bp80</a:t>
            </a:r>
          </a:p>
        </p:txBody>
      </p:sp>
      <p:sp>
        <p:nvSpPr>
          <p:cNvPr id="219" name="직사각형 218"/>
          <p:cNvSpPr/>
          <p:nvPr/>
        </p:nvSpPr>
        <p:spPr>
          <a:xfrm>
            <a:off x="5578123" y="5075524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6013549" y="4295161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4271846" y="4295495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직사각형 221"/>
          <p:cNvSpPr/>
          <p:nvPr/>
        </p:nvSpPr>
        <p:spPr>
          <a:xfrm>
            <a:off x="4707272" y="507585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5142698" y="507585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4271846" y="4685677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6012107" y="4685677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4271846" y="5075524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6012107" y="5075524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9296509" y="4300142"/>
            <a:ext cx="1178698" cy="701009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webserver</a:t>
            </a:r>
          </a:p>
          <a:p>
            <a:pPr algn="ctr"/>
            <a:r>
              <a:rPr kumimoji="1" lang="en-US" altLang="ko-KR" sz="1200" b="1" dirty="0" smtClean="0">
                <a:solidFill>
                  <a:schemeClr val="tx1"/>
                </a:solidFill>
              </a:rPr>
              <a:t>g1sdf</a:t>
            </a:r>
          </a:p>
        </p:txBody>
      </p:sp>
      <p:sp>
        <p:nvSpPr>
          <p:cNvPr id="229" name="직사각형 228"/>
          <p:cNvSpPr/>
          <p:nvPr/>
        </p:nvSpPr>
        <p:spPr>
          <a:xfrm>
            <a:off x="10162894" y="5081461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10598321" y="5081461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10602787" y="4686847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11038213" y="4685677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9727468" y="5079957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11038213" y="507702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9296509" y="5077028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10602787" y="4295161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11038213" y="4295161"/>
            <a:ext cx="307847" cy="30784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5583203" y="4659138"/>
            <a:ext cx="972543" cy="2952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 smtClean="0">
                <a:solidFill>
                  <a:schemeClr val="bg1"/>
                </a:solidFill>
              </a:rPr>
              <a:t>app=web1</a:t>
            </a:r>
            <a:endParaRPr kumimoji="1"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655867" y="4654594"/>
            <a:ext cx="972543" cy="2952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 smtClean="0">
                <a:solidFill>
                  <a:schemeClr val="bg1"/>
                </a:solidFill>
              </a:rPr>
              <a:t>app=web1</a:t>
            </a:r>
            <a:endParaRPr kumimoji="1"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240" name="직사각형 239"/>
          <p:cNvSpPr/>
          <p:nvPr/>
        </p:nvSpPr>
        <p:spPr>
          <a:xfrm>
            <a:off x="10162894" y="4660217"/>
            <a:ext cx="972543" cy="2952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 smtClean="0">
                <a:solidFill>
                  <a:schemeClr val="bg1"/>
                </a:solidFill>
              </a:rPr>
              <a:t>app=web1</a:t>
            </a:r>
            <a:endParaRPr kumimoji="1" lang="ko-KR" altLang="en-US" sz="1100" b="1" dirty="0">
              <a:solidFill>
                <a:schemeClr val="bg1"/>
              </a:solidFill>
            </a:endParaRPr>
          </a:p>
        </p:txBody>
      </p:sp>
      <p:cxnSp>
        <p:nvCxnSpPr>
          <p:cNvPr id="272" name="꺾인 연결선[E] 271"/>
          <p:cNvCxnSpPr>
            <a:stCxn id="166" idx="2"/>
            <a:endCxn id="192" idx="1"/>
          </p:cNvCxnSpPr>
          <p:nvPr/>
        </p:nvCxnSpPr>
        <p:spPr>
          <a:xfrm rot="16200000" flipH="1">
            <a:off x="5487137" y="1989372"/>
            <a:ext cx="377482" cy="1501786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3" name="텍스트 상자 272"/>
          <p:cNvSpPr txBox="1"/>
          <p:nvPr/>
        </p:nvSpPr>
        <p:spPr>
          <a:xfrm>
            <a:off x="4630731" y="38109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b="1" dirty="0" smtClean="0"/>
              <a:t>33%</a:t>
            </a:r>
            <a:endParaRPr kumimoji="1" lang="ko-KR" altLang="en-US" b="1" dirty="0"/>
          </a:p>
        </p:txBody>
      </p:sp>
      <p:sp>
        <p:nvSpPr>
          <p:cNvPr id="274" name="텍스트 상자 273"/>
          <p:cNvSpPr txBox="1"/>
          <p:nvPr/>
        </p:nvSpPr>
        <p:spPr>
          <a:xfrm>
            <a:off x="6721621" y="38109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b="1" smtClean="0"/>
              <a:t>33%</a:t>
            </a:r>
            <a:endParaRPr kumimoji="1" lang="ko-KR" altLang="en-US" b="1" dirty="0"/>
          </a:p>
        </p:txBody>
      </p:sp>
      <p:sp>
        <p:nvSpPr>
          <p:cNvPr id="275" name="텍스트 상자 274"/>
          <p:cNvSpPr txBox="1"/>
          <p:nvPr/>
        </p:nvSpPr>
        <p:spPr>
          <a:xfrm>
            <a:off x="10099501" y="38109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b="1" smtClean="0"/>
              <a:t>33%</a:t>
            </a:r>
            <a:endParaRPr kumimoji="1" lang="ko-KR" altLang="en-US" b="1" dirty="0"/>
          </a:p>
        </p:txBody>
      </p:sp>
      <p:sp>
        <p:nvSpPr>
          <p:cNvPr id="280" name="직사각형 279"/>
          <p:cNvSpPr/>
          <p:nvPr/>
        </p:nvSpPr>
        <p:spPr>
          <a:xfrm>
            <a:off x="8813521" y="1694976"/>
            <a:ext cx="2024808" cy="70297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 smtClean="0"/>
              <a:t>&lt;ingress&gt;</a:t>
            </a:r>
          </a:p>
          <a:p>
            <a:pPr algn="ctr"/>
            <a:r>
              <a:rPr kumimoji="1" lang="en-US" altLang="ko-KR" sz="2000" b="1" dirty="0" smtClean="0"/>
              <a:t>metatron:80</a:t>
            </a:r>
            <a:endParaRPr kumimoji="1" lang="en-US" altLang="ko-KR" sz="1400" dirty="0" smtClean="0"/>
          </a:p>
        </p:txBody>
      </p:sp>
      <p:cxnSp>
        <p:nvCxnSpPr>
          <p:cNvPr id="282" name="꺾인 연결선[E] 281"/>
          <p:cNvCxnSpPr>
            <a:stCxn id="280" idx="2"/>
            <a:endCxn id="288" idx="3"/>
          </p:cNvCxnSpPr>
          <p:nvPr/>
        </p:nvCxnSpPr>
        <p:spPr>
          <a:xfrm rot="5400000">
            <a:off x="8888049" y="1831865"/>
            <a:ext cx="371786" cy="15039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텍스트 상자 285"/>
          <p:cNvSpPr txBox="1"/>
          <p:nvPr/>
        </p:nvSpPr>
        <p:spPr>
          <a:xfrm>
            <a:off x="8988062" y="535318"/>
            <a:ext cx="1679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 smtClean="0"/>
              <a:t>External traffic</a:t>
            </a:r>
          </a:p>
          <a:p>
            <a:pPr algn="ctr"/>
            <a:r>
              <a:rPr kumimoji="1" lang="en-US" altLang="ko-KR" dirty="0" smtClean="0"/>
              <a:t>over internet</a:t>
            </a:r>
            <a:endParaRPr kumimoji="1" lang="ko-KR" altLang="en-US" dirty="0"/>
          </a:p>
        </p:txBody>
      </p:sp>
      <p:sp>
        <p:nvSpPr>
          <p:cNvPr id="288" name="직사각형 287"/>
          <p:cNvSpPr/>
          <p:nvPr/>
        </p:nvSpPr>
        <p:spPr>
          <a:xfrm>
            <a:off x="8229600" y="2689530"/>
            <a:ext cx="92358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2" name="직사각형 291"/>
          <p:cNvSpPr/>
          <p:nvPr/>
        </p:nvSpPr>
        <p:spPr>
          <a:xfrm>
            <a:off x="8229600" y="2991068"/>
            <a:ext cx="92358" cy="16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2" name="텍스트 상자 301"/>
          <p:cNvSpPr txBox="1"/>
          <p:nvPr/>
        </p:nvSpPr>
        <p:spPr>
          <a:xfrm>
            <a:off x="8399141" y="3083990"/>
            <a:ext cx="191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 smtClean="0"/>
              <a:t>Internal traffic</a:t>
            </a:r>
            <a:endParaRPr kumimoji="1" lang="ko-KR" altLang="en-US" dirty="0"/>
          </a:p>
        </p:txBody>
      </p:sp>
      <p:cxnSp>
        <p:nvCxnSpPr>
          <p:cNvPr id="316" name="꺾인 연결선[E] 315"/>
          <p:cNvCxnSpPr>
            <a:stCxn id="236" idx="0"/>
            <a:endCxn id="292" idx="3"/>
          </p:cNvCxnSpPr>
          <p:nvPr/>
        </p:nvCxnSpPr>
        <p:spPr>
          <a:xfrm rot="16200000" flipV="1">
            <a:off x="8927394" y="2465843"/>
            <a:ext cx="1223882" cy="24347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화살표 연결선 341"/>
          <p:cNvCxnSpPr>
            <a:stCxn id="286" idx="2"/>
            <a:endCxn id="280" idx="0"/>
          </p:cNvCxnSpPr>
          <p:nvPr/>
        </p:nvCxnSpPr>
        <p:spPr>
          <a:xfrm flipH="1">
            <a:off x="9825925" y="1181649"/>
            <a:ext cx="2015" cy="513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텍스트 상자 347"/>
          <p:cNvSpPr txBox="1"/>
          <p:nvPr/>
        </p:nvSpPr>
        <p:spPr>
          <a:xfrm>
            <a:off x="1732442" y="5873169"/>
            <a:ext cx="9206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i="1" dirty="0" smtClean="0"/>
              <a:t>Kubernetes runs </a:t>
            </a:r>
            <a:r>
              <a:rPr kumimoji="1" lang="en-US" altLang="ko-KR" sz="2400" b="1" i="1" dirty="0" smtClean="0"/>
              <a:t>its own DNS server </a:t>
            </a:r>
            <a:r>
              <a:rPr kumimoji="1" lang="en-US" altLang="ko-KR" sz="2400" i="1" dirty="0" smtClean="0"/>
              <a:t>for name resolution</a:t>
            </a:r>
          </a:p>
          <a:p>
            <a:pPr algn="ctr"/>
            <a:r>
              <a:rPr kumimoji="1" lang="en-US" altLang="ko-KR" sz="2400" i="1" dirty="0" smtClean="0"/>
              <a:t>Kubernetes </a:t>
            </a:r>
            <a:r>
              <a:rPr kumimoji="1" lang="en-US" altLang="ko-KR" sz="2400" b="1" i="1" dirty="0" smtClean="0"/>
              <a:t>manipulates </a:t>
            </a:r>
            <a:r>
              <a:rPr kumimoji="1" lang="en-US" altLang="ko-KR" sz="2400" b="1" i="1" dirty="0" err="1" smtClean="0"/>
              <a:t>iptables</a:t>
            </a:r>
            <a:r>
              <a:rPr kumimoji="1" lang="en-US" altLang="ko-KR" sz="2400" b="1" i="1" dirty="0" smtClean="0"/>
              <a:t> </a:t>
            </a:r>
            <a:r>
              <a:rPr kumimoji="1" lang="en-US" altLang="ko-KR" sz="2400" i="1" dirty="0" smtClean="0"/>
              <a:t>on each node </a:t>
            </a:r>
            <a:r>
              <a:rPr kumimoji="1" lang="en-US" altLang="ko-KR" sz="2400" b="1" i="1" dirty="0" smtClean="0"/>
              <a:t>to proxy traffic</a:t>
            </a:r>
            <a:endParaRPr kumimoji="1" lang="ko-KR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81235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192" grpId="0" animBg="1"/>
      <p:bldP spid="197" grpId="0" animBg="1"/>
      <p:bldP spid="198" grpId="0" animBg="1"/>
      <p:bldP spid="273" grpId="0"/>
      <p:bldP spid="274" grpId="0"/>
      <p:bldP spid="275" grpId="0"/>
      <p:bldP spid="280" grpId="0" animBg="1"/>
      <p:bldP spid="286" grpId="0"/>
      <p:bldP spid="30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직사각형 119"/>
          <p:cNvSpPr/>
          <p:nvPr/>
        </p:nvSpPr>
        <p:spPr>
          <a:xfrm>
            <a:off x="663519" y="4278763"/>
            <a:ext cx="3716338" cy="1831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ko-KR" sz="1050" b="1" smtClean="0">
                <a:solidFill>
                  <a:schemeClr val="tx1"/>
                </a:solidFill>
              </a:rPr>
              <a:t>Kubernetes</a:t>
            </a:r>
            <a:endParaRPr kumimoji="1"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smtClean="0"/>
              <a:t>How </a:t>
            </a:r>
            <a:r>
              <a:rPr kumimoji="1" lang="en-US" altLang="ko-KR" dirty="0"/>
              <a:t>to guarantee </a:t>
            </a:r>
            <a:r>
              <a:rPr kumimoji="1" lang="en-US" altLang="ko-KR" b="1" dirty="0"/>
              <a:t>a certain # of running </a:t>
            </a:r>
            <a:r>
              <a:rPr kumimoji="1" lang="en-US" altLang="ko-KR" b="1" dirty="0" smtClean="0"/>
              <a:t>containers </a:t>
            </a:r>
            <a:r>
              <a:rPr kumimoji="1" lang="en-US" altLang="ko-KR" dirty="0" smtClean="0"/>
              <a:t>during </a:t>
            </a:r>
            <a:r>
              <a:rPr kumimoji="1" lang="en-US" altLang="ko-KR" dirty="0"/>
              <a:t>maintenance</a:t>
            </a:r>
            <a:endParaRPr kumimoji="1" lang="ko-KR" altLang="en-US" dirty="0"/>
          </a:p>
        </p:txBody>
      </p:sp>
      <p:grpSp>
        <p:nvGrpSpPr>
          <p:cNvPr id="169" name="그룹 168"/>
          <p:cNvGrpSpPr/>
          <p:nvPr/>
        </p:nvGrpSpPr>
        <p:grpSpPr>
          <a:xfrm>
            <a:off x="3094455" y="964626"/>
            <a:ext cx="2570803" cy="1783822"/>
            <a:chOff x="1381424" y="988119"/>
            <a:chExt cx="2368550" cy="164348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1424" y="988119"/>
              <a:ext cx="2368550" cy="1643484"/>
            </a:xfrm>
            <a:prstGeom prst="rect">
              <a:avLst/>
            </a:prstGeom>
          </p:spPr>
        </p:pic>
        <p:sp>
          <p:nvSpPr>
            <p:cNvPr id="83" name="직사각형 82"/>
            <p:cNvSpPr/>
            <p:nvPr/>
          </p:nvSpPr>
          <p:spPr>
            <a:xfrm>
              <a:off x="1381424" y="1203067"/>
              <a:ext cx="2368550" cy="177550"/>
            </a:xfrm>
            <a:prstGeom prst="rect">
              <a:avLst/>
            </a:prstGeom>
            <a:solidFill>
              <a:srgbClr val="FF0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1476674" y="2447417"/>
              <a:ext cx="1597025" cy="184186"/>
            </a:xfrm>
            <a:prstGeom prst="rect">
              <a:avLst/>
            </a:prstGeom>
            <a:solidFill>
              <a:schemeClr val="accent6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888231" y="4604137"/>
            <a:ext cx="999372" cy="1354800"/>
            <a:chOff x="563504" y="4779427"/>
            <a:chExt cx="999372" cy="1354800"/>
          </a:xfrm>
        </p:grpSpPr>
        <p:sp>
          <p:nvSpPr>
            <p:cNvPr id="122" name="직사각형 121"/>
            <p:cNvSpPr/>
            <p:nvPr/>
          </p:nvSpPr>
          <p:spPr>
            <a:xfrm>
              <a:off x="563504" y="4779427"/>
              <a:ext cx="999372" cy="1354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050" b="1" dirty="0" smtClean="0">
                  <a:solidFill>
                    <a:schemeClr val="tx1"/>
                  </a:solidFill>
                </a:rPr>
                <a:t>node1</a:t>
              </a:r>
              <a:endParaRPr kumimoji="1"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638514" y="5060251"/>
              <a:ext cx="845380" cy="9879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900" b="1" dirty="0" smtClean="0">
                  <a:solidFill>
                    <a:schemeClr val="tx1"/>
                  </a:solidFill>
                </a:rPr>
                <a:t>zk-0</a:t>
              </a:r>
              <a:endParaRPr kumimoji="1"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60944" y="5303891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25603" y="5331773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690262" y="5359652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Containers</a:t>
              </a:r>
              <a:endParaRPr kumimoji="1" lang="ko-KR" altLang="en-US" sz="700" dirty="0"/>
            </a:p>
          </p:txBody>
        </p:sp>
        <p:sp>
          <p:nvSpPr>
            <p:cNvPr id="90" name="원통[C] 89"/>
            <p:cNvSpPr/>
            <p:nvPr/>
          </p:nvSpPr>
          <p:spPr>
            <a:xfrm>
              <a:off x="698523" y="5699154"/>
              <a:ext cx="725554" cy="269456"/>
            </a:xfrm>
            <a:prstGeom prst="ca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Volumes</a:t>
              </a:r>
              <a:endParaRPr kumimoji="1" lang="ko-KR" altLang="en-US" sz="7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983802" y="4601887"/>
            <a:ext cx="999372" cy="1354800"/>
            <a:chOff x="1659075" y="4777177"/>
            <a:chExt cx="999372" cy="1354800"/>
          </a:xfrm>
        </p:grpSpPr>
        <p:sp>
          <p:nvSpPr>
            <p:cNvPr id="123" name="직사각형 122"/>
            <p:cNvSpPr/>
            <p:nvPr/>
          </p:nvSpPr>
          <p:spPr>
            <a:xfrm>
              <a:off x="1659075" y="4777177"/>
              <a:ext cx="999372" cy="1354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050" b="1" dirty="0" smtClean="0">
                  <a:solidFill>
                    <a:schemeClr val="tx1"/>
                  </a:solidFill>
                </a:rPr>
                <a:t>node2</a:t>
              </a:r>
              <a:endParaRPr kumimoji="1"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1736174" y="5060251"/>
              <a:ext cx="845380" cy="9879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900" b="1" dirty="0" smtClean="0">
                  <a:solidFill>
                    <a:schemeClr val="tx1"/>
                  </a:solidFill>
                </a:rPr>
                <a:t>zk-2</a:t>
              </a:r>
              <a:endParaRPr kumimoji="1"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1858603" y="5303891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823263" y="5331773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787922" y="5359652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Containers</a:t>
              </a:r>
              <a:endParaRPr kumimoji="1" lang="ko-KR" altLang="en-US" sz="700" dirty="0"/>
            </a:p>
          </p:txBody>
        </p:sp>
        <p:sp>
          <p:nvSpPr>
            <p:cNvPr id="95" name="원통[C] 94"/>
            <p:cNvSpPr/>
            <p:nvPr/>
          </p:nvSpPr>
          <p:spPr>
            <a:xfrm>
              <a:off x="1796183" y="5699154"/>
              <a:ext cx="725554" cy="269456"/>
            </a:xfrm>
            <a:prstGeom prst="ca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Volumes</a:t>
              </a:r>
              <a:endParaRPr kumimoji="1" lang="ko-KR" altLang="en-US" sz="700" dirty="0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3081360" y="4598191"/>
            <a:ext cx="999372" cy="1354800"/>
            <a:chOff x="2756633" y="4773481"/>
            <a:chExt cx="999372" cy="1354800"/>
          </a:xfrm>
        </p:grpSpPr>
        <p:sp>
          <p:nvSpPr>
            <p:cNvPr id="124" name="직사각형 123"/>
            <p:cNvSpPr/>
            <p:nvPr/>
          </p:nvSpPr>
          <p:spPr>
            <a:xfrm>
              <a:off x="2756633" y="4773481"/>
              <a:ext cx="999372" cy="1354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050" b="1" dirty="0" smtClean="0">
                  <a:solidFill>
                    <a:schemeClr val="tx1"/>
                  </a:solidFill>
                </a:rPr>
                <a:t>node3</a:t>
              </a:r>
              <a:endParaRPr kumimoji="1"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2833629" y="5060253"/>
              <a:ext cx="845380" cy="9879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900" b="1" dirty="0" smtClean="0">
                  <a:solidFill>
                    <a:schemeClr val="tx1"/>
                  </a:solidFill>
                </a:rPr>
                <a:t>zk-3</a:t>
              </a:r>
              <a:endParaRPr kumimoji="1"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956060" y="5303891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2920719" y="5331773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885379" y="5359652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Containers</a:t>
              </a:r>
              <a:endParaRPr kumimoji="1" lang="ko-KR" altLang="en-US" sz="700" dirty="0"/>
            </a:p>
          </p:txBody>
        </p:sp>
        <p:sp>
          <p:nvSpPr>
            <p:cNvPr id="100" name="원통[C] 99"/>
            <p:cNvSpPr/>
            <p:nvPr/>
          </p:nvSpPr>
          <p:spPr>
            <a:xfrm>
              <a:off x="2893639" y="5699154"/>
              <a:ext cx="725554" cy="269457"/>
            </a:xfrm>
            <a:prstGeom prst="ca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Volumes</a:t>
              </a:r>
              <a:endParaRPr kumimoji="1" lang="ko-KR" altLang="en-US" sz="700" dirty="0"/>
            </a:p>
          </p:txBody>
        </p:sp>
      </p:grpSp>
      <p:pic>
        <p:nvPicPr>
          <p:cNvPr id="127" name="그림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21" y="3684721"/>
            <a:ext cx="508000" cy="508000"/>
          </a:xfrm>
          <a:prstGeom prst="rect">
            <a:avLst/>
          </a:prstGeom>
        </p:spPr>
      </p:pic>
      <p:sp>
        <p:nvSpPr>
          <p:cNvPr id="102" name="위쪽 화살표[U] 101"/>
          <p:cNvSpPr/>
          <p:nvPr/>
        </p:nvSpPr>
        <p:spPr>
          <a:xfrm rot="10800000">
            <a:off x="832519" y="4104684"/>
            <a:ext cx="218521" cy="230163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1" name="사각형 설명선[R] 130"/>
          <p:cNvSpPr/>
          <p:nvPr/>
        </p:nvSpPr>
        <p:spPr>
          <a:xfrm>
            <a:off x="706391" y="3191747"/>
            <a:ext cx="1075256" cy="396472"/>
          </a:xfrm>
          <a:prstGeom prst="wedgeRectCallout">
            <a:avLst>
              <a:gd name="adj1" fmla="val -29368"/>
              <a:gd name="adj2" fmla="val 7566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Drain node1</a:t>
            </a:r>
            <a:endParaRPr kumimoji="1" lang="ko-KR" altLang="en-US" sz="1100" dirty="0"/>
          </a:p>
        </p:txBody>
      </p:sp>
      <p:sp>
        <p:nvSpPr>
          <p:cNvPr id="132" name="사각형 설명선[R] 131"/>
          <p:cNvSpPr/>
          <p:nvPr/>
        </p:nvSpPr>
        <p:spPr>
          <a:xfrm>
            <a:off x="2326732" y="3250583"/>
            <a:ext cx="2590992" cy="756611"/>
          </a:xfrm>
          <a:prstGeom prst="wedgeRectCallout">
            <a:avLst>
              <a:gd name="adj1" fmla="val -33556"/>
              <a:gd name="adj2" fmla="val 9250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100" dirty="0" smtClean="0"/>
              <a:t>Operation is </a:t>
            </a:r>
            <a:r>
              <a:rPr kumimoji="1" lang="en-US" altLang="ko-KR" sz="1100" b="1" dirty="0" smtClean="0"/>
              <a:t>permitted</a:t>
            </a:r>
          </a:p>
          <a:p>
            <a:pPr algn="ctr"/>
            <a:r>
              <a:rPr kumimoji="1" lang="en-US" altLang="ko-KR" sz="1100" dirty="0" smtClean="0"/>
              <a:t>because </a:t>
            </a:r>
            <a:r>
              <a:rPr kumimoji="1" lang="en-US" altLang="ko-KR" sz="1100" b="1" dirty="0" smtClean="0"/>
              <a:t>allowed-disruptions=1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7480642" y="4277748"/>
            <a:ext cx="3716338" cy="1831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ko-KR" sz="1050" b="1" dirty="0" smtClean="0">
                <a:solidFill>
                  <a:schemeClr val="tx1"/>
                </a:solidFill>
              </a:rPr>
              <a:t>Kubernetes</a:t>
            </a:r>
            <a:endParaRPr kumimoji="1" lang="ko-KR" altLang="en-US" sz="1050" b="1" dirty="0">
              <a:solidFill>
                <a:schemeClr val="tx1"/>
              </a:solidFill>
            </a:endParaRPr>
          </a:p>
        </p:txBody>
      </p:sp>
      <p:pic>
        <p:nvPicPr>
          <p:cNvPr id="155" name="그림 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944" y="3680619"/>
            <a:ext cx="508000" cy="508000"/>
          </a:xfrm>
          <a:prstGeom prst="rect">
            <a:avLst/>
          </a:prstGeom>
        </p:spPr>
      </p:pic>
      <p:sp>
        <p:nvSpPr>
          <p:cNvPr id="156" name="위쪽 화살표[U] 155"/>
          <p:cNvSpPr/>
          <p:nvPr/>
        </p:nvSpPr>
        <p:spPr>
          <a:xfrm rot="10800000">
            <a:off x="7649642" y="4081696"/>
            <a:ext cx="218521" cy="230163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7" name="사각형 설명선[R] 156"/>
          <p:cNvSpPr/>
          <p:nvPr/>
        </p:nvSpPr>
        <p:spPr>
          <a:xfrm>
            <a:off x="7663895" y="3190732"/>
            <a:ext cx="1040832" cy="395997"/>
          </a:xfrm>
          <a:prstGeom prst="wedgeRectCallout">
            <a:avLst>
              <a:gd name="adj1" fmla="val -29368"/>
              <a:gd name="adj2" fmla="val 7566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100" smtClean="0"/>
              <a:t>Drain node2</a:t>
            </a:r>
            <a:endParaRPr kumimoji="1" lang="en-US" altLang="ko-KR" sz="1100" dirty="0" smtClean="0"/>
          </a:p>
        </p:txBody>
      </p:sp>
      <p:pic>
        <p:nvPicPr>
          <p:cNvPr id="160" name="그림 1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3610" y="3307998"/>
            <a:ext cx="2471070" cy="279746"/>
          </a:xfrm>
          <a:prstGeom prst="rect">
            <a:avLst/>
          </a:prstGeom>
        </p:spPr>
      </p:pic>
      <p:sp>
        <p:nvSpPr>
          <p:cNvPr id="161" name="사각형 설명선[R] 160"/>
          <p:cNvSpPr/>
          <p:nvPr/>
        </p:nvSpPr>
        <p:spPr>
          <a:xfrm>
            <a:off x="4526919" y="4114787"/>
            <a:ext cx="2138286" cy="1578119"/>
          </a:xfrm>
          <a:prstGeom prst="wedgeRectCallout">
            <a:avLst>
              <a:gd name="adj1" fmla="val -64346"/>
              <a:gd name="adj2" fmla="val 2607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100" b="1" dirty="0" smtClean="0">
                <a:solidFill>
                  <a:srgbClr val="FF0000"/>
                </a:solidFill>
              </a:rPr>
              <a:t>3 replicas </a:t>
            </a:r>
            <a:r>
              <a:rPr kumimoji="1" lang="en-US" altLang="ko-KR" sz="1100" dirty="0" smtClean="0"/>
              <a:t>have to be </a:t>
            </a:r>
            <a:r>
              <a:rPr kumimoji="1" lang="en-US" altLang="ko-KR" sz="1100" dirty="0"/>
              <a:t>running </a:t>
            </a:r>
            <a:r>
              <a:rPr kumimoji="1" lang="en-US" altLang="ko-KR" sz="1100" dirty="0" smtClean="0"/>
              <a:t>due </a:t>
            </a:r>
            <a:r>
              <a:rPr kumimoji="1" lang="en-US" altLang="ko-KR" sz="1100" dirty="0"/>
              <a:t>to </a:t>
            </a:r>
            <a:r>
              <a:rPr kumimoji="1" lang="en-US" altLang="ko-KR" sz="1100" b="1" dirty="0" err="1">
                <a:solidFill>
                  <a:srgbClr val="7030A0"/>
                </a:solidFill>
              </a:rPr>
              <a:t>StatefulSet</a:t>
            </a:r>
            <a:r>
              <a:rPr kumimoji="1" lang="en-US" altLang="ko-KR" sz="1100" dirty="0" smtClean="0"/>
              <a:t>,</a:t>
            </a:r>
          </a:p>
          <a:p>
            <a:pPr algn="ctr"/>
            <a:r>
              <a:rPr kumimoji="1" lang="en-US" altLang="ko-KR" sz="1100" dirty="0" smtClean="0"/>
              <a:t>so try scheduling </a:t>
            </a:r>
            <a:r>
              <a:rPr kumimoji="1" lang="en-US" altLang="ko-KR" sz="1100" b="1" dirty="0" smtClean="0"/>
              <a:t>zk-0</a:t>
            </a:r>
            <a:r>
              <a:rPr kumimoji="1" lang="en-US" altLang="ko-KR" sz="1100" dirty="0" smtClean="0"/>
              <a:t> </a:t>
            </a:r>
          </a:p>
          <a:p>
            <a:pPr algn="ctr"/>
            <a:r>
              <a:rPr kumimoji="1" lang="en-US" altLang="ko-KR" sz="1100" dirty="0" smtClean="0"/>
              <a:t>on other nodes!</a:t>
            </a:r>
          </a:p>
        </p:txBody>
      </p:sp>
      <p:pic>
        <p:nvPicPr>
          <p:cNvPr id="162" name="그림 16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4139" y="4154859"/>
            <a:ext cx="1553128" cy="805175"/>
          </a:xfrm>
          <a:prstGeom prst="rect">
            <a:avLst/>
          </a:prstGeom>
        </p:spPr>
      </p:pic>
      <p:sp>
        <p:nvSpPr>
          <p:cNvPr id="163" name="직사각형 162"/>
          <p:cNvSpPr/>
          <p:nvPr/>
        </p:nvSpPr>
        <p:spPr>
          <a:xfrm>
            <a:off x="4901768" y="4837055"/>
            <a:ext cx="756522" cy="122979"/>
          </a:xfrm>
          <a:prstGeom prst="rect">
            <a:avLst/>
          </a:prstGeom>
          <a:solidFill>
            <a:srgbClr val="FF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4" name="사각형 설명선[R] 163"/>
          <p:cNvSpPr/>
          <p:nvPr/>
        </p:nvSpPr>
        <p:spPr>
          <a:xfrm>
            <a:off x="4459374" y="5782197"/>
            <a:ext cx="1904225" cy="763491"/>
          </a:xfrm>
          <a:prstGeom prst="wedgeRectCallout">
            <a:avLst>
              <a:gd name="adj1" fmla="val -63876"/>
              <a:gd name="adj2" fmla="val -3280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Oops! </a:t>
            </a:r>
          </a:p>
          <a:p>
            <a:pPr algn="ctr"/>
            <a:r>
              <a:rPr kumimoji="1" lang="en-US" altLang="ko-KR" sz="1100" dirty="0" smtClean="0"/>
              <a:t>cannot schedule zk-0 </a:t>
            </a:r>
          </a:p>
          <a:p>
            <a:pPr algn="ctr"/>
            <a:r>
              <a:rPr kumimoji="1" lang="en-US" altLang="ko-KR" sz="1100" dirty="0" smtClean="0"/>
              <a:t>on node2 and node3</a:t>
            </a:r>
          </a:p>
          <a:p>
            <a:pPr algn="ctr"/>
            <a:r>
              <a:rPr kumimoji="1" lang="en-US" altLang="ko-KR" sz="1100" dirty="0"/>
              <a:t>due to </a:t>
            </a:r>
            <a:r>
              <a:rPr kumimoji="1" lang="en-US" altLang="ko-KR" sz="1100" b="1" dirty="0" smtClean="0">
                <a:solidFill>
                  <a:schemeClr val="accent5"/>
                </a:solidFill>
              </a:rPr>
              <a:t>anti-affinity</a:t>
            </a:r>
            <a:r>
              <a:rPr kumimoji="1" lang="en-US" altLang="ko-KR" sz="1100" dirty="0" smtClean="0"/>
              <a:t>!</a:t>
            </a:r>
          </a:p>
        </p:txBody>
      </p:sp>
      <p:sp>
        <p:nvSpPr>
          <p:cNvPr id="158" name="사각형 설명선[R] 157"/>
          <p:cNvSpPr/>
          <p:nvPr/>
        </p:nvSpPr>
        <p:spPr>
          <a:xfrm>
            <a:off x="8800925" y="3227593"/>
            <a:ext cx="3143369" cy="880694"/>
          </a:xfrm>
          <a:prstGeom prst="wedgeRectCallout">
            <a:avLst>
              <a:gd name="adj1" fmla="val 20930"/>
              <a:gd name="adj2" fmla="val 8633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100" dirty="0" smtClean="0"/>
              <a:t>Operation </a:t>
            </a:r>
            <a:r>
              <a:rPr kumimoji="1" lang="en-US" altLang="ko-KR" sz="1100" b="1" dirty="0" smtClean="0">
                <a:solidFill>
                  <a:srgbClr val="FF0000"/>
                </a:solidFill>
              </a:rPr>
              <a:t>not </a:t>
            </a:r>
            <a:r>
              <a:rPr kumimoji="1" lang="en-US" altLang="ko-KR" sz="1100" b="1" dirty="0" smtClean="0">
                <a:solidFill>
                  <a:schemeClr val="tx1"/>
                </a:solidFill>
              </a:rPr>
              <a:t>permitted </a:t>
            </a:r>
          </a:p>
          <a:p>
            <a:pPr algn="ctr"/>
            <a:r>
              <a:rPr kumimoji="1" lang="en-US" altLang="ko-KR" sz="1100" dirty="0" smtClean="0"/>
              <a:t>because </a:t>
            </a:r>
            <a:r>
              <a:rPr kumimoji="1" lang="en-US" altLang="ko-KR" sz="1100" b="1" dirty="0" smtClean="0"/>
              <a:t>allowed-disruptions=0</a:t>
            </a:r>
          </a:p>
          <a:p>
            <a:pPr algn="ctr"/>
            <a:r>
              <a:rPr kumimoji="1" lang="en-US" altLang="ko-KR" sz="1100" dirty="0" smtClean="0">
                <a:solidFill>
                  <a:schemeClr val="tx1"/>
                </a:solidFill>
              </a:rPr>
              <a:t>(Note that </a:t>
            </a:r>
            <a:r>
              <a:rPr kumimoji="1" lang="en-US" altLang="ko-KR" sz="1100" b="1" dirty="0" err="1" smtClean="0">
                <a:solidFill>
                  <a:schemeClr val="accent6"/>
                </a:solidFill>
              </a:rPr>
              <a:t>minAvailable</a:t>
            </a:r>
            <a:r>
              <a:rPr kumimoji="1" lang="en-US" altLang="ko-KR" sz="1100" b="1" dirty="0" smtClean="0">
                <a:solidFill>
                  <a:schemeClr val="accent6"/>
                </a:solidFill>
              </a:rPr>
              <a:t>=2</a:t>
            </a:r>
            <a:r>
              <a:rPr kumimoji="1" lang="en-US" altLang="ko-KR" sz="1100" dirty="0" smtClean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66" name="그림 16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7518" y="3285008"/>
            <a:ext cx="2997881" cy="249737"/>
          </a:xfrm>
          <a:prstGeom prst="rect">
            <a:avLst/>
          </a:prstGeom>
        </p:spPr>
      </p:pic>
      <p:sp>
        <p:nvSpPr>
          <p:cNvPr id="168" name="사각형 설명선[R] 167"/>
          <p:cNvSpPr/>
          <p:nvPr/>
        </p:nvSpPr>
        <p:spPr>
          <a:xfrm>
            <a:off x="7851045" y="6173641"/>
            <a:ext cx="2923581" cy="411540"/>
          </a:xfrm>
          <a:prstGeom prst="wedgeRectCallout">
            <a:avLst>
              <a:gd name="adj1" fmla="val -35978"/>
              <a:gd name="adj2" fmla="val -8835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Please wait until </a:t>
            </a:r>
          </a:p>
          <a:p>
            <a:pPr algn="ctr"/>
            <a:r>
              <a:rPr kumimoji="1" lang="en-US" altLang="ko-KR" sz="1100" dirty="0" smtClean="0"/>
              <a:t>node1 is up and zk-0 is rescheduled!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4794139" y="4264608"/>
            <a:ext cx="1040842" cy="122979"/>
          </a:xfrm>
          <a:prstGeom prst="rect">
            <a:avLst/>
          </a:prstGeom>
          <a:solidFill>
            <a:srgbClr val="7030A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05" name="그룹 104"/>
          <p:cNvGrpSpPr/>
          <p:nvPr/>
        </p:nvGrpSpPr>
        <p:grpSpPr>
          <a:xfrm>
            <a:off x="7759703" y="4603122"/>
            <a:ext cx="999372" cy="1354800"/>
            <a:chOff x="563504" y="4779427"/>
            <a:chExt cx="999372" cy="1354800"/>
          </a:xfrm>
        </p:grpSpPr>
        <p:sp>
          <p:nvSpPr>
            <p:cNvPr id="106" name="직사각형 105"/>
            <p:cNvSpPr/>
            <p:nvPr/>
          </p:nvSpPr>
          <p:spPr>
            <a:xfrm>
              <a:off x="563504" y="4779427"/>
              <a:ext cx="999372" cy="1354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050" b="1" dirty="0" smtClean="0">
                  <a:solidFill>
                    <a:schemeClr val="tx1"/>
                  </a:solidFill>
                </a:rPr>
                <a:t>node1</a:t>
              </a:r>
              <a:endParaRPr kumimoji="1"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638514" y="5060251"/>
              <a:ext cx="845380" cy="9879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900" b="1" dirty="0" smtClean="0">
                  <a:solidFill>
                    <a:schemeClr val="tx1"/>
                  </a:solidFill>
                </a:rPr>
                <a:t>zk-0</a:t>
              </a:r>
              <a:endParaRPr kumimoji="1"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760944" y="5303891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725603" y="5331773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690262" y="5359652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Containers</a:t>
              </a:r>
              <a:endParaRPr kumimoji="1" lang="ko-KR" altLang="en-US" sz="700" dirty="0"/>
            </a:p>
          </p:txBody>
        </p:sp>
        <p:sp>
          <p:nvSpPr>
            <p:cNvPr id="111" name="원통[C] 110"/>
            <p:cNvSpPr/>
            <p:nvPr/>
          </p:nvSpPr>
          <p:spPr>
            <a:xfrm>
              <a:off x="698523" y="5699154"/>
              <a:ext cx="725554" cy="269456"/>
            </a:xfrm>
            <a:prstGeom prst="ca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Volumes</a:t>
              </a:r>
              <a:endParaRPr kumimoji="1" lang="ko-KR" altLang="en-US" sz="700" dirty="0"/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8855274" y="4600872"/>
            <a:ext cx="999372" cy="1354800"/>
            <a:chOff x="1659075" y="4777177"/>
            <a:chExt cx="999372" cy="1354800"/>
          </a:xfrm>
        </p:grpSpPr>
        <p:sp>
          <p:nvSpPr>
            <p:cNvPr id="113" name="직사각형 112"/>
            <p:cNvSpPr/>
            <p:nvPr/>
          </p:nvSpPr>
          <p:spPr>
            <a:xfrm>
              <a:off x="1659075" y="4777177"/>
              <a:ext cx="999372" cy="1354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050" b="1" dirty="0" smtClean="0">
                  <a:solidFill>
                    <a:schemeClr val="tx1"/>
                  </a:solidFill>
                </a:rPr>
                <a:t>node2</a:t>
              </a:r>
              <a:endParaRPr kumimoji="1"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1736174" y="5060251"/>
              <a:ext cx="845380" cy="9879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900" b="1" dirty="0" smtClean="0">
                  <a:solidFill>
                    <a:schemeClr val="tx1"/>
                  </a:solidFill>
                </a:rPr>
                <a:t>zk-2</a:t>
              </a:r>
              <a:endParaRPr kumimoji="1"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1858603" y="5303891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1823263" y="5331773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1787922" y="5359652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Containers</a:t>
              </a:r>
              <a:endParaRPr kumimoji="1" lang="ko-KR" altLang="en-US" sz="700" dirty="0"/>
            </a:p>
          </p:txBody>
        </p:sp>
        <p:sp>
          <p:nvSpPr>
            <p:cNvPr id="118" name="원통[C] 117"/>
            <p:cNvSpPr/>
            <p:nvPr/>
          </p:nvSpPr>
          <p:spPr>
            <a:xfrm>
              <a:off x="1796183" y="5699154"/>
              <a:ext cx="725554" cy="269456"/>
            </a:xfrm>
            <a:prstGeom prst="ca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Volumes</a:t>
              </a:r>
              <a:endParaRPr kumimoji="1" lang="ko-KR" altLang="en-US" sz="700" dirty="0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9952832" y="4597176"/>
            <a:ext cx="999372" cy="1354800"/>
            <a:chOff x="2756633" y="4773481"/>
            <a:chExt cx="999372" cy="1354800"/>
          </a:xfrm>
        </p:grpSpPr>
        <p:sp>
          <p:nvSpPr>
            <p:cNvPr id="121" name="직사각형 120"/>
            <p:cNvSpPr/>
            <p:nvPr/>
          </p:nvSpPr>
          <p:spPr>
            <a:xfrm>
              <a:off x="2756633" y="4773481"/>
              <a:ext cx="999372" cy="1354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050" b="1" dirty="0" smtClean="0">
                  <a:solidFill>
                    <a:schemeClr val="tx1"/>
                  </a:solidFill>
                </a:rPr>
                <a:t>node3</a:t>
              </a:r>
              <a:endParaRPr kumimoji="1"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2833629" y="5060253"/>
              <a:ext cx="845380" cy="98793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900" b="1" dirty="0" smtClean="0">
                  <a:solidFill>
                    <a:schemeClr val="tx1"/>
                  </a:solidFill>
                </a:rPr>
                <a:t>zk-3</a:t>
              </a:r>
              <a:endParaRPr kumimoji="1"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2956060" y="5303891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920719" y="5331773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700" dirty="0"/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2885379" y="5359652"/>
              <a:ext cx="676716" cy="29876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Containers</a:t>
              </a:r>
              <a:endParaRPr kumimoji="1" lang="ko-KR" altLang="en-US" sz="700" dirty="0"/>
            </a:p>
          </p:txBody>
        </p:sp>
        <p:sp>
          <p:nvSpPr>
            <p:cNvPr id="130" name="원통[C] 129"/>
            <p:cNvSpPr/>
            <p:nvPr/>
          </p:nvSpPr>
          <p:spPr>
            <a:xfrm>
              <a:off x="2893639" y="5699154"/>
              <a:ext cx="725554" cy="269457"/>
            </a:xfrm>
            <a:prstGeom prst="ca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700" dirty="0" smtClean="0"/>
                <a:t>Volumes</a:t>
              </a:r>
              <a:endParaRPr kumimoji="1" lang="ko-KR" altLang="en-US" sz="700" dirty="0"/>
            </a:p>
          </p:txBody>
        </p:sp>
      </p:grpSp>
      <p:sp>
        <p:nvSpPr>
          <p:cNvPr id="9" name="십자형[C] 8"/>
          <p:cNvSpPr/>
          <p:nvPr/>
        </p:nvSpPr>
        <p:spPr>
          <a:xfrm rot="2700000">
            <a:off x="1025514" y="4705987"/>
            <a:ext cx="717217" cy="717217"/>
          </a:xfrm>
          <a:prstGeom prst="plus">
            <a:avLst>
              <a:gd name="adj" fmla="val 4264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3" name="십자형[C] 132"/>
          <p:cNvSpPr/>
          <p:nvPr/>
        </p:nvSpPr>
        <p:spPr>
          <a:xfrm rot="2700000">
            <a:off x="7896229" y="4704971"/>
            <a:ext cx="717217" cy="717217"/>
          </a:xfrm>
          <a:prstGeom prst="plus">
            <a:avLst>
              <a:gd name="adj" fmla="val 4264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1676" y="1329053"/>
            <a:ext cx="1435683" cy="1435683"/>
          </a:xfrm>
          <a:prstGeom prst="rect">
            <a:avLst/>
          </a:prstGeom>
        </p:spPr>
      </p:pic>
      <p:sp>
        <p:nvSpPr>
          <p:cNvPr id="11" name="사각형 설명선[R] 10"/>
          <p:cNvSpPr/>
          <p:nvPr/>
        </p:nvSpPr>
        <p:spPr>
          <a:xfrm>
            <a:off x="5869181" y="1335009"/>
            <a:ext cx="4378077" cy="1118632"/>
          </a:xfrm>
          <a:prstGeom prst="wedgeRectCallout">
            <a:avLst>
              <a:gd name="adj1" fmla="val -59797"/>
              <a:gd name="adj2" fmla="val 3353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Define </a:t>
            </a:r>
            <a:r>
              <a:rPr kumimoji="1" lang="en-US" altLang="ko-KR" b="1" dirty="0" smtClean="0">
                <a:solidFill>
                  <a:srgbClr val="FF0000"/>
                </a:solidFill>
              </a:rPr>
              <a:t>disruption </a:t>
            </a:r>
            <a:r>
              <a:rPr kumimoji="1" lang="en-US" altLang="ko-KR" b="1" dirty="0">
                <a:solidFill>
                  <a:srgbClr val="FF0000"/>
                </a:solidFill>
              </a:rPr>
              <a:t>budget</a:t>
            </a:r>
          </a:p>
          <a:p>
            <a:pPr algn="ctr"/>
            <a:r>
              <a:rPr kumimoji="1" lang="en-US" altLang="ko-KR" dirty="0"/>
              <a:t>to specify </a:t>
            </a:r>
            <a:r>
              <a:rPr kumimoji="1" lang="en-US" altLang="ko-KR" dirty="0" smtClean="0"/>
              <a:t>requirement for </a:t>
            </a:r>
          </a:p>
          <a:p>
            <a:pPr algn="ctr"/>
            <a:r>
              <a:rPr kumimoji="1" lang="en-US" altLang="ko-KR" b="1" dirty="0" smtClean="0">
                <a:solidFill>
                  <a:schemeClr val="accent6"/>
                </a:solidFill>
              </a:rPr>
              <a:t>the </a:t>
            </a:r>
            <a:r>
              <a:rPr kumimoji="1" lang="en-US" altLang="ko-KR" b="1" dirty="0">
                <a:solidFill>
                  <a:schemeClr val="accent6"/>
                </a:solidFill>
              </a:rPr>
              <a:t>minimum available containers</a:t>
            </a:r>
            <a:endParaRPr kumimoji="1" lang="ko-KR" altLang="en-US" b="1" dirty="0">
              <a:solidFill>
                <a:schemeClr val="accent6"/>
              </a:solidFill>
            </a:endParaRPr>
          </a:p>
        </p:txBody>
      </p:sp>
      <p:sp>
        <p:nvSpPr>
          <p:cNvPr id="74" name="사각형 설명선[R] 73"/>
          <p:cNvSpPr/>
          <p:nvPr/>
        </p:nvSpPr>
        <p:spPr>
          <a:xfrm>
            <a:off x="2714174" y="6212898"/>
            <a:ext cx="1565341" cy="332790"/>
          </a:xfrm>
          <a:prstGeom prst="wedgeRectCallout">
            <a:avLst>
              <a:gd name="adj1" fmla="val 30799"/>
              <a:gd name="adj2" fmla="val -11551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 smtClean="0"/>
              <a:t>Hold on for </a:t>
            </a:r>
            <a:r>
              <a:rPr kumimoji="1" lang="en-US" altLang="ko-KR" sz="1100" smtClean="0"/>
              <a:t>a while </a:t>
            </a:r>
            <a:endParaRPr kumimoji="1" lang="en-US" altLang="ko-KR" sz="1100" dirty="0" smtClean="0"/>
          </a:p>
        </p:txBody>
      </p:sp>
    </p:spTree>
    <p:extLst>
      <p:ext uri="{BB962C8B-B14F-4D97-AF65-F5344CB8AC3E}">
        <p14:creationId xmlns:p14="http://schemas.microsoft.com/office/powerpoint/2010/main" val="136517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02" grpId="0" animBg="1"/>
      <p:bldP spid="131" grpId="0" animBg="1"/>
      <p:bldP spid="132" grpId="0" animBg="1"/>
      <p:bldP spid="136" grpId="0" animBg="1"/>
      <p:bldP spid="156" grpId="0" animBg="1"/>
      <p:bldP spid="157" grpId="0" animBg="1"/>
      <p:bldP spid="161" grpId="0" animBg="1"/>
      <p:bldP spid="163" grpId="0" animBg="1"/>
      <p:bldP spid="164" grpId="0" animBg="1"/>
      <p:bldP spid="158" grpId="0" animBg="1"/>
      <p:bldP spid="168" grpId="0" animBg="1"/>
      <p:bldP spid="65" grpId="0" animBg="1"/>
      <p:bldP spid="9" grpId="0" animBg="1"/>
      <p:bldP spid="133" grpId="0" animBg="1"/>
      <p:bldP spid="7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97064" y="288324"/>
            <a:ext cx="10082829" cy="62360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ko-KR" sz="1600" dirty="0" err="1" smtClean="0">
                <a:solidFill>
                  <a:schemeClr val="tx1"/>
                </a:solidFill>
              </a:rPr>
              <a:t>PdM</a:t>
            </a:r>
            <a:r>
              <a:rPr kumimoji="1" lang="en-US" altLang="ko-KR" sz="1600" dirty="0" smtClean="0">
                <a:solidFill>
                  <a:schemeClr val="tx1"/>
                </a:solidFill>
              </a:rPr>
              <a:t> Kubernetes cluster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67876" y="940731"/>
            <a:ext cx="4745403" cy="209509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1600" dirty="0" smtClean="0">
                <a:solidFill>
                  <a:schemeClr val="tx1"/>
                </a:solidFill>
              </a:rPr>
              <a:t>Zookeeper headless service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139917" y="940732"/>
            <a:ext cx="4745403" cy="2095091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1600" dirty="0" smtClean="0">
                <a:solidFill>
                  <a:schemeClr val="tx1"/>
                </a:solidFill>
              </a:rPr>
              <a:t>Kafka headless service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332829" y="4049623"/>
            <a:ext cx="5567573" cy="2359415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en-US" altLang="ko-KR" sz="1600" dirty="0" err="1" smtClean="0">
                <a:solidFill>
                  <a:schemeClr val="tx1"/>
                </a:solidFill>
              </a:rPr>
              <a:t>PdM</a:t>
            </a:r>
            <a:r>
              <a:rPr kumimoji="1" lang="en-US" altLang="ko-KR" sz="1600" dirty="0" smtClean="0">
                <a:solidFill>
                  <a:schemeClr val="tx1"/>
                </a:solidFill>
              </a:rPr>
              <a:t> service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433599" y="1947396"/>
            <a:ext cx="1090452" cy="8018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 err="1" smtClean="0"/>
              <a:t>QuorumPeer</a:t>
            </a:r>
            <a:endParaRPr kumimoji="1" lang="en-US" altLang="ko-KR" sz="1200" dirty="0" smtClean="0"/>
          </a:p>
          <a:p>
            <a:pPr algn="ctr"/>
            <a:r>
              <a:rPr kumimoji="1" lang="en-US" altLang="ko-KR" sz="1200" dirty="0" smtClean="0"/>
              <a:t>Main</a:t>
            </a:r>
            <a:endParaRPr kumimoji="1"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2995351" y="1963262"/>
            <a:ext cx="1090452" cy="8018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 err="1" smtClean="0"/>
              <a:t>QuorumPeer</a:t>
            </a:r>
            <a:endParaRPr kumimoji="1" lang="en-US" altLang="ko-KR" sz="1200" dirty="0" smtClean="0"/>
          </a:p>
          <a:p>
            <a:pPr algn="ctr"/>
            <a:r>
              <a:rPr kumimoji="1" lang="en-US" altLang="ko-KR" sz="1200" dirty="0" smtClean="0"/>
              <a:t>Main</a:t>
            </a:r>
            <a:endParaRPr kumimoji="1"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4468630" y="1971095"/>
            <a:ext cx="1090452" cy="8018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 err="1" smtClean="0"/>
              <a:t>QuorumPeer</a:t>
            </a:r>
            <a:endParaRPr kumimoji="1" lang="en-US" altLang="ko-KR" sz="1200" dirty="0" smtClean="0"/>
          </a:p>
          <a:p>
            <a:pPr algn="ctr"/>
            <a:r>
              <a:rPr kumimoji="1" lang="en-US" altLang="ko-KR" sz="1200" dirty="0" smtClean="0"/>
              <a:t>Main</a:t>
            </a:r>
            <a:endParaRPr kumimoji="1"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1374281" y="1613650"/>
            <a:ext cx="1209086" cy="132117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600" smtClean="0">
                <a:solidFill>
                  <a:schemeClr val="tx1"/>
                </a:solidFill>
              </a:rPr>
              <a:t>Pod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36034" y="1613650"/>
            <a:ext cx="1209086" cy="132117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600" smtClean="0">
                <a:solidFill>
                  <a:schemeClr val="tx1"/>
                </a:solidFill>
              </a:rPr>
              <a:t>Pod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409313" y="1613650"/>
            <a:ext cx="1209086" cy="132117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600" smtClean="0">
                <a:solidFill>
                  <a:schemeClr val="tx1"/>
                </a:solidFill>
              </a:rPr>
              <a:t>Pod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583361" y="1947396"/>
            <a:ext cx="861931" cy="80186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 smtClean="0"/>
              <a:t>Kafka</a:t>
            </a:r>
          </a:p>
          <a:p>
            <a:pPr algn="ctr"/>
            <a:r>
              <a:rPr kumimoji="1" lang="en-US" altLang="ko-KR" sz="1200" dirty="0" smtClean="0"/>
              <a:t>(broker)</a:t>
            </a:r>
            <a:endParaRPr kumimoji="1" lang="ko-KR" altLang="en-US" sz="1200" dirty="0"/>
          </a:p>
        </p:txBody>
      </p:sp>
      <p:sp>
        <p:nvSpPr>
          <p:cNvPr id="17" name="직사각형 16"/>
          <p:cNvSpPr/>
          <p:nvPr/>
        </p:nvSpPr>
        <p:spPr>
          <a:xfrm>
            <a:off x="8091149" y="1963262"/>
            <a:ext cx="861931" cy="80186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Kafka</a:t>
            </a:r>
          </a:p>
          <a:p>
            <a:pPr algn="ctr"/>
            <a:r>
              <a:rPr kumimoji="1" lang="en-US" altLang="ko-KR" sz="1200" dirty="0"/>
              <a:t>(broker)</a:t>
            </a:r>
            <a:endParaRPr kumimoji="1"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9564428" y="1971095"/>
            <a:ext cx="861931" cy="80186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Kafka</a:t>
            </a:r>
          </a:p>
          <a:p>
            <a:pPr algn="ctr"/>
            <a:r>
              <a:rPr kumimoji="1" lang="en-US" altLang="ko-KR" sz="1200" dirty="0"/>
              <a:t>(broker)</a:t>
            </a:r>
            <a:endParaRPr kumimoji="1" lang="ko-KR" altLang="en-US" sz="1200" dirty="0"/>
          </a:p>
        </p:txBody>
      </p:sp>
      <p:sp>
        <p:nvSpPr>
          <p:cNvPr id="19" name="직사각형 18"/>
          <p:cNvSpPr/>
          <p:nvPr/>
        </p:nvSpPr>
        <p:spPr>
          <a:xfrm>
            <a:off x="6409783" y="1613650"/>
            <a:ext cx="1209086" cy="132117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600" smtClean="0">
                <a:solidFill>
                  <a:schemeClr val="tx1"/>
                </a:solidFill>
              </a:rPr>
              <a:t>Pod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917571" y="1613650"/>
            <a:ext cx="1209086" cy="132117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600" smtClean="0">
                <a:solidFill>
                  <a:schemeClr val="tx1"/>
                </a:solidFill>
              </a:rPr>
              <a:t>Pod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390850" y="1613650"/>
            <a:ext cx="1209086" cy="132117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600" smtClean="0">
                <a:solidFill>
                  <a:schemeClr val="tx1"/>
                </a:solidFill>
              </a:rPr>
              <a:t>Pod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원통[C] 4"/>
          <p:cNvSpPr/>
          <p:nvPr/>
        </p:nvSpPr>
        <p:spPr>
          <a:xfrm>
            <a:off x="1746912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2181</a:t>
            </a:r>
            <a:endParaRPr kumimoji="1" lang="ko-KR" altLang="en-US" sz="1100" dirty="0"/>
          </a:p>
        </p:txBody>
      </p:sp>
      <p:sp>
        <p:nvSpPr>
          <p:cNvPr id="27" name="원통[C] 26"/>
          <p:cNvSpPr/>
          <p:nvPr/>
        </p:nvSpPr>
        <p:spPr>
          <a:xfrm>
            <a:off x="2000123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smtClean="0"/>
              <a:t>2888</a:t>
            </a:r>
            <a:endParaRPr kumimoji="1" lang="ko-KR" altLang="en-US" sz="1100" dirty="0"/>
          </a:p>
        </p:txBody>
      </p:sp>
      <p:sp>
        <p:nvSpPr>
          <p:cNvPr id="28" name="원통[C] 27"/>
          <p:cNvSpPr/>
          <p:nvPr/>
        </p:nvSpPr>
        <p:spPr>
          <a:xfrm>
            <a:off x="2253334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3888</a:t>
            </a:r>
            <a:endParaRPr kumimoji="1" lang="ko-KR" altLang="en-US" sz="1100" dirty="0"/>
          </a:p>
        </p:txBody>
      </p:sp>
      <p:sp>
        <p:nvSpPr>
          <p:cNvPr id="29" name="원통[C] 28"/>
          <p:cNvSpPr/>
          <p:nvPr/>
        </p:nvSpPr>
        <p:spPr>
          <a:xfrm>
            <a:off x="3305828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2181</a:t>
            </a:r>
            <a:endParaRPr kumimoji="1" lang="ko-KR" altLang="en-US" sz="1100" dirty="0"/>
          </a:p>
        </p:txBody>
      </p:sp>
      <p:sp>
        <p:nvSpPr>
          <p:cNvPr id="30" name="원통[C] 29"/>
          <p:cNvSpPr/>
          <p:nvPr/>
        </p:nvSpPr>
        <p:spPr>
          <a:xfrm>
            <a:off x="3559039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smtClean="0"/>
              <a:t>2888</a:t>
            </a:r>
            <a:endParaRPr kumimoji="1" lang="ko-KR" altLang="en-US" sz="1100" dirty="0"/>
          </a:p>
        </p:txBody>
      </p:sp>
      <p:sp>
        <p:nvSpPr>
          <p:cNvPr id="31" name="원통[C] 30"/>
          <p:cNvSpPr/>
          <p:nvPr/>
        </p:nvSpPr>
        <p:spPr>
          <a:xfrm>
            <a:off x="3812250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3888</a:t>
            </a:r>
            <a:endParaRPr kumimoji="1" lang="ko-KR" altLang="en-US" sz="1100" dirty="0"/>
          </a:p>
        </p:txBody>
      </p:sp>
      <p:sp>
        <p:nvSpPr>
          <p:cNvPr id="32" name="원통[C] 31"/>
          <p:cNvSpPr/>
          <p:nvPr/>
        </p:nvSpPr>
        <p:spPr>
          <a:xfrm>
            <a:off x="4781224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2181</a:t>
            </a:r>
            <a:endParaRPr kumimoji="1" lang="ko-KR" altLang="en-US" sz="1100" dirty="0"/>
          </a:p>
        </p:txBody>
      </p:sp>
      <p:sp>
        <p:nvSpPr>
          <p:cNvPr id="33" name="원통[C] 32"/>
          <p:cNvSpPr/>
          <p:nvPr/>
        </p:nvSpPr>
        <p:spPr>
          <a:xfrm>
            <a:off x="5034436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smtClean="0"/>
              <a:t>2888</a:t>
            </a:r>
            <a:endParaRPr kumimoji="1" lang="ko-KR" altLang="en-US" sz="1100" dirty="0"/>
          </a:p>
        </p:txBody>
      </p:sp>
      <p:sp>
        <p:nvSpPr>
          <p:cNvPr id="34" name="원통[C] 33"/>
          <p:cNvSpPr/>
          <p:nvPr/>
        </p:nvSpPr>
        <p:spPr>
          <a:xfrm>
            <a:off x="5287647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3888</a:t>
            </a:r>
            <a:endParaRPr kumimoji="1" lang="ko-KR" altLang="en-US" sz="1100" dirty="0"/>
          </a:p>
        </p:txBody>
      </p:sp>
      <p:cxnSp>
        <p:nvCxnSpPr>
          <p:cNvPr id="36" name="꺾인 연결선[E] 35"/>
          <p:cNvCxnSpPr>
            <a:stCxn id="58" idx="3"/>
            <a:endCxn id="27" idx="3"/>
          </p:cNvCxnSpPr>
          <p:nvPr/>
        </p:nvCxnSpPr>
        <p:spPr>
          <a:xfrm rot="5400000">
            <a:off x="2419672" y="2584124"/>
            <a:ext cx="386987" cy="999374"/>
          </a:xfrm>
          <a:prstGeom prst="bentConnector3">
            <a:avLst>
              <a:gd name="adj1" fmla="val 15205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[E] 39"/>
          <p:cNvCxnSpPr>
            <a:stCxn id="58" idx="3"/>
            <a:endCxn id="28" idx="3"/>
          </p:cNvCxnSpPr>
          <p:nvPr/>
        </p:nvCxnSpPr>
        <p:spPr>
          <a:xfrm rot="5400000">
            <a:off x="2546278" y="2710730"/>
            <a:ext cx="386987" cy="746163"/>
          </a:xfrm>
          <a:prstGeom prst="bentConnector3">
            <a:avLst>
              <a:gd name="adj1" fmla="val 15205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[E] 43"/>
          <p:cNvCxnSpPr>
            <a:stCxn id="58" idx="3"/>
            <a:endCxn id="34" idx="3"/>
          </p:cNvCxnSpPr>
          <p:nvPr/>
        </p:nvCxnSpPr>
        <p:spPr>
          <a:xfrm rot="16200000" flipH="1">
            <a:off x="4063434" y="1939736"/>
            <a:ext cx="386987" cy="2288150"/>
          </a:xfrm>
          <a:prstGeom prst="bentConnector3">
            <a:avLst>
              <a:gd name="adj1" fmla="val 15205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[E] 44"/>
          <p:cNvCxnSpPr>
            <a:stCxn id="58" idx="3"/>
            <a:endCxn id="33" idx="3"/>
          </p:cNvCxnSpPr>
          <p:nvPr/>
        </p:nvCxnSpPr>
        <p:spPr>
          <a:xfrm rot="16200000" flipH="1">
            <a:off x="3936828" y="2066341"/>
            <a:ext cx="386987" cy="2034939"/>
          </a:xfrm>
          <a:prstGeom prst="bentConnector3">
            <a:avLst>
              <a:gd name="adj1" fmla="val 15205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원통[C] 51"/>
          <p:cNvSpPr/>
          <p:nvPr/>
        </p:nvSpPr>
        <p:spPr>
          <a:xfrm>
            <a:off x="1480688" y="2688944"/>
            <a:ext cx="146222" cy="20137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kumimoji="1" lang="ko-KR" altLang="en-US" sz="1100" dirty="0"/>
          </a:p>
        </p:txBody>
      </p:sp>
      <p:sp>
        <p:nvSpPr>
          <p:cNvPr id="58" name="원통[C] 57"/>
          <p:cNvSpPr/>
          <p:nvPr/>
        </p:nvSpPr>
        <p:spPr>
          <a:xfrm>
            <a:off x="3039741" y="2688944"/>
            <a:ext cx="146222" cy="20137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kumimoji="1" lang="ko-KR" altLang="en-US" sz="1100" dirty="0"/>
          </a:p>
        </p:txBody>
      </p:sp>
      <p:sp>
        <p:nvSpPr>
          <p:cNvPr id="60" name="원통[C] 59"/>
          <p:cNvSpPr/>
          <p:nvPr/>
        </p:nvSpPr>
        <p:spPr>
          <a:xfrm>
            <a:off x="4511405" y="2688944"/>
            <a:ext cx="146222" cy="201374"/>
          </a:xfrm>
          <a:prstGeom prst="can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kumimoji="1" lang="ko-KR" altLang="en-US" sz="1100" dirty="0"/>
          </a:p>
        </p:txBody>
      </p:sp>
      <p:cxnSp>
        <p:nvCxnSpPr>
          <p:cNvPr id="66" name="꺾인 연결선[E] 65"/>
          <p:cNvCxnSpPr>
            <a:stCxn id="52" idx="3"/>
            <a:endCxn id="31" idx="3"/>
          </p:cNvCxnSpPr>
          <p:nvPr/>
        </p:nvCxnSpPr>
        <p:spPr>
          <a:xfrm rot="16200000" flipH="1">
            <a:off x="2546208" y="1897907"/>
            <a:ext cx="386987" cy="2371807"/>
          </a:xfrm>
          <a:prstGeom prst="bentConnector3">
            <a:avLst>
              <a:gd name="adj1" fmla="val 15205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[E] 71"/>
          <p:cNvCxnSpPr>
            <a:stCxn id="60" idx="3"/>
            <a:endCxn id="30" idx="3"/>
          </p:cNvCxnSpPr>
          <p:nvPr/>
        </p:nvCxnSpPr>
        <p:spPr>
          <a:xfrm rot="5400000">
            <a:off x="3934962" y="2627751"/>
            <a:ext cx="386987" cy="912121"/>
          </a:xfrm>
          <a:prstGeom prst="bentConnector3">
            <a:avLst>
              <a:gd name="adj1" fmla="val 15205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[E] 82"/>
          <p:cNvCxnSpPr>
            <a:stCxn id="3" idx="0"/>
            <a:endCxn id="98" idx="2"/>
          </p:cNvCxnSpPr>
          <p:nvPr/>
        </p:nvCxnSpPr>
        <p:spPr>
          <a:xfrm rot="16200000" flipV="1">
            <a:off x="3124626" y="1928311"/>
            <a:ext cx="1038133" cy="36792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6" name="꺾인 연결선[E] 85"/>
          <p:cNvCxnSpPr>
            <a:stCxn id="3" idx="0"/>
            <a:endCxn id="100" idx="2"/>
          </p:cNvCxnSpPr>
          <p:nvPr/>
        </p:nvCxnSpPr>
        <p:spPr>
          <a:xfrm rot="16200000" flipV="1">
            <a:off x="3906382" y="2710067"/>
            <a:ext cx="1038133" cy="21157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9" name="꺾인 연결선[E] 88"/>
          <p:cNvCxnSpPr>
            <a:stCxn id="3" idx="0"/>
            <a:endCxn id="102" idx="2"/>
          </p:cNvCxnSpPr>
          <p:nvPr/>
        </p:nvCxnSpPr>
        <p:spPr>
          <a:xfrm rot="16200000" flipV="1">
            <a:off x="4642859" y="3446544"/>
            <a:ext cx="1038096" cy="6428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1769317" y="3175944"/>
            <a:ext cx="69467" cy="72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99" name="직사각형 98"/>
          <p:cNvSpPr/>
          <p:nvPr/>
        </p:nvSpPr>
        <p:spPr>
          <a:xfrm>
            <a:off x="1883813" y="3146062"/>
            <a:ext cx="69467" cy="72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00" name="직사각형 99"/>
          <p:cNvSpPr/>
          <p:nvPr/>
        </p:nvSpPr>
        <p:spPr>
          <a:xfrm>
            <a:off x="3332829" y="3175944"/>
            <a:ext cx="69467" cy="72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01" name="직사각형 100"/>
          <p:cNvSpPr/>
          <p:nvPr/>
        </p:nvSpPr>
        <p:spPr>
          <a:xfrm>
            <a:off x="3447325" y="3146062"/>
            <a:ext cx="69467" cy="72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02" name="직사각형 101"/>
          <p:cNvSpPr/>
          <p:nvPr/>
        </p:nvSpPr>
        <p:spPr>
          <a:xfrm>
            <a:off x="4805747" y="3175981"/>
            <a:ext cx="69467" cy="72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03" name="직사각형 102"/>
          <p:cNvSpPr/>
          <p:nvPr/>
        </p:nvSpPr>
        <p:spPr>
          <a:xfrm>
            <a:off x="4920244" y="3146099"/>
            <a:ext cx="69467" cy="72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16" name="원통[C] 115"/>
          <p:cNvSpPr/>
          <p:nvPr/>
        </p:nvSpPr>
        <p:spPr>
          <a:xfrm>
            <a:off x="6783013" y="2688944"/>
            <a:ext cx="146222" cy="201374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kumimoji="1" lang="ko-KR" altLang="en-US" sz="1100" dirty="0"/>
          </a:p>
        </p:txBody>
      </p:sp>
      <p:sp>
        <p:nvSpPr>
          <p:cNvPr id="117" name="원통[C] 116"/>
          <p:cNvSpPr/>
          <p:nvPr/>
        </p:nvSpPr>
        <p:spPr>
          <a:xfrm>
            <a:off x="8288101" y="2688944"/>
            <a:ext cx="146222" cy="201374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kumimoji="1" lang="ko-KR" altLang="en-US" sz="1100" dirty="0"/>
          </a:p>
        </p:txBody>
      </p:sp>
      <p:sp>
        <p:nvSpPr>
          <p:cNvPr id="118" name="원통[C] 117"/>
          <p:cNvSpPr/>
          <p:nvPr/>
        </p:nvSpPr>
        <p:spPr>
          <a:xfrm>
            <a:off x="9759765" y="2688944"/>
            <a:ext cx="146222" cy="201374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kumimoji="1" lang="ko-KR" altLang="en-US" sz="1100" dirty="0"/>
          </a:p>
        </p:txBody>
      </p:sp>
      <p:cxnSp>
        <p:nvCxnSpPr>
          <p:cNvPr id="119" name="꺾인 연결선[E] 118"/>
          <p:cNvCxnSpPr>
            <a:stCxn id="116" idx="3"/>
            <a:endCxn id="99" idx="2"/>
          </p:cNvCxnSpPr>
          <p:nvPr/>
        </p:nvCxnSpPr>
        <p:spPr>
          <a:xfrm rot="5400000">
            <a:off x="4222994" y="585872"/>
            <a:ext cx="328686" cy="4937576"/>
          </a:xfrm>
          <a:prstGeom prst="bentConnector3">
            <a:avLst>
              <a:gd name="adj1" fmla="val 161291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꺾인 연결선[E] 119"/>
          <p:cNvCxnSpPr>
            <a:stCxn id="117" idx="3"/>
            <a:endCxn id="101" idx="2"/>
          </p:cNvCxnSpPr>
          <p:nvPr/>
        </p:nvCxnSpPr>
        <p:spPr>
          <a:xfrm rot="5400000">
            <a:off x="5757293" y="615083"/>
            <a:ext cx="328686" cy="4879154"/>
          </a:xfrm>
          <a:prstGeom prst="bentConnector3">
            <a:avLst>
              <a:gd name="adj1" fmla="val 161291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꺾인 연결선[E] 120"/>
          <p:cNvCxnSpPr>
            <a:stCxn id="118" idx="3"/>
            <a:endCxn id="103" idx="2"/>
          </p:cNvCxnSpPr>
          <p:nvPr/>
        </p:nvCxnSpPr>
        <p:spPr>
          <a:xfrm rot="5400000">
            <a:off x="7229566" y="615729"/>
            <a:ext cx="328723" cy="4877898"/>
          </a:xfrm>
          <a:prstGeom prst="bentConnector3">
            <a:avLst>
              <a:gd name="adj1" fmla="val 161284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5" name="원통[C] 244"/>
          <p:cNvSpPr/>
          <p:nvPr/>
        </p:nvSpPr>
        <p:spPr>
          <a:xfrm>
            <a:off x="7039938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9092</a:t>
            </a:r>
            <a:endParaRPr kumimoji="1" lang="ko-KR" altLang="en-US" sz="1100" dirty="0"/>
          </a:p>
        </p:txBody>
      </p:sp>
      <p:sp>
        <p:nvSpPr>
          <p:cNvPr id="268" name="원통[C] 267"/>
          <p:cNvSpPr/>
          <p:nvPr/>
        </p:nvSpPr>
        <p:spPr>
          <a:xfrm>
            <a:off x="8547606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9092</a:t>
            </a:r>
            <a:endParaRPr kumimoji="1" lang="ko-KR" altLang="en-US" sz="1100" dirty="0"/>
          </a:p>
        </p:txBody>
      </p:sp>
      <p:sp>
        <p:nvSpPr>
          <p:cNvPr id="269" name="원통[C] 268"/>
          <p:cNvSpPr/>
          <p:nvPr/>
        </p:nvSpPr>
        <p:spPr>
          <a:xfrm>
            <a:off x="10026251" y="2690540"/>
            <a:ext cx="226711" cy="586764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9092</a:t>
            </a:r>
            <a:endParaRPr kumimoji="1" lang="ko-KR" altLang="en-US" sz="1100" dirty="0"/>
          </a:p>
        </p:txBody>
      </p:sp>
      <p:cxnSp>
        <p:nvCxnSpPr>
          <p:cNvPr id="270" name="꺾인 연결선[E] 269"/>
          <p:cNvCxnSpPr>
            <a:stCxn id="9" idx="0"/>
            <a:endCxn id="245" idx="3"/>
          </p:cNvCxnSpPr>
          <p:nvPr/>
        </p:nvCxnSpPr>
        <p:spPr>
          <a:xfrm rot="5400000" flipH="1" flipV="1">
            <a:off x="6393369" y="3527094"/>
            <a:ext cx="1009714" cy="51013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1" name="꺾인 연결선[E] 270"/>
          <p:cNvCxnSpPr>
            <a:stCxn id="9" idx="0"/>
            <a:endCxn id="268" idx="3"/>
          </p:cNvCxnSpPr>
          <p:nvPr/>
        </p:nvCxnSpPr>
        <p:spPr>
          <a:xfrm rot="5400000" flipH="1" flipV="1">
            <a:off x="7147203" y="2773260"/>
            <a:ext cx="1009714" cy="201780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2" name="꺾인 연결선[E] 271"/>
          <p:cNvCxnSpPr>
            <a:stCxn id="9" idx="0"/>
            <a:endCxn id="269" idx="3"/>
          </p:cNvCxnSpPr>
          <p:nvPr/>
        </p:nvCxnSpPr>
        <p:spPr>
          <a:xfrm rot="5400000" flipH="1" flipV="1">
            <a:off x="7886526" y="2033937"/>
            <a:ext cx="1009714" cy="349644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7" name="직사각형 306"/>
          <p:cNvSpPr/>
          <p:nvPr/>
        </p:nvSpPr>
        <p:spPr>
          <a:xfrm>
            <a:off x="1220119" y="800573"/>
            <a:ext cx="1311005" cy="3785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err="1" smtClean="0">
                <a:solidFill>
                  <a:schemeClr val="tx1"/>
                </a:solidFill>
              </a:rPr>
              <a:t>Statefulset</a:t>
            </a:r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08" name="직사각형 307"/>
          <p:cNvSpPr/>
          <p:nvPr/>
        </p:nvSpPr>
        <p:spPr>
          <a:xfrm>
            <a:off x="6190472" y="800572"/>
            <a:ext cx="1311005" cy="37851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err="1">
                <a:solidFill>
                  <a:schemeClr val="tx1"/>
                </a:solidFill>
              </a:rPr>
              <a:t>Statefulset</a:t>
            </a:r>
            <a:endParaRPr kumimoji="1"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310" name="꺾인 연결선[E] 309"/>
          <p:cNvCxnSpPr>
            <a:stCxn id="307" idx="2"/>
            <a:endCxn id="13" idx="0"/>
          </p:cNvCxnSpPr>
          <p:nvPr/>
        </p:nvCxnSpPr>
        <p:spPr>
          <a:xfrm rot="16200000" flipH="1">
            <a:off x="1709943" y="1344768"/>
            <a:ext cx="434561" cy="1032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[E] 310"/>
          <p:cNvCxnSpPr>
            <a:stCxn id="307" idx="2"/>
            <a:endCxn id="14" idx="0"/>
          </p:cNvCxnSpPr>
          <p:nvPr/>
        </p:nvCxnSpPr>
        <p:spPr>
          <a:xfrm rot="16200000" flipH="1">
            <a:off x="2490819" y="563891"/>
            <a:ext cx="434561" cy="16649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[E] 311"/>
          <p:cNvCxnSpPr>
            <a:stCxn id="307" idx="2"/>
            <a:endCxn id="15" idx="0"/>
          </p:cNvCxnSpPr>
          <p:nvPr/>
        </p:nvCxnSpPr>
        <p:spPr>
          <a:xfrm rot="16200000" flipH="1">
            <a:off x="3227459" y="-172748"/>
            <a:ext cx="434561" cy="31382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[E] 316"/>
          <p:cNvCxnSpPr>
            <a:stCxn id="308" idx="2"/>
            <a:endCxn id="19" idx="0"/>
          </p:cNvCxnSpPr>
          <p:nvPr/>
        </p:nvCxnSpPr>
        <p:spPr>
          <a:xfrm rot="16200000" flipH="1">
            <a:off x="6712869" y="1312193"/>
            <a:ext cx="434562" cy="1683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8" name="꺾인 연결선[E] 317"/>
          <p:cNvCxnSpPr>
            <a:stCxn id="308" idx="2"/>
            <a:endCxn id="20" idx="0"/>
          </p:cNvCxnSpPr>
          <p:nvPr/>
        </p:nvCxnSpPr>
        <p:spPr>
          <a:xfrm rot="16200000" flipH="1">
            <a:off x="7466763" y="558299"/>
            <a:ext cx="434562" cy="16761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9" name="꺾인 연결선[E] 318"/>
          <p:cNvCxnSpPr>
            <a:stCxn id="308" idx="2"/>
            <a:endCxn id="21" idx="0"/>
          </p:cNvCxnSpPr>
          <p:nvPr/>
        </p:nvCxnSpPr>
        <p:spPr>
          <a:xfrm rot="16200000" flipH="1">
            <a:off x="8203403" y="-178340"/>
            <a:ext cx="434562" cy="3149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4964681" y="4390769"/>
            <a:ext cx="2188612" cy="131275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600" dirty="0" err="1" smtClean="0"/>
              <a:t>PdM</a:t>
            </a:r>
            <a:r>
              <a:rPr kumimoji="1" lang="en-US" altLang="ko-KR" sz="1600" dirty="0" smtClean="0"/>
              <a:t> engine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089382" y="4287018"/>
            <a:ext cx="787900" cy="400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smtClean="0"/>
              <a:t>Kafka</a:t>
            </a:r>
          </a:p>
          <a:p>
            <a:pPr algn="ctr"/>
            <a:r>
              <a:rPr kumimoji="1" lang="en-US" altLang="ko-KR" sz="1050" dirty="0" smtClean="0"/>
              <a:t>consumer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249209" y="4287018"/>
            <a:ext cx="787900" cy="400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 smtClean="0"/>
              <a:t>Kafka </a:t>
            </a:r>
          </a:p>
          <a:p>
            <a:pPr algn="ctr"/>
            <a:r>
              <a:rPr kumimoji="1" lang="en-US" altLang="ko-KR" sz="1050" dirty="0" smtClean="0"/>
              <a:t>producer</a:t>
            </a:r>
            <a:endParaRPr kumimoji="1" lang="ko-KR" altLang="en-US" sz="1050" dirty="0"/>
          </a:p>
        </p:txBody>
      </p:sp>
      <p:sp>
        <p:nvSpPr>
          <p:cNvPr id="122" name="직사각형 121"/>
          <p:cNvSpPr/>
          <p:nvPr/>
        </p:nvSpPr>
        <p:spPr>
          <a:xfrm>
            <a:off x="7336427" y="4390770"/>
            <a:ext cx="1324340" cy="131275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smtClean="0"/>
              <a:t>Web</a:t>
            </a:r>
          </a:p>
          <a:p>
            <a:pPr algn="ctr"/>
            <a:r>
              <a:rPr kumimoji="1" lang="en-US" altLang="ko-KR" sz="1600" dirty="0" smtClean="0"/>
              <a:t>server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3461154" y="4211488"/>
            <a:ext cx="5313163" cy="182684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600" dirty="0" smtClean="0">
                <a:solidFill>
                  <a:schemeClr val="tx1"/>
                </a:solidFill>
              </a:rPr>
              <a:t>Pod (Deployment)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9458495" y="5045805"/>
            <a:ext cx="920658" cy="89632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/>
              <a:t>I</a:t>
            </a:r>
            <a:r>
              <a:rPr kumimoji="1" lang="en-US" altLang="ko-KR" sz="1400" smtClean="0"/>
              <a:t>ngress</a:t>
            </a:r>
          </a:p>
          <a:p>
            <a:pPr algn="ctr"/>
            <a:r>
              <a:rPr kumimoji="1" lang="en-US" altLang="ko-KR" sz="1400" dirty="0" smtClean="0"/>
              <a:t>rule</a:t>
            </a:r>
          </a:p>
        </p:txBody>
      </p:sp>
      <p:sp>
        <p:nvSpPr>
          <p:cNvPr id="127" name="원통[C] 126"/>
          <p:cNvSpPr/>
          <p:nvPr/>
        </p:nvSpPr>
        <p:spPr>
          <a:xfrm rot="5400000">
            <a:off x="8660961" y="5200587"/>
            <a:ext cx="226711" cy="586764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8080</a:t>
            </a:r>
            <a:endParaRPr kumimoji="1" lang="ko-KR" altLang="en-US" sz="1100" dirty="0"/>
          </a:p>
        </p:txBody>
      </p:sp>
      <p:pic>
        <p:nvPicPr>
          <p:cNvPr id="110" name="그림 1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640" y="4753942"/>
            <a:ext cx="1438694" cy="613328"/>
          </a:xfrm>
          <a:prstGeom prst="rect">
            <a:avLst/>
          </a:prstGeom>
        </p:spPr>
      </p:pic>
      <p:sp>
        <p:nvSpPr>
          <p:cNvPr id="202" name="원통[C] 201"/>
          <p:cNvSpPr/>
          <p:nvPr/>
        </p:nvSpPr>
        <p:spPr>
          <a:xfrm>
            <a:off x="1231537" y="4049623"/>
            <a:ext cx="1794454" cy="2194658"/>
          </a:xfrm>
          <a:prstGeom prst="ca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en-US" altLang="ko-KR" sz="1400" dirty="0" smtClean="0"/>
              <a:t>Persistent</a:t>
            </a:r>
          </a:p>
          <a:p>
            <a:pPr algn="ctr"/>
            <a:r>
              <a:rPr kumimoji="1" lang="en-US" altLang="ko-KR" sz="1400" dirty="0" smtClean="0"/>
              <a:t>storage</a:t>
            </a:r>
            <a:endParaRPr kumimoji="1" lang="ko-KR" altLang="en-US" sz="1400" dirty="0"/>
          </a:p>
        </p:txBody>
      </p:sp>
      <p:sp>
        <p:nvSpPr>
          <p:cNvPr id="155" name="원통[C] 154"/>
          <p:cNvSpPr/>
          <p:nvPr/>
        </p:nvSpPr>
        <p:spPr>
          <a:xfrm>
            <a:off x="3676171" y="4608556"/>
            <a:ext cx="1177406" cy="1094971"/>
          </a:xfrm>
          <a:prstGeom prst="can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Attached volume</a:t>
            </a:r>
            <a:endParaRPr kumimoji="1" lang="ko-KR" altLang="en-US" sz="1400" dirty="0"/>
          </a:p>
        </p:txBody>
      </p:sp>
      <p:sp>
        <p:nvSpPr>
          <p:cNvPr id="203" name="직사각형 202"/>
          <p:cNvSpPr/>
          <p:nvPr/>
        </p:nvSpPr>
        <p:spPr>
          <a:xfrm>
            <a:off x="1707834" y="4941426"/>
            <a:ext cx="841860" cy="42584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smtClean="0"/>
              <a:t>Volume</a:t>
            </a:r>
            <a:endParaRPr kumimoji="1" lang="ko-KR" altLang="en-US" sz="1400" dirty="0"/>
          </a:p>
        </p:txBody>
      </p:sp>
      <p:cxnSp>
        <p:nvCxnSpPr>
          <p:cNvPr id="205" name="직선 화살표 연결선 204"/>
          <p:cNvCxnSpPr>
            <a:stCxn id="127" idx="1"/>
            <a:endCxn id="96" idx="1"/>
          </p:cNvCxnSpPr>
          <p:nvPr/>
        </p:nvCxnSpPr>
        <p:spPr>
          <a:xfrm flipV="1">
            <a:off x="9067699" y="5493969"/>
            <a:ext cx="390796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직선 화살표 연결선 159"/>
          <p:cNvCxnSpPr>
            <a:stCxn id="96" idx="3"/>
            <a:endCxn id="256" idx="3"/>
          </p:cNvCxnSpPr>
          <p:nvPr/>
        </p:nvCxnSpPr>
        <p:spPr>
          <a:xfrm>
            <a:off x="10379153" y="5493969"/>
            <a:ext cx="348505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9" name="직선 화살표 연결선 208"/>
          <p:cNvCxnSpPr>
            <a:stCxn id="155" idx="2"/>
            <a:endCxn id="203" idx="3"/>
          </p:cNvCxnSpPr>
          <p:nvPr/>
        </p:nvCxnSpPr>
        <p:spPr>
          <a:xfrm flipH="1" flipV="1">
            <a:off x="2549694" y="5154348"/>
            <a:ext cx="1126477" cy="16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6" name="원통[C] 255"/>
          <p:cNvSpPr/>
          <p:nvPr/>
        </p:nvSpPr>
        <p:spPr>
          <a:xfrm rot="5400000">
            <a:off x="10907684" y="5200587"/>
            <a:ext cx="226711" cy="586764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ko-KR" sz="1100" dirty="0" smtClean="0"/>
              <a:t>80</a:t>
            </a:r>
            <a:endParaRPr kumimoji="1"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2683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Overview &amp; Conclusion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94990"/>
            <a:ext cx="10515600" cy="2332191"/>
          </a:xfrm>
        </p:spPr>
        <p:txBody>
          <a:bodyPr>
            <a:normAutofit/>
          </a:bodyPr>
          <a:lstStyle/>
          <a:p>
            <a:r>
              <a:rPr kumimoji="1" lang="en-US" altLang="ko-KR" b="1" dirty="0" smtClean="0">
                <a:solidFill>
                  <a:srgbClr val="DE402D"/>
                </a:solidFill>
              </a:rPr>
              <a:t>Docker </a:t>
            </a:r>
            <a:r>
              <a:rPr kumimoji="1" lang="en-US" altLang="ko-KR" dirty="0" smtClean="0"/>
              <a:t>to build </a:t>
            </a:r>
            <a:r>
              <a:rPr kumimoji="1" lang="en-US" altLang="ko-KR" b="1" i="1" u="sng" dirty="0" smtClean="0"/>
              <a:t>portable</a:t>
            </a:r>
            <a:r>
              <a:rPr kumimoji="1" lang="en-US" altLang="ko-KR" dirty="0" smtClean="0"/>
              <a:t> software</a:t>
            </a:r>
          </a:p>
          <a:p>
            <a:pPr lvl="1"/>
            <a:r>
              <a:rPr kumimoji="1" lang="en-US" altLang="ko-KR" sz="2000" dirty="0" smtClean="0"/>
              <a:t>Build your software upon Docker </a:t>
            </a:r>
          </a:p>
          <a:p>
            <a:pPr lvl="1"/>
            <a:r>
              <a:rPr kumimoji="1" lang="en-US" altLang="ko-KR" sz="2000" dirty="0" smtClean="0"/>
              <a:t>Then distribute it anywhere (even on MS Azure and AWS)</a:t>
            </a:r>
          </a:p>
          <a:p>
            <a:r>
              <a:rPr kumimoji="1" lang="en-US" altLang="ko-KR" b="1" dirty="0" smtClean="0">
                <a:solidFill>
                  <a:srgbClr val="387FF8"/>
                </a:solidFill>
              </a:rPr>
              <a:t>Kubernetes</a:t>
            </a:r>
            <a:r>
              <a:rPr kumimoji="1" lang="en-US" altLang="ko-KR" dirty="0" smtClean="0"/>
              <a:t> to orchestrate multiple </a:t>
            </a:r>
            <a:r>
              <a:rPr kumimoji="1" lang="en-US" altLang="ko-KR" b="1" dirty="0" smtClean="0">
                <a:solidFill>
                  <a:srgbClr val="FF0000"/>
                </a:solidFill>
              </a:rPr>
              <a:t>Docker </a:t>
            </a:r>
            <a:r>
              <a:rPr kumimoji="1" lang="en-US" altLang="ko-KR" dirty="0" smtClean="0"/>
              <a:t>instances</a:t>
            </a:r>
          </a:p>
          <a:p>
            <a:r>
              <a:rPr kumimoji="1" lang="en-US" altLang="ko-KR" dirty="0" smtClean="0"/>
              <a:t>Start using </a:t>
            </a:r>
            <a:r>
              <a:rPr kumimoji="1" lang="en-US" altLang="ko-KR" b="1" dirty="0" smtClean="0">
                <a:solidFill>
                  <a:srgbClr val="DE402D"/>
                </a:solidFill>
              </a:rPr>
              <a:t>Docker</a:t>
            </a:r>
            <a:r>
              <a:rPr kumimoji="1" lang="en-US" altLang="ko-KR" dirty="0" smtClean="0"/>
              <a:t> and </a:t>
            </a:r>
            <a:r>
              <a:rPr kumimoji="1" lang="en-US" altLang="ko-KR" b="1" dirty="0" smtClean="0">
                <a:solidFill>
                  <a:srgbClr val="387FF8"/>
                </a:solidFill>
              </a:rPr>
              <a:t>Kubernetes</a:t>
            </a:r>
            <a:r>
              <a:rPr kumimoji="1" lang="en-US" altLang="ko-KR" dirty="0" smtClean="0"/>
              <a:t> before too late!</a:t>
            </a:r>
          </a:p>
          <a:p>
            <a:pPr lvl="1"/>
            <a:r>
              <a:rPr kumimoji="1" lang="en-US" altLang="ko-KR" dirty="0" smtClean="0"/>
              <a:t>Google has been using container technologies more than 10 years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394718" y="3554232"/>
            <a:ext cx="7263407" cy="2669159"/>
            <a:chOff x="838200" y="1177500"/>
            <a:chExt cx="10515600" cy="2439187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1177500"/>
              <a:ext cx="10515600" cy="24391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17" name="텍스트 상자 16"/>
            <p:cNvSpPr txBox="1"/>
            <p:nvPr/>
          </p:nvSpPr>
          <p:spPr>
            <a:xfrm>
              <a:off x="8918018" y="2149333"/>
              <a:ext cx="1070812" cy="414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b="1" dirty="0" smtClean="0">
                  <a:solidFill>
                    <a:srgbClr val="E14C3A"/>
                  </a:solidFill>
                </a:rPr>
                <a:t>Docker</a:t>
              </a:r>
              <a:endParaRPr kumimoji="1" lang="ko-KR" altLang="en-US" b="1" dirty="0">
                <a:solidFill>
                  <a:srgbClr val="E14C3A"/>
                </a:solidFill>
              </a:endParaRPr>
            </a:p>
          </p:txBody>
        </p:sp>
        <p:sp>
          <p:nvSpPr>
            <p:cNvPr id="18" name="텍스트 상자 17"/>
            <p:cNvSpPr txBox="1"/>
            <p:nvPr/>
          </p:nvSpPr>
          <p:spPr>
            <a:xfrm>
              <a:off x="9433258" y="2876007"/>
              <a:ext cx="1601466" cy="414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b="1" dirty="0" smtClean="0">
                  <a:solidFill>
                    <a:srgbClr val="387FF8"/>
                  </a:solidFill>
                </a:rPr>
                <a:t>Kubernetes</a:t>
              </a:r>
              <a:endParaRPr kumimoji="1" lang="ko-KR" altLang="en-US" b="1" dirty="0">
                <a:solidFill>
                  <a:srgbClr val="387FF8"/>
                </a:solidFill>
              </a:endParaRPr>
            </a:p>
          </p:txBody>
        </p:sp>
        <p:sp>
          <p:nvSpPr>
            <p:cNvPr id="19" name="텍스트 상자 18"/>
            <p:cNvSpPr txBox="1"/>
            <p:nvPr/>
          </p:nvSpPr>
          <p:spPr>
            <a:xfrm>
              <a:off x="6180580" y="1540789"/>
              <a:ext cx="1191670" cy="414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b="1" dirty="0" smtClean="0">
                  <a:solidFill>
                    <a:srgbClr val="F6B500"/>
                  </a:solidFill>
                </a:rPr>
                <a:t>Hadoop</a:t>
              </a: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222" y="3576422"/>
            <a:ext cx="3878343" cy="2646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직사각형 5"/>
          <p:cNvSpPr/>
          <p:nvPr/>
        </p:nvSpPr>
        <p:spPr>
          <a:xfrm>
            <a:off x="8106934" y="6253532"/>
            <a:ext cx="34140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ko-KR" sz="1600" b="1" dirty="0"/>
              <a:t>The Enterprise IT Adoption Cycle</a:t>
            </a:r>
            <a:endParaRPr lang="ko-KR" altLang="en-US" sz="1600" b="1" dirty="0"/>
          </a:p>
        </p:txBody>
      </p:sp>
      <p:sp>
        <p:nvSpPr>
          <p:cNvPr id="13" name="텍스트 상자 12"/>
          <p:cNvSpPr txBox="1"/>
          <p:nvPr/>
        </p:nvSpPr>
        <p:spPr>
          <a:xfrm>
            <a:off x="1456270" y="6243269"/>
            <a:ext cx="5140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b="1" dirty="0" smtClean="0"/>
              <a:t>Popularity of </a:t>
            </a:r>
            <a:r>
              <a:rPr kumimoji="1" lang="en-US" altLang="ko-KR" sz="1600" b="1" dirty="0" smtClean="0">
                <a:solidFill>
                  <a:srgbClr val="DE402D"/>
                </a:solidFill>
              </a:rPr>
              <a:t>Docker</a:t>
            </a:r>
            <a:r>
              <a:rPr kumimoji="1" lang="en-US" altLang="ko-KR" sz="1600" b="1" dirty="0" smtClean="0"/>
              <a:t> and </a:t>
            </a:r>
            <a:r>
              <a:rPr kumimoji="1" lang="en-US" altLang="ko-KR" sz="1600" b="1" dirty="0" smtClean="0">
                <a:solidFill>
                  <a:srgbClr val="387FF8"/>
                </a:solidFill>
              </a:rPr>
              <a:t>Kubernetes</a:t>
            </a:r>
            <a:endParaRPr kumimoji="1" lang="ko-KR" altLang="en-US" sz="1600" b="1" dirty="0"/>
          </a:p>
        </p:txBody>
      </p:sp>
      <p:cxnSp>
        <p:nvCxnSpPr>
          <p:cNvPr id="12" name="꺾인 연결선[E] 11"/>
          <p:cNvCxnSpPr>
            <a:endCxn id="21" idx="0"/>
          </p:cNvCxnSpPr>
          <p:nvPr/>
        </p:nvCxnSpPr>
        <p:spPr>
          <a:xfrm>
            <a:off x="7297445" y="2743200"/>
            <a:ext cx="3439828" cy="2279073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10487891" y="5022273"/>
            <a:ext cx="498764" cy="187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391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296562"/>
            <a:ext cx="10515600" cy="1874221"/>
          </a:xfrm>
        </p:spPr>
        <p:txBody>
          <a:bodyPr>
            <a:noAutofit/>
          </a:bodyPr>
          <a:lstStyle/>
          <a:p>
            <a:pPr algn="ctr"/>
            <a:r>
              <a:rPr kumimoji="1" lang="en-US" altLang="ko-KR" sz="5400" b="1" i="1" dirty="0" smtClean="0"/>
              <a:t>the end</a:t>
            </a:r>
            <a:endParaRPr kumimoji="1" lang="ko-KR" altLang="en-US" sz="5400" b="1" i="1" dirty="0"/>
          </a:p>
        </p:txBody>
      </p:sp>
    </p:spTree>
    <p:extLst>
      <p:ext uri="{BB962C8B-B14F-4D97-AF65-F5344CB8AC3E}">
        <p14:creationId xmlns:p14="http://schemas.microsoft.com/office/powerpoint/2010/main" val="16122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4435</TotalTime>
  <Words>1812</Words>
  <Application>Microsoft Macintosh PowerPoint</Application>
  <PresentationFormat>와이드스크린</PresentationFormat>
  <Paragraphs>615</Paragraphs>
  <Slides>33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Mangal</vt:lpstr>
      <vt:lpstr>Wingdings</vt:lpstr>
      <vt:lpstr>Arial</vt:lpstr>
      <vt:lpstr>Office 테마</vt:lpstr>
      <vt:lpstr>Docker &amp; Kubernetes</vt:lpstr>
      <vt:lpstr>Big Data Tech. Lab in SK telecom</vt:lpstr>
      <vt:lpstr>Prepare for an era of cloud with Docker and Kubernetes</vt:lpstr>
      <vt:lpstr>Overview &amp; Conclusion</vt:lpstr>
      <vt:lpstr>Docker</vt:lpstr>
      <vt:lpstr>Docker came to save us from the dependency hell</vt:lpstr>
      <vt:lpstr>Dependency hell</vt:lpstr>
      <vt:lpstr>Few choices left to you</vt:lpstr>
      <vt:lpstr>Use Docker for isolating your application</vt:lpstr>
      <vt:lpstr>Virtual machines and docker containers</vt:lpstr>
      <vt:lpstr>Linux namespaces – what makes isolated environments in a host OS</vt:lpstr>
      <vt:lpstr>Analogy between program and docker</vt:lpstr>
      <vt:lpstr>How to define an image and run a container from it?</vt:lpstr>
      <vt:lpstr>1 to N relationship between image and container</vt:lpstr>
      <vt:lpstr>Images consists of layers each of which is a set of files</vt:lpstr>
      <vt:lpstr>Docker container</vt:lpstr>
      <vt:lpstr>Image sharing between containers</vt:lpstr>
      <vt:lpstr>Layer sharing between images</vt:lpstr>
      <vt:lpstr>Example of stacking docker images</vt:lpstr>
      <vt:lpstr>Enabling technologies for docker (wrap-up)</vt:lpstr>
      <vt:lpstr>Docker topics not covered here</vt:lpstr>
      <vt:lpstr>Kubernetes</vt:lpstr>
      <vt:lpstr>Disclaimer</vt:lpstr>
      <vt:lpstr>What is Kubernetes for?</vt:lpstr>
      <vt:lpstr>Why Docker with Kubernetes?</vt:lpstr>
      <vt:lpstr>Kubernetes architecture</vt:lpstr>
      <vt:lpstr>Web server example</vt:lpstr>
      <vt:lpstr>How to replicate your service instances</vt:lpstr>
      <vt:lpstr>Define a service to do round-robin forwarding</vt:lpstr>
      <vt:lpstr>How to guarantee a certain # of running containers during maintenance</vt:lpstr>
      <vt:lpstr>PowerPoint 프레젠테이션</vt:lpstr>
      <vt:lpstr>Overview &amp; Conclusion</vt:lpstr>
      <vt:lpstr>the end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김동원(정보통신연구소)</dc:creator>
  <cp:lastModifiedBy>김동원(정보통신연구소)</cp:lastModifiedBy>
  <cp:revision>766</cp:revision>
  <cp:lastPrinted>2017-02-28T03:32:50Z</cp:lastPrinted>
  <dcterms:created xsi:type="dcterms:W3CDTF">2017-02-15T01:59:44Z</dcterms:created>
  <dcterms:modified xsi:type="dcterms:W3CDTF">2017-03-02T11:03:32Z</dcterms:modified>
</cp:coreProperties>
</file>