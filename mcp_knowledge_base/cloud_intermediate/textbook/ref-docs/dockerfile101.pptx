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6858000" cy="9144000"/>
  <p:embeddedFontLst>
    <p:embeddedFont>
      <p:font typeface="Raleway"/>
      <p:regular r:id="rId35"/>
      <p:bold r:id="rId36"/>
      <p:italic r:id="rId37"/>
      <p:boldItalic r:id="rId38"/>
    </p:embeddedFont>
    <p:embeddedFont>
      <p:font typeface="Nunito"/>
      <p:regular r:id="rId39"/>
      <p:bold r:id="rId40"/>
      <p:italic r:id="rId41"/>
      <p:boldItalic r:id="rId42"/>
    </p:embeddedFont>
    <p:embeddedFont>
      <p:font typeface="La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font" Target="fonts/Nunito-bold.fntdata"/><Relationship Id="rId20" Type="http://schemas.openxmlformats.org/officeDocument/2006/relationships/slide" Target="slides/slide16.xml"/><Relationship Id="rId42" Type="http://schemas.openxmlformats.org/officeDocument/2006/relationships/font" Target="fonts/Nunito-boldItalic.fntdata"/><Relationship Id="rId41" Type="http://schemas.openxmlformats.org/officeDocument/2006/relationships/font" Target="fonts/Nunito-italic.fntdata"/><Relationship Id="rId22" Type="http://schemas.openxmlformats.org/officeDocument/2006/relationships/slide" Target="slides/slide18.xml"/><Relationship Id="rId44" Type="http://schemas.openxmlformats.org/officeDocument/2006/relationships/font" Target="fonts/Lato-bold.fntdata"/><Relationship Id="rId21" Type="http://schemas.openxmlformats.org/officeDocument/2006/relationships/slide" Target="slides/slide17.xml"/><Relationship Id="rId43" Type="http://schemas.openxmlformats.org/officeDocument/2006/relationships/font" Target="fonts/Lato-regular.fntdata"/><Relationship Id="rId24" Type="http://schemas.openxmlformats.org/officeDocument/2006/relationships/slide" Target="slides/slide20.xml"/><Relationship Id="rId46" Type="http://schemas.openxmlformats.org/officeDocument/2006/relationships/font" Target="fonts/Lato-boldItalic.fntdata"/><Relationship Id="rId23" Type="http://schemas.openxmlformats.org/officeDocument/2006/relationships/slide" Target="slides/slide19.xml"/><Relationship Id="rId45"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Raleway-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Raleway-italic.fntdata"/><Relationship Id="rId14" Type="http://schemas.openxmlformats.org/officeDocument/2006/relationships/slide" Target="slides/slide10.xml"/><Relationship Id="rId36" Type="http://schemas.openxmlformats.org/officeDocument/2006/relationships/font" Target="fonts/Raleway-bold.fntdata"/><Relationship Id="rId17" Type="http://schemas.openxmlformats.org/officeDocument/2006/relationships/slide" Target="slides/slide13.xml"/><Relationship Id="rId39" Type="http://schemas.openxmlformats.org/officeDocument/2006/relationships/font" Target="fonts/Nunito-regular.fntdata"/><Relationship Id="rId16" Type="http://schemas.openxmlformats.org/officeDocument/2006/relationships/slide" Target="slides/slide12.xml"/><Relationship Id="rId38" Type="http://schemas.openxmlformats.org/officeDocument/2006/relationships/font" Target="fonts/Raleway-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Shape 8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84" name="Shape 8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Shape 8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0" name="Shape 9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Shape 9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6" name="Shape 9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sz="1000">
                <a:highlight>
                  <a:srgbClr val="FFFFFF"/>
                </a:highlight>
              </a:rPr>
              <a:t>The Dockerfile is essentially the build instructions to build the image.</a:t>
            </a:r>
            <a:endParaRPr sz="1000">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Shape 10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2" name="Shape 10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Shape 10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8" name="Shape 10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Shape 11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4" name="Shape 11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spcBef>
                <a:spcPts val="0"/>
              </a:spcBef>
              <a:spcAft>
                <a:spcPts val="0"/>
              </a:spcAft>
              <a:buSzPts val="1100"/>
              <a:buAutoNum type="arabicPeriod"/>
            </a:pPr>
            <a:r>
              <a:rPr lang="en"/>
              <a:t>This instruction is used to set the base image.</a:t>
            </a:r>
            <a:endParaRPr/>
          </a:p>
          <a:p>
            <a:pPr indent="-298450" lvl="0" marL="457200" rtl="0">
              <a:spcBef>
                <a:spcPts val="0"/>
              </a:spcBef>
              <a:spcAft>
                <a:spcPts val="0"/>
              </a:spcAft>
              <a:buSzPts val="1100"/>
              <a:buAutoNum type="arabicPeriod"/>
            </a:pPr>
            <a:r>
              <a:rPr lang="en"/>
              <a:t>How does this work?</a:t>
            </a:r>
            <a:endParaRPr/>
          </a:p>
          <a:p>
            <a:pPr indent="-298450" lvl="1" marL="914400" rtl="0">
              <a:spcBef>
                <a:spcPts val="0"/>
              </a:spcBef>
              <a:spcAft>
                <a:spcPts val="0"/>
              </a:spcAft>
              <a:buSzPts val="1100"/>
              <a:buAutoNum type="alphaLcPeriod"/>
            </a:pPr>
            <a:r>
              <a:rPr lang="en"/>
              <a:t>Check image locally</a:t>
            </a:r>
            <a:endParaRPr/>
          </a:p>
          <a:p>
            <a:pPr indent="-298450" lvl="1" marL="914400" rtl="0">
              <a:spcBef>
                <a:spcPts val="0"/>
              </a:spcBef>
              <a:spcAft>
                <a:spcPts val="0"/>
              </a:spcAft>
              <a:buSzPts val="1100"/>
              <a:buAutoNum type="alphaLcPeriod"/>
            </a:pPr>
            <a:r>
              <a:rPr lang="en"/>
              <a:t>Pull from docker hub</a:t>
            </a:r>
            <a:endParaRPr/>
          </a:p>
          <a:p>
            <a:pPr indent="-298450" lvl="0" marL="457200" rtl="0">
              <a:spcBef>
                <a:spcPts val="0"/>
              </a:spcBef>
              <a:spcAft>
                <a:spcPts val="0"/>
              </a:spcAft>
              <a:buSzPts val="1100"/>
              <a:buAutoNum type="arabicPeriod"/>
            </a:pPr>
            <a:r>
              <a:rPr lang="en"/>
              <a:t>Size of scratch? 0B</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Shape 11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0" name="Shape 12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This instruction is used to set the base image.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Shape 12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6" name="Shape 12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Shape 13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2" name="Shape 13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Shape 13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8" name="Shape 13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spcBef>
                <a:spcPts val="0"/>
              </a:spcBef>
              <a:spcAft>
                <a:spcPts val="0"/>
              </a:spcAft>
              <a:buSzPts val="1200"/>
              <a:buAutoNum type="arabicPeriod"/>
            </a:pPr>
            <a:r>
              <a:rPr lang="en" sz="1200"/>
              <a:t>What is the difference between ADD and COPY?</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Shape 14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4" name="Shape 14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Shape 14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0" name="Shape 15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Shape 15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6" name="Shape 15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Shape 16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2" name="Shape 16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spcBef>
                <a:spcPts val="0"/>
              </a:spcBef>
              <a:spcAft>
                <a:spcPts val="0"/>
              </a:spcAft>
              <a:buSzPts val="1200"/>
              <a:buAutoNum type="arabicPeriod"/>
            </a:pPr>
            <a:r>
              <a:rPr lang="en" sz="1200"/>
              <a:t>What is the difference between ADD and COPY?</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Shape 16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8" name="Shape 16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Shape 17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74" name="Shape 17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spcBef>
                <a:spcPts val="0"/>
              </a:spcBef>
              <a:spcAft>
                <a:spcPts val="0"/>
              </a:spcAft>
              <a:buSzPts val="1200"/>
              <a:buAutoNum type="arabicPeriod"/>
            </a:pPr>
            <a:r>
              <a:rPr lang="en" sz="1200"/>
              <a:t>Multiple layer and single layer</a:t>
            </a:r>
            <a:endParaRPr sz="1200"/>
          </a:p>
          <a:p>
            <a:pPr indent="-304800" lvl="0" marL="457200" rtl="0">
              <a:spcBef>
                <a:spcPts val="0"/>
              </a:spcBef>
              <a:spcAft>
                <a:spcPts val="0"/>
              </a:spcAft>
              <a:buSzPts val="1200"/>
              <a:buAutoNum type="arabicPeriod"/>
            </a:pPr>
            <a:r>
              <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Shape 17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80" name="Shape 18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spcBef>
                <a:spcPts val="0"/>
              </a:spcBef>
              <a:spcAft>
                <a:spcPts val="0"/>
              </a:spcAft>
              <a:buSzPts val="1200"/>
              <a:buAutoNum type="arabicPeriod"/>
            </a:pPr>
            <a:r>
              <a:rPr lang="en" sz="1200"/>
              <a:t>Used for persistent storage</a:t>
            </a:r>
            <a:endParaRPr sz="1200"/>
          </a:p>
          <a:p>
            <a:pPr indent="-304800" lvl="0" marL="457200" rtl="0">
              <a:spcBef>
                <a:spcPts val="0"/>
              </a:spcBef>
              <a:spcAft>
                <a:spcPts val="0"/>
              </a:spcAft>
              <a:buSzPts val="1200"/>
              <a:buAutoNum type="arabicPeriod"/>
            </a:pPr>
            <a:r>
              <a:rPr lang="en" sz="1200"/>
              <a:t>You can use the VOLUME instruction to enable access to a location on the host system from a container.</a:t>
            </a:r>
            <a:endParaRPr sz="1200"/>
          </a:p>
          <a:p>
            <a:pPr indent="-304800" lvl="0" marL="457200" rtl="0">
              <a:spcBef>
                <a:spcPts val="0"/>
              </a:spcBef>
              <a:spcAft>
                <a:spcPts val="0"/>
              </a:spcAft>
              <a:buSzPts val="1200"/>
              <a:buAutoNum type="arabicPeriod"/>
            </a:pPr>
            <a:r>
              <a:rPr lang="en" sz="1200"/>
              <a:t>Specify that a directory should be stored outside the union filesystem. </a:t>
            </a:r>
            <a:endParaRPr sz="1200"/>
          </a:p>
          <a:p>
            <a:pPr indent="-304800" lvl="0" marL="457200" rtl="0">
              <a:spcBef>
                <a:spcPts val="0"/>
              </a:spcBef>
              <a:spcAft>
                <a:spcPts val="0"/>
              </a:spcAft>
              <a:buSzPts val="1200"/>
              <a:buAutoNum type="arabicPeriod"/>
            </a:pPr>
            <a:r>
              <a:rPr lang="en" sz="1200"/>
              <a:t>If is not set with docker run -v it will be created in /var/lib/docker/volumes</a:t>
            </a:r>
            <a:endParaRPr sz="1200"/>
          </a:p>
          <a:p>
            <a:pPr indent="-304800" lvl="0" marL="457200" marR="88900" rtl="0">
              <a:lnSpc>
                <a:spcPct val="142857"/>
              </a:lnSpc>
              <a:spcBef>
                <a:spcPts val="0"/>
              </a:spcBef>
              <a:spcAft>
                <a:spcPts val="0"/>
              </a:spcAft>
              <a:buSzPts val="1200"/>
              <a:buAutoNum type="arabicPeriod"/>
            </a:pPr>
            <a:r>
              <a:rPr lang="en" sz="1200"/>
              <a:t>docker volume create my-vol</a:t>
            </a:r>
            <a:endParaRPr sz="1200"/>
          </a:p>
          <a:p>
            <a:pPr indent="-304800" lvl="0" marL="457200" marR="88900" rtl="0">
              <a:lnSpc>
                <a:spcPct val="142857"/>
              </a:lnSpc>
              <a:spcBef>
                <a:spcPts val="0"/>
              </a:spcBef>
              <a:spcAft>
                <a:spcPts val="0"/>
              </a:spcAft>
              <a:buSzPts val="1200"/>
              <a:buAutoNum type="arabicPeriod"/>
            </a:pPr>
            <a:r>
              <a:rPr lang="en" sz="1200"/>
              <a:t>Docker volume ls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Shape 18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86" name="Shape 18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marR="88900" rtl="0">
              <a:lnSpc>
                <a:spcPct val="142857"/>
              </a:lnSpc>
              <a:spcBef>
                <a:spcPts val="0"/>
              </a:spcBef>
              <a:spcAft>
                <a:spcPts val="0"/>
              </a:spcAft>
              <a:buSzPts val="1200"/>
              <a:buAutoNum type="arabicPeriod"/>
            </a:pPr>
            <a:r>
              <a:rPr lang="en" sz="1200"/>
              <a:t>Current working directory</a:t>
            </a:r>
            <a:endParaRPr sz="1200"/>
          </a:p>
          <a:p>
            <a:pPr indent="-304800" lvl="0" marL="457200" marR="88900" rtl="0">
              <a:lnSpc>
                <a:spcPct val="142857"/>
              </a:lnSpc>
              <a:spcBef>
                <a:spcPts val="0"/>
              </a:spcBef>
              <a:spcAft>
                <a:spcPts val="0"/>
              </a:spcAft>
              <a:buSzPts val="1200"/>
              <a:buAutoNum type="arabicPeriod"/>
            </a:pPr>
            <a:r>
              <a:rPr lang="en" sz="1200"/>
              <a:t>Relative path</a:t>
            </a:r>
            <a:endParaRPr sz="1200"/>
          </a:p>
          <a:p>
            <a:pPr indent="-304800" lvl="0" marL="457200" marR="88900" rtl="0">
              <a:lnSpc>
                <a:spcPct val="142857"/>
              </a:lnSpc>
              <a:spcBef>
                <a:spcPts val="0"/>
              </a:spcBef>
              <a:spcAft>
                <a:spcPts val="0"/>
              </a:spcAft>
              <a:buSzPts val="1200"/>
              <a:buAutoNum type="arabicPeriod"/>
            </a:pPr>
            <a:r>
              <a:rPr lang="en" sz="1200"/>
              <a:t>Useful for RUN, CMD, ENTRYPOINT, COPY, ADD </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Shape 19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92" name="Shape 19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Shape 19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98" name="Shape 19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spcBef>
                <a:spcPts val="0"/>
              </a:spcBef>
              <a:spcAft>
                <a:spcPts val="0"/>
              </a:spcAft>
              <a:buSzPts val="1200"/>
              <a:buAutoNum type="arabicPeriod"/>
            </a:pPr>
            <a:r>
              <a:rPr lang="en" sz="1200"/>
              <a:t>Ask form? Preferred exec form</a:t>
            </a:r>
            <a:endParaRPr sz="1200"/>
          </a:p>
          <a:p>
            <a:pPr indent="-304800" lvl="0" marL="457200" rtl="0">
              <a:spcBef>
                <a:spcPts val="0"/>
              </a:spcBef>
              <a:spcAft>
                <a:spcPts val="0"/>
              </a:spcAft>
              <a:buSzPts val="1200"/>
              <a:buAutoNum type="arabicPeriod"/>
            </a:pPr>
            <a:r>
              <a:rPr lang="en" sz="1200"/>
              <a:t>Supply params for ENTRYPOINT</a:t>
            </a:r>
            <a:endParaRPr sz="1200"/>
          </a:p>
          <a:p>
            <a:pPr indent="-304800" lvl="0" marL="457200" rtl="0">
              <a:spcBef>
                <a:spcPts val="0"/>
              </a:spcBef>
              <a:spcAft>
                <a:spcPts val="0"/>
              </a:spcAft>
              <a:buSzPts val="1200"/>
              <a:buAutoNum type="arabicPeriod"/>
            </a:pPr>
            <a:r>
              <a:rPr lang="en" sz="1200"/>
              <a:t>Shell form</a:t>
            </a:r>
            <a:endParaRPr sz="1200"/>
          </a:p>
          <a:p>
            <a:pPr indent="-304800" lvl="0" marL="457200" rtl="0">
              <a:spcBef>
                <a:spcPts val="0"/>
              </a:spcBef>
              <a:spcAft>
                <a:spcPts val="0"/>
              </a:spcAft>
              <a:buSzPts val="1200"/>
              <a:buAutoNum type="arabicPeriod"/>
            </a:pPr>
            <a:r>
              <a:rPr lang="en" sz="1200"/>
              <a:t>There can only be one CMD instruction in a Dockerfile. If you list more than one CMD then only the last CMD will take effect.</a:t>
            </a:r>
            <a:endParaRPr sz="1200"/>
          </a:p>
          <a:p>
            <a:pPr indent="-304800" lvl="0" marL="457200" rtl="0">
              <a:spcBef>
                <a:spcPts val="0"/>
              </a:spcBef>
              <a:spcAft>
                <a:spcPts val="0"/>
              </a:spcAft>
              <a:buSzPts val="1200"/>
              <a:buAutoNum type="arabicPeriod"/>
            </a:pPr>
            <a:r>
              <a:rPr lang="en" sz="1200"/>
              <a:t>The main purpose of a CMD is to provide defaults for an executing container. These defaults can include an executable, or they can omit the executable, in which case you must specify an ENTRYPOINT instruction as well.</a:t>
            </a:r>
            <a:endParaRPr sz="1200"/>
          </a:p>
          <a:p>
            <a:pPr indent="-304800" lvl="0" marL="457200" rtl="0">
              <a:spcBef>
                <a:spcPts val="0"/>
              </a:spcBef>
              <a:spcAft>
                <a:spcPts val="0"/>
              </a:spcAft>
              <a:buSzPts val="1200"/>
              <a:buAutoNum type="arabicPeriod"/>
            </a:pPr>
            <a:r>
              <a:rPr lang="en" sz="1200"/>
              <a:t>Difference between RUN and CMD? The major difference between CMD and RUN is that CMD doesn’t execute anything during the build time.</a:t>
            </a:r>
            <a:endParaRPr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2" name="Shape 202"/>
        <p:cNvGrpSpPr/>
        <p:nvPr/>
      </p:nvGrpSpPr>
      <p:grpSpPr>
        <a:xfrm>
          <a:off x="0" y="0"/>
          <a:ext cx="0" cy="0"/>
          <a:chOff x="0" y="0"/>
          <a:chExt cx="0" cy="0"/>
        </a:xfrm>
      </p:grpSpPr>
      <p:sp>
        <p:nvSpPr>
          <p:cNvPr id="203" name="Shape 20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04" name="Shape 20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spcBef>
                <a:spcPts val="0"/>
              </a:spcBef>
              <a:spcAft>
                <a:spcPts val="0"/>
              </a:spcAft>
              <a:buSzPts val="1200"/>
              <a:buAutoNum type="arabicPeriod"/>
            </a:pPr>
            <a:r>
              <a:rPr lang="en" sz="1200"/>
              <a:t>Ask for output for 2 and 3?</a:t>
            </a:r>
            <a:endParaRPr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Shape 20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10" name="Shape 21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spcBef>
                <a:spcPts val="0"/>
              </a:spcBef>
              <a:spcAft>
                <a:spcPts val="0"/>
              </a:spcAft>
              <a:buSzPts val="1000"/>
              <a:buAutoNum type="arabicPeriod"/>
            </a:pPr>
            <a:r>
              <a:t/>
            </a:r>
            <a:endParaRPr sz="10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Shape 21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16" name="Shape 21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spcBef>
                <a:spcPts val="0"/>
              </a:spcBef>
              <a:spcAft>
                <a:spcPts val="0"/>
              </a:spcAft>
              <a:buSzPts val="1000"/>
              <a:buAutoNum type="arabicPeriod"/>
            </a:pPr>
            <a:r>
              <a:rPr lang="en" sz="1000"/>
              <a:t>Do research on your own.</a:t>
            </a:r>
            <a:endParaRPr sz="10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Shape 22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22" name="Shape 22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spcBef>
                <a:spcPts val="0"/>
              </a:spcBef>
              <a:spcAft>
                <a:spcPts val="0"/>
              </a:spcAft>
              <a:buSzPts val="1100"/>
              <a:buAutoNum type="arabicPeriod"/>
            </a:pPr>
            <a:r>
              <a:rPr lang="en"/>
              <a:t>What is the purpose of .gitignore?</a:t>
            </a:r>
            <a:endParaRPr/>
          </a:p>
          <a:p>
            <a:pPr indent="-298450" lvl="0" marL="457200" rtl="0">
              <a:spcBef>
                <a:spcPts val="0"/>
              </a:spcBef>
              <a:spcAft>
                <a:spcPts val="0"/>
              </a:spcAft>
              <a:buSzPts val="1100"/>
              <a:buAutoNum type="arabicPeriod"/>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Shape 22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28" name="Shape 22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2" name="Shape 232"/>
        <p:cNvGrpSpPr/>
        <p:nvPr/>
      </p:nvGrpSpPr>
      <p:grpSpPr>
        <a:xfrm>
          <a:off x="0" y="0"/>
          <a:ext cx="0" cy="0"/>
          <a:chOff x="0" y="0"/>
          <a:chExt cx="0" cy="0"/>
        </a:xfrm>
      </p:grpSpPr>
      <p:sp>
        <p:nvSpPr>
          <p:cNvPr id="233" name="Shape 23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34" name="Shape 23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spcBef>
                <a:spcPts val="0"/>
              </a:spcBef>
              <a:spcAft>
                <a:spcPts val="0"/>
              </a:spcAft>
              <a:buSzPts val="1100"/>
              <a:buAutoNum type="arabicPeriod"/>
            </a:pPr>
            <a:r>
              <a:rPr lang="en"/>
              <a:t>What is the purpose of .gitignore?</a:t>
            </a:r>
            <a:endParaRPr/>
          </a:p>
          <a:p>
            <a:pPr indent="-298450" lvl="0" marL="457200" rtl="0">
              <a:spcBef>
                <a:spcPts val="0"/>
              </a:spcBef>
              <a:spcAft>
                <a:spcPts val="0"/>
              </a:spcAft>
              <a:buSzPts val="1100"/>
              <a:buAutoNum type="arabicPeriod"/>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Shape 23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40" name="Shape 24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4" name="Shape 244"/>
        <p:cNvGrpSpPr/>
        <p:nvPr/>
      </p:nvGrpSpPr>
      <p:grpSpPr>
        <a:xfrm>
          <a:off x="0" y="0"/>
          <a:ext cx="0" cy="0"/>
          <a:chOff x="0" y="0"/>
          <a:chExt cx="0" cy="0"/>
        </a:xfrm>
      </p:grpSpPr>
      <p:sp>
        <p:nvSpPr>
          <p:cNvPr id="245" name="Shape 24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46" name="Shape 24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spcBef>
                <a:spcPts val="0"/>
              </a:spcBef>
              <a:spcAft>
                <a:spcPts val="0"/>
              </a:spcAft>
              <a:buSzPts val="1100"/>
              <a:buAutoNum type="arabicPeriod"/>
            </a:pPr>
            <a:r>
              <a:rPr lang="en"/>
              <a:t>Networking between two containers?</a:t>
            </a:r>
            <a:endParaRPr/>
          </a:p>
          <a:p>
            <a:pPr indent="-298450" lvl="0" marL="457200" rtl="0">
              <a:spcBef>
                <a:spcPts val="0"/>
              </a:spcBef>
              <a:spcAft>
                <a:spcPts val="0"/>
              </a:spcAft>
              <a:buSzPts val="1100"/>
              <a:buAutoNum type="arabicPeriod"/>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Shape 25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54" name="Shape 25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7" name="Shape 257"/>
        <p:cNvGrpSpPr/>
        <p:nvPr/>
      </p:nvGrpSpPr>
      <p:grpSpPr>
        <a:xfrm>
          <a:off x="0" y="0"/>
          <a:ext cx="0" cy="0"/>
          <a:chOff x="0" y="0"/>
          <a:chExt cx="0" cy="0"/>
        </a:xfrm>
      </p:grpSpPr>
      <p:sp>
        <p:nvSpPr>
          <p:cNvPr id="258" name="Shape 25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59" name="Shape 259"/>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Shape 10"/>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nvGrpSpPr>
          <p:cNvPr id="11" name="Shape 11"/>
          <p:cNvGrpSpPr/>
          <p:nvPr/>
        </p:nvGrpSpPr>
        <p:grpSpPr>
          <a:xfrm>
            <a:off x="830392" y="1191256"/>
            <a:ext cx="745763" cy="45826"/>
            <a:chOff x="4580561" y="2589004"/>
            <a:chExt cx="1064464" cy="25200"/>
          </a:xfrm>
        </p:grpSpPr>
        <p:sp>
          <p:nvSpPr>
            <p:cNvPr id="12" name="Shape 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3" name="Shape 1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14" name="Shape 14"/>
          <p:cNvSpPr txBox="1"/>
          <p:nvPr>
            <p:ph type="ctrTitle"/>
          </p:nvPr>
        </p:nvSpPr>
        <p:spPr>
          <a:xfrm>
            <a:off x="729450" y="1322450"/>
            <a:ext cx="7688100" cy="16647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Shape 15"/>
          <p:cNvSpPr txBox="1"/>
          <p:nvPr>
            <p:ph idx="1" type="subTitle"/>
          </p:nvPr>
        </p:nvSpPr>
        <p:spPr>
          <a:xfrm>
            <a:off x="729627" y="3172900"/>
            <a:ext cx="7688100" cy="5412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Shape 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Shape 18"/>
          <p:cNvGrpSpPr/>
          <p:nvPr/>
        </p:nvGrpSpPr>
        <p:grpSpPr>
          <a:xfrm>
            <a:off x="830392" y="1191256"/>
            <a:ext cx="745763" cy="45826"/>
            <a:chOff x="4580561" y="2589004"/>
            <a:chExt cx="1064464" cy="25200"/>
          </a:xfrm>
        </p:grpSpPr>
        <p:sp>
          <p:nvSpPr>
            <p:cNvPr id="19" name="Shape 1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0" name="Shape 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21" name="Shape 21"/>
          <p:cNvSpPr txBox="1"/>
          <p:nvPr>
            <p:ph type="title"/>
          </p:nvPr>
        </p:nvSpPr>
        <p:spPr>
          <a:xfrm>
            <a:off x="729450" y="1322450"/>
            <a:ext cx="7688400" cy="15186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Shape 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Shape 2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nvGrpSpPr>
          <p:cNvPr id="25" name="Shape 25"/>
          <p:cNvGrpSpPr/>
          <p:nvPr/>
        </p:nvGrpSpPr>
        <p:grpSpPr>
          <a:xfrm>
            <a:off x="830392" y="1191256"/>
            <a:ext cx="745763" cy="45826"/>
            <a:chOff x="4580561" y="2589004"/>
            <a:chExt cx="1064464" cy="25200"/>
          </a:xfrm>
        </p:grpSpPr>
        <p:sp>
          <p:nvSpPr>
            <p:cNvPr id="26" name="Shape 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7" name="Shape 2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28" name="Shape 28"/>
          <p:cNvSpPr txBox="1"/>
          <p:nvPr>
            <p:ph type="title"/>
          </p:nvPr>
        </p:nvSpPr>
        <p:spPr>
          <a:xfrm>
            <a:off x="729450" y="1318650"/>
            <a:ext cx="76887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Shape 29"/>
          <p:cNvSpPr txBox="1"/>
          <p:nvPr>
            <p:ph idx="1" type="body"/>
          </p:nvPr>
        </p:nvSpPr>
        <p:spPr>
          <a:xfrm>
            <a:off x="729450" y="2078875"/>
            <a:ext cx="76887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Shape 3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Shape 3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nvGrpSpPr>
          <p:cNvPr id="33" name="Shape 33"/>
          <p:cNvGrpSpPr/>
          <p:nvPr/>
        </p:nvGrpSpPr>
        <p:grpSpPr>
          <a:xfrm>
            <a:off x="830392" y="1191256"/>
            <a:ext cx="745763" cy="45826"/>
            <a:chOff x="4580561" y="2589004"/>
            <a:chExt cx="1064464" cy="25200"/>
          </a:xfrm>
        </p:grpSpPr>
        <p:sp>
          <p:nvSpPr>
            <p:cNvPr id="34" name="Shape 3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35" name="Shape 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36" name="Shape 36"/>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Shape 37"/>
          <p:cNvSpPr txBox="1"/>
          <p:nvPr>
            <p:ph idx="1" type="body"/>
          </p:nvPr>
        </p:nvSpPr>
        <p:spPr>
          <a:xfrm>
            <a:off x="729325"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Shape 38"/>
          <p:cNvSpPr txBox="1"/>
          <p:nvPr>
            <p:ph idx="2" type="body"/>
          </p:nvPr>
        </p:nvSpPr>
        <p:spPr>
          <a:xfrm>
            <a:off x="4643604"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Shape 3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Shape 4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nvGrpSpPr>
          <p:cNvPr id="42" name="Shape 42"/>
          <p:cNvGrpSpPr/>
          <p:nvPr/>
        </p:nvGrpSpPr>
        <p:grpSpPr>
          <a:xfrm>
            <a:off x="830392" y="1191256"/>
            <a:ext cx="745763" cy="45826"/>
            <a:chOff x="4580561" y="2589004"/>
            <a:chExt cx="1064464" cy="25200"/>
          </a:xfrm>
        </p:grpSpPr>
        <p:sp>
          <p:nvSpPr>
            <p:cNvPr id="43" name="Shape 4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44" name="Shape 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45" name="Shape 45"/>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Shape 4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Shape 4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nvGrpSpPr>
          <p:cNvPr id="49" name="Shape 49"/>
          <p:cNvGrpSpPr/>
          <p:nvPr/>
        </p:nvGrpSpPr>
        <p:grpSpPr>
          <a:xfrm>
            <a:off x="830392" y="1191256"/>
            <a:ext cx="745763" cy="45826"/>
            <a:chOff x="4580561" y="2589004"/>
            <a:chExt cx="1064464" cy="25200"/>
          </a:xfrm>
        </p:grpSpPr>
        <p:sp>
          <p:nvSpPr>
            <p:cNvPr id="50" name="Shape 5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51" name="Shape 5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52" name="Shape 52"/>
          <p:cNvSpPr txBox="1"/>
          <p:nvPr>
            <p:ph type="title"/>
          </p:nvPr>
        </p:nvSpPr>
        <p:spPr>
          <a:xfrm>
            <a:off x="730000" y="1318650"/>
            <a:ext cx="3300900" cy="13815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Shape 53"/>
          <p:cNvSpPr txBox="1"/>
          <p:nvPr>
            <p:ph idx="1" type="body"/>
          </p:nvPr>
        </p:nvSpPr>
        <p:spPr>
          <a:xfrm>
            <a:off x="721225" y="2781725"/>
            <a:ext cx="3300900" cy="159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Shape 5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Shape 56"/>
          <p:cNvGrpSpPr/>
          <p:nvPr/>
        </p:nvGrpSpPr>
        <p:grpSpPr>
          <a:xfrm>
            <a:off x="830392" y="4169130"/>
            <a:ext cx="745763" cy="45826"/>
            <a:chOff x="4580561" y="2589004"/>
            <a:chExt cx="1064464" cy="25200"/>
          </a:xfrm>
        </p:grpSpPr>
        <p:sp>
          <p:nvSpPr>
            <p:cNvPr id="57" name="Shape 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58" name="Shape 5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59" name="Shape 59"/>
          <p:cNvSpPr txBox="1"/>
          <p:nvPr>
            <p:ph type="title"/>
          </p:nvPr>
        </p:nvSpPr>
        <p:spPr>
          <a:xfrm>
            <a:off x="729450" y="864300"/>
            <a:ext cx="7021200" cy="29850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Shape 6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Shape 6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nvGrpSpPr>
          <p:cNvPr id="63" name="Shape 63"/>
          <p:cNvGrpSpPr/>
          <p:nvPr/>
        </p:nvGrpSpPr>
        <p:grpSpPr>
          <a:xfrm>
            <a:off x="830392" y="1191256"/>
            <a:ext cx="745763" cy="45826"/>
            <a:chOff x="4580561" y="2589004"/>
            <a:chExt cx="1064464" cy="25200"/>
          </a:xfrm>
        </p:grpSpPr>
        <p:sp>
          <p:nvSpPr>
            <p:cNvPr id="64" name="Shape 6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65" name="Shape 6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66" name="Shape 66"/>
          <p:cNvSpPr txBox="1"/>
          <p:nvPr>
            <p:ph type="title"/>
          </p:nvPr>
        </p:nvSpPr>
        <p:spPr>
          <a:xfrm>
            <a:off x="730000" y="1318650"/>
            <a:ext cx="3300900" cy="1687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Shape 67"/>
          <p:cNvSpPr txBox="1"/>
          <p:nvPr>
            <p:ph idx="1" type="subTitle"/>
          </p:nvPr>
        </p:nvSpPr>
        <p:spPr>
          <a:xfrm>
            <a:off x="724950" y="3161525"/>
            <a:ext cx="3300900" cy="7590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Shape 68"/>
          <p:cNvSpPr txBox="1"/>
          <p:nvPr>
            <p:ph idx="2" type="body"/>
          </p:nvPr>
        </p:nvSpPr>
        <p:spPr>
          <a:xfrm>
            <a:off x="5174225" y="1352625"/>
            <a:ext cx="3374400" cy="3025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Shape 6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Shape 71"/>
          <p:cNvSpPr txBox="1"/>
          <p:nvPr>
            <p:ph idx="1" type="body"/>
          </p:nvPr>
        </p:nvSpPr>
        <p:spPr>
          <a:xfrm>
            <a:off x="724950" y="4372551"/>
            <a:ext cx="7697400" cy="4605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72" name="Shape 7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Shape 74"/>
          <p:cNvGrpSpPr/>
          <p:nvPr/>
        </p:nvGrpSpPr>
        <p:grpSpPr>
          <a:xfrm>
            <a:off x="830392" y="4169130"/>
            <a:ext cx="745763" cy="45826"/>
            <a:chOff x="4580561" y="2589004"/>
            <a:chExt cx="1064464" cy="25200"/>
          </a:xfrm>
        </p:grpSpPr>
        <p:sp>
          <p:nvSpPr>
            <p:cNvPr id="75" name="Shape 7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76" name="Shape 7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77" name="Shape 77"/>
          <p:cNvSpPr txBox="1"/>
          <p:nvPr>
            <p:ph type="title"/>
          </p:nvPr>
        </p:nvSpPr>
        <p:spPr>
          <a:xfrm>
            <a:off x="729450" y="733950"/>
            <a:ext cx="7688400" cy="12447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p:txBody>
      </p:sp>
      <p:sp>
        <p:nvSpPr>
          <p:cNvPr id="78" name="Shape 78"/>
          <p:cNvSpPr txBox="1"/>
          <p:nvPr>
            <p:ph idx="1" type="body"/>
          </p:nvPr>
        </p:nvSpPr>
        <p:spPr>
          <a:xfrm>
            <a:off x="729450" y="2272888"/>
            <a:ext cx="7688400" cy="1580400"/>
          </a:xfrm>
          <a:prstGeom prst="rect">
            <a:avLst/>
          </a:prstGeom>
        </p:spPr>
        <p:txBody>
          <a:bodyPr anchorCtr="0" anchor="t" bIns="91425" lIns="91425" spcFirstLastPara="1" rIns="91425" wrap="square" tIns="91425"/>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Shape 7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Shape 8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Shape 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mailto:degendra@bajratechnologi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google.com/images/a.p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oogle.com/images/a.png" TargetMode="External"/><Relationship Id="rId4" Type="http://schemas.openxmlformats.org/officeDocument/2006/relationships/hyperlink" Target="https://google.com/images/a.png" TargetMode="External"/><Relationship Id="rId5" Type="http://schemas.openxmlformats.org/officeDocument/2006/relationships/hyperlink" Target="https://google.com/images/a.png" TargetMode="External"/><Relationship Id="rId6" Type="http://schemas.openxmlformats.org/officeDocument/2006/relationships/hyperlink" Target="https://google.com/images/a.p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google.com/images/a.png" TargetMode="External"/><Relationship Id="rId4" Type="http://schemas.openxmlformats.org/officeDocument/2006/relationships/hyperlink" Target="https://google.com/images/a.png" TargetMode="External"/><Relationship Id="rId5" Type="http://schemas.openxmlformats.org/officeDocument/2006/relationships/hyperlink" Target="https://google.com/images/a.png" TargetMode="External"/><Relationship Id="rId6" Type="http://schemas.openxmlformats.org/officeDocument/2006/relationships/hyperlink" Target="https://google.com/images/a.p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Shape 86"/>
          <p:cNvSpPr txBox="1"/>
          <p:nvPr/>
        </p:nvSpPr>
        <p:spPr>
          <a:xfrm>
            <a:off x="311700" y="2004413"/>
            <a:ext cx="8520600" cy="132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800">
                <a:solidFill>
                  <a:srgbClr val="AF7B51"/>
                </a:solidFill>
                <a:latin typeface="Nunito"/>
                <a:ea typeface="Nunito"/>
                <a:cs typeface="Nunito"/>
                <a:sym typeface="Nunito"/>
              </a:rPr>
              <a:t>Docker Session III</a:t>
            </a:r>
            <a:endParaRPr sz="3800">
              <a:solidFill>
                <a:srgbClr val="AF7B51"/>
              </a:solidFill>
              <a:latin typeface="Nunito"/>
              <a:ea typeface="Nunito"/>
              <a:cs typeface="Nunito"/>
              <a:sym typeface="Nunito"/>
            </a:endParaRPr>
          </a:p>
          <a:p>
            <a:pPr indent="0" lvl="0" marL="0" rtl="0" algn="ctr">
              <a:spcBef>
                <a:spcPts val="0"/>
              </a:spcBef>
              <a:spcAft>
                <a:spcPts val="0"/>
              </a:spcAft>
              <a:buNone/>
            </a:pPr>
            <a:r>
              <a:rPr lang="en" sz="3800">
                <a:solidFill>
                  <a:srgbClr val="AF7B51"/>
                </a:solidFill>
                <a:latin typeface="Nunito"/>
                <a:ea typeface="Nunito"/>
                <a:cs typeface="Nunito"/>
                <a:sym typeface="Nunito"/>
              </a:rPr>
              <a:t>Dockerfile</a:t>
            </a:r>
            <a:endParaRPr sz="3800">
              <a:solidFill>
                <a:srgbClr val="AF7B51"/>
              </a:solidFill>
              <a:latin typeface="Nunito"/>
              <a:ea typeface="Nunito"/>
              <a:cs typeface="Nunito"/>
              <a:sym typeface="Nunito"/>
            </a:endParaRPr>
          </a:p>
        </p:txBody>
      </p:sp>
      <p:pic>
        <p:nvPicPr>
          <p:cNvPr id="87" name="Shape 87"/>
          <p:cNvPicPr preferRelativeResize="0"/>
          <p:nvPr/>
        </p:nvPicPr>
        <p:blipFill rotWithShape="1">
          <a:blip r:embed="rId3">
            <a:alphaModFix/>
          </a:blip>
          <a:srcRect b="0" l="0" r="0" t="0"/>
          <a:stretch/>
        </p:blipFill>
        <p:spPr>
          <a:xfrm>
            <a:off x="3979375" y="1021150"/>
            <a:ext cx="1185251" cy="1057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Shape 92"/>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Discussion on</a:t>
            </a:r>
            <a:endParaRPr sz="3000">
              <a:solidFill>
                <a:srgbClr val="AF7B51"/>
              </a:solidFill>
              <a:latin typeface="Nunito"/>
              <a:ea typeface="Nunito"/>
              <a:cs typeface="Nunito"/>
              <a:sym typeface="Nunito"/>
            </a:endParaRPr>
          </a:p>
        </p:txBody>
      </p:sp>
      <p:sp>
        <p:nvSpPr>
          <p:cNvPr id="93" name="Shape 93"/>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233A44"/>
              </a:buClr>
              <a:buSzPts val="1800"/>
              <a:buFont typeface="Calibri"/>
              <a:buChar char="●"/>
            </a:pPr>
            <a:r>
              <a:rPr lang="en" sz="1800">
                <a:solidFill>
                  <a:srgbClr val="3C3C3C"/>
                </a:solidFill>
                <a:latin typeface="Calibri"/>
                <a:ea typeface="Calibri"/>
                <a:cs typeface="Calibri"/>
                <a:sym typeface="Calibri"/>
              </a:rPr>
              <a:t>Dockerfile</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Dockerfile commands</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Dockerfile demo</a:t>
            </a:r>
            <a:endParaRPr sz="1800">
              <a:solidFill>
                <a:srgbClr val="3C3C3C"/>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 name="Shape 97"/>
        <p:cNvGrpSpPr/>
        <p:nvPr/>
      </p:nvGrpSpPr>
      <p:grpSpPr>
        <a:xfrm>
          <a:off x="0" y="0"/>
          <a:ext cx="0" cy="0"/>
          <a:chOff x="0" y="0"/>
          <a:chExt cx="0" cy="0"/>
        </a:xfrm>
      </p:grpSpPr>
      <p:sp>
        <p:nvSpPr>
          <p:cNvPr id="98" name="Shape 98"/>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Dockerfile</a:t>
            </a:r>
            <a:endParaRPr sz="3000">
              <a:solidFill>
                <a:srgbClr val="AF7B51"/>
              </a:solidFill>
              <a:latin typeface="Nunito"/>
              <a:ea typeface="Nunito"/>
              <a:cs typeface="Nunito"/>
              <a:sym typeface="Nunito"/>
            </a:endParaRPr>
          </a:p>
        </p:txBody>
      </p:sp>
      <p:sp>
        <p:nvSpPr>
          <p:cNvPr id="99" name="Shape 99"/>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What is dockerfile?</a:t>
            </a:r>
            <a:endParaRPr sz="1800">
              <a:solidFill>
                <a:srgbClr val="3C3C3C"/>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Shape 104"/>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Docker Workflow</a:t>
            </a:r>
            <a:endParaRPr sz="3000">
              <a:solidFill>
                <a:srgbClr val="AF7B51"/>
              </a:solidFill>
              <a:latin typeface="Nunito"/>
              <a:ea typeface="Nunito"/>
              <a:cs typeface="Nunito"/>
              <a:sym typeface="Nunito"/>
            </a:endParaRPr>
          </a:p>
        </p:txBody>
      </p:sp>
      <p:pic>
        <p:nvPicPr>
          <p:cNvPr id="105" name="Shape 105"/>
          <p:cNvPicPr preferRelativeResize="0"/>
          <p:nvPr/>
        </p:nvPicPr>
        <p:blipFill>
          <a:blip r:embed="rId3">
            <a:alphaModFix/>
          </a:blip>
          <a:stretch>
            <a:fillRect/>
          </a:stretch>
        </p:blipFill>
        <p:spPr>
          <a:xfrm>
            <a:off x="1775525" y="1528763"/>
            <a:ext cx="5391150" cy="2085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Shape 110"/>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Dockerfile commands</a:t>
            </a:r>
            <a:endParaRPr sz="3000">
              <a:solidFill>
                <a:srgbClr val="AF7B51"/>
              </a:solidFill>
              <a:latin typeface="Nunito"/>
              <a:ea typeface="Nunito"/>
              <a:cs typeface="Nunito"/>
              <a:sym typeface="Nunito"/>
            </a:endParaRPr>
          </a:p>
        </p:txBody>
      </p:sp>
      <p:sp>
        <p:nvSpPr>
          <p:cNvPr id="111" name="Shape 111"/>
          <p:cNvSpPr txBox="1"/>
          <p:nvPr/>
        </p:nvSpPr>
        <p:spPr>
          <a:xfrm>
            <a:off x="718250" y="1584500"/>
            <a:ext cx="7505700" cy="28626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FROM</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COPY</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EXPOSE</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VOLUMN</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a:t>
            </a:r>
            <a:endParaRPr sz="1800">
              <a:solidFill>
                <a:srgbClr val="3C3C3C"/>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Shape 116"/>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FROM &lt;base_image&gt;</a:t>
            </a:r>
            <a:endParaRPr sz="3000">
              <a:solidFill>
                <a:srgbClr val="AF7B51"/>
              </a:solidFill>
              <a:latin typeface="Nunito"/>
              <a:ea typeface="Nunito"/>
              <a:cs typeface="Nunito"/>
              <a:sym typeface="Nunito"/>
            </a:endParaRPr>
          </a:p>
        </p:txBody>
      </p:sp>
      <p:sp>
        <p:nvSpPr>
          <p:cNvPr id="117" name="Shape 117"/>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FROM scratch</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FROM ruby:2.5.0</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FROM node:6.0</a:t>
            </a:r>
            <a:endParaRPr sz="1800">
              <a:solidFill>
                <a:srgbClr val="3C3C3C"/>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sp>
        <p:nvSpPr>
          <p:cNvPr id="122" name="Shape 122"/>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MAINTAINER</a:t>
            </a:r>
            <a:r>
              <a:rPr lang="en" sz="3000">
                <a:solidFill>
                  <a:srgbClr val="AF7B51"/>
                </a:solidFill>
                <a:latin typeface="Nunito"/>
                <a:ea typeface="Nunito"/>
                <a:cs typeface="Nunito"/>
                <a:sym typeface="Nunito"/>
              </a:rPr>
              <a:t> &lt;name&gt;</a:t>
            </a:r>
            <a:endParaRPr sz="3000">
              <a:solidFill>
                <a:srgbClr val="AF7B51"/>
              </a:solidFill>
              <a:latin typeface="Nunito"/>
              <a:ea typeface="Nunito"/>
              <a:cs typeface="Nunito"/>
              <a:sym typeface="Nunito"/>
            </a:endParaRPr>
          </a:p>
        </p:txBody>
      </p:sp>
      <p:sp>
        <p:nvSpPr>
          <p:cNvPr id="123" name="Shape 123"/>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MAINTAINER</a:t>
            </a:r>
            <a:r>
              <a:rPr lang="en" sz="1800">
                <a:solidFill>
                  <a:srgbClr val="3C3C3C"/>
                </a:solidFill>
                <a:latin typeface="Calibri"/>
                <a:ea typeface="Calibri"/>
                <a:cs typeface="Calibri"/>
                <a:sym typeface="Calibri"/>
              </a:rPr>
              <a:t> Degenda SIvakoti &lt;</a:t>
            </a:r>
            <a:r>
              <a:rPr lang="en" sz="1800" u="sng">
                <a:solidFill>
                  <a:schemeClr val="hlink"/>
                </a:solidFill>
                <a:latin typeface="Calibri"/>
                <a:ea typeface="Calibri"/>
                <a:cs typeface="Calibri"/>
                <a:sym typeface="Calibri"/>
                <a:hlinkClick r:id="rId3"/>
              </a:rPr>
              <a:t>degendra@bajratechnologies.com</a:t>
            </a:r>
            <a:r>
              <a:rPr lang="en" sz="1800">
                <a:solidFill>
                  <a:srgbClr val="3C3C3C"/>
                </a:solidFill>
                <a:latin typeface="Calibri"/>
                <a:ea typeface="Calibri"/>
                <a:cs typeface="Calibri"/>
                <a:sym typeface="Calibri"/>
              </a:rPr>
              <a:t>&gt;</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Deprecated</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Shape 128"/>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RUN &lt;command&gt;</a:t>
            </a:r>
            <a:endParaRPr sz="3000">
              <a:solidFill>
                <a:srgbClr val="AF7B51"/>
              </a:solidFill>
              <a:latin typeface="Nunito"/>
              <a:ea typeface="Nunito"/>
              <a:cs typeface="Nunito"/>
              <a:sym typeface="Nunito"/>
            </a:endParaRPr>
          </a:p>
        </p:txBody>
      </p:sp>
      <p:sp>
        <p:nvSpPr>
          <p:cNvPr id="129" name="Shape 129"/>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 apt-get install nodejs</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 apt-get update &amp;&amp; apt-get install nodejs postgresql nano curl</a:t>
            </a:r>
            <a:endParaRPr sz="1800">
              <a:solidFill>
                <a:srgbClr val="3C3C3C"/>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Shape 134"/>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ADD</a:t>
            </a:r>
            <a:r>
              <a:rPr lang="en" sz="3000">
                <a:solidFill>
                  <a:srgbClr val="AF7B51"/>
                </a:solidFill>
                <a:latin typeface="Nunito"/>
                <a:ea typeface="Nunito"/>
                <a:cs typeface="Nunito"/>
                <a:sym typeface="Nunito"/>
              </a:rPr>
              <a:t> &lt;src&gt; &lt;dest&gt;</a:t>
            </a:r>
            <a:endParaRPr sz="3000">
              <a:solidFill>
                <a:srgbClr val="AF7B51"/>
              </a:solidFill>
              <a:latin typeface="Nunito"/>
              <a:ea typeface="Nunito"/>
              <a:cs typeface="Nunito"/>
              <a:sym typeface="Nunito"/>
            </a:endParaRPr>
          </a:p>
        </p:txBody>
      </p:sp>
      <p:sp>
        <p:nvSpPr>
          <p:cNvPr id="135" name="Shape 135"/>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 .</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 /app/</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Gemfile /app/Gemfile</a:t>
            </a:r>
            <a:endParaRPr sz="1800">
              <a:solidFill>
                <a:srgbClr val="3C3C3C"/>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Shape 140"/>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COPY</a:t>
            </a:r>
            <a:r>
              <a:rPr lang="en" sz="3000">
                <a:solidFill>
                  <a:srgbClr val="AF7B51"/>
                </a:solidFill>
                <a:latin typeface="Nunito"/>
                <a:ea typeface="Nunito"/>
                <a:cs typeface="Nunito"/>
                <a:sym typeface="Nunito"/>
              </a:rPr>
              <a:t> &lt;src&gt; &lt;dest&gt;</a:t>
            </a:r>
            <a:endParaRPr sz="3000">
              <a:solidFill>
                <a:srgbClr val="AF7B51"/>
              </a:solidFill>
              <a:latin typeface="Nunito"/>
              <a:ea typeface="Nunito"/>
              <a:cs typeface="Nunito"/>
              <a:sym typeface="Nunito"/>
            </a:endParaRPr>
          </a:p>
        </p:txBody>
      </p:sp>
      <p:sp>
        <p:nvSpPr>
          <p:cNvPr id="141" name="Shape 141"/>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COPY . /client</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COPY package.json /client/package.json</a:t>
            </a:r>
            <a:endParaRPr sz="1800">
              <a:solidFill>
                <a:srgbClr val="3C3C3C"/>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Shape 146"/>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ADD vs COPY</a:t>
            </a:r>
            <a:endParaRPr sz="3000">
              <a:solidFill>
                <a:srgbClr val="AF7B51"/>
              </a:solidFill>
              <a:latin typeface="Nunito"/>
              <a:ea typeface="Nunito"/>
              <a:cs typeface="Nunito"/>
              <a:sym typeface="Nunito"/>
            </a:endParaRPr>
          </a:p>
        </p:txBody>
      </p:sp>
      <p:sp>
        <p:nvSpPr>
          <p:cNvPr id="147" name="Shape 147"/>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has 2 extra capabilities (either or)</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&lt;src&gt; can be url</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Archive files will be automatically extracted.</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3"/>
              </a:rPr>
              <a:t>https://google.com/images/a.png</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/app/images/a.png</a:t>
            </a:r>
            <a:endParaRPr sz="1800">
              <a:solidFill>
                <a:srgbClr val="FF0000"/>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a:t>
            </a:r>
            <a:r>
              <a:rPr lang="en" sz="1800">
                <a:solidFill>
                  <a:schemeClr val="dk1"/>
                </a:solidFill>
                <a:latin typeface="Calibri"/>
                <a:ea typeface="Calibri"/>
                <a:cs typeface="Calibri"/>
                <a:sym typeface="Calibri"/>
              </a:rPr>
              <a:t>file.tar.gz</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a:t>
            </a:r>
            <a:endParaRPr sz="1800">
              <a:solidFill>
                <a:srgbClr val="FF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Shape 152"/>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GUESS</a:t>
            </a:r>
            <a:endParaRPr sz="3000">
              <a:solidFill>
                <a:srgbClr val="AF7B51"/>
              </a:solidFill>
              <a:latin typeface="Nunito"/>
              <a:ea typeface="Nunito"/>
              <a:cs typeface="Nunito"/>
              <a:sym typeface="Nunito"/>
            </a:endParaRPr>
          </a:p>
        </p:txBody>
      </p:sp>
      <p:sp>
        <p:nvSpPr>
          <p:cNvPr id="153" name="Shape 153"/>
          <p:cNvSpPr txBox="1"/>
          <p:nvPr/>
        </p:nvSpPr>
        <p:spPr>
          <a:xfrm>
            <a:off x="718250" y="1584500"/>
            <a:ext cx="7505700" cy="31476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3"/>
              </a:rPr>
              <a:t>https://google.com/images/a.png</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/app/images/b.png </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FF0000"/>
              </a:solidFill>
              <a:latin typeface="Calibri"/>
              <a:ea typeface="Calibri"/>
              <a:cs typeface="Calibri"/>
              <a:sym typeface="Calibri"/>
            </a:endParaRPr>
          </a:p>
          <a:p>
            <a:pPr indent="-342900" lvl="0" marL="457200" rtl="0">
              <a:lnSpc>
                <a:spcPct val="115000"/>
              </a:lnSpc>
              <a:spcBef>
                <a:spcPts val="700"/>
              </a:spcBef>
              <a:spcAft>
                <a:spcPts val="0"/>
              </a:spcAft>
              <a:buClr>
                <a:srgbClr val="233A44"/>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4"/>
              </a:rPr>
              <a:t>https://google.com/images/a.png</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/app/images/</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FF0000"/>
              </a:solidFill>
              <a:latin typeface="Calibri"/>
              <a:ea typeface="Calibri"/>
              <a:cs typeface="Calibri"/>
              <a:sym typeface="Calibri"/>
            </a:endParaRPr>
          </a:p>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5"/>
              </a:rPr>
              <a:t>https://google.com/images/a.</a:t>
            </a:r>
            <a:r>
              <a:rPr lang="en" sz="1800">
                <a:solidFill>
                  <a:schemeClr val="dk1"/>
                </a:solidFill>
                <a:latin typeface="Calibri"/>
                <a:ea typeface="Calibri"/>
                <a:cs typeface="Calibri"/>
                <a:sym typeface="Calibri"/>
              </a:rPr>
              <a:t>tar.gz</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 </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FF0000"/>
              </a:solidFill>
              <a:latin typeface="Calibri"/>
              <a:ea typeface="Calibri"/>
              <a:cs typeface="Calibri"/>
              <a:sym typeface="Calibri"/>
            </a:endParaRPr>
          </a:p>
          <a:p>
            <a:pPr indent="-342900" lvl="0" marL="457200" rtl="0">
              <a:lnSpc>
                <a:spcPct val="115000"/>
              </a:lnSpc>
              <a:spcBef>
                <a:spcPts val="700"/>
              </a:spcBef>
              <a:spcAft>
                <a:spcPts val="0"/>
              </a:spcAft>
              <a:buClr>
                <a:srgbClr val="233A44"/>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6"/>
              </a:rPr>
              <a:t>https://google.com/images/a.</a:t>
            </a:r>
            <a:r>
              <a:rPr lang="en" sz="1800">
                <a:solidFill>
                  <a:schemeClr val="dk1"/>
                </a:solidFill>
                <a:latin typeface="Calibri"/>
                <a:ea typeface="Calibri"/>
                <a:cs typeface="Calibri"/>
                <a:sym typeface="Calibri"/>
              </a:rPr>
              <a:t>tar.gz</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/app/b.tar.gz</a:t>
            </a:r>
            <a:endParaRPr sz="18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Shape 158"/>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ANSWER</a:t>
            </a:r>
            <a:endParaRPr sz="3000">
              <a:solidFill>
                <a:srgbClr val="AF7B51"/>
              </a:solidFill>
              <a:latin typeface="Nunito"/>
              <a:ea typeface="Nunito"/>
              <a:cs typeface="Nunito"/>
              <a:sym typeface="Nunito"/>
            </a:endParaRPr>
          </a:p>
        </p:txBody>
      </p:sp>
      <p:sp>
        <p:nvSpPr>
          <p:cNvPr id="159" name="Shape 159"/>
          <p:cNvSpPr txBox="1"/>
          <p:nvPr/>
        </p:nvSpPr>
        <p:spPr>
          <a:xfrm>
            <a:off x="718250" y="1584500"/>
            <a:ext cx="7505700" cy="34167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3"/>
              </a:rPr>
              <a:t>https://google.com/images/a.png</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/app/images/b.png </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rPr lang="en" sz="1800">
                <a:solidFill>
                  <a:srgbClr val="FF0000"/>
                </a:solidFill>
                <a:latin typeface="Calibri"/>
                <a:ea typeface="Calibri"/>
                <a:cs typeface="Calibri"/>
                <a:sym typeface="Calibri"/>
              </a:rPr>
              <a:t>			/app/images/b.png</a:t>
            </a:r>
            <a:endParaRPr sz="1800">
              <a:solidFill>
                <a:srgbClr val="FF0000"/>
              </a:solidFill>
              <a:latin typeface="Calibri"/>
              <a:ea typeface="Calibri"/>
              <a:cs typeface="Calibri"/>
              <a:sym typeface="Calibri"/>
            </a:endParaRPr>
          </a:p>
          <a:p>
            <a:pPr indent="-342900" lvl="0" marL="457200" rtl="0">
              <a:lnSpc>
                <a:spcPct val="115000"/>
              </a:lnSpc>
              <a:spcBef>
                <a:spcPts val="700"/>
              </a:spcBef>
              <a:spcAft>
                <a:spcPts val="0"/>
              </a:spcAft>
              <a:buClr>
                <a:srgbClr val="233A44"/>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4"/>
              </a:rPr>
              <a:t>https://google.com/images/a.png</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/app/images/</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rPr lang="en" sz="1800">
                <a:solidFill>
                  <a:srgbClr val="FF0000"/>
                </a:solidFill>
                <a:latin typeface="Calibri"/>
                <a:ea typeface="Calibri"/>
                <a:cs typeface="Calibri"/>
                <a:sym typeface="Calibri"/>
              </a:rPr>
              <a:t>			/app/images/a.png</a:t>
            </a:r>
            <a:endParaRPr sz="1800">
              <a:solidFill>
                <a:srgbClr val="FF0000"/>
              </a:solidFill>
              <a:latin typeface="Calibri"/>
              <a:ea typeface="Calibri"/>
              <a:cs typeface="Calibri"/>
              <a:sym typeface="Calibri"/>
            </a:endParaRPr>
          </a:p>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5"/>
              </a:rPr>
              <a:t>https://google.com/images/a.</a:t>
            </a:r>
            <a:r>
              <a:rPr lang="en" sz="1800">
                <a:solidFill>
                  <a:schemeClr val="dk1"/>
                </a:solidFill>
                <a:latin typeface="Calibri"/>
                <a:ea typeface="Calibri"/>
                <a:cs typeface="Calibri"/>
                <a:sym typeface="Calibri"/>
              </a:rPr>
              <a:t>tar.gz</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 </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rPr lang="en" sz="1800">
                <a:solidFill>
                  <a:srgbClr val="FF0000"/>
                </a:solidFill>
                <a:latin typeface="Calibri"/>
                <a:ea typeface="Calibri"/>
                <a:cs typeface="Calibri"/>
                <a:sym typeface="Calibri"/>
              </a:rPr>
              <a:t>			/app/a.tar.gz</a:t>
            </a:r>
            <a:endParaRPr sz="1800">
              <a:solidFill>
                <a:srgbClr val="FF0000"/>
              </a:solidFill>
              <a:latin typeface="Calibri"/>
              <a:ea typeface="Calibri"/>
              <a:cs typeface="Calibri"/>
              <a:sym typeface="Calibri"/>
            </a:endParaRPr>
          </a:p>
          <a:p>
            <a:pPr indent="-342900" lvl="0" marL="457200" rtl="0">
              <a:lnSpc>
                <a:spcPct val="115000"/>
              </a:lnSpc>
              <a:spcBef>
                <a:spcPts val="700"/>
              </a:spcBef>
              <a:spcAft>
                <a:spcPts val="0"/>
              </a:spcAft>
              <a:buClr>
                <a:srgbClr val="233A44"/>
              </a:buClr>
              <a:buSzPts val="1800"/>
              <a:buFont typeface="Calibri"/>
              <a:buChar char="●"/>
            </a:pPr>
            <a:r>
              <a:rPr lang="en" sz="1800">
                <a:solidFill>
                  <a:srgbClr val="3C3C3C"/>
                </a:solidFill>
                <a:latin typeface="Calibri"/>
                <a:ea typeface="Calibri"/>
                <a:cs typeface="Calibri"/>
                <a:sym typeface="Calibri"/>
              </a:rPr>
              <a:t>Add </a:t>
            </a:r>
            <a:r>
              <a:rPr lang="en" sz="1800" u="sng">
                <a:solidFill>
                  <a:schemeClr val="dk1"/>
                </a:solidFill>
                <a:latin typeface="Calibri"/>
                <a:ea typeface="Calibri"/>
                <a:cs typeface="Calibri"/>
                <a:sym typeface="Calibri"/>
                <a:hlinkClick r:id="rId6"/>
              </a:rPr>
              <a:t>https://google.com/images/a.</a:t>
            </a:r>
            <a:r>
              <a:rPr lang="en" sz="1800">
                <a:solidFill>
                  <a:schemeClr val="dk1"/>
                </a:solidFill>
                <a:latin typeface="Calibri"/>
                <a:ea typeface="Calibri"/>
                <a:cs typeface="Calibri"/>
                <a:sym typeface="Calibri"/>
              </a:rPr>
              <a:t>tar.gz</a:t>
            </a:r>
            <a:r>
              <a:rPr lang="en" sz="1800">
                <a:solidFill>
                  <a:srgbClr val="3C3C3C"/>
                </a:solidFill>
                <a:latin typeface="Calibri"/>
                <a:ea typeface="Calibri"/>
                <a:cs typeface="Calibri"/>
                <a:sym typeface="Calibri"/>
              </a:rPr>
              <a:t> </a:t>
            </a:r>
            <a:r>
              <a:rPr lang="en" sz="1800">
                <a:solidFill>
                  <a:srgbClr val="FF0000"/>
                </a:solidFill>
                <a:latin typeface="Calibri"/>
                <a:ea typeface="Calibri"/>
                <a:cs typeface="Calibri"/>
                <a:sym typeface="Calibri"/>
              </a:rPr>
              <a:t>/app/b.tar.gz</a:t>
            </a:r>
            <a:endParaRPr sz="1800">
              <a:solidFill>
                <a:srgbClr val="FF0000"/>
              </a:solidFill>
              <a:latin typeface="Calibri"/>
              <a:ea typeface="Calibri"/>
              <a:cs typeface="Calibri"/>
              <a:sym typeface="Calibri"/>
            </a:endParaRPr>
          </a:p>
          <a:p>
            <a:pPr indent="0" lvl="0" marL="0" rtl="0">
              <a:lnSpc>
                <a:spcPct val="115000"/>
              </a:lnSpc>
              <a:spcBef>
                <a:spcPts val="700"/>
              </a:spcBef>
              <a:spcAft>
                <a:spcPts val="0"/>
              </a:spcAft>
              <a:buNone/>
            </a:pPr>
            <a:r>
              <a:rPr lang="en" sz="1800">
                <a:solidFill>
                  <a:srgbClr val="FF0000"/>
                </a:solidFill>
                <a:latin typeface="Calibri"/>
                <a:ea typeface="Calibri"/>
                <a:cs typeface="Calibri"/>
                <a:sym typeface="Calibri"/>
              </a:rPr>
              <a:t>			/app/b.tar.gz</a:t>
            </a:r>
            <a:endParaRPr sz="1800">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Shape 164"/>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EXPOSE</a:t>
            </a:r>
            <a:r>
              <a:rPr lang="en" sz="3000">
                <a:solidFill>
                  <a:srgbClr val="AF7B51"/>
                </a:solidFill>
                <a:latin typeface="Nunito"/>
                <a:ea typeface="Nunito"/>
                <a:cs typeface="Nunito"/>
                <a:sym typeface="Nunito"/>
              </a:rPr>
              <a:t> &lt;port&gt;</a:t>
            </a:r>
            <a:endParaRPr sz="3000">
              <a:solidFill>
                <a:srgbClr val="AF7B51"/>
              </a:solidFill>
              <a:latin typeface="Nunito"/>
              <a:ea typeface="Nunito"/>
              <a:cs typeface="Nunito"/>
              <a:sym typeface="Nunito"/>
            </a:endParaRPr>
          </a:p>
        </p:txBody>
      </p:sp>
      <p:sp>
        <p:nvSpPr>
          <p:cNvPr id="165" name="Shape 165"/>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EXPOSE 80</a:t>
            </a:r>
            <a:endParaRPr sz="1800">
              <a:solidFill>
                <a:srgbClr val="3C3C3C"/>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Shape 170"/>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ENV</a:t>
            </a:r>
            <a:r>
              <a:rPr lang="en" sz="3000">
                <a:solidFill>
                  <a:srgbClr val="AF7B51"/>
                </a:solidFill>
                <a:latin typeface="Nunito"/>
                <a:ea typeface="Nunito"/>
                <a:cs typeface="Nunito"/>
                <a:sym typeface="Nunito"/>
              </a:rPr>
              <a:t> &lt;key&gt; &lt;value&gt;</a:t>
            </a:r>
            <a:endParaRPr sz="3000">
              <a:solidFill>
                <a:srgbClr val="AF7B51"/>
              </a:solidFill>
              <a:latin typeface="Nunito"/>
              <a:ea typeface="Nunito"/>
              <a:cs typeface="Nunito"/>
              <a:sym typeface="Nunito"/>
            </a:endParaRPr>
          </a:p>
        </p:txBody>
      </p:sp>
      <p:sp>
        <p:nvSpPr>
          <p:cNvPr id="171" name="Shape 171"/>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ENV RAILS_ENV development</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ENV GO_ENV production</a:t>
            </a:r>
            <a:endParaRPr sz="1800">
              <a:solidFill>
                <a:srgbClr val="3C3C3C"/>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Shape 176"/>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ENV &lt;key&gt;=&lt;value&gt;</a:t>
            </a:r>
            <a:endParaRPr sz="3000">
              <a:solidFill>
                <a:srgbClr val="AF7B51"/>
              </a:solidFill>
              <a:latin typeface="Nunito"/>
              <a:ea typeface="Nunito"/>
              <a:cs typeface="Nunito"/>
              <a:sym typeface="Nunito"/>
            </a:endParaRPr>
          </a:p>
        </p:txBody>
      </p:sp>
      <p:sp>
        <p:nvSpPr>
          <p:cNvPr id="177" name="Shape 177"/>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ENV RAILS_ENV=development GO_ENV=production</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rPr lang="en" sz="1800">
                <a:solidFill>
                  <a:srgbClr val="FF0000"/>
                </a:solidFill>
                <a:latin typeface="Calibri"/>
                <a:ea typeface="Calibri"/>
                <a:cs typeface="Calibri"/>
                <a:sym typeface="Calibri"/>
              </a:rPr>
              <a:t>Difference between &lt;key&gt; &lt;value&gt; and &lt;key&gt;=&lt;value&gt;?</a:t>
            </a:r>
            <a:endParaRPr sz="1800">
              <a:solidFill>
                <a:srgbClr val="FF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Shape 182"/>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VOLUME</a:t>
            </a:r>
            <a:r>
              <a:rPr lang="en" sz="3000">
                <a:solidFill>
                  <a:srgbClr val="AF7B51"/>
                </a:solidFill>
                <a:latin typeface="Nunito"/>
                <a:ea typeface="Nunito"/>
                <a:cs typeface="Nunito"/>
                <a:sym typeface="Nunito"/>
              </a:rPr>
              <a:t> [“/data”]</a:t>
            </a:r>
            <a:endParaRPr sz="3000">
              <a:solidFill>
                <a:srgbClr val="AF7B51"/>
              </a:solidFill>
              <a:latin typeface="Nunito"/>
              <a:ea typeface="Nunito"/>
              <a:cs typeface="Nunito"/>
              <a:sym typeface="Nunito"/>
            </a:endParaRPr>
          </a:p>
        </p:txBody>
      </p:sp>
      <p:sp>
        <p:nvSpPr>
          <p:cNvPr id="183" name="Shape 183"/>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VOLUME /var/log</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VOLUME /var/log /var/db</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VOLUME [“/var/log”, “/var/db”]</a:t>
            </a:r>
            <a:endParaRPr sz="1800">
              <a:solidFill>
                <a:srgbClr val="3C3C3C"/>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7" name="Shape 187"/>
        <p:cNvGrpSpPr/>
        <p:nvPr/>
      </p:nvGrpSpPr>
      <p:grpSpPr>
        <a:xfrm>
          <a:off x="0" y="0"/>
          <a:ext cx="0" cy="0"/>
          <a:chOff x="0" y="0"/>
          <a:chExt cx="0" cy="0"/>
        </a:xfrm>
      </p:grpSpPr>
      <p:sp>
        <p:nvSpPr>
          <p:cNvPr id="188" name="Shape 188"/>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WORKDIR</a:t>
            </a:r>
            <a:r>
              <a:rPr lang="en" sz="3000">
                <a:solidFill>
                  <a:srgbClr val="AF7B51"/>
                </a:solidFill>
                <a:latin typeface="Nunito"/>
                <a:ea typeface="Nunito"/>
                <a:cs typeface="Nunito"/>
                <a:sym typeface="Nunito"/>
              </a:rPr>
              <a:t> &lt;path&gt;</a:t>
            </a:r>
            <a:endParaRPr sz="3000">
              <a:solidFill>
                <a:srgbClr val="AF7B51"/>
              </a:solidFill>
              <a:latin typeface="Nunito"/>
              <a:ea typeface="Nunito"/>
              <a:cs typeface="Nunito"/>
              <a:sym typeface="Nunito"/>
            </a:endParaRPr>
          </a:p>
        </p:txBody>
      </p:sp>
      <p:sp>
        <p:nvSpPr>
          <p:cNvPr id="189" name="Shape 189"/>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Mkdir /demo-app</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WORKDIR /demo-app</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PWD</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/demo-app</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Shape 194"/>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SHELL &amp; EXEC</a:t>
            </a:r>
            <a:endParaRPr sz="3000">
              <a:solidFill>
                <a:srgbClr val="AF7B51"/>
              </a:solidFill>
              <a:latin typeface="Nunito"/>
              <a:ea typeface="Nunito"/>
              <a:cs typeface="Nunito"/>
              <a:sym typeface="Nunito"/>
            </a:endParaRPr>
          </a:p>
        </p:txBody>
      </p:sp>
      <p:sp>
        <p:nvSpPr>
          <p:cNvPr id="195" name="Shape 195"/>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Shell form</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 &lt;command&gt;</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 echo </a:t>
            </a:r>
            <a:r>
              <a:rPr lang="en" sz="1800">
                <a:solidFill>
                  <a:schemeClr val="dk1"/>
                </a:solidFill>
                <a:latin typeface="Calibri"/>
                <a:ea typeface="Calibri"/>
                <a:cs typeface="Calibri"/>
                <a:sym typeface="Calibri"/>
              </a:rPr>
              <a:t>“</a:t>
            </a:r>
            <a:r>
              <a:rPr lang="en" sz="1800">
                <a:solidFill>
                  <a:srgbClr val="3C3C3C"/>
                </a:solidFill>
                <a:latin typeface="Calibri"/>
                <a:ea typeface="Calibri"/>
                <a:cs typeface="Calibri"/>
                <a:sym typeface="Calibri"/>
              </a:rPr>
              <a:t>Hello World!</a:t>
            </a:r>
            <a:r>
              <a:rPr lang="e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/bin/sh -c </a:t>
            </a:r>
            <a:r>
              <a:rPr lang="en" sz="1800">
                <a:solidFill>
                  <a:srgbClr val="980000"/>
                </a:solidFill>
                <a:latin typeface="Calibri"/>
                <a:ea typeface="Calibri"/>
                <a:cs typeface="Calibri"/>
                <a:sym typeface="Calibri"/>
              </a:rPr>
              <a:t>“</a:t>
            </a:r>
            <a:r>
              <a:rPr lang="en" sz="1800">
                <a:solidFill>
                  <a:srgbClr val="3C3C3C"/>
                </a:solidFill>
                <a:latin typeface="Calibri"/>
                <a:ea typeface="Calibri"/>
                <a:cs typeface="Calibri"/>
                <a:sym typeface="Calibri"/>
              </a:rPr>
              <a:t>echo </a:t>
            </a:r>
            <a:r>
              <a:rPr lang="en" sz="1800">
                <a:solidFill>
                  <a:schemeClr val="dk1"/>
                </a:solidFill>
                <a:latin typeface="Calibri"/>
                <a:ea typeface="Calibri"/>
                <a:cs typeface="Calibri"/>
                <a:sym typeface="Calibri"/>
              </a:rPr>
              <a:t>‘</a:t>
            </a:r>
            <a:r>
              <a:rPr lang="en" sz="1800">
                <a:solidFill>
                  <a:srgbClr val="3C3C3C"/>
                </a:solidFill>
                <a:latin typeface="Calibri"/>
                <a:ea typeface="Calibri"/>
                <a:cs typeface="Calibri"/>
                <a:sym typeface="Calibri"/>
              </a:rPr>
              <a:t>Hello World!</a:t>
            </a:r>
            <a:r>
              <a:rPr lang="en" sz="1800">
                <a:solidFill>
                  <a:schemeClr val="dk1"/>
                </a:solidFill>
                <a:latin typeface="Calibri"/>
                <a:ea typeface="Calibri"/>
                <a:cs typeface="Calibri"/>
                <a:sym typeface="Calibri"/>
              </a:rPr>
              <a:t>’”</a:t>
            </a:r>
            <a:endParaRPr sz="1800">
              <a:solidFill>
                <a:srgbClr val="980000"/>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Exec form</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 [“executable”, “param1”, “param2”]</a:t>
            </a:r>
            <a:endParaRPr sz="1800">
              <a:solidFill>
                <a:srgbClr val="3C3C3C"/>
              </a:solidFill>
              <a:latin typeface="Calibri"/>
              <a:ea typeface="Calibri"/>
              <a:cs typeface="Calibri"/>
              <a:sym typeface="Calibri"/>
            </a:endParaRPr>
          </a:p>
          <a:p>
            <a:pPr indent="-342900" lvl="1" marL="9144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RUN [“/bin/bash”, “-c”, “echo Hello World!”]</a:t>
            </a:r>
            <a:endParaRPr sz="1800">
              <a:solidFill>
                <a:srgbClr val="3C3C3C"/>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Shape 200"/>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CMD</a:t>
            </a:r>
            <a:endParaRPr sz="3000">
              <a:solidFill>
                <a:srgbClr val="AF7B51"/>
              </a:solidFill>
              <a:latin typeface="Nunito"/>
              <a:ea typeface="Nunito"/>
              <a:cs typeface="Nunito"/>
              <a:sym typeface="Nunito"/>
            </a:endParaRPr>
          </a:p>
        </p:txBody>
      </p:sp>
      <p:sp>
        <p:nvSpPr>
          <p:cNvPr id="201" name="Shape 201"/>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 [“executable”, “param1”, “param2”]</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 [“param1”, “param2”]</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 command param1 param2</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 [“/usr/bin/tail”, “-f”, “/dev/null”]</a:t>
            </a:r>
            <a:endParaRPr sz="1800">
              <a:solidFill>
                <a:srgbClr val="3C3C3C"/>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sp>
        <p:nvSpPr>
          <p:cNvPr id="206" name="Shape 206"/>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ENTRYPOINT</a:t>
            </a:r>
            <a:endParaRPr sz="3000">
              <a:solidFill>
                <a:srgbClr val="AF7B51"/>
              </a:solidFill>
              <a:latin typeface="Nunito"/>
              <a:ea typeface="Nunito"/>
              <a:cs typeface="Nunito"/>
              <a:sym typeface="Nunito"/>
            </a:endParaRPr>
          </a:p>
        </p:txBody>
      </p:sp>
      <p:sp>
        <p:nvSpPr>
          <p:cNvPr id="207" name="Shape 207"/>
          <p:cNvSpPr txBox="1"/>
          <p:nvPr/>
        </p:nvSpPr>
        <p:spPr>
          <a:xfrm>
            <a:off x="718250" y="1584500"/>
            <a:ext cx="7505700" cy="31317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a:t>
            </a:r>
            <a:r>
              <a:rPr lang="en" sz="1800">
                <a:solidFill>
                  <a:srgbClr val="3C3C3C"/>
                </a:solidFill>
                <a:latin typeface="Calibri"/>
                <a:ea typeface="Calibri"/>
                <a:cs typeface="Calibri"/>
                <a:sym typeface="Calibri"/>
              </a:rPr>
              <a:t> command param1 param2</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echo “Hello World!”</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 [“Hello World!”]</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echo</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echo</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run &lt;image_name&gt; “Hello World”</a:t>
            </a:r>
            <a:endParaRPr sz="1800">
              <a:solidFill>
                <a:srgbClr val="3C3C3C"/>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1" name="Shape 211"/>
        <p:cNvGrpSpPr/>
        <p:nvPr/>
      </p:nvGrpSpPr>
      <p:grpSpPr>
        <a:xfrm>
          <a:off x="0" y="0"/>
          <a:ext cx="0" cy="0"/>
          <a:chOff x="0" y="0"/>
          <a:chExt cx="0" cy="0"/>
        </a:xfrm>
      </p:grpSpPr>
      <p:sp>
        <p:nvSpPr>
          <p:cNvPr id="212" name="Shape 212"/>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ENTRYPOINT Cont...</a:t>
            </a:r>
            <a:endParaRPr sz="3000">
              <a:solidFill>
                <a:srgbClr val="AF7B51"/>
              </a:solidFill>
              <a:latin typeface="Nunito"/>
              <a:ea typeface="Nunito"/>
              <a:cs typeface="Nunito"/>
              <a:sym typeface="Nunito"/>
            </a:endParaRPr>
          </a:p>
        </p:txBody>
      </p:sp>
      <p:sp>
        <p:nvSpPr>
          <p:cNvPr id="213" name="Shape 213"/>
          <p:cNvSpPr txBox="1"/>
          <p:nvPr/>
        </p:nvSpPr>
        <p:spPr>
          <a:xfrm>
            <a:off x="718250" y="1584500"/>
            <a:ext cx="7505700" cy="31317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command param1 param2</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echo “Hello World!”</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CMD [“Hello World!”]</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echo	</a:t>
            </a:r>
            <a:r>
              <a:rPr lang="en" sz="1800">
                <a:solidFill>
                  <a:srgbClr val="980000"/>
                </a:solidFill>
                <a:latin typeface="Calibri"/>
                <a:ea typeface="Calibri"/>
                <a:cs typeface="Calibri"/>
                <a:sym typeface="Calibri"/>
              </a:rPr>
              <a:t>//Hello World!</a:t>
            </a:r>
            <a:endParaRPr sz="1800">
              <a:solidFill>
                <a:srgbClr val="980000"/>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ENTRYPOINT echo</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run &lt;image_name&gt; “Hello World” </a:t>
            </a:r>
            <a:r>
              <a:rPr lang="en" sz="1800">
                <a:solidFill>
                  <a:srgbClr val="980000"/>
                </a:solidFill>
                <a:latin typeface="Calibri"/>
                <a:ea typeface="Calibri"/>
                <a:cs typeface="Calibri"/>
                <a:sym typeface="Calibri"/>
              </a:rPr>
              <a:t>//Hello World!</a:t>
            </a:r>
            <a:endParaRPr sz="1800">
              <a:solidFill>
                <a:srgbClr val="98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Shape 218"/>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OTHERS</a:t>
            </a:r>
            <a:endParaRPr sz="3000">
              <a:solidFill>
                <a:srgbClr val="AF7B51"/>
              </a:solidFill>
              <a:latin typeface="Nunito"/>
              <a:ea typeface="Nunito"/>
              <a:cs typeface="Nunito"/>
              <a:sym typeface="Nunito"/>
            </a:endParaRPr>
          </a:p>
        </p:txBody>
      </p:sp>
      <p:sp>
        <p:nvSpPr>
          <p:cNvPr id="219" name="Shape 219"/>
          <p:cNvSpPr txBox="1"/>
          <p:nvPr/>
        </p:nvSpPr>
        <p:spPr>
          <a:xfrm>
            <a:off x="718250" y="1584500"/>
            <a:ext cx="7505700" cy="31317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LABEL</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USER</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ONBUILD</a:t>
            </a:r>
            <a:endParaRPr sz="1800">
              <a:solidFill>
                <a:srgbClr val="3C3C3C"/>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Shape 224"/>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.dockerignore File</a:t>
            </a:r>
            <a:endParaRPr sz="3000">
              <a:solidFill>
                <a:srgbClr val="AF7B51"/>
              </a:solidFill>
              <a:latin typeface="Nunito"/>
              <a:ea typeface="Nunito"/>
              <a:cs typeface="Nunito"/>
              <a:sym typeface="Nunito"/>
            </a:endParaRPr>
          </a:p>
        </p:txBody>
      </p:sp>
      <p:sp>
        <p:nvSpPr>
          <p:cNvPr id="225" name="Shape 225"/>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Similar to .gitignore</a:t>
            </a:r>
            <a:endParaRPr sz="1800">
              <a:solidFill>
                <a:srgbClr val="3C3C3C"/>
              </a:solidFill>
              <a:latin typeface="Calibri"/>
              <a:ea typeface="Calibri"/>
              <a:cs typeface="Calibri"/>
              <a:sym typeface="Calibri"/>
            </a:endParaRPr>
          </a:p>
          <a:p>
            <a:pPr indent="-342900" lvl="0" marL="457200" marR="0" rtl="0" algn="l">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Useful when using ADD and COPY command</a:t>
            </a:r>
            <a:endParaRPr sz="1800">
              <a:solidFill>
                <a:srgbClr val="3C3C3C"/>
              </a:solidFill>
              <a:latin typeface="Calibri"/>
              <a:ea typeface="Calibri"/>
              <a:cs typeface="Calibri"/>
              <a:sym typeface="Calibri"/>
            </a:endParaRPr>
          </a:p>
          <a:p>
            <a:pPr indent="-342900" lvl="1" marL="914400" marR="0" rtl="0" algn="l">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 comment</a:t>
            </a:r>
            <a:endParaRPr sz="1800">
              <a:solidFill>
                <a:srgbClr val="3C3C3C"/>
              </a:solidFill>
              <a:latin typeface="Calibri"/>
              <a:ea typeface="Calibri"/>
              <a:cs typeface="Calibri"/>
              <a:sym typeface="Calibri"/>
            </a:endParaRPr>
          </a:p>
          <a:p>
            <a:pPr indent="-342900" lvl="1" marL="914400" marR="0" rtl="0" algn="l">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log/*</a:t>
            </a:r>
            <a:endParaRPr sz="1800">
              <a:solidFill>
                <a:srgbClr val="3C3C3C"/>
              </a:solidFill>
              <a:latin typeface="Calibri"/>
              <a:ea typeface="Calibri"/>
              <a:cs typeface="Calibri"/>
              <a:sym typeface="Calibri"/>
            </a:endParaRPr>
          </a:p>
          <a:p>
            <a:pPr indent="-342900" lvl="1" marL="914400" marR="0" rtl="0" algn="l">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node_modules/*</a:t>
            </a:r>
            <a:endParaRPr sz="1800">
              <a:solidFill>
                <a:srgbClr val="3C3C3C"/>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9" name="Shape 229"/>
        <p:cNvGrpSpPr/>
        <p:nvPr/>
      </p:nvGrpSpPr>
      <p:grpSpPr>
        <a:xfrm>
          <a:off x="0" y="0"/>
          <a:ext cx="0" cy="0"/>
          <a:chOff x="0" y="0"/>
          <a:chExt cx="0" cy="0"/>
        </a:xfrm>
      </p:grpSpPr>
      <p:sp>
        <p:nvSpPr>
          <p:cNvPr id="230" name="Shape 230"/>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Docker Workflow Detailed</a:t>
            </a:r>
            <a:endParaRPr sz="3000">
              <a:solidFill>
                <a:srgbClr val="AF7B51"/>
              </a:solidFill>
              <a:latin typeface="Nunito"/>
              <a:ea typeface="Nunito"/>
              <a:cs typeface="Nunito"/>
              <a:sym typeface="Nunito"/>
            </a:endParaRPr>
          </a:p>
        </p:txBody>
      </p:sp>
      <p:pic>
        <p:nvPicPr>
          <p:cNvPr id="231" name="Shape 231"/>
          <p:cNvPicPr preferRelativeResize="0"/>
          <p:nvPr/>
        </p:nvPicPr>
        <p:blipFill>
          <a:blip r:embed="rId3">
            <a:alphaModFix/>
          </a:blip>
          <a:stretch>
            <a:fillRect/>
          </a:stretch>
        </p:blipFill>
        <p:spPr>
          <a:xfrm>
            <a:off x="2412913" y="1522725"/>
            <a:ext cx="4116382" cy="3315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5" name="Shape 235"/>
        <p:cNvGrpSpPr/>
        <p:nvPr/>
      </p:nvGrpSpPr>
      <p:grpSpPr>
        <a:xfrm>
          <a:off x="0" y="0"/>
          <a:ext cx="0" cy="0"/>
          <a:chOff x="0" y="0"/>
          <a:chExt cx="0" cy="0"/>
        </a:xfrm>
      </p:grpSpPr>
      <p:sp>
        <p:nvSpPr>
          <p:cNvPr id="236" name="Shape 236"/>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Build Context</a:t>
            </a:r>
            <a:endParaRPr sz="3000">
              <a:solidFill>
                <a:srgbClr val="AF7B51"/>
              </a:solidFill>
              <a:latin typeface="Nunito"/>
              <a:ea typeface="Nunito"/>
              <a:cs typeface="Nunito"/>
              <a:sym typeface="Nunito"/>
            </a:endParaRPr>
          </a:p>
        </p:txBody>
      </p:sp>
      <p:sp>
        <p:nvSpPr>
          <p:cNvPr id="237" name="Shape 237"/>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build .</a:t>
            </a:r>
            <a:endParaRPr sz="1800">
              <a:solidFill>
                <a:srgbClr val="3C3C3C"/>
              </a:solidFill>
              <a:latin typeface="Calibri"/>
              <a:ea typeface="Calibri"/>
              <a:cs typeface="Calibri"/>
              <a:sym typeface="Calibri"/>
            </a:endParaRPr>
          </a:p>
          <a:p>
            <a:pPr indent="-342900" lvl="0" marL="457200" marR="0" rtl="0" algn="l">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build -f &lt;dockerfile_name&gt; &lt;build_context&gt;</a:t>
            </a:r>
            <a:endParaRPr sz="1800">
              <a:solidFill>
                <a:srgbClr val="3C3C3C"/>
              </a:solidFill>
              <a:latin typeface="Calibri"/>
              <a:ea typeface="Calibri"/>
              <a:cs typeface="Calibri"/>
              <a:sym typeface="Calibri"/>
            </a:endParaRPr>
          </a:p>
          <a:p>
            <a:pPr indent="-342900" lvl="0" marL="457200" marR="0" rtl="0" algn="l">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run -d -p 8080:80 -v host/path:container/path &lt;image_name&gt; &lt;commands&gt;</a:t>
            </a:r>
            <a:endParaRPr sz="1800">
              <a:solidFill>
                <a:srgbClr val="3C3C3C"/>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1" name="Shape 241"/>
        <p:cNvGrpSpPr/>
        <p:nvPr/>
      </p:nvGrpSpPr>
      <p:grpSpPr>
        <a:xfrm>
          <a:off x="0" y="0"/>
          <a:ext cx="0" cy="0"/>
          <a:chOff x="0" y="0"/>
          <a:chExt cx="0" cy="0"/>
        </a:xfrm>
      </p:grpSpPr>
      <p:sp>
        <p:nvSpPr>
          <p:cNvPr id="242" name="Shape 242"/>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Dockerfile Demo</a:t>
            </a:r>
            <a:endParaRPr sz="3000">
              <a:solidFill>
                <a:srgbClr val="AF7B51"/>
              </a:solidFill>
              <a:latin typeface="Nunito"/>
              <a:ea typeface="Nunito"/>
              <a:cs typeface="Nunito"/>
              <a:sym typeface="Nunito"/>
            </a:endParaRPr>
          </a:p>
        </p:txBody>
      </p:sp>
      <p:sp>
        <p:nvSpPr>
          <p:cNvPr id="243" name="Shape 243"/>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Finally!!!</a:t>
            </a:r>
            <a:endParaRPr sz="1800">
              <a:solidFill>
                <a:srgbClr val="3C3C3C"/>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7" name="Shape 247"/>
        <p:cNvGrpSpPr/>
        <p:nvPr/>
      </p:nvGrpSpPr>
      <p:grpSpPr>
        <a:xfrm>
          <a:off x="0" y="0"/>
          <a:ext cx="0" cy="0"/>
          <a:chOff x="0" y="0"/>
          <a:chExt cx="0" cy="0"/>
        </a:xfrm>
      </p:grpSpPr>
      <p:sp>
        <p:nvSpPr>
          <p:cNvPr id="248" name="Shape 248"/>
          <p:cNvSpPr txBox="1"/>
          <p:nvPr/>
        </p:nvSpPr>
        <p:spPr>
          <a:xfrm>
            <a:off x="718250" y="568125"/>
            <a:ext cx="7505700" cy="954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000">
                <a:solidFill>
                  <a:srgbClr val="AF7B51"/>
                </a:solidFill>
                <a:latin typeface="Nunito"/>
                <a:ea typeface="Nunito"/>
                <a:cs typeface="Nunito"/>
                <a:sym typeface="Nunito"/>
              </a:rPr>
              <a:t>UPCOMING</a:t>
            </a:r>
            <a:endParaRPr sz="3000">
              <a:solidFill>
                <a:srgbClr val="AF7B51"/>
              </a:solidFill>
              <a:latin typeface="Nunito"/>
              <a:ea typeface="Nunito"/>
              <a:cs typeface="Nunito"/>
              <a:sym typeface="Nunito"/>
            </a:endParaRPr>
          </a:p>
        </p:txBody>
      </p:sp>
      <p:sp>
        <p:nvSpPr>
          <p:cNvPr id="249" name="Shape 249"/>
          <p:cNvSpPr txBox="1"/>
          <p:nvPr/>
        </p:nvSpPr>
        <p:spPr>
          <a:xfrm>
            <a:off x="718250" y="1584500"/>
            <a:ext cx="7505700" cy="2448000"/>
          </a:xfrm>
          <a:prstGeom prst="rect">
            <a:avLst/>
          </a:prstGeom>
          <a:noFill/>
          <a:ln>
            <a:noFill/>
          </a:ln>
        </p:spPr>
        <p:txBody>
          <a:bodyPr anchorCtr="0" anchor="t" bIns="91425" lIns="91425" spcFirstLastPara="1" rIns="91425" wrap="square" tIns="91425">
            <a:noAutofit/>
          </a:bodyPr>
          <a:lstStyle/>
          <a:p>
            <a:pPr indent="-342900" lvl="0" marL="457200" rtl="0">
              <a:lnSpc>
                <a:spcPct val="115000"/>
              </a:lnSpc>
              <a:spcBef>
                <a:spcPts val="70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compose</a:t>
            </a:r>
            <a:endParaRPr sz="1800">
              <a:solidFill>
                <a:srgbClr val="3C3C3C"/>
              </a:solidFill>
              <a:latin typeface="Calibri"/>
              <a:ea typeface="Calibri"/>
              <a:cs typeface="Calibri"/>
              <a:sym typeface="Calibri"/>
            </a:endParaRPr>
          </a:p>
          <a:p>
            <a:pPr indent="-342900" lvl="0" marL="457200" rtl="0">
              <a:lnSpc>
                <a:spcPct val="115000"/>
              </a:lnSpc>
              <a:spcBef>
                <a:spcPts val="0"/>
              </a:spcBef>
              <a:spcAft>
                <a:spcPts val="0"/>
              </a:spcAft>
              <a:buClr>
                <a:srgbClr val="3C3C3C"/>
              </a:buClr>
              <a:buSzPts val="1800"/>
              <a:buFont typeface="Calibri"/>
              <a:buChar char="●"/>
            </a:pPr>
            <a:r>
              <a:rPr lang="en" sz="1800">
                <a:solidFill>
                  <a:srgbClr val="3C3C3C"/>
                </a:solidFill>
                <a:latin typeface="Calibri"/>
                <a:ea typeface="Calibri"/>
                <a:cs typeface="Calibri"/>
                <a:sym typeface="Calibri"/>
              </a:rPr>
              <a:t>Docker swarm</a:t>
            </a:r>
            <a:endParaRPr sz="1800">
              <a:solidFill>
                <a:srgbClr val="3C3C3C"/>
              </a:solidFill>
              <a:latin typeface="Calibri"/>
              <a:ea typeface="Calibri"/>
              <a:cs typeface="Calibri"/>
              <a:sym typeface="Calibri"/>
            </a:endParaRPr>
          </a:p>
          <a:p>
            <a:pPr indent="0" lvl="0" marL="0" rtl="0">
              <a:lnSpc>
                <a:spcPct val="115000"/>
              </a:lnSpc>
              <a:spcBef>
                <a:spcPts val="700"/>
              </a:spcBef>
              <a:spcAft>
                <a:spcPts val="0"/>
              </a:spcAft>
              <a:buNone/>
            </a:pPr>
            <a:r>
              <a:t/>
            </a:r>
            <a:endParaRPr sz="1800">
              <a:solidFill>
                <a:srgbClr val="3C3C3C"/>
              </a:solidFill>
              <a:latin typeface="Calibri"/>
              <a:ea typeface="Calibri"/>
              <a:cs typeface="Calibri"/>
              <a:sym typeface="Calibri"/>
            </a:endParaRPr>
          </a:p>
        </p:txBody>
      </p:sp>
      <p:pic>
        <p:nvPicPr>
          <p:cNvPr id="250" name="Shape 250"/>
          <p:cNvPicPr preferRelativeResize="0"/>
          <p:nvPr/>
        </p:nvPicPr>
        <p:blipFill>
          <a:blip r:embed="rId3">
            <a:alphaModFix/>
          </a:blip>
          <a:stretch>
            <a:fillRect/>
          </a:stretch>
        </p:blipFill>
        <p:spPr>
          <a:xfrm>
            <a:off x="4866720" y="2706275"/>
            <a:ext cx="1427580" cy="1592648"/>
          </a:xfrm>
          <a:prstGeom prst="rect">
            <a:avLst/>
          </a:prstGeom>
          <a:noFill/>
          <a:ln>
            <a:noFill/>
          </a:ln>
        </p:spPr>
      </p:pic>
      <p:pic>
        <p:nvPicPr>
          <p:cNvPr id="251" name="Shape 251"/>
          <p:cNvPicPr preferRelativeResize="0"/>
          <p:nvPr/>
        </p:nvPicPr>
        <p:blipFill>
          <a:blip r:embed="rId4">
            <a:alphaModFix/>
          </a:blip>
          <a:stretch>
            <a:fillRect/>
          </a:stretch>
        </p:blipFill>
        <p:spPr>
          <a:xfrm>
            <a:off x="2366200" y="2707120"/>
            <a:ext cx="1427584" cy="15909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5" name="Shape 255"/>
        <p:cNvGrpSpPr/>
        <p:nvPr/>
      </p:nvGrpSpPr>
      <p:grpSpPr>
        <a:xfrm>
          <a:off x="0" y="0"/>
          <a:ext cx="0" cy="0"/>
          <a:chOff x="0" y="0"/>
          <a:chExt cx="0" cy="0"/>
        </a:xfrm>
      </p:grpSpPr>
      <p:sp>
        <p:nvSpPr>
          <p:cNvPr id="256" name="Shape 256"/>
          <p:cNvSpPr txBox="1"/>
          <p:nvPr/>
        </p:nvSpPr>
        <p:spPr>
          <a:xfrm>
            <a:off x="756075" y="2094450"/>
            <a:ext cx="7505700" cy="95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AF7B51"/>
                </a:solidFill>
                <a:latin typeface="Nunito"/>
                <a:ea typeface="Nunito"/>
                <a:cs typeface="Nunito"/>
                <a:sym typeface="Nunito"/>
              </a:rPr>
              <a:t>Queries???</a:t>
            </a:r>
            <a:endParaRPr sz="3000">
              <a:solidFill>
                <a:srgbClr val="AF7B51"/>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0" name="Shape 260"/>
        <p:cNvGrpSpPr/>
        <p:nvPr/>
      </p:nvGrpSpPr>
      <p:grpSpPr>
        <a:xfrm>
          <a:off x="0" y="0"/>
          <a:ext cx="0" cy="0"/>
          <a:chOff x="0" y="0"/>
          <a:chExt cx="0" cy="0"/>
        </a:xfrm>
      </p:grpSpPr>
      <p:sp>
        <p:nvSpPr>
          <p:cNvPr id="261" name="Shape 261"/>
          <p:cNvSpPr txBox="1"/>
          <p:nvPr/>
        </p:nvSpPr>
        <p:spPr>
          <a:xfrm>
            <a:off x="756075" y="2094450"/>
            <a:ext cx="7505700" cy="95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AF7B51"/>
                </a:solidFill>
                <a:latin typeface="Nunito"/>
                <a:ea typeface="Nunito"/>
                <a:cs typeface="Nunito"/>
                <a:sym typeface="Nunito"/>
              </a:rPr>
              <a:t>Thank You!!!</a:t>
            </a:r>
            <a:endParaRPr sz="3000">
              <a:solidFill>
                <a:srgbClr val="AF7B51"/>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