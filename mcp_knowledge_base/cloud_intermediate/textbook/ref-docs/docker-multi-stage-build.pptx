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2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5720" y="2585720"/>
            <a:ext cx="10373360" cy="1159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1400" y="891539"/>
            <a:ext cx="10922000" cy="1196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3350" y="3282950"/>
            <a:ext cx="8531225" cy="622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fresh.io/blog" TargetMode="External"/><Relationship Id="rId2" Type="http://schemas.openxmlformats.org/officeDocument/2006/relationships/hyperlink" Target="http://www.codefresh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odefresh.io/meetup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0"/>
              </a:spcBef>
            </a:pPr>
            <a:r>
              <a:rPr sz="7450" dirty="0"/>
              <a:t>Docker</a:t>
            </a:r>
            <a:r>
              <a:rPr sz="7450" spc="285" dirty="0"/>
              <a:t> </a:t>
            </a:r>
            <a:r>
              <a:rPr sz="7450" dirty="0"/>
              <a:t>multi-stage</a:t>
            </a:r>
            <a:r>
              <a:rPr sz="7450" spc="295" dirty="0"/>
              <a:t> </a:t>
            </a:r>
            <a:r>
              <a:rPr sz="7450" spc="130" dirty="0"/>
              <a:t>build</a:t>
            </a:r>
            <a:endParaRPr sz="7450"/>
          </a:p>
        </p:txBody>
      </p:sp>
      <p:sp>
        <p:nvSpPr>
          <p:cNvPr id="3" name="object 3"/>
          <p:cNvSpPr txBox="1"/>
          <p:nvPr/>
        </p:nvSpPr>
        <p:spPr>
          <a:xfrm>
            <a:off x="3327400" y="4343400"/>
            <a:ext cx="634238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35560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latin typeface="Arial"/>
                <a:cs typeface="Arial"/>
              </a:rPr>
              <a:t>Using</a:t>
            </a:r>
            <a:r>
              <a:rPr sz="3200" spc="1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Docker</a:t>
            </a:r>
            <a:r>
              <a:rPr sz="3200" spc="1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multi-stage</a:t>
            </a:r>
            <a:r>
              <a:rPr sz="3200" spc="140" dirty="0">
                <a:latin typeface="Arial"/>
                <a:cs typeface="Arial"/>
              </a:rPr>
              <a:t> </a:t>
            </a:r>
            <a:r>
              <a:rPr sz="3200" spc="55" dirty="0">
                <a:latin typeface="Arial"/>
                <a:cs typeface="Arial"/>
              </a:rPr>
              <a:t>build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create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65" dirty="0">
                <a:latin typeface="Arial"/>
                <a:cs typeface="Arial"/>
              </a:rPr>
              <a:t>advanced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65" dirty="0">
                <a:latin typeface="Arial"/>
                <a:cs typeface="Arial"/>
              </a:rPr>
              <a:t>build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pipelines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6324600"/>
            <a:ext cx="3187700" cy="318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500" y="6324600"/>
            <a:ext cx="3175000" cy="3187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80400" y="6680200"/>
            <a:ext cx="4572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250" dirty="0"/>
              <a:t> </a:t>
            </a:r>
            <a:r>
              <a:rPr spc="155" dirty="0"/>
              <a:t>build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36068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3543300"/>
            <a:ext cx="9426575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b="1" dirty="0">
                <a:latin typeface="Arial"/>
                <a:cs typeface="Arial"/>
              </a:rPr>
              <a:t>Dockerfile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-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imperative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DSL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that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defines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spc="65" dirty="0">
                <a:latin typeface="Arial"/>
                <a:cs typeface="Arial"/>
              </a:rPr>
              <a:t>build </a:t>
            </a:r>
            <a:r>
              <a:rPr sz="3600" spc="-10" dirty="0">
                <a:latin typeface="Arial"/>
                <a:cs typeface="Arial"/>
              </a:rPr>
              <a:t>commands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52324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5168900"/>
            <a:ext cx="9960610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Each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dirty="0">
                <a:latin typeface="DejaVu Sans Mono"/>
                <a:cs typeface="DejaVu Sans Mono"/>
              </a:rPr>
              <a:t>docker</a:t>
            </a:r>
            <a:r>
              <a:rPr sz="3600" spc="165" dirty="0">
                <a:latin typeface="DejaVu Sans Mono"/>
                <a:cs typeface="DejaVu Sans Mono"/>
              </a:rPr>
              <a:t> </a:t>
            </a:r>
            <a:r>
              <a:rPr sz="3600" dirty="0">
                <a:latin typeface="DejaVu Sans Mono"/>
                <a:cs typeface="DejaVu Sans Mono"/>
              </a:rPr>
              <a:t>build</a:t>
            </a:r>
            <a:r>
              <a:rPr sz="3600" spc="-1090" dirty="0">
                <a:latin typeface="DejaVu Sans Mono"/>
                <a:cs typeface="DejaVu Sans Mono"/>
              </a:rPr>
              <a:t> </a:t>
            </a:r>
            <a:r>
              <a:rPr sz="3600" dirty="0">
                <a:latin typeface="Arial"/>
                <a:cs typeface="Arial"/>
              </a:rPr>
              <a:t>command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generates</a:t>
            </a:r>
            <a:r>
              <a:rPr sz="3600" spc="8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ONE </a:t>
            </a:r>
            <a:r>
              <a:rPr sz="3600" dirty="0">
                <a:latin typeface="Arial"/>
                <a:cs typeface="Arial"/>
              </a:rPr>
              <a:t>image</a:t>
            </a:r>
            <a:r>
              <a:rPr sz="3600" spc="19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layer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68707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6794500"/>
            <a:ext cx="10239375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Complete</a:t>
            </a:r>
            <a:r>
              <a:rPr sz="3600" spc="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docker</a:t>
            </a:r>
            <a:r>
              <a:rPr sz="3600" b="1" spc="6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build</a:t>
            </a:r>
            <a:r>
              <a:rPr sz="3600" b="1" spc="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execution</a:t>
            </a:r>
            <a:r>
              <a:rPr sz="3600" spc="6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generates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ONE </a:t>
            </a:r>
            <a:r>
              <a:rPr sz="3600" dirty="0">
                <a:latin typeface="Arial"/>
                <a:cs typeface="Arial"/>
              </a:rPr>
              <a:t>Docker</a:t>
            </a:r>
            <a:r>
              <a:rPr sz="3600" spc="110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image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73100"/>
            <a:ext cx="12992735" cy="7709534"/>
            <a:chOff x="0" y="673100"/>
            <a:chExt cx="12992735" cy="77095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1845" y="1663607"/>
              <a:ext cx="7760274" cy="67187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73100"/>
              <a:ext cx="6070600" cy="45055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46800" y="1079500"/>
            <a:ext cx="67551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Arial"/>
                <a:cs typeface="Arial"/>
              </a:rPr>
              <a:t>janloeffler/html-</a:t>
            </a:r>
            <a:r>
              <a:rPr sz="3200" b="1" dirty="0">
                <a:latin typeface="Arial"/>
                <a:cs typeface="Arial"/>
              </a:rPr>
              <a:t>demo</a:t>
            </a:r>
            <a:r>
              <a:rPr sz="3200" b="1" spc="105" dirty="0">
                <a:latin typeface="Arial"/>
                <a:cs typeface="Arial"/>
              </a:rPr>
              <a:t> </a:t>
            </a:r>
            <a:r>
              <a:rPr sz="3200" dirty="0"/>
              <a:t>Image</a:t>
            </a:r>
            <a:r>
              <a:rPr sz="3200" spc="110" dirty="0"/>
              <a:t> </a:t>
            </a:r>
            <a:r>
              <a:rPr sz="3200" spc="-10" dirty="0"/>
              <a:t>Layers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9200" y="4673600"/>
            <a:ext cx="2233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365C0"/>
                </a:solidFill>
                <a:latin typeface="Arial"/>
                <a:cs typeface="Arial"/>
              </a:rPr>
              <a:t>nginx</a:t>
            </a:r>
            <a:r>
              <a:rPr sz="2400" spc="114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365C0"/>
                </a:solidFill>
                <a:latin typeface="Arial"/>
                <a:cs typeface="Arial"/>
              </a:rPr>
              <a:t>Dockerfile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261" y="5346662"/>
            <a:ext cx="4597538" cy="42925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03600" y="9194800"/>
            <a:ext cx="2943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365C0"/>
                </a:solidFill>
                <a:latin typeface="Arial"/>
                <a:cs typeface="Arial"/>
              </a:rPr>
              <a:t>html-demo</a:t>
            </a:r>
            <a:r>
              <a:rPr sz="2400" spc="110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365C0"/>
                </a:solidFill>
                <a:latin typeface="Arial"/>
                <a:cs typeface="Arial"/>
              </a:rPr>
              <a:t>Dockerfile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7250" dirty="0"/>
              <a:t>Problem</a:t>
            </a:r>
            <a:r>
              <a:rPr sz="7250" spc="-80" dirty="0"/>
              <a:t> </a:t>
            </a:r>
            <a:r>
              <a:rPr sz="7250" dirty="0"/>
              <a:t>with</a:t>
            </a:r>
            <a:r>
              <a:rPr sz="7250" spc="-75" dirty="0"/>
              <a:t> </a:t>
            </a:r>
            <a:r>
              <a:rPr sz="7250" spc="75" dirty="0"/>
              <a:t>Docker</a:t>
            </a:r>
            <a:r>
              <a:rPr sz="7250" spc="-80" dirty="0"/>
              <a:t> </a:t>
            </a:r>
            <a:r>
              <a:rPr sz="7250" spc="50" dirty="0"/>
              <a:t>Build</a:t>
            </a:r>
            <a:endParaRPr sz="72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1616" y="3559586"/>
          <a:ext cx="4457700" cy="241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54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runtime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399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28575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configuration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28575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84300" y="2781300"/>
            <a:ext cx="10020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7365" algn="l"/>
              </a:tabLst>
            </a:pPr>
            <a:r>
              <a:rPr sz="3600" dirty="0">
                <a:solidFill>
                  <a:srgbClr val="0365C0"/>
                </a:solidFill>
                <a:latin typeface="Arial"/>
                <a:cs typeface="Arial"/>
              </a:rPr>
              <a:t>Image</a:t>
            </a:r>
            <a:r>
              <a:rPr sz="3600" spc="100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365C0"/>
                </a:solidFill>
                <a:latin typeface="Arial"/>
                <a:cs typeface="Arial"/>
              </a:rPr>
              <a:t>we</a:t>
            </a:r>
            <a:r>
              <a:rPr sz="3600" spc="100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0365C0"/>
                </a:solidFill>
                <a:latin typeface="Arial"/>
                <a:cs typeface="Arial"/>
              </a:rPr>
              <a:t>want</a:t>
            </a:r>
            <a:r>
              <a:rPr sz="3600" dirty="0">
                <a:solidFill>
                  <a:srgbClr val="0365C0"/>
                </a:solidFill>
                <a:latin typeface="Arial"/>
                <a:cs typeface="Arial"/>
              </a:rPr>
              <a:t>	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Image</a:t>
            </a:r>
            <a:r>
              <a:rPr sz="3600" spc="10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we</a:t>
            </a:r>
            <a:r>
              <a:rPr sz="3600" spc="10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65" dirty="0">
                <a:solidFill>
                  <a:srgbClr val="C82506"/>
                </a:solidFill>
                <a:latin typeface="Arial"/>
                <a:cs typeface="Arial"/>
              </a:rPr>
              <a:t>build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69458" y="3686586"/>
          <a:ext cx="4926330" cy="4833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545"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compilers,</a:t>
                      </a:r>
                      <a:r>
                        <a:rPr sz="28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55" dirty="0">
                          <a:latin typeface="Arial"/>
                          <a:cs typeface="Arial"/>
                        </a:rPr>
                        <a:t>debuggers,</a:t>
                      </a:r>
                      <a:r>
                        <a:rPr sz="28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399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28575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linters,</a:t>
                      </a:r>
                      <a:r>
                        <a:rPr sz="2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tests,</a:t>
                      </a:r>
                      <a:r>
                        <a:rPr sz="2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profilers,</a:t>
                      </a:r>
                      <a:r>
                        <a:rPr sz="2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800" spc="50" dirty="0">
                          <a:latin typeface="Arial"/>
                          <a:cs typeface="Arial"/>
                        </a:rPr>
                        <a:t>code,</a:t>
                      </a:r>
                      <a:r>
                        <a:rPr sz="2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logs,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28575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 marR="456565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runtime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28575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119316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configuration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R="467359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161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28575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537200" y="4724400"/>
            <a:ext cx="1702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x 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(4..10)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250" dirty="0"/>
              <a:t> </a:t>
            </a:r>
            <a:r>
              <a:rPr dirty="0"/>
              <a:t>Builder</a:t>
            </a:r>
            <a:r>
              <a:rPr spc="25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924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2400" y="2628900"/>
            <a:ext cx="9779000" cy="597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2 </a:t>
            </a:r>
            <a:r>
              <a:rPr sz="3600" spc="-10" dirty="0">
                <a:latin typeface="Arial"/>
                <a:cs typeface="Arial"/>
              </a:rPr>
              <a:t>Dockerfiles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Arial"/>
              <a:cs typeface="Arial"/>
            </a:endParaRPr>
          </a:p>
          <a:p>
            <a:pPr marL="469265" indent="-443865">
              <a:lnSpc>
                <a:spcPct val="100000"/>
              </a:lnSpc>
              <a:buSzPct val="75000"/>
              <a:buChar char="•"/>
              <a:tabLst>
                <a:tab pos="469265" algn="l"/>
              </a:tabLst>
            </a:pPr>
            <a:r>
              <a:rPr sz="3600" dirty="0">
                <a:latin typeface="Arial"/>
                <a:cs typeface="Arial"/>
              </a:rPr>
              <a:t>1st for </a:t>
            </a:r>
            <a:r>
              <a:rPr sz="3600" spc="75" dirty="0">
                <a:latin typeface="Arial"/>
                <a:cs typeface="Arial"/>
              </a:rPr>
              <a:t>build</a:t>
            </a:r>
            <a:r>
              <a:rPr sz="3600" spc="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tools</a:t>
            </a:r>
            <a:endParaRPr sz="3600">
              <a:latin typeface="Arial"/>
              <a:cs typeface="Arial"/>
            </a:endParaRPr>
          </a:p>
          <a:p>
            <a:pPr marL="25400" marR="6201410" indent="443865">
              <a:lnSpc>
                <a:spcPts val="8500"/>
              </a:lnSpc>
              <a:spcBef>
                <a:spcPts val="980"/>
              </a:spcBef>
              <a:buSzPct val="75000"/>
              <a:buChar char="•"/>
              <a:tabLst>
                <a:tab pos="469265" algn="l"/>
              </a:tabLst>
            </a:pPr>
            <a:r>
              <a:rPr sz="3600" spc="60" dirty="0">
                <a:latin typeface="Arial"/>
                <a:cs typeface="Arial"/>
              </a:rPr>
              <a:t>2nd</a:t>
            </a:r>
            <a:r>
              <a:rPr sz="3600" dirty="0">
                <a:latin typeface="Arial"/>
                <a:cs typeface="Arial"/>
              </a:rPr>
              <a:t> for </a:t>
            </a:r>
            <a:r>
              <a:rPr sz="3600" spc="-10" dirty="0">
                <a:latin typeface="Arial"/>
                <a:cs typeface="Arial"/>
              </a:rPr>
              <a:t>runtime 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Drawbacks</a:t>
            </a:r>
            <a:endParaRPr sz="3600">
              <a:latin typeface="Arial"/>
              <a:cs typeface="Arial"/>
            </a:endParaRPr>
          </a:p>
          <a:p>
            <a:pPr marL="469265" indent="-443865">
              <a:lnSpc>
                <a:spcPct val="100000"/>
              </a:lnSpc>
              <a:spcBef>
                <a:spcPts val="3200"/>
              </a:spcBef>
              <a:buSzPct val="75000"/>
              <a:buChar char="•"/>
              <a:tabLst>
                <a:tab pos="469265" algn="l"/>
              </a:tabLst>
            </a:pPr>
            <a:r>
              <a:rPr sz="3600" spc="120" dirty="0">
                <a:solidFill>
                  <a:srgbClr val="C82506"/>
                </a:solidFill>
                <a:latin typeface="Arial"/>
                <a:cs typeface="Arial"/>
              </a:rPr>
              <a:t>2+</a:t>
            </a:r>
            <a:r>
              <a:rPr sz="3600" spc="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Dockerfiles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469265" indent="-443865">
              <a:lnSpc>
                <a:spcPct val="100000"/>
              </a:lnSpc>
              <a:buSzPct val="75000"/>
              <a:buChar char="•"/>
              <a:tabLst>
                <a:tab pos="469265" algn="l"/>
              </a:tabLst>
            </a:pP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Orchestration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55" dirty="0">
                <a:solidFill>
                  <a:srgbClr val="C82506"/>
                </a:solidFill>
                <a:latin typeface="Arial"/>
                <a:cs typeface="Arial"/>
              </a:rPr>
              <a:t>needed: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Bash,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make,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-65" dirty="0">
                <a:solidFill>
                  <a:srgbClr val="C82506"/>
                </a:solidFill>
                <a:latin typeface="Arial"/>
                <a:cs typeface="Arial"/>
              </a:rPr>
              <a:t>YAML,</a:t>
            </a:r>
            <a:r>
              <a:rPr sz="3600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-50" dirty="0">
                <a:solidFill>
                  <a:srgbClr val="C82506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59309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solidFill>
                  <a:srgbClr val="C82506"/>
                </a:solidFill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200" y="2082800"/>
            <a:ext cx="6477000" cy="5880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850" dirty="0"/>
              <a:t>Docker</a:t>
            </a:r>
            <a:r>
              <a:rPr sz="7850" spc="310" dirty="0"/>
              <a:t> </a:t>
            </a:r>
            <a:r>
              <a:rPr sz="7850" dirty="0"/>
              <a:t>multi-stage</a:t>
            </a:r>
            <a:r>
              <a:rPr sz="7850" spc="310" dirty="0"/>
              <a:t> </a:t>
            </a:r>
            <a:r>
              <a:rPr sz="7850" spc="155" dirty="0"/>
              <a:t>build</a:t>
            </a:r>
            <a:endParaRPr sz="7850"/>
          </a:p>
        </p:txBody>
      </p:sp>
      <p:sp>
        <p:nvSpPr>
          <p:cNvPr id="3" name="object 3"/>
          <p:cNvSpPr txBox="1"/>
          <p:nvPr/>
        </p:nvSpPr>
        <p:spPr>
          <a:xfrm>
            <a:off x="927100" y="2628900"/>
            <a:ext cx="4622165" cy="607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indent="-443865">
              <a:lnSpc>
                <a:spcPct val="100000"/>
              </a:lnSpc>
              <a:spcBef>
                <a:spcPts val="100"/>
              </a:spcBef>
              <a:buSzPct val="75000"/>
              <a:buFont typeface="DejaVu Sans"/>
              <a:buChar char="✓"/>
              <a:tabLst>
                <a:tab pos="520065" algn="l"/>
              </a:tabLst>
            </a:pPr>
            <a:r>
              <a:rPr sz="3200" b="1" spc="-10" dirty="0">
                <a:solidFill>
                  <a:srgbClr val="0365C0"/>
                </a:solidFill>
                <a:latin typeface="Arial"/>
                <a:cs typeface="Arial"/>
              </a:rPr>
              <a:t>Benefits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0365C0"/>
              </a:buClr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3765" lvl="1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913765" algn="l"/>
              </a:tabLst>
            </a:pPr>
            <a:r>
              <a:rPr sz="3200" dirty="0">
                <a:latin typeface="Arial"/>
                <a:cs typeface="Arial"/>
              </a:rPr>
              <a:t>One </a:t>
            </a:r>
            <a:r>
              <a:rPr sz="3200" spc="-10" dirty="0">
                <a:latin typeface="Arial"/>
                <a:cs typeface="Arial"/>
              </a:rPr>
              <a:t>Dockerfile</a:t>
            </a:r>
            <a:endParaRPr sz="3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3765" lvl="1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913765" algn="l"/>
              </a:tabLst>
            </a:pPr>
            <a:r>
              <a:rPr sz="3200" dirty="0">
                <a:latin typeface="Arial"/>
                <a:cs typeface="Arial"/>
              </a:rPr>
              <a:t>One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sytntax to </a:t>
            </a:r>
            <a:r>
              <a:rPr sz="3200" spc="-10" dirty="0">
                <a:latin typeface="Arial"/>
                <a:cs typeface="Arial"/>
              </a:rPr>
              <a:t>learn</a:t>
            </a:r>
            <a:endParaRPr sz="3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3765" lvl="1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913765" algn="l"/>
              </a:tabLst>
            </a:pPr>
            <a:r>
              <a:rPr sz="3200" spc="-10" dirty="0">
                <a:latin typeface="Arial"/>
                <a:cs typeface="Arial"/>
              </a:rPr>
              <a:t>Same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Build</a:t>
            </a:r>
            <a:endParaRPr sz="3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1358265" lvl="2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1358265" algn="l"/>
              </a:tabLst>
            </a:pPr>
            <a:r>
              <a:rPr sz="3200" dirty="0">
                <a:latin typeface="Arial"/>
                <a:cs typeface="Arial"/>
              </a:rPr>
              <a:t>Local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and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CI</a:t>
            </a:r>
            <a:endParaRPr sz="3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62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4400" marR="951865" lvl="1" indent="-393700">
              <a:lnSpc>
                <a:spcPts val="3800"/>
              </a:lnSpc>
              <a:buSzPct val="75000"/>
              <a:buFont typeface="DejaVu Sans"/>
              <a:buChar char="✓"/>
              <a:tabLst>
                <a:tab pos="914400" algn="l"/>
              </a:tabLst>
            </a:pPr>
            <a:r>
              <a:rPr sz="3200" dirty="0">
                <a:latin typeface="Arial"/>
                <a:cs typeface="Arial"/>
              </a:rPr>
              <a:t>Create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multiple stages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400" y="2413000"/>
            <a:ext cx="6502784" cy="34420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700" y="6096000"/>
            <a:ext cx="59690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" y="0"/>
            <a:ext cx="7518400" cy="9753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80212" y="887925"/>
            <a:ext cx="3169285" cy="572135"/>
          </a:xfrm>
          <a:prstGeom prst="rect">
            <a:avLst/>
          </a:prstGeom>
          <a:ln w="25400">
            <a:solidFill>
              <a:srgbClr val="85888D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1800" spc="-20" dirty="0">
                <a:latin typeface="Arial"/>
                <a:cs typeface="Arial"/>
              </a:rPr>
              <a:t>curl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212" y="315795"/>
            <a:ext cx="3169285" cy="572135"/>
          </a:xfrm>
          <a:prstGeom prst="rect">
            <a:avLst/>
          </a:prstGeom>
          <a:ln w="25400">
            <a:solidFill>
              <a:srgbClr val="85888D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111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alpine:3.5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67512" y="2692241"/>
            <a:ext cx="3194685" cy="1169670"/>
            <a:chOff x="8867512" y="2692241"/>
            <a:chExt cx="3194685" cy="1169670"/>
          </a:xfrm>
        </p:grpSpPr>
        <p:sp>
          <p:nvSpPr>
            <p:cNvPr id="6" name="object 6"/>
            <p:cNvSpPr/>
            <p:nvPr/>
          </p:nvSpPr>
          <p:spPr>
            <a:xfrm>
              <a:off x="8880212" y="2704941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80212" y="3278338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92912" y="2832100"/>
            <a:ext cx="3143885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ubuntu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800">
              <a:latin typeface="Arial"/>
              <a:cs typeface="Arial"/>
            </a:endParaRPr>
          </a:p>
          <a:p>
            <a:pPr marR="3810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/hello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828471" y="4604612"/>
            <a:ext cx="3194685" cy="1169670"/>
            <a:chOff x="8828471" y="4604612"/>
            <a:chExt cx="3194685" cy="1169670"/>
          </a:xfrm>
        </p:grpSpPr>
        <p:sp>
          <p:nvSpPr>
            <p:cNvPr id="10" name="object 10"/>
            <p:cNvSpPr/>
            <p:nvPr/>
          </p:nvSpPr>
          <p:spPr>
            <a:xfrm>
              <a:off x="8841171" y="4617312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41171" y="5190709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853871" y="4749800"/>
            <a:ext cx="3143885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debian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/world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867512" y="7105343"/>
            <a:ext cx="3194685" cy="1743075"/>
            <a:chOff x="8867512" y="7105343"/>
            <a:chExt cx="3194685" cy="1743075"/>
          </a:xfrm>
        </p:grpSpPr>
        <p:sp>
          <p:nvSpPr>
            <p:cNvPr id="14" name="object 14"/>
            <p:cNvSpPr/>
            <p:nvPr/>
          </p:nvSpPr>
          <p:spPr>
            <a:xfrm>
              <a:off x="8880212" y="7118043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5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80212" y="7691440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5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80212" y="8264839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5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92912" y="7251700"/>
            <a:ext cx="3143885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base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Arial"/>
              <a:cs typeface="Arial"/>
            </a:endParaRPr>
          </a:p>
          <a:p>
            <a:pPr marR="3810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/hello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/world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64923" y="1459986"/>
            <a:ext cx="4859655" cy="6901180"/>
            <a:chOff x="7864923" y="1459986"/>
            <a:chExt cx="4859655" cy="6901180"/>
          </a:xfrm>
        </p:grpSpPr>
        <p:sp>
          <p:nvSpPr>
            <p:cNvPr id="19" name="object 19"/>
            <p:cNvSpPr/>
            <p:nvPr/>
          </p:nvSpPr>
          <p:spPr>
            <a:xfrm>
              <a:off x="7877623" y="3753349"/>
              <a:ext cx="2143125" cy="3985895"/>
            </a:xfrm>
            <a:custGeom>
              <a:avLst/>
              <a:gdLst/>
              <a:ahLst/>
              <a:cxnLst/>
              <a:rect l="l" t="t" r="r" b="b"/>
              <a:pathLst>
                <a:path w="2143125" h="3985895">
                  <a:moveTo>
                    <a:pt x="2080666" y="3985864"/>
                  </a:moveTo>
                  <a:lnTo>
                    <a:pt x="2013227" y="3952273"/>
                  </a:lnTo>
                  <a:lnTo>
                    <a:pt x="1957961" y="3924288"/>
                  </a:lnTo>
                  <a:lnTo>
                    <a:pt x="1903464" y="3896318"/>
                  </a:lnTo>
                  <a:lnTo>
                    <a:pt x="1849737" y="3868363"/>
                  </a:lnTo>
                  <a:lnTo>
                    <a:pt x="1796778" y="3840423"/>
                  </a:lnTo>
                  <a:lnTo>
                    <a:pt x="1744589" y="3812498"/>
                  </a:lnTo>
                  <a:lnTo>
                    <a:pt x="1693168" y="3784588"/>
                  </a:lnTo>
                  <a:lnTo>
                    <a:pt x="1642517" y="3756693"/>
                  </a:lnTo>
                  <a:lnTo>
                    <a:pt x="1592635" y="3728813"/>
                  </a:lnTo>
                  <a:lnTo>
                    <a:pt x="1543523" y="3700948"/>
                  </a:lnTo>
                  <a:lnTo>
                    <a:pt x="1495179" y="3673099"/>
                  </a:lnTo>
                  <a:lnTo>
                    <a:pt x="1447604" y="3645264"/>
                  </a:lnTo>
                  <a:lnTo>
                    <a:pt x="1400799" y="3617444"/>
                  </a:lnTo>
                  <a:lnTo>
                    <a:pt x="1354763" y="3589640"/>
                  </a:lnTo>
                  <a:lnTo>
                    <a:pt x="1309496" y="3561850"/>
                  </a:lnTo>
                  <a:lnTo>
                    <a:pt x="1264998" y="3534076"/>
                  </a:lnTo>
                  <a:lnTo>
                    <a:pt x="1221270" y="3506317"/>
                  </a:lnTo>
                  <a:lnTo>
                    <a:pt x="1178310" y="3478572"/>
                  </a:lnTo>
                  <a:lnTo>
                    <a:pt x="1136120" y="3450843"/>
                  </a:lnTo>
                  <a:lnTo>
                    <a:pt x="1094699" y="3423129"/>
                  </a:lnTo>
                  <a:lnTo>
                    <a:pt x="1054047" y="3395430"/>
                  </a:lnTo>
                  <a:lnTo>
                    <a:pt x="1014164" y="3367745"/>
                  </a:lnTo>
                  <a:lnTo>
                    <a:pt x="975051" y="3340076"/>
                  </a:lnTo>
                  <a:lnTo>
                    <a:pt x="936706" y="3312422"/>
                  </a:lnTo>
                  <a:lnTo>
                    <a:pt x="899131" y="3284784"/>
                  </a:lnTo>
                  <a:lnTo>
                    <a:pt x="862325" y="3257160"/>
                  </a:lnTo>
                  <a:lnTo>
                    <a:pt x="826288" y="3229551"/>
                  </a:lnTo>
                  <a:lnTo>
                    <a:pt x="791020" y="3201957"/>
                  </a:lnTo>
                  <a:lnTo>
                    <a:pt x="756521" y="3174378"/>
                  </a:lnTo>
                  <a:lnTo>
                    <a:pt x="722792" y="3146815"/>
                  </a:lnTo>
                  <a:lnTo>
                    <a:pt x="689831" y="3119266"/>
                  </a:lnTo>
                  <a:lnTo>
                    <a:pt x="657640" y="3091733"/>
                  </a:lnTo>
                  <a:lnTo>
                    <a:pt x="626218" y="3064214"/>
                  </a:lnTo>
                  <a:lnTo>
                    <a:pt x="595565" y="3036711"/>
                  </a:lnTo>
                  <a:lnTo>
                    <a:pt x="565682" y="3009222"/>
                  </a:lnTo>
                  <a:lnTo>
                    <a:pt x="536567" y="2981749"/>
                  </a:lnTo>
                  <a:lnTo>
                    <a:pt x="508222" y="2954291"/>
                  </a:lnTo>
                  <a:lnTo>
                    <a:pt x="480646" y="2926847"/>
                  </a:lnTo>
                  <a:lnTo>
                    <a:pt x="453839" y="2899419"/>
                  </a:lnTo>
                  <a:lnTo>
                    <a:pt x="402532" y="2844608"/>
                  </a:lnTo>
                  <a:lnTo>
                    <a:pt x="354302" y="2789857"/>
                  </a:lnTo>
                  <a:lnTo>
                    <a:pt x="309149" y="2735167"/>
                  </a:lnTo>
                  <a:lnTo>
                    <a:pt x="267072" y="2680536"/>
                  </a:lnTo>
                  <a:lnTo>
                    <a:pt x="228072" y="2625966"/>
                  </a:lnTo>
                  <a:lnTo>
                    <a:pt x="192149" y="2571456"/>
                  </a:lnTo>
                  <a:lnTo>
                    <a:pt x="159302" y="2517006"/>
                  </a:lnTo>
                  <a:lnTo>
                    <a:pt x="129532" y="2462616"/>
                  </a:lnTo>
                  <a:lnTo>
                    <a:pt x="102839" y="2408287"/>
                  </a:lnTo>
                  <a:lnTo>
                    <a:pt x="79222" y="2354018"/>
                  </a:lnTo>
                  <a:lnTo>
                    <a:pt x="58682" y="2299809"/>
                  </a:lnTo>
                  <a:lnTo>
                    <a:pt x="41219" y="2245660"/>
                  </a:lnTo>
                  <a:lnTo>
                    <a:pt x="26832" y="2191572"/>
                  </a:lnTo>
                  <a:lnTo>
                    <a:pt x="15522" y="2137543"/>
                  </a:lnTo>
                  <a:lnTo>
                    <a:pt x="7289" y="2083575"/>
                  </a:lnTo>
                  <a:lnTo>
                    <a:pt x="2132" y="2029667"/>
                  </a:lnTo>
                  <a:lnTo>
                    <a:pt x="52" y="1975820"/>
                  </a:lnTo>
                  <a:lnTo>
                    <a:pt x="165" y="1948918"/>
                  </a:lnTo>
                  <a:lnTo>
                    <a:pt x="2700" y="1895161"/>
                  </a:lnTo>
                  <a:lnTo>
                    <a:pt x="8311" y="1841464"/>
                  </a:lnTo>
                  <a:lnTo>
                    <a:pt x="16999" y="1787827"/>
                  </a:lnTo>
                  <a:lnTo>
                    <a:pt x="28764" y="1734250"/>
                  </a:lnTo>
                  <a:lnTo>
                    <a:pt x="43605" y="1680734"/>
                  </a:lnTo>
                  <a:lnTo>
                    <a:pt x="61523" y="1627278"/>
                  </a:lnTo>
                  <a:lnTo>
                    <a:pt x="82518" y="1573882"/>
                  </a:lnTo>
                  <a:lnTo>
                    <a:pt x="106589" y="1520546"/>
                  </a:lnTo>
                  <a:lnTo>
                    <a:pt x="133737" y="1467270"/>
                  </a:lnTo>
                  <a:lnTo>
                    <a:pt x="163962" y="1414055"/>
                  </a:lnTo>
                  <a:lnTo>
                    <a:pt x="197263" y="1360900"/>
                  </a:lnTo>
                  <a:lnTo>
                    <a:pt x="233641" y="1307805"/>
                  </a:lnTo>
                  <a:lnTo>
                    <a:pt x="273095" y="1254770"/>
                  </a:lnTo>
                  <a:lnTo>
                    <a:pt x="315626" y="1201796"/>
                  </a:lnTo>
                  <a:lnTo>
                    <a:pt x="361234" y="1148881"/>
                  </a:lnTo>
                  <a:lnTo>
                    <a:pt x="409918" y="1096027"/>
                  </a:lnTo>
                  <a:lnTo>
                    <a:pt x="461679" y="1043233"/>
                  </a:lnTo>
                  <a:lnTo>
                    <a:pt x="516517" y="990500"/>
                  </a:lnTo>
                  <a:lnTo>
                    <a:pt x="545089" y="964155"/>
                  </a:lnTo>
                  <a:lnTo>
                    <a:pt x="574431" y="937826"/>
                  </a:lnTo>
                  <a:lnTo>
                    <a:pt x="604542" y="911512"/>
                  </a:lnTo>
                  <a:lnTo>
                    <a:pt x="635422" y="885213"/>
                  </a:lnTo>
                  <a:lnTo>
                    <a:pt x="667071" y="858929"/>
                  </a:lnTo>
                  <a:lnTo>
                    <a:pt x="699489" y="832660"/>
                  </a:lnTo>
                  <a:lnTo>
                    <a:pt x="732677" y="806406"/>
                  </a:lnTo>
                  <a:lnTo>
                    <a:pt x="766634" y="780167"/>
                  </a:lnTo>
                  <a:lnTo>
                    <a:pt x="801359" y="753943"/>
                  </a:lnTo>
                  <a:lnTo>
                    <a:pt x="836854" y="727734"/>
                  </a:lnTo>
                  <a:lnTo>
                    <a:pt x="873118" y="701541"/>
                  </a:lnTo>
                  <a:lnTo>
                    <a:pt x="910152" y="675362"/>
                  </a:lnTo>
                  <a:lnTo>
                    <a:pt x="947954" y="649198"/>
                  </a:lnTo>
                  <a:lnTo>
                    <a:pt x="986526" y="623050"/>
                  </a:lnTo>
                  <a:lnTo>
                    <a:pt x="1025867" y="596916"/>
                  </a:lnTo>
                  <a:lnTo>
                    <a:pt x="1065976" y="570798"/>
                  </a:lnTo>
                  <a:lnTo>
                    <a:pt x="1106855" y="544694"/>
                  </a:lnTo>
                  <a:lnTo>
                    <a:pt x="1148504" y="518606"/>
                  </a:lnTo>
                  <a:lnTo>
                    <a:pt x="1190921" y="492533"/>
                  </a:lnTo>
                  <a:lnTo>
                    <a:pt x="1234108" y="466474"/>
                  </a:lnTo>
                  <a:lnTo>
                    <a:pt x="1278063" y="440431"/>
                  </a:lnTo>
                  <a:lnTo>
                    <a:pt x="1322788" y="414403"/>
                  </a:lnTo>
                  <a:lnTo>
                    <a:pt x="1368282" y="388390"/>
                  </a:lnTo>
                  <a:lnTo>
                    <a:pt x="1414545" y="362392"/>
                  </a:lnTo>
                  <a:lnTo>
                    <a:pt x="1461578" y="336409"/>
                  </a:lnTo>
                  <a:lnTo>
                    <a:pt x="1509379" y="310441"/>
                  </a:lnTo>
                  <a:lnTo>
                    <a:pt x="1557950" y="284488"/>
                  </a:lnTo>
                  <a:lnTo>
                    <a:pt x="1607290" y="258550"/>
                  </a:lnTo>
                  <a:lnTo>
                    <a:pt x="1657399" y="232627"/>
                  </a:lnTo>
                  <a:lnTo>
                    <a:pt x="1708277" y="206720"/>
                  </a:lnTo>
                  <a:lnTo>
                    <a:pt x="1759924" y="180827"/>
                  </a:lnTo>
                  <a:lnTo>
                    <a:pt x="1812340" y="154949"/>
                  </a:lnTo>
                  <a:lnTo>
                    <a:pt x="1865526" y="129087"/>
                  </a:lnTo>
                  <a:lnTo>
                    <a:pt x="1919481" y="103239"/>
                  </a:lnTo>
                  <a:lnTo>
                    <a:pt x="1974205" y="77407"/>
                  </a:lnTo>
                  <a:lnTo>
                    <a:pt x="2029698" y="51589"/>
                  </a:lnTo>
                  <a:lnTo>
                    <a:pt x="2085960" y="25787"/>
                  </a:lnTo>
                  <a:lnTo>
                    <a:pt x="2142991" y="0"/>
                  </a:lnTo>
                </a:path>
              </a:pathLst>
            </a:custGeom>
            <a:ln w="25400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19998" y="7678886"/>
              <a:ext cx="136525" cy="109855"/>
            </a:xfrm>
            <a:custGeom>
              <a:avLst/>
              <a:gdLst/>
              <a:ahLst/>
              <a:cxnLst/>
              <a:rect l="l" t="t" r="r" b="b"/>
              <a:pathLst>
                <a:path w="136525" h="109854">
                  <a:moveTo>
                    <a:pt x="53670" y="0"/>
                  </a:moveTo>
                  <a:lnTo>
                    <a:pt x="0" y="109471"/>
                  </a:lnTo>
                  <a:lnTo>
                    <a:pt x="136306" y="108407"/>
                  </a:lnTo>
                  <a:lnTo>
                    <a:pt x="53670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65162" y="5665718"/>
              <a:ext cx="1175385" cy="2639695"/>
            </a:xfrm>
            <a:custGeom>
              <a:avLst/>
              <a:gdLst/>
              <a:ahLst/>
              <a:cxnLst/>
              <a:rect l="l" t="t" r="r" b="b"/>
              <a:pathLst>
                <a:path w="1175384" h="2639695">
                  <a:moveTo>
                    <a:pt x="146245" y="2639314"/>
                  </a:moveTo>
                  <a:lnTo>
                    <a:pt x="206831" y="2602285"/>
                  </a:lnTo>
                  <a:lnTo>
                    <a:pt x="255248" y="2571710"/>
                  </a:lnTo>
                  <a:lnTo>
                    <a:pt x="302424" y="2541116"/>
                  </a:lnTo>
                  <a:lnTo>
                    <a:pt x="348358" y="2510502"/>
                  </a:lnTo>
                  <a:lnTo>
                    <a:pt x="393050" y="2479870"/>
                  </a:lnTo>
                  <a:lnTo>
                    <a:pt x="436500" y="2449219"/>
                  </a:lnTo>
                  <a:lnTo>
                    <a:pt x="478709" y="2418549"/>
                  </a:lnTo>
                  <a:lnTo>
                    <a:pt x="519676" y="2387860"/>
                  </a:lnTo>
                  <a:lnTo>
                    <a:pt x="559401" y="2357152"/>
                  </a:lnTo>
                  <a:lnTo>
                    <a:pt x="597885" y="2326425"/>
                  </a:lnTo>
                  <a:lnTo>
                    <a:pt x="635127" y="2295679"/>
                  </a:lnTo>
                  <a:lnTo>
                    <a:pt x="671127" y="2264914"/>
                  </a:lnTo>
                  <a:lnTo>
                    <a:pt x="705885" y="2234130"/>
                  </a:lnTo>
                  <a:lnTo>
                    <a:pt x="739402" y="2203327"/>
                  </a:lnTo>
                  <a:lnTo>
                    <a:pt x="771677" y="2172505"/>
                  </a:lnTo>
                  <a:lnTo>
                    <a:pt x="802711" y="2141664"/>
                  </a:lnTo>
                  <a:lnTo>
                    <a:pt x="832503" y="2110805"/>
                  </a:lnTo>
                  <a:lnTo>
                    <a:pt x="861053" y="2079926"/>
                  </a:lnTo>
                  <a:lnTo>
                    <a:pt x="888361" y="2049028"/>
                  </a:lnTo>
                  <a:lnTo>
                    <a:pt x="914428" y="2018112"/>
                  </a:lnTo>
                  <a:lnTo>
                    <a:pt x="939253" y="1987176"/>
                  </a:lnTo>
                  <a:lnTo>
                    <a:pt x="962836" y="1956222"/>
                  </a:lnTo>
                  <a:lnTo>
                    <a:pt x="985178" y="1925248"/>
                  </a:lnTo>
                  <a:lnTo>
                    <a:pt x="1026136" y="1863244"/>
                  </a:lnTo>
                  <a:lnTo>
                    <a:pt x="1062128" y="1801165"/>
                  </a:lnTo>
                  <a:lnTo>
                    <a:pt x="1093152" y="1739009"/>
                  </a:lnTo>
                  <a:lnTo>
                    <a:pt x="1119210" y="1676777"/>
                  </a:lnTo>
                  <a:lnTo>
                    <a:pt x="1140302" y="1614470"/>
                  </a:lnTo>
                  <a:lnTo>
                    <a:pt x="1156426" y="1552087"/>
                  </a:lnTo>
                  <a:lnTo>
                    <a:pt x="1167584" y="1489628"/>
                  </a:lnTo>
                  <a:lnTo>
                    <a:pt x="1173775" y="1427093"/>
                  </a:lnTo>
                  <a:lnTo>
                    <a:pt x="1175008" y="1395797"/>
                  </a:lnTo>
                  <a:lnTo>
                    <a:pt x="1174999" y="1364482"/>
                  </a:lnTo>
                  <a:lnTo>
                    <a:pt x="1171257" y="1301796"/>
                  </a:lnTo>
                  <a:lnTo>
                    <a:pt x="1162548" y="1239033"/>
                  </a:lnTo>
                  <a:lnTo>
                    <a:pt x="1148872" y="1176195"/>
                  </a:lnTo>
                  <a:lnTo>
                    <a:pt x="1130229" y="1113281"/>
                  </a:lnTo>
                  <a:lnTo>
                    <a:pt x="1106620" y="1050291"/>
                  </a:lnTo>
                  <a:lnTo>
                    <a:pt x="1078044" y="987225"/>
                  </a:lnTo>
                  <a:lnTo>
                    <a:pt x="1044501" y="924083"/>
                  </a:lnTo>
                  <a:lnTo>
                    <a:pt x="1005992" y="860865"/>
                  </a:lnTo>
                  <a:lnTo>
                    <a:pt x="962516" y="797572"/>
                  </a:lnTo>
                  <a:lnTo>
                    <a:pt x="938915" y="765897"/>
                  </a:lnTo>
                  <a:lnTo>
                    <a:pt x="914073" y="734202"/>
                  </a:lnTo>
                  <a:lnTo>
                    <a:pt x="887989" y="702489"/>
                  </a:lnTo>
                  <a:lnTo>
                    <a:pt x="860663" y="670757"/>
                  </a:lnTo>
                  <a:lnTo>
                    <a:pt x="832096" y="639006"/>
                  </a:lnTo>
                  <a:lnTo>
                    <a:pt x="802287" y="607236"/>
                  </a:lnTo>
                  <a:lnTo>
                    <a:pt x="771237" y="575447"/>
                  </a:lnTo>
                  <a:lnTo>
                    <a:pt x="738944" y="543639"/>
                  </a:lnTo>
                  <a:lnTo>
                    <a:pt x="705410" y="511812"/>
                  </a:lnTo>
                  <a:lnTo>
                    <a:pt x="670635" y="479966"/>
                  </a:lnTo>
                  <a:lnTo>
                    <a:pt x="634617" y="448101"/>
                  </a:lnTo>
                  <a:lnTo>
                    <a:pt x="597358" y="416217"/>
                  </a:lnTo>
                  <a:lnTo>
                    <a:pt x="558858" y="384314"/>
                  </a:lnTo>
                  <a:lnTo>
                    <a:pt x="519115" y="352392"/>
                  </a:lnTo>
                  <a:lnTo>
                    <a:pt x="478131" y="320451"/>
                  </a:lnTo>
                  <a:lnTo>
                    <a:pt x="435906" y="288491"/>
                  </a:lnTo>
                  <a:lnTo>
                    <a:pt x="392438" y="256513"/>
                  </a:lnTo>
                  <a:lnTo>
                    <a:pt x="347729" y="224515"/>
                  </a:lnTo>
                  <a:lnTo>
                    <a:pt x="301779" y="192498"/>
                  </a:lnTo>
                  <a:lnTo>
                    <a:pt x="254586" y="160463"/>
                  </a:lnTo>
                  <a:lnTo>
                    <a:pt x="206152" y="128408"/>
                  </a:lnTo>
                  <a:lnTo>
                    <a:pt x="156477" y="96334"/>
                  </a:lnTo>
                  <a:lnTo>
                    <a:pt x="105559" y="64242"/>
                  </a:lnTo>
                  <a:lnTo>
                    <a:pt x="53400" y="3213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17434" y="8246109"/>
              <a:ext cx="136525" cy="114935"/>
            </a:xfrm>
            <a:custGeom>
              <a:avLst/>
              <a:gdLst/>
              <a:ahLst/>
              <a:cxnLst/>
              <a:rect l="l" t="t" r="r" b="b"/>
              <a:pathLst>
                <a:path w="136525" h="114934">
                  <a:moveTo>
                    <a:pt x="73836" y="0"/>
                  </a:moveTo>
                  <a:lnTo>
                    <a:pt x="0" y="114580"/>
                  </a:lnTo>
                  <a:lnTo>
                    <a:pt x="135966" y="104902"/>
                  </a:lnTo>
                  <a:lnTo>
                    <a:pt x="73836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964875" y="1472686"/>
              <a:ext cx="1746885" cy="5566410"/>
            </a:xfrm>
            <a:custGeom>
              <a:avLst/>
              <a:gdLst/>
              <a:ahLst/>
              <a:cxnLst/>
              <a:rect l="l" t="t" r="r" b="b"/>
              <a:pathLst>
                <a:path w="1746884" h="5566409">
                  <a:moveTo>
                    <a:pt x="0" y="5565909"/>
                  </a:moveTo>
                  <a:lnTo>
                    <a:pt x="55057" y="5522656"/>
                  </a:lnTo>
                  <a:lnTo>
                    <a:pt x="99471" y="5487139"/>
                  </a:lnTo>
                  <a:lnTo>
                    <a:pt x="143294" y="5451598"/>
                  </a:lnTo>
                  <a:lnTo>
                    <a:pt x="186526" y="5416033"/>
                  </a:lnTo>
                  <a:lnTo>
                    <a:pt x="229168" y="5380442"/>
                  </a:lnTo>
                  <a:lnTo>
                    <a:pt x="271218" y="5344828"/>
                  </a:lnTo>
                  <a:lnTo>
                    <a:pt x="312678" y="5309189"/>
                  </a:lnTo>
                  <a:lnTo>
                    <a:pt x="353546" y="5273525"/>
                  </a:lnTo>
                  <a:lnTo>
                    <a:pt x="393824" y="5237837"/>
                  </a:lnTo>
                  <a:lnTo>
                    <a:pt x="433511" y="5202125"/>
                  </a:lnTo>
                  <a:lnTo>
                    <a:pt x="472608" y="5166388"/>
                  </a:lnTo>
                  <a:lnTo>
                    <a:pt x="511113" y="5130627"/>
                  </a:lnTo>
                  <a:lnTo>
                    <a:pt x="549027" y="5094841"/>
                  </a:lnTo>
                  <a:lnTo>
                    <a:pt x="586351" y="5059031"/>
                  </a:lnTo>
                  <a:lnTo>
                    <a:pt x="623084" y="5023196"/>
                  </a:lnTo>
                  <a:lnTo>
                    <a:pt x="659225" y="4987336"/>
                  </a:lnTo>
                  <a:lnTo>
                    <a:pt x="694776" y="4951453"/>
                  </a:lnTo>
                  <a:lnTo>
                    <a:pt x="729736" y="4915545"/>
                  </a:lnTo>
                  <a:lnTo>
                    <a:pt x="764106" y="4879612"/>
                  </a:lnTo>
                  <a:lnTo>
                    <a:pt x="797884" y="4843655"/>
                  </a:lnTo>
                  <a:lnTo>
                    <a:pt x="831071" y="4807673"/>
                  </a:lnTo>
                  <a:lnTo>
                    <a:pt x="863668" y="4771667"/>
                  </a:lnTo>
                  <a:lnTo>
                    <a:pt x="895674" y="4735637"/>
                  </a:lnTo>
                  <a:lnTo>
                    <a:pt x="927089" y="4699582"/>
                  </a:lnTo>
                  <a:lnTo>
                    <a:pt x="957913" y="4663502"/>
                  </a:lnTo>
                  <a:lnTo>
                    <a:pt x="988146" y="4627398"/>
                  </a:lnTo>
                  <a:lnTo>
                    <a:pt x="1017788" y="4591270"/>
                  </a:lnTo>
                  <a:lnTo>
                    <a:pt x="1046840" y="4555117"/>
                  </a:lnTo>
                  <a:lnTo>
                    <a:pt x="1075300" y="4518939"/>
                  </a:lnTo>
                  <a:lnTo>
                    <a:pt x="1103170" y="4482738"/>
                  </a:lnTo>
                  <a:lnTo>
                    <a:pt x="1130449" y="4446511"/>
                  </a:lnTo>
                  <a:lnTo>
                    <a:pt x="1157137" y="4410261"/>
                  </a:lnTo>
                  <a:lnTo>
                    <a:pt x="1183234" y="4373985"/>
                  </a:lnTo>
                  <a:lnTo>
                    <a:pt x="1208740" y="4337686"/>
                  </a:lnTo>
                  <a:lnTo>
                    <a:pt x="1233655" y="4301361"/>
                  </a:lnTo>
                  <a:lnTo>
                    <a:pt x="1257980" y="4265013"/>
                  </a:lnTo>
                  <a:lnTo>
                    <a:pt x="1281713" y="4228640"/>
                  </a:lnTo>
                  <a:lnTo>
                    <a:pt x="1304856" y="4192242"/>
                  </a:lnTo>
                  <a:lnTo>
                    <a:pt x="1327408" y="4155820"/>
                  </a:lnTo>
                  <a:lnTo>
                    <a:pt x="1349369" y="4119374"/>
                  </a:lnTo>
                  <a:lnTo>
                    <a:pt x="1370739" y="4082903"/>
                  </a:lnTo>
                  <a:lnTo>
                    <a:pt x="1391519" y="4046407"/>
                  </a:lnTo>
                  <a:lnTo>
                    <a:pt x="1411707" y="4009887"/>
                  </a:lnTo>
                  <a:lnTo>
                    <a:pt x="1431305" y="3973343"/>
                  </a:lnTo>
                  <a:lnTo>
                    <a:pt x="1450311" y="3936774"/>
                  </a:lnTo>
                  <a:lnTo>
                    <a:pt x="1468727" y="3900180"/>
                  </a:lnTo>
                  <a:lnTo>
                    <a:pt x="1486552" y="3863563"/>
                  </a:lnTo>
                  <a:lnTo>
                    <a:pt x="1503786" y="3826920"/>
                  </a:lnTo>
                  <a:lnTo>
                    <a:pt x="1520429" y="3790254"/>
                  </a:lnTo>
                  <a:lnTo>
                    <a:pt x="1536482" y="3753562"/>
                  </a:lnTo>
                  <a:lnTo>
                    <a:pt x="1551943" y="3716847"/>
                  </a:lnTo>
                  <a:lnTo>
                    <a:pt x="1566814" y="3680107"/>
                  </a:lnTo>
                  <a:lnTo>
                    <a:pt x="1581094" y="3643342"/>
                  </a:lnTo>
                  <a:lnTo>
                    <a:pt x="1594783" y="3606553"/>
                  </a:lnTo>
                  <a:lnTo>
                    <a:pt x="1607881" y="3569739"/>
                  </a:lnTo>
                  <a:lnTo>
                    <a:pt x="1620388" y="3532901"/>
                  </a:lnTo>
                  <a:lnTo>
                    <a:pt x="1632304" y="3496039"/>
                  </a:lnTo>
                  <a:lnTo>
                    <a:pt x="1643630" y="3459152"/>
                  </a:lnTo>
                  <a:lnTo>
                    <a:pt x="1654364" y="3422240"/>
                  </a:lnTo>
                  <a:lnTo>
                    <a:pt x="1664508" y="3385304"/>
                  </a:lnTo>
                  <a:lnTo>
                    <a:pt x="1674061" y="3348344"/>
                  </a:lnTo>
                  <a:lnTo>
                    <a:pt x="1691394" y="3274350"/>
                  </a:lnTo>
                  <a:lnTo>
                    <a:pt x="1706363" y="3200257"/>
                  </a:lnTo>
                  <a:lnTo>
                    <a:pt x="1718970" y="3126067"/>
                  </a:lnTo>
                  <a:lnTo>
                    <a:pt x="1729212" y="3051780"/>
                  </a:lnTo>
                  <a:lnTo>
                    <a:pt x="1737091" y="2977394"/>
                  </a:lnTo>
                  <a:lnTo>
                    <a:pt x="1742607" y="2902910"/>
                  </a:lnTo>
                  <a:lnTo>
                    <a:pt x="1745760" y="2828329"/>
                  </a:lnTo>
                  <a:lnTo>
                    <a:pt x="1746548" y="2753649"/>
                  </a:lnTo>
                  <a:lnTo>
                    <a:pt x="1746056" y="2716273"/>
                  </a:lnTo>
                  <a:lnTo>
                    <a:pt x="1743300" y="2641447"/>
                  </a:lnTo>
                  <a:lnTo>
                    <a:pt x="1738180" y="2566523"/>
                  </a:lnTo>
                  <a:lnTo>
                    <a:pt x="1730697" y="2491501"/>
                  </a:lnTo>
                  <a:lnTo>
                    <a:pt x="1720850" y="2416381"/>
                  </a:lnTo>
                  <a:lnTo>
                    <a:pt x="1708640" y="2341163"/>
                  </a:lnTo>
                  <a:lnTo>
                    <a:pt x="1701649" y="2303517"/>
                  </a:lnTo>
                  <a:lnTo>
                    <a:pt x="1694066" y="2265847"/>
                  </a:lnTo>
                  <a:lnTo>
                    <a:pt x="1685893" y="2228153"/>
                  </a:lnTo>
                  <a:lnTo>
                    <a:pt x="1677129" y="2190434"/>
                  </a:lnTo>
                  <a:lnTo>
                    <a:pt x="1667775" y="2152690"/>
                  </a:lnTo>
                  <a:lnTo>
                    <a:pt x="1657829" y="2114922"/>
                  </a:lnTo>
                  <a:lnTo>
                    <a:pt x="1647292" y="2077130"/>
                  </a:lnTo>
                  <a:lnTo>
                    <a:pt x="1636165" y="2039313"/>
                  </a:lnTo>
                  <a:lnTo>
                    <a:pt x="1624446" y="2001472"/>
                  </a:lnTo>
                  <a:lnTo>
                    <a:pt x="1612137" y="1963606"/>
                  </a:lnTo>
                  <a:lnTo>
                    <a:pt x="1599237" y="1925716"/>
                  </a:lnTo>
                  <a:lnTo>
                    <a:pt x="1585746" y="1887801"/>
                  </a:lnTo>
                  <a:lnTo>
                    <a:pt x="1571665" y="1849862"/>
                  </a:lnTo>
                  <a:lnTo>
                    <a:pt x="1556992" y="1811898"/>
                  </a:lnTo>
                  <a:lnTo>
                    <a:pt x="1541728" y="1773910"/>
                  </a:lnTo>
                  <a:lnTo>
                    <a:pt x="1525874" y="1735897"/>
                  </a:lnTo>
                  <a:lnTo>
                    <a:pt x="1509429" y="1697860"/>
                  </a:lnTo>
                  <a:lnTo>
                    <a:pt x="1492393" y="1659798"/>
                  </a:lnTo>
                  <a:lnTo>
                    <a:pt x="1474766" y="1621712"/>
                  </a:lnTo>
                  <a:lnTo>
                    <a:pt x="1456548" y="1583602"/>
                  </a:lnTo>
                  <a:lnTo>
                    <a:pt x="1437739" y="1545467"/>
                  </a:lnTo>
                  <a:lnTo>
                    <a:pt x="1418340" y="1507307"/>
                  </a:lnTo>
                  <a:lnTo>
                    <a:pt x="1398349" y="1469123"/>
                  </a:lnTo>
                  <a:lnTo>
                    <a:pt x="1377768" y="1430915"/>
                  </a:lnTo>
                  <a:lnTo>
                    <a:pt x="1356596" y="1392682"/>
                  </a:lnTo>
                  <a:lnTo>
                    <a:pt x="1334833" y="1354425"/>
                  </a:lnTo>
                  <a:lnTo>
                    <a:pt x="1312479" y="1316143"/>
                  </a:lnTo>
                  <a:lnTo>
                    <a:pt x="1289534" y="1277836"/>
                  </a:lnTo>
                  <a:lnTo>
                    <a:pt x="1265999" y="1239506"/>
                  </a:lnTo>
                  <a:lnTo>
                    <a:pt x="1241872" y="1201150"/>
                  </a:lnTo>
                  <a:lnTo>
                    <a:pt x="1217155" y="1162771"/>
                  </a:lnTo>
                  <a:lnTo>
                    <a:pt x="1191847" y="1124366"/>
                  </a:lnTo>
                  <a:lnTo>
                    <a:pt x="1165948" y="1085938"/>
                  </a:lnTo>
                  <a:lnTo>
                    <a:pt x="1139458" y="1047485"/>
                  </a:lnTo>
                  <a:lnTo>
                    <a:pt x="1112377" y="1009007"/>
                  </a:lnTo>
                  <a:lnTo>
                    <a:pt x="1084705" y="970505"/>
                  </a:lnTo>
                  <a:lnTo>
                    <a:pt x="1056443" y="931978"/>
                  </a:lnTo>
                  <a:lnTo>
                    <a:pt x="1027589" y="893427"/>
                  </a:lnTo>
                  <a:lnTo>
                    <a:pt x="998145" y="854852"/>
                  </a:lnTo>
                  <a:lnTo>
                    <a:pt x="968110" y="816252"/>
                  </a:lnTo>
                  <a:lnTo>
                    <a:pt x="937484" y="777627"/>
                  </a:lnTo>
                  <a:lnTo>
                    <a:pt x="906267" y="738979"/>
                  </a:lnTo>
                  <a:lnTo>
                    <a:pt x="874459" y="700305"/>
                  </a:lnTo>
                  <a:lnTo>
                    <a:pt x="842061" y="661607"/>
                  </a:lnTo>
                  <a:lnTo>
                    <a:pt x="809071" y="622885"/>
                  </a:lnTo>
                  <a:lnTo>
                    <a:pt x="775491" y="584138"/>
                  </a:lnTo>
                  <a:lnTo>
                    <a:pt x="741320" y="545367"/>
                  </a:lnTo>
                  <a:lnTo>
                    <a:pt x="706558" y="506571"/>
                  </a:lnTo>
                  <a:lnTo>
                    <a:pt x="671205" y="467751"/>
                  </a:lnTo>
                  <a:lnTo>
                    <a:pt x="635261" y="428906"/>
                  </a:lnTo>
                  <a:lnTo>
                    <a:pt x="598727" y="390037"/>
                  </a:lnTo>
                  <a:lnTo>
                    <a:pt x="561601" y="351143"/>
                  </a:lnTo>
                  <a:lnTo>
                    <a:pt x="523885" y="312225"/>
                  </a:lnTo>
                  <a:lnTo>
                    <a:pt x="485578" y="273283"/>
                  </a:lnTo>
                  <a:lnTo>
                    <a:pt x="446680" y="234316"/>
                  </a:lnTo>
                  <a:lnTo>
                    <a:pt x="407191" y="195324"/>
                  </a:lnTo>
                  <a:lnTo>
                    <a:pt x="367111" y="156308"/>
                  </a:lnTo>
                  <a:lnTo>
                    <a:pt x="326440" y="117268"/>
                  </a:lnTo>
                  <a:lnTo>
                    <a:pt x="285179" y="78203"/>
                  </a:lnTo>
                  <a:lnTo>
                    <a:pt x="243326" y="39113"/>
                  </a:lnTo>
                  <a:lnTo>
                    <a:pt x="200883" y="0"/>
                  </a:lnTo>
                </a:path>
              </a:pathLst>
            </a:custGeom>
            <a:ln w="25400">
              <a:solidFill>
                <a:srgbClr val="70BF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78423" y="6982583"/>
              <a:ext cx="133985" cy="123189"/>
            </a:xfrm>
            <a:custGeom>
              <a:avLst/>
              <a:gdLst/>
              <a:ahLst/>
              <a:cxnLst/>
              <a:rect l="l" t="t" r="r" b="b"/>
              <a:pathLst>
                <a:path w="133984" h="123190">
                  <a:moveTo>
                    <a:pt x="59250" y="0"/>
                  </a:moveTo>
                  <a:lnTo>
                    <a:pt x="0" y="122759"/>
                  </a:lnTo>
                  <a:lnTo>
                    <a:pt x="133757" y="96504"/>
                  </a:lnTo>
                  <a:lnTo>
                    <a:pt x="59250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650" spc="70" dirty="0"/>
              <a:t>Node.js</a:t>
            </a:r>
            <a:r>
              <a:rPr sz="7650" spc="195" dirty="0"/>
              <a:t> </a:t>
            </a:r>
            <a:r>
              <a:rPr sz="7650" dirty="0"/>
              <a:t>multi-stage</a:t>
            </a:r>
            <a:r>
              <a:rPr sz="7650" spc="210" dirty="0"/>
              <a:t> </a:t>
            </a:r>
            <a:r>
              <a:rPr sz="7650" spc="150" dirty="0"/>
              <a:t>build</a:t>
            </a:r>
            <a:endParaRPr sz="7650"/>
          </a:p>
        </p:txBody>
      </p:sp>
      <p:sp>
        <p:nvSpPr>
          <p:cNvPr id="3" name="object 3"/>
          <p:cNvSpPr txBox="1"/>
          <p:nvPr/>
        </p:nvSpPr>
        <p:spPr>
          <a:xfrm>
            <a:off x="292100" y="2336800"/>
            <a:ext cx="12409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10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  <a:latin typeface="Arial"/>
                <a:cs typeface="Arial"/>
              </a:rPr>
              <a:t>https://github.com/codefreshdemo/demochat/tree/multistage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16300"/>
            <a:ext cx="4432300" cy="8128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981450" y="3282950"/>
          <a:ext cx="8531225" cy="6226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Builder</a:t>
                      </a:r>
                      <a:r>
                        <a:rPr sz="26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(Alpine)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3556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Runtime</a:t>
                      </a:r>
                      <a:r>
                        <a:rPr sz="2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(Alpine)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3556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Node.js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Node.js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App</a:t>
                      </a:r>
                      <a:r>
                        <a:rPr sz="2600" b="1" spc="-10" dirty="0">
                          <a:latin typeface="Arial"/>
                          <a:cs typeface="Arial"/>
                        </a:rPr>
                        <a:t> Modules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App</a:t>
                      </a:r>
                      <a:r>
                        <a:rPr sz="2600" b="1" spc="-10" dirty="0">
                          <a:latin typeface="Arial"/>
                          <a:cs typeface="Arial"/>
                        </a:rPr>
                        <a:t> Modules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Yarn</a:t>
                      </a:r>
                      <a:r>
                        <a:rPr sz="2600" b="1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(package)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770"/>
                        </a:lnSpc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Yarn</a:t>
                      </a:r>
                      <a:r>
                        <a:rPr sz="2600" b="1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(package)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Mocha</a:t>
                      </a:r>
                      <a:r>
                        <a:rPr sz="2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(testing)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Eslint</a:t>
                      </a:r>
                      <a:r>
                        <a:rPr sz="26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(linter)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>
                        <a:lnSpc>
                          <a:spcPts val="2970"/>
                        </a:lnSpc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Content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Newman</a:t>
                      </a:r>
                      <a:r>
                        <a:rPr sz="26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14" dirty="0">
                          <a:latin typeface="Arial"/>
                          <a:cs typeface="Arial"/>
                        </a:rPr>
                        <a:t>(REST</a:t>
                      </a:r>
                      <a:r>
                        <a:rPr sz="26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testing)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6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Gulp</a:t>
                      </a:r>
                      <a:r>
                        <a:rPr sz="26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(automation)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nsp</a:t>
                      </a:r>
                      <a:r>
                        <a:rPr sz="26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(security</a:t>
                      </a:r>
                      <a:r>
                        <a:rPr sz="26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scanner)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Istanbul</a:t>
                      </a:r>
                      <a:r>
                        <a:rPr sz="26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(coverage)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Python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gcc,</a:t>
                      </a:r>
                      <a:r>
                        <a:rPr sz="2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dirty="0">
                          <a:latin typeface="Arial"/>
                          <a:cs typeface="Arial"/>
                        </a:rPr>
                        <a:t>g++,</a:t>
                      </a:r>
                      <a:r>
                        <a:rPr sz="2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10" dirty="0">
                          <a:latin typeface="Arial"/>
                          <a:cs typeface="Arial"/>
                        </a:rPr>
                        <a:t>krb5-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dev,</a:t>
                      </a:r>
                      <a:r>
                        <a:rPr sz="2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50" dirty="0">
                          <a:latin typeface="Arial"/>
                          <a:cs typeface="Arial"/>
                        </a:rPr>
                        <a:t>…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568</a:t>
                      </a:r>
                      <a:r>
                        <a:rPr sz="2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MB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83629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112</a:t>
                      </a:r>
                      <a:r>
                        <a:rPr sz="2600" b="1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MB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424744"/>
            <a:ext cx="10535920" cy="2448560"/>
          </a:xfrm>
          <a:prstGeom prst="rect">
            <a:avLst/>
          </a:prstGeom>
        </p:spPr>
        <p:txBody>
          <a:bodyPr vert="horz" wrap="square" lIns="0" tIns="46418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3654"/>
              </a:spcBef>
            </a:pPr>
            <a:r>
              <a:rPr dirty="0"/>
              <a:t>Go</a:t>
            </a:r>
            <a:r>
              <a:rPr spc="140" dirty="0"/>
              <a:t> </a:t>
            </a:r>
            <a:r>
              <a:rPr dirty="0"/>
              <a:t>multi-stage</a:t>
            </a:r>
            <a:r>
              <a:rPr spc="140" dirty="0"/>
              <a:t> </a:t>
            </a:r>
            <a:r>
              <a:rPr spc="155" dirty="0"/>
              <a:t>build</a:t>
            </a: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3600" u="sng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</a:rPr>
              <a:t>https://github.com/gaia-</a:t>
            </a:r>
            <a:r>
              <a:rPr sz="3600" u="sng" spc="-10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</a:rPr>
              <a:t>adm/pumba/tree/multistage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3251200"/>
            <a:ext cx="2578100" cy="14478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87800" y="3289300"/>
            <a:ext cx="8448040" cy="6231890"/>
            <a:chOff x="3987800" y="3289300"/>
            <a:chExt cx="8448040" cy="6231890"/>
          </a:xfrm>
        </p:grpSpPr>
        <p:sp>
          <p:nvSpPr>
            <p:cNvPr id="5" name="object 5"/>
            <p:cNvSpPr/>
            <p:nvPr/>
          </p:nvSpPr>
          <p:spPr>
            <a:xfrm>
              <a:off x="3987800" y="3289299"/>
              <a:ext cx="8448040" cy="1122045"/>
            </a:xfrm>
            <a:custGeom>
              <a:avLst/>
              <a:gdLst/>
              <a:ahLst/>
              <a:cxnLst/>
              <a:rect l="l" t="t" r="r" b="b"/>
              <a:pathLst>
                <a:path w="8448040" h="1122045">
                  <a:moveTo>
                    <a:pt x="8447570" y="0"/>
                  </a:moveTo>
                  <a:lnTo>
                    <a:pt x="5631713" y="0"/>
                  </a:lnTo>
                  <a:lnTo>
                    <a:pt x="1760283" y="0"/>
                  </a:lnTo>
                  <a:lnTo>
                    <a:pt x="0" y="0"/>
                  </a:lnTo>
                  <a:lnTo>
                    <a:pt x="0" y="1121613"/>
                  </a:lnTo>
                  <a:lnTo>
                    <a:pt x="1760283" y="1121613"/>
                  </a:lnTo>
                  <a:lnTo>
                    <a:pt x="5631713" y="1121613"/>
                  </a:lnTo>
                  <a:lnTo>
                    <a:pt x="8447570" y="1121613"/>
                  </a:lnTo>
                  <a:lnTo>
                    <a:pt x="8447570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87800" y="4410912"/>
              <a:ext cx="1760855" cy="5109845"/>
            </a:xfrm>
            <a:custGeom>
              <a:avLst/>
              <a:gdLst/>
              <a:ahLst/>
              <a:cxnLst/>
              <a:rect l="l" t="t" r="r" b="b"/>
              <a:pathLst>
                <a:path w="1760854" h="5109845">
                  <a:moveTo>
                    <a:pt x="1760283" y="0"/>
                  </a:moveTo>
                  <a:lnTo>
                    <a:pt x="0" y="0"/>
                  </a:lnTo>
                  <a:lnTo>
                    <a:pt x="0" y="4338599"/>
                  </a:lnTo>
                  <a:lnTo>
                    <a:pt x="0" y="5109832"/>
                  </a:lnTo>
                  <a:lnTo>
                    <a:pt x="1760283" y="5109832"/>
                  </a:lnTo>
                  <a:lnTo>
                    <a:pt x="1760283" y="4338599"/>
                  </a:lnTo>
                  <a:lnTo>
                    <a:pt x="1760283" y="0"/>
                  </a:lnTo>
                  <a:close/>
                </a:path>
              </a:pathLst>
            </a:custGeom>
            <a:solidFill>
              <a:srgbClr val="398C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8083" y="8749512"/>
              <a:ext cx="6687820" cy="771525"/>
            </a:xfrm>
            <a:custGeom>
              <a:avLst/>
              <a:gdLst/>
              <a:ahLst/>
              <a:cxnLst/>
              <a:rect l="l" t="t" r="r" b="b"/>
              <a:pathLst>
                <a:path w="6687820" h="771525">
                  <a:moveTo>
                    <a:pt x="6687286" y="0"/>
                  </a:moveTo>
                  <a:lnTo>
                    <a:pt x="3871430" y="0"/>
                  </a:lnTo>
                  <a:lnTo>
                    <a:pt x="0" y="0"/>
                  </a:lnTo>
                  <a:lnTo>
                    <a:pt x="0" y="771232"/>
                  </a:lnTo>
                  <a:lnTo>
                    <a:pt x="3871430" y="771232"/>
                  </a:lnTo>
                  <a:lnTo>
                    <a:pt x="6687286" y="771232"/>
                  </a:lnTo>
                  <a:lnTo>
                    <a:pt x="6687286" y="0"/>
                  </a:lnTo>
                  <a:close/>
                </a:path>
              </a:pathLst>
            </a:custGeom>
            <a:solidFill>
              <a:srgbClr val="E3E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51600" y="3632200"/>
            <a:ext cx="2470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Builder</a:t>
            </a:r>
            <a:r>
              <a:rPr sz="2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(Alpine)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2800" y="3632200"/>
            <a:ext cx="26543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Runtime</a:t>
            </a:r>
            <a:r>
              <a:rPr sz="2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(Alpine)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1800" y="6362700"/>
            <a:ext cx="12598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1200" y="4445000"/>
            <a:ext cx="3670935" cy="435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1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go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1.8</a:t>
            </a:r>
            <a:endParaRPr sz="2600">
              <a:latin typeface="Arial"/>
              <a:cs typeface="Arial"/>
            </a:endParaRPr>
          </a:p>
          <a:p>
            <a:pPr marL="12700" marR="1062355">
              <a:lnSpc>
                <a:spcPts val="3100"/>
              </a:lnSpc>
              <a:spcBef>
                <a:spcPts val="110"/>
              </a:spcBef>
            </a:pPr>
            <a:r>
              <a:rPr sz="2600" b="1" dirty="0">
                <a:latin typeface="Arial"/>
                <a:cs typeface="Arial"/>
              </a:rPr>
              <a:t>glide</a:t>
            </a:r>
            <a:r>
              <a:rPr sz="2600" b="1" spc="-8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(package) </a:t>
            </a:r>
            <a:r>
              <a:rPr sz="2600" b="1" dirty="0">
                <a:latin typeface="Arial"/>
                <a:cs typeface="Arial"/>
              </a:rPr>
              <a:t>cover</a:t>
            </a:r>
            <a:r>
              <a:rPr sz="2600" b="1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(coverage) </a:t>
            </a:r>
            <a:r>
              <a:rPr sz="2600" b="1" dirty="0">
                <a:latin typeface="Arial"/>
                <a:cs typeface="Arial"/>
              </a:rPr>
              <a:t>go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test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(testing) </a:t>
            </a:r>
            <a:r>
              <a:rPr sz="2600" b="1" spc="-25" dirty="0">
                <a:latin typeface="Arial"/>
                <a:cs typeface="Arial"/>
              </a:rPr>
              <a:t>git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ts val="3100"/>
              </a:lnSpc>
            </a:pPr>
            <a:r>
              <a:rPr sz="2600" b="1" spc="-10" dirty="0">
                <a:latin typeface="Arial"/>
                <a:cs typeface="Arial"/>
              </a:rPr>
              <a:t>github-</a:t>
            </a:r>
            <a:r>
              <a:rPr sz="2600" b="1" dirty="0">
                <a:latin typeface="Arial"/>
                <a:cs typeface="Arial"/>
              </a:rPr>
              <a:t>release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(release) </a:t>
            </a:r>
            <a:r>
              <a:rPr sz="2600" b="1" dirty="0">
                <a:latin typeface="Arial"/>
                <a:cs typeface="Arial"/>
              </a:rPr>
              <a:t>goveralls</a:t>
            </a:r>
            <a:r>
              <a:rPr sz="2600" b="1" spc="-1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coveralls.io</a:t>
            </a:r>
            <a:r>
              <a:rPr sz="2600" u="none" spc="-10" dirty="0">
                <a:latin typeface="Arial"/>
                <a:cs typeface="Arial"/>
              </a:rPr>
              <a:t>) </a:t>
            </a:r>
            <a:r>
              <a:rPr sz="2600" b="1" u="none" dirty="0">
                <a:latin typeface="Arial"/>
                <a:cs typeface="Arial"/>
              </a:rPr>
              <a:t>Bats</a:t>
            </a:r>
            <a:r>
              <a:rPr sz="2600" b="1" u="none" spc="-45" dirty="0">
                <a:latin typeface="Arial"/>
                <a:cs typeface="Arial"/>
              </a:rPr>
              <a:t> </a:t>
            </a:r>
            <a:r>
              <a:rPr sz="2600" u="none" spc="-10" dirty="0">
                <a:latin typeface="Arial"/>
                <a:cs typeface="Arial"/>
              </a:rPr>
              <a:t>(testing)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b="1" spc="-20" dirty="0">
                <a:latin typeface="Arial"/>
                <a:cs typeface="Arial"/>
              </a:rPr>
              <a:t>Bash</a:t>
            </a:r>
            <a:endParaRPr sz="2600">
              <a:latin typeface="Arial"/>
              <a:cs typeface="Arial"/>
            </a:endParaRPr>
          </a:p>
          <a:p>
            <a:pPr marL="12700" marR="1611630">
              <a:lnSpc>
                <a:spcPts val="3100"/>
              </a:lnSpc>
              <a:spcBef>
                <a:spcPts val="110"/>
              </a:spcBef>
            </a:pPr>
            <a:r>
              <a:rPr sz="2600" b="1" dirty="0">
                <a:latin typeface="Arial"/>
                <a:cs typeface="Arial"/>
              </a:rPr>
              <a:t>curl,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openssl </a:t>
            </a:r>
            <a:r>
              <a:rPr sz="2600" b="1" dirty="0">
                <a:latin typeface="Arial"/>
                <a:cs typeface="Arial"/>
              </a:rPr>
              <a:t>Docker</a:t>
            </a:r>
            <a:r>
              <a:rPr sz="2600" b="1" spc="-9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CLI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2000" y="4445000"/>
            <a:ext cx="11074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latin typeface="Arial"/>
                <a:cs typeface="Arial"/>
              </a:rPr>
              <a:t>pumba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900" y="8915400"/>
            <a:ext cx="6737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2000" y="8915400"/>
            <a:ext cx="11690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427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MB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41000" y="8915400"/>
            <a:ext cx="98551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15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MB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6600" y="467359"/>
            <a:ext cx="8988425" cy="20656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133600" marR="5080" indent="-2120900">
              <a:lnSpc>
                <a:spcPts val="8000"/>
              </a:lnSpc>
              <a:spcBef>
                <a:spcPts val="265"/>
              </a:spcBef>
            </a:pPr>
            <a:r>
              <a:rPr sz="6700" spc="70" dirty="0"/>
              <a:t>Docker</a:t>
            </a:r>
            <a:r>
              <a:rPr sz="6700" spc="170" dirty="0"/>
              <a:t> </a:t>
            </a:r>
            <a:r>
              <a:rPr sz="6700" dirty="0"/>
              <a:t>multi-stage</a:t>
            </a:r>
            <a:r>
              <a:rPr sz="6700" spc="170" dirty="0"/>
              <a:t> </a:t>
            </a:r>
            <a:r>
              <a:rPr sz="6700" spc="-20" dirty="0"/>
              <a:t>with </a:t>
            </a:r>
            <a:r>
              <a:rPr sz="6700" u="sng" spc="-10" dirty="0">
                <a:uFill>
                  <a:solidFill>
                    <a:srgbClr val="000000"/>
                  </a:solidFill>
                </a:uFill>
              </a:rPr>
              <a:t>codefresh.io</a:t>
            </a:r>
            <a:endParaRPr sz="6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44800"/>
            <a:ext cx="13004800" cy="68326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Multi-build</a:t>
            </a:r>
            <a:r>
              <a:rPr spc="5" dirty="0"/>
              <a:t> </a:t>
            </a:r>
            <a:r>
              <a:rPr dirty="0"/>
              <a:t>Use</a:t>
            </a:r>
            <a:r>
              <a:rPr spc="5" dirty="0"/>
              <a:t> </a:t>
            </a:r>
            <a:r>
              <a:rPr spc="-20" dirty="0"/>
              <a:t>Case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51425" y="2425700"/>
            <a:ext cx="9952990" cy="5854700"/>
            <a:chOff x="1551425" y="2425700"/>
            <a:chExt cx="9952990" cy="5854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5600" y="2425700"/>
              <a:ext cx="9878575" cy="58547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51419" y="6992530"/>
              <a:ext cx="8037830" cy="1171575"/>
            </a:xfrm>
            <a:custGeom>
              <a:avLst/>
              <a:gdLst/>
              <a:ahLst/>
              <a:cxnLst/>
              <a:rect l="l" t="t" r="r" b="b"/>
              <a:pathLst>
                <a:path w="8037830" h="1171575">
                  <a:moveTo>
                    <a:pt x="1767636" y="866419"/>
                  </a:moveTo>
                  <a:lnTo>
                    <a:pt x="0" y="866419"/>
                  </a:lnTo>
                  <a:lnTo>
                    <a:pt x="0" y="1171219"/>
                  </a:lnTo>
                  <a:lnTo>
                    <a:pt x="1767636" y="1171219"/>
                  </a:lnTo>
                  <a:lnTo>
                    <a:pt x="1767636" y="866419"/>
                  </a:lnTo>
                  <a:close/>
                </a:path>
                <a:path w="8037830" h="1171575">
                  <a:moveTo>
                    <a:pt x="2270988" y="0"/>
                  </a:moveTo>
                  <a:lnTo>
                    <a:pt x="1709064" y="0"/>
                  </a:lnTo>
                  <a:lnTo>
                    <a:pt x="1709064" y="446659"/>
                  </a:lnTo>
                  <a:lnTo>
                    <a:pt x="2270988" y="446659"/>
                  </a:lnTo>
                  <a:lnTo>
                    <a:pt x="2270988" y="0"/>
                  </a:lnTo>
                  <a:close/>
                </a:path>
                <a:path w="8037830" h="1171575">
                  <a:moveTo>
                    <a:pt x="4193108" y="0"/>
                  </a:moveTo>
                  <a:lnTo>
                    <a:pt x="3722484" y="0"/>
                  </a:lnTo>
                  <a:lnTo>
                    <a:pt x="3722484" y="446659"/>
                  </a:lnTo>
                  <a:lnTo>
                    <a:pt x="4193108" y="446659"/>
                  </a:lnTo>
                  <a:lnTo>
                    <a:pt x="4193108" y="0"/>
                  </a:lnTo>
                  <a:close/>
                </a:path>
                <a:path w="8037830" h="1171575">
                  <a:moveTo>
                    <a:pt x="6115228" y="0"/>
                  </a:moveTo>
                  <a:lnTo>
                    <a:pt x="5644591" y="0"/>
                  </a:lnTo>
                  <a:lnTo>
                    <a:pt x="5644591" y="446659"/>
                  </a:lnTo>
                  <a:lnTo>
                    <a:pt x="6115228" y="446659"/>
                  </a:lnTo>
                  <a:lnTo>
                    <a:pt x="6115228" y="0"/>
                  </a:lnTo>
                  <a:close/>
                </a:path>
                <a:path w="8037830" h="1171575">
                  <a:moveTo>
                    <a:pt x="8037347" y="0"/>
                  </a:moveTo>
                  <a:lnTo>
                    <a:pt x="7566711" y="0"/>
                  </a:lnTo>
                  <a:lnTo>
                    <a:pt x="7566711" y="446659"/>
                  </a:lnTo>
                  <a:lnTo>
                    <a:pt x="8037347" y="446659"/>
                  </a:lnTo>
                  <a:lnTo>
                    <a:pt x="8037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4500" y="7835900"/>
            <a:ext cx="1452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serviceA:v1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6679" y="7858942"/>
            <a:ext cx="1767839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2320"/>
              </a:lnSpc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serviceB:v2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0249" y="7858942"/>
            <a:ext cx="1767839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2320"/>
              </a:lnSpc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serviceC:v1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3820" y="7858942"/>
            <a:ext cx="1767839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5405">
              <a:lnSpc>
                <a:spcPts val="2320"/>
              </a:lnSpc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serviceD:v1.1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2310" y="8517836"/>
            <a:ext cx="12660630" cy="914400"/>
          </a:xfrm>
          <a:custGeom>
            <a:avLst/>
            <a:gdLst/>
            <a:ahLst/>
            <a:cxnLst/>
            <a:rect l="l" t="t" r="r" b="b"/>
            <a:pathLst>
              <a:path w="12660630" h="914400">
                <a:moveTo>
                  <a:pt x="12660175" y="0"/>
                </a:moveTo>
                <a:lnTo>
                  <a:pt x="0" y="0"/>
                </a:lnTo>
                <a:lnTo>
                  <a:pt x="0" y="914400"/>
                </a:lnTo>
                <a:lnTo>
                  <a:pt x="12660175" y="914400"/>
                </a:lnTo>
                <a:lnTo>
                  <a:pt x="1266017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5661" y="8496300"/>
            <a:ext cx="88677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label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=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5D328"/>
                </a:solidFill>
                <a:latin typeface="Arial"/>
                <a:cs typeface="Arial"/>
              </a:rPr>
              <a:t>“LABEL</a:t>
            </a:r>
            <a:r>
              <a:rPr sz="2000" spc="-9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5D328"/>
                </a:solidFill>
                <a:latin typeface="Arial"/>
                <a:cs typeface="Arial"/>
              </a:rPr>
              <a:t>name=serviceA”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88670" algn="l"/>
              </a:tabLst>
            </a:pP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</a:t>
            </a:r>
            <a:r>
              <a:rPr sz="2000" spc="-1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5D328"/>
                </a:solidFill>
                <a:latin typeface="Arial"/>
                <a:cs typeface="Arial"/>
              </a:rPr>
              <a:t>tag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	= </a:t>
            </a:r>
            <a:r>
              <a:rPr sz="2000" spc="-10" dirty="0">
                <a:solidFill>
                  <a:srgbClr val="F5D328"/>
                </a:solidFill>
                <a:latin typeface="Arial"/>
                <a:cs typeface="Arial"/>
              </a:rPr>
              <a:t>“serviceA:v1”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docker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tag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$(docker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history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224f4fee5ec1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|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grep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$label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|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awk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'{print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$1}')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$tag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600" y="2463800"/>
            <a:ext cx="471297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54330">
              <a:lnSpc>
                <a:spcPts val="4310"/>
              </a:lnSpc>
              <a:spcBef>
                <a:spcPts val="100"/>
              </a:spcBef>
              <a:buSzPct val="88888"/>
              <a:buFont typeface="DejaVu Sans"/>
              <a:buChar char="✓"/>
              <a:tabLst>
                <a:tab pos="354965" algn="l"/>
              </a:tabLst>
            </a:pPr>
            <a:r>
              <a:rPr sz="3600" dirty="0">
                <a:latin typeface="Arial"/>
                <a:cs typeface="Arial"/>
              </a:rPr>
              <a:t>One </a:t>
            </a:r>
            <a:r>
              <a:rPr sz="3600" spc="-10" dirty="0">
                <a:latin typeface="Arial"/>
                <a:cs typeface="Arial"/>
              </a:rPr>
              <a:t>Dockerfile</a:t>
            </a:r>
            <a:endParaRPr sz="3600">
              <a:latin typeface="Arial"/>
              <a:cs typeface="Arial"/>
            </a:endParaRPr>
          </a:p>
          <a:p>
            <a:pPr marL="354965" indent="-354330">
              <a:lnSpc>
                <a:spcPts val="4310"/>
              </a:lnSpc>
              <a:buSzPct val="88888"/>
              <a:buFont typeface="DejaVu Sans"/>
              <a:buChar char="✓"/>
              <a:tabLst>
                <a:tab pos="354965" algn="l"/>
              </a:tabLst>
            </a:pPr>
            <a:r>
              <a:rPr sz="3600" dirty="0">
                <a:latin typeface="Arial"/>
                <a:cs typeface="Arial"/>
              </a:rPr>
              <a:t>Many</a:t>
            </a:r>
            <a:r>
              <a:rPr sz="3600" spc="5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Docker</a:t>
            </a:r>
            <a:r>
              <a:rPr sz="3600" spc="5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images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250" dirty="0"/>
              <a:t> </a:t>
            </a:r>
            <a:r>
              <a:rPr dirty="0"/>
              <a:t>Builder</a:t>
            </a:r>
            <a:r>
              <a:rPr spc="25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924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2628900"/>
            <a:ext cx="8369300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20"/>
              </a:spcBef>
            </a:pPr>
            <a:r>
              <a:rPr sz="3600" dirty="0">
                <a:latin typeface="Arial"/>
                <a:cs typeface="Arial"/>
              </a:rPr>
              <a:t>Sign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100" dirty="0">
                <a:latin typeface="Arial"/>
                <a:cs typeface="Arial"/>
              </a:rPr>
              <a:t>up</a:t>
            </a:r>
            <a:r>
              <a:rPr sz="3600" dirty="0">
                <a:latin typeface="Arial"/>
                <a:cs typeface="Arial"/>
              </a:rPr>
              <a:t> for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 free Codefresh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50" dirty="0">
                <a:latin typeface="Arial"/>
                <a:cs typeface="Arial"/>
              </a:rPr>
              <a:t>account</a:t>
            </a:r>
            <a:r>
              <a:rPr sz="3600" dirty="0">
                <a:latin typeface="Arial"/>
                <a:cs typeface="Arial"/>
              </a:rPr>
              <a:t> at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-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www.codefresh.io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43180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4254500"/>
            <a:ext cx="9756775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Additional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info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on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Docker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Driven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Development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-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www.codefresh.io/blog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59436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5880100"/>
            <a:ext cx="5556250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Meetups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&amp;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Webinars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-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www.codefresh.io/meetups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0" y="75692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100" y="7505700"/>
            <a:ext cx="4156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latin typeface="Arial"/>
                <a:cs typeface="Arial"/>
              </a:rPr>
              <a:t>Twitter</a:t>
            </a:r>
            <a:r>
              <a:rPr sz="3600" spc="-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-</a:t>
            </a:r>
            <a:r>
              <a:rPr sz="3600" spc="-70" dirty="0">
                <a:latin typeface="Arial"/>
                <a:cs typeface="Arial"/>
              </a:rPr>
              <a:t> </a:t>
            </a:r>
            <a:r>
              <a:rPr sz="3600" spc="-40" dirty="0">
                <a:latin typeface="Arial"/>
                <a:cs typeface="Arial"/>
              </a:rPr>
              <a:t>@codefresh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3700" y="127000"/>
            <a:ext cx="7137400" cy="3213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4500" y="3987800"/>
            <a:ext cx="4495800" cy="449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8900" y="8509000"/>
            <a:ext cx="10282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10"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https://codefresh.io/blog/node_docker_multistage/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441</Words>
  <Application>Microsoft Office PowerPoint</Application>
  <PresentationFormat>사용자 지정</PresentationFormat>
  <Paragraphs>116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DejaVu Sans</vt:lpstr>
      <vt:lpstr>DejaVu Sans Mono</vt:lpstr>
      <vt:lpstr>Arial</vt:lpstr>
      <vt:lpstr>Calibri</vt:lpstr>
      <vt:lpstr>Times New Roman</vt:lpstr>
      <vt:lpstr>Office Theme</vt:lpstr>
      <vt:lpstr>Docker multi-stage build</vt:lpstr>
      <vt:lpstr>Docker build</vt:lpstr>
      <vt:lpstr>janloeffler/html-demo Image Layers</vt:lpstr>
      <vt:lpstr>Problem with Docker Build</vt:lpstr>
      <vt:lpstr>Docker Builder Pattern</vt:lpstr>
      <vt:lpstr>Docker multi-stage build</vt:lpstr>
      <vt:lpstr>PowerPoint 프레젠테이션</vt:lpstr>
      <vt:lpstr>Node.js multi-stage build</vt:lpstr>
      <vt:lpstr>Go multi-stage build https://github.com/gaia-adm/pumba/tree/multistage</vt:lpstr>
      <vt:lpstr>Docker multi-stage with codefresh.io</vt:lpstr>
      <vt:lpstr>Multi-build Use Case</vt:lpstr>
      <vt:lpstr>Docker Builder Pattern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IT Admin User</cp:lastModifiedBy>
  <cp:revision>1</cp:revision>
  <dcterms:created xsi:type="dcterms:W3CDTF">2025-06-07T22:43:44Z</dcterms:created>
  <dcterms:modified xsi:type="dcterms:W3CDTF">2025-09-22T21:50:42Z</dcterms:modified>
</cp:coreProperties>
</file>