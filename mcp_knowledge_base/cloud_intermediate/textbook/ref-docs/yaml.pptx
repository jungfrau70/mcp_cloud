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9" r:id="rId2"/>
    <p:sldId id="257" r:id="rId3"/>
    <p:sldId id="274" r:id="rId4"/>
    <p:sldId id="275" r:id="rId5"/>
    <p:sldId id="270" r:id="rId6"/>
    <p:sldId id="258" r:id="rId7"/>
    <p:sldId id="276" r:id="rId8"/>
    <p:sldId id="259" r:id="rId9"/>
    <p:sldId id="290" r:id="rId10"/>
    <p:sldId id="284" r:id="rId11"/>
    <p:sldId id="286" r:id="rId12"/>
    <p:sldId id="287" r:id="rId13"/>
    <p:sldId id="285" r:id="rId14"/>
    <p:sldId id="262" r:id="rId15"/>
    <p:sldId id="263" r:id="rId16"/>
    <p:sldId id="264" r:id="rId17"/>
    <p:sldId id="271" r:id="rId18"/>
    <p:sldId id="265" r:id="rId19"/>
    <p:sldId id="281" r:id="rId20"/>
    <p:sldId id="282" r:id="rId21"/>
    <p:sldId id="283" r:id="rId22"/>
    <p:sldId id="277" r:id="rId23"/>
    <p:sldId id="273" r:id="rId24"/>
    <p:sldId id="280" r:id="rId25"/>
    <p:sldId id="291" r:id="rId26"/>
    <p:sldId id="28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A7539-3BC7-45D6-BEE5-1063AE323C05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C5D12-8028-4145-8879-BB6589082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371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873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61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67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07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55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31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7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124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01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938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92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13605-FA88-4C22-91B6-5078A835A21A}" type="datetimeFigureOut">
              <a:rPr lang="en-IN" smtClean="0"/>
              <a:t>11-03-2018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1483E-9D53-4F46-8703-19B774FCA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91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aml.org/spec/current.html#index-entry-content" TargetMode="External"/><Relationship Id="rId2" Type="http://schemas.openxmlformats.org/officeDocument/2006/relationships/hyperlink" Target="http://www.yaml.org/spec/current.html#index-entry-nod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yaml.org/spec/current.html#tag/information model" TargetMode="External"/><Relationship Id="rId4" Type="http://schemas.openxmlformats.org/officeDocument/2006/relationships/hyperlink" Target="http://www.yaml.org/spec/current.html#index-entry-kin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aml.org/spec/current.html#indentation space/" TargetMode="External"/><Relationship Id="rId2" Type="http://schemas.openxmlformats.org/officeDocument/2006/relationships/hyperlink" Target="http://www.yaml.org/spec/current.html#block collection style/information mode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aml.org/spec/current.html#document/information model" TargetMode="External"/><Relationship Id="rId2" Type="http://schemas.openxmlformats.org/officeDocument/2006/relationships/hyperlink" Target="http://www.yaml.org/spec/current.html#document boundary mark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://www.yaml.org/spec/current.html#stream/information mode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yaml.org/spec/current.html#key/information model" TargetMode="External"/><Relationship Id="rId4" Type="http://schemas.openxmlformats.org/officeDocument/2006/relationships/hyperlink" Target="http://www.yaml.org/spec/current.html#? mapping key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aml.org/spec/current.html#&gt; folded style/" TargetMode="External"/><Relationship Id="rId3" Type="http://schemas.openxmlformats.org/officeDocument/2006/relationships/hyperlink" Target="http://www.yaml.org/spec/current.html#block style/information model" TargetMode="External"/><Relationship Id="rId7" Type="http://schemas.openxmlformats.org/officeDocument/2006/relationships/hyperlink" Target="http://www.yaml.org/spec/current.html#folded style/information model" TargetMode="External"/><Relationship Id="rId12" Type="http://schemas.openxmlformats.org/officeDocument/2006/relationships/image" Target="../media/image7.png"/><Relationship Id="rId2" Type="http://schemas.openxmlformats.org/officeDocument/2006/relationships/hyperlink" Target="http://www.yaml.org/spec/current.html#scalar/information mode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aml.org/spec/current.html#line break character/" TargetMode="External"/><Relationship Id="rId11" Type="http://schemas.openxmlformats.org/officeDocument/2006/relationships/hyperlink" Target="http://www.yaml.org/spec/current.html#more indented line/" TargetMode="External"/><Relationship Id="rId5" Type="http://schemas.openxmlformats.org/officeDocument/2006/relationships/hyperlink" Target="http://www.yaml.org/spec/current.html#| literal style/" TargetMode="External"/><Relationship Id="rId10" Type="http://schemas.openxmlformats.org/officeDocument/2006/relationships/hyperlink" Target="http://www.yaml.org/spec/current.html#empty line/" TargetMode="External"/><Relationship Id="rId4" Type="http://schemas.openxmlformats.org/officeDocument/2006/relationships/hyperlink" Target="http://www.yaml.org/spec/current.html#literal style/information model" TargetMode="External"/><Relationship Id="rId9" Type="http://schemas.openxmlformats.org/officeDocument/2006/relationships/hyperlink" Target="http://www.yaml.org/spec/current.html#line folding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sabarinath91@bitbucket.org/gsabarinath91/serialisation.gi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pyyaml.org/wiki/PyYAMLDocumentation" TargetMode="External"/><Relationship Id="rId2" Type="http://schemas.openxmlformats.org/officeDocument/2006/relationships/hyperlink" Target="https://learnxinyminutes.com/docs/yam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yaml.org/refcar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8913223" cy="2509111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YAML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4627" y="4921386"/>
            <a:ext cx="9331235" cy="1636168"/>
          </a:xfrm>
        </p:spPr>
        <p:txBody>
          <a:bodyPr>
            <a:normAutofit/>
          </a:bodyPr>
          <a:lstStyle/>
          <a:p>
            <a:endParaRPr lang="en-IN" dirty="0" smtClean="0"/>
          </a:p>
          <a:p>
            <a:pPr algn="l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 : 10-Mar-2017</a:t>
            </a:r>
            <a:r>
              <a:rPr lang="en-IN" dirty="0"/>
              <a:t>	</a:t>
            </a:r>
            <a:r>
              <a:rPr lang="en-IN" dirty="0" smtClean="0"/>
              <a:t>			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Sabarinath Gnanasekar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7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YAML?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 smtClean="0"/>
              <a:t>YAML is a Data Serialization Language.</a:t>
            </a:r>
          </a:p>
          <a:p>
            <a:pPr>
              <a:lnSpc>
                <a:spcPct val="150000"/>
              </a:lnSpc>
            </a:pPr>
            <a:r>
              <a:rPr lang="en-US" altLang="en-US" sz="2400" dirty="0" smtClean="0"/>
              <a:t>A New Language for Data</a:t>
            </a:r>
          </a:p>
          <a:p>
            <a:pPr>
              <a:lnSpc>
                <a:spcPct val="150000"/>
              </a:lnSpc>
            </a:pPr>
            <a:r>
              <a:rPr lang="en-US" altLang="en-US" sz="2400" dirty="0" smtClean="0"/>
              <a:t>Modeled after Perl-like structures</a:t>
            </a:r>
          </a:p>
          <a:p>
            <a:pPr>
              <a:lnSpc>
                <a:spcPct val="150000"/>
              </a:lnSpc>
            </a:pPr>
            <a:r>
              <a:rPr lang="en-US" altLang="en-US" sz="2400" dirty="0" smtClean="0"/>
              <a:t>But not just intended for Perl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/>
              <a:t>• Human friendly, cross language, Unicode based data serialization language.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450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2" y="666205"/>
            <a:ext cx="10648406" cy="536706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YAML can be taken as an acronym for either</a:t>
            </a:r>
          </a:p>
          <a:p>
            <a:pPr lvl="1">
              <a:lnSpc>
                <a:spcPct val="200000"/>
              </a:lnSpc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Yet Another Markup Language</a:t>
            </a:r>
          </a:p>
          <a:p>
            <a:pPr lvl="1">
              <a:lnSpc>
                <a:spcPct val="200000"/>
              </a:lnSpc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YAML </a:t>
            </a:r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Ain’t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Markup Language</a:t>
            </a:r>
          </a:p>
          <a:p>
            <a:pPr>
              <a:lnSpc>
                <a:spcPct val="2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 JSON, the purpose of YAML is to represent typical data types in human-readable notation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64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YAML if XML?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Unlike XML which is not easily readable by humans, YAML was created to be </a:t>
            </a:r>
            <a:r>
              <a:rPr 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human-friendly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integrate easily with modern programming languages.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Unlike with XML, YAML was intended to simplify the viewing and understanding of </a:t>
            </a:r>
            <a:r>
              <a:rPr 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files, log files, object persistence, and messaging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to allow the programmer to spend more time programming and less time formatting data.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42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3747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YAML Design Goals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240971"/>
            <a:ext cx="10896600" cy="49359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IN" sz="24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YAML design goals: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YAML documents are very readable by humans.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YAML interacts well with scripting languages.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YAML uses host languages native data structures.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YAML has a consistent information model.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YAML enables stream-based processing.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YAML is expressive and extensible.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YAML is easy to implement.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048000" y="199783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054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 smtClean="0"/>
              <a:t>To achieve Human/Computer easy processing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/>
              <a:t>High Data/Markup (Signal/Noise) Ratio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/>
              <a:t>To be the world's best Data::Dumper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/>
              <a:t>To be great for Configs, Caches, and Logs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/>
              <a:t>Unicode based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/>
              <a:t>Speedy parsing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/>
              <a:t>Alternative to XML (for some applications)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4540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545" y="169183"/>
            <a:ext cx="10305506" cy="1019537"/>
          </a:xfrm>
        </p:spPr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YAML Syntax Rules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149" y="1306286"/>
            <a:ext cx="10491651" cy="487067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Documents begin with --- and end with …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Indentation of lines denotes the structure within the document.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Comments begin with #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Members of lists begin with –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Key value pairs use the following syntax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&lt;key&gt;:value&gt; </a:t>
            </a:r>
          </a:p>
          <a:p>
            <a:pPr>
              <a:lnSpc>
                <a:spcPct val="120000"/>
              </a:lnSpc>
            </a:pPr>
            <a:r>
              <a:rPr lang="en-US" altLang="en-US" sz="2400" dirty="0" smtClean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YAML files should end in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yaml</a:t>
            </a:r>
            <a:endParaRPr lang="en-US" altLang="en-US" sz="2400" dirty="0">
              <a:solidFill>
                <a:srgbClr val="5E5E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400" dirty="0" smtClean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YAML is case sensitive.</a:t>
            </a:r>
          </a:p>
          <a:p>
            <a:pPr>
              <a:lnSpc>
                <a:spcPct val="120000"/>
              </a:lnSpc>
            </a:pPr>
            <a:r>
              <a:rPr lang="en-US" altLang="en-US" sz="2400" dirty="0" smtClean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YAML does not allow the use of tabs. Spaces are used instead as tabs are not universally supported.</a:t>
            </a:r>
          </a:p>
          <a:p>
            <a:pPr marL="0" lvl="0" indent="0" eaLnBrk="0" fontAlgn="b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 smtClean="0">
              <a:solidFill>
                <a:srgbClr val="4444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solidFill>
            <a:srgbClr val="FEFA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43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4173"/>
            <a:ext cx="10515600" cy="923108"/>
          </a:xfrm>
        </p:spPr>
        <p:txBody>
          <a:bodyPr>
            <a:normAutofit/>
          </a:bodyPr>
          <a:lstStyle/>
          <a:p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YAML Syntax Basics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3" y="1267098"/>
            <a:ext cx="10609217" cy="490986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</a:t>
            </a:r>
          </a:p>
          <a:p>
            <a:pPr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Streams and Documents</a:t>
            </a:r>
          </a:p>
          <a:p>
            <a:pPr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hashes / dictionaries)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(arrays / lists)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Comments</a:t>
            </a:r>
          </a:p>
        </p:txBody>
      </p:sp>
    </p:spTree>
    <p:extLst>
      <p:ext uri="{BB962C8B-B14F-4D97-AF65-F5344CB8AC3E}">
        <p14:creationId xmlns:p14="http://schemas.microsoft.com/office/powerpoint/2010/main" val="2891184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5936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IN" dirty="0" smtClean="0"/>
              <a:t>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091"/>
            <a:ext cx="10515600" cy="511887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Scalars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(strings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,integers, dates and other atomic data types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Quoted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( |)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Folded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Wiki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Escaping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Anchors &amp; Aliases (&amp;,*)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Tags (Data types)(“!”)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Nodes -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YAML 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nodes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have 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content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of one of three 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kinds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scalar, sequence, or mapping. In addition, each node has a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tag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which serves to restrict the set of possible values which the node's content can have.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17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175646"/>
            <a:ext cx="10017035" cy="793161"/>
          </a:xfrm>
        </p:spPr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71" y="1293223"/>
            <a:ext cx="10646229" cy="4883740"/>
          </a:xfrm>
        </p:spPr>
        <p:txBody>
          <a:bodyPr/>
          <a:lstStyle/>
          <a:p>
            <a:r>
              <a:rPr lang="en-US" dirty="0"/>
              <a:t>YAML's </a:t>
            </a:r>
            <a:r>
              <a:rPr lang="en-US" dirty="0">
                <a:hlinkClick r:id="rId2"/>
              </a:rPr>
              <a:t>block collections</a:t>
            </a:r>
            <a:r>
              <a:rPr lang="en-US" dirty="0"/>
              <a:t> use </a:t>
            </a:r>
            <a:r>
              <a:rPr lang="en-US" dirty="0">
                <a:hlinkClick r:id="rId3"/>
              </a:rPr>
              <a:t>indentation</a:t>
            </a:r>
            <a:r>
              <a:rPr lang="en-US" dirty="0"/>
              <a:t> for scope and begin each </a:t>
            </a:r>
            <a:r>
              <a:rPr lang="en-US" dirty="0" smtClean="0"/>
              <a:t>entry </a:t>
            </a:r>
            <a:r>
              <a:rPr lang="en-US" dirty="0"/>
              <a:t>on its own </a:t>
            </a:r>
            <a:r>
              <a:rPr lang="en-US" dirty="0" smtClean="0"/>
              <a:t>line.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713" y="2237172"/>
            <a:ext cx="7802497" cy="1453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14" y="3845808"/>
            <a:ext cx="7634396" cy="225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5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332" y="201968"/>
            <a:ext cx="9834154" cy="653778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– Streams &amp; Documents	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2332" y="1067736"/>
            <a:ext cx="10452950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YAML uses three dashes 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“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---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”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 separate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documents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within a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stream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Three dots (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“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...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”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indicate the end of a document without starting a new one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332" y="2110722"/>
            <a:ext cx="6479177" cy="22733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56" y="4418213"/>
            <a:ext cx="6447129" cy="226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6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487" y="1785345"/>
            <a:ext cx="7188404" cy="21727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" y="4055831"/>
            <a:ext cx="7269308" cy="2279655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838200" y="288111"/>
            <a:ext cx="8757397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question mark and space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(“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?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”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indicate a complex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mapping key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 and * indicate Anchors and Aliases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723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9812"/>
            <a:ext cx="9860280" cy="692966"/>
          </a:xfrm>
        </p:spPr>
        <p:txBody>
          <a:bodyPr/>
          <a:lstStyle/>
          <a:p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02"/>
            <a:ext cx="10515600" cy="174053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YAML </a:t>
            </a: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like a Perl hash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Unordered Key/Value pairs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 by ': ' (space is mandatory)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3435533"/>
            <a:ext cx="552341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name: Benjamin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rank: Private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serial number: 1234567890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12:34 PM: My favorite time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42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51720" cy="70602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equences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3557"/>
            <a:ext cx="10515600" cy="167522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YAML </a:t>
            </a: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like a Perl array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ordered collection of data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YAML has a bullet like syntax '- '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55766" y="3500846"/>
            <a:ext cx="5745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pPr>
              <a:buFontTx/>
              <a:buChar char="-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red</a:t>
            </a:r>
          </a:p>
          <a:p>
            <a:pPr>
              <a:buFontTx/>
              <a:buChar char="-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white</a:t>
            </a:r>
          </a:p>
          <a:p>
            <a:pPr>
              <a:buFontTx/>
              <a:buChar char="-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blue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pinko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72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331" y="124416"/>
            <a:ext cx="10515600" cy="67242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xamples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331" y="1188721"/>
            <a:ext cx="10802983" cy="4833256"/>
          </a:xfrm>
        </p:spPr>
        <p:txBody>
          <a:bodyPr>
            <a:noAutofit/>
          </a:bodyPr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1100" dirty="0">
                <a:latin typeface="Courier" charset="0"/>
              </a:rPr>
              <a:t>---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Fruits: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  - Apples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  - Tomatoes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Veggies: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  - Spinach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  - Broccoli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Meats: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  - Burgers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  - Shrimp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Household: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  - Candles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  - Incense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1600" dirty="0">
                <a:latin typeface="Courier" charset="0"/>
              </a:rPr>
              <a:t>  - Toilet Duck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6800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4496"/>
            <a:ext cx="10515600" cy="1045663"/>
          </a:xfrm>
        </p:spPr>
        <p:txBody>
          <a:bodyPr>
            <a:normAutofit/>
          </a:bodyPr>
          <a:lstStyle/>
          <a:p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Ex2:The Matrix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851"/>
            <a:ext cx="10748554" cy="4898572"/>
          </a:xfrm>
        </p:spPr>
        <p:txBody>
          <a:bodyPr>
            <a:noAutofit/>
          </a:bodyPr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1800" dirty="0">
                <a:latin typeface="Courier" charset="0"/>
              </a:rPr>
              <a:t>---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-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  - 3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  - 5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  - 7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-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  - 0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  - 0 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  - 7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-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  - 9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  - 1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" charset="0"/>
              </a:rPr>
              <a:t>  - 1</a:t>
            </a:r>
          </a:p>
        </p:txBody>
      </p:sp>
    </p:spTree>
    <p:extLst>
      <p:ext uri="{BB962C8B-B14F-4D97-AF65-F5344CB8AC3E}">
        <p14:creationId xmlns:p14="http://schemas.microsoft.com/office/powerpoint/2010/main" val="46060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483961"/>
          </a:xfrm>
        </p:spPr>
        <p:txBody>
          <a:bodyPr>
            <a:normAutofit fontScale="90000"/>
          </a:bodyPr>
          <a:lstStyle/>
          <a:p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207363"/>
            <a:ext cx="10515600" cy="164909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Comments/blank lines can go almost anywhere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not be ambiguous with content</a:t>
            </a:r>
          </a:p>
          <a:p>
            <a:pPr>
              <a:lnSpc>
                <a:spcPct val="10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begin '# '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2980876"/>
            <a:ext cx="7184571" cy="3638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# comment before document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--- #DIRECTIVE # comment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foo: bar # inline comment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phone: number #555-1234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   ### Comment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fact: fiction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---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blue: bird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# Comment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80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958584" y="344019"/>
            <a:ext cx="9374136" cy="609569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Scalars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958584" y="1169125"/>
            <a:ext cx="8739693" cy="1512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YAML </a:t>
            </a: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scalar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,integers, dates and other atomic data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types.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YAML has many scalar forms.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316277" y="2671415"/>
            <a:ext cx="83820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---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simple: look ma, no quotes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quoted: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  - 'Single quoted. Like Perl, no escapes'             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  - "Double quotes.\</a:t>
            </a:r>
            <a:r>
              <a:rPr lang="en-US" altLang="en-US" dirty="0" err="1">
                <a:latin typeface="Courier" charset="0"/>
              </a:rPr>
              <a:t>nLike</a:t>
            </a:r>
            <a:r>
              <a:rPr lang="en-US" altLang="en-US" dirty="0">
                <a:latin typeface="Courier" charset="0"/>
              </a:rPr>
              <a:t> Perl, has escapes"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  - |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    A YAML block scalar.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    Much like Perl's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altLang="en-US" dirty="0">
                <a:latin typeface="Courier" charset="0"/>
              </a:rPr>
              <a:t>    here-document.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080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63880" y="988758"/>
            <a:ext cx="11286309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Scalar content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can be written in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block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form using a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literal style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“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”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where all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line breaks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count. Or they can be written with the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folded style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(“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”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where each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line break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folded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a space unless it ends an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empty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 a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“more indented” line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880" y="2850829"/>
            <a:ext cx="9930848" cy="306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0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Tags	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http://yaml.org/type/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58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83771" y="849086"/>
            <a:ext cx="10570029" cy="53278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YAML Pros:</a:t>
            </a:r>
          </a:p>
          <a:p>
            <a:pPr lvl="1">
              <a:lnSpc>
                <a:spcPct val="150000"/>
              </a:lnSpc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Cleaner format</a:t>
            </a:r>
          </a:p>
          <a:p>
            <a:pPr lvl="1">
              <a:lnSpc>
                <a:spcPct val="150000"/>
              </a:lnSpc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Safe deserialization</a:t>
            </a:r>
          </a:p>
          <a:p>
            <a:pPr lvl="1">
              <a:lnSpc>
                <a:spcPct val="150000"/>
              </a:lnSpc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Hashes sorted by default</a:t>
            </a:r>
          </a:p>
          <a:p>
            <a:pPr lvl="1">
              <a:lnSpc>
                <a:spcPct val="150000"/>
              </a:lnSpc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GLOB(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*.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txt)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Regexp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Interacts with Ruby, Python, Java 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23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1864" y="0"/>
            <a:ext cx="8721563" cy="66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0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978" y="326573"/>
            <a:ext cx="8206966" cy="617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2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95" y="1280158"/>
            <a:ext cx="10982580" cy="441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5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49086" y="496389"/>
            <a:ext cx="10504714" cy="5680574"/>
          </a:xfrm>
        </p:spPr>
        <p:txBody>
          <a:bodyPr/>
          <a:lstStyle/>
          <a:p>
            <a:pPr marL="0" indent="0" algn="ctr">
              <a:buNone/>
            </a:pPr>
            <a:endParaRPr lang="en-IN" dirty="0" smtClean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 smtClean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  <a:p>
            <a:pPr marL="0" indent="0" algn="ctr">
              <a:buNone/>
            </a:pPr>
            <a:r>
              <a:rPr lang="en-IN" sz="24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https://gsabarinath91@bitbucket.org/gsabarinath91/serialisation.git</a:t>
            </a:r>
            <a:endParaRPr lang="en-IN" sz="2400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254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	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https://learnxinyminutes.com/docs/yaml/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http://pyyaml.org/wiki/PyYAMLDocumentation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http://yaml.org/refcard.html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http://sangsoonam.github.io/2017/03/13/yaml-vs-json.html</a:t>
            </a:r>
          </a:p>
        </p:txBody>
      </p:sp>
    </p:spTree>
    <p:extLst>
      <p:ext uri="{BB962C8B-B14F-4D97-AF65-F5344CB8AC3E}">
        <p14:creationId xmlns:p14="http://schemas.microsoft.com/office/powerpoint/2010/main" val="264763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5359</TotalTime>
  <Words>699</Words>
  <Application>Microsoft Office PowerPoint</Application>
  <PresentationFormat>Widescreen</PresentationFormat>
  <Paragraphs>162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Courier</vt:lpstr>
      <vt:lpstr>Courier New</vt:lpstr>
      <vt:lpstr>Times</vt:lpstr>
      <vt:lpstr>Times New Roman</vt:lpstr>
      <vt:lpstr>Office Theme</vt:lpstr>
      <vt:lpstr>YAML</vt:lpstr>
      <vt:lpstr>What is YAML?</vt:lpstr>
      <vt:lpstr>PowerPoint Presentation</vt:lpstr>
      <vt:lpstr>Why YAML if XML?</vt:lpstr>
      <vt:lpstr>YAML Design Goals</vt:lpstr>
      <vt:lpstr>Design consideration</vt:lpstr>
      <vt:lpstr>Basic YAML Syntax Rules </vt:lpstr>
      <vt:lpstr>YAML Syntax Basics</vt:lpstr>
      <vt:lpstr>Contd..</vt:lpstr>
      <vt:lpstr>Collections:</vt:lpstr>
      <vt:lpstr>Structures – Streams &amp; Documents </vt:lpstr>
      <vt:lpstr>PowerPoint Presentation</vt:lpstr>
      <vt:lpstr>Mappings</vt:lpstr>
      <vt:lpstr>Sequences</vt:lpstr>
      <vt:lpstr>Examples</vt:lpstr>
      <vt:lpstr>Ex2:The Matrix</vt:lpstr>
      <vt:lpstr>Comments</vt:lpstr>
      <vt:lpstr>Scalars </vt:lpstr>
      <vt:lpstr>PowerPoint Presentation</vt:lpstr>
      <vt:lpstr>Tags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66</cp:revision>
  <dcterms:created xsi:type="dcterms:W3CDTF">2018-03-06T11:49:07Z</dcterms:created>
  <dcterms:modified xsi:type="dcterms:W3CDTF">2018-03-11T17:45:50Z</dcterms:modified>
</cp:coreProperties>
</file>