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F1689"/>
                </a:solidFill>
                <a:latin typeface="DejaVu Sans Mono"/>
                <a:cs typeface="DejaVu Sans Mon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F1689"/>
                </a:solidFill>
                <a:latin typeface="DejaVu Sans Mono"/>
                <a:cs typeface="DejaVu Sans Mon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F1689"/>
                </a:solidFill>
                <a:latin typeface="DejaVu Sans Mono"/>
                <a:cs typeface="DejaVu Sans Mon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F1689"/>
                </a:solidFill>
                <a:latin typeface="DejaVu Sans Mono"/>
                <a:cs typeface="DejaVu Sans Mon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0292" y="672084"/>
            <a:ext cx="5509259" cy="1010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F1689"/>
                </a:solidFill>
                <a:latin typeface="DejaVu Sans Mono"/>
                <a:cs typeface="DejaVu Sans Mon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3452" y="2521002"/>
            <a:ext cx="6518275" cy="1623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9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json-schema.org/draft-07/schema" TargetMode="External"/><Relationship Id="rId3" Type="http://schemas.openxmlformats.org/officeDocument/2006/relationships/image" Target="../media/image3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34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5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cncf-helm@lists.cncf.io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0335" y="374904"/>
            <a:ext cx="5291327" cy="610819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8733155" cy="1491615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 marR="985519">
              <a:lnSpc>
                <a:spcPts val="3820"/>
              </a:lnSpc>
              <a:spcBef>
                <a:spcPts val="240"/>
              </a:spcBef>
            </a:pPr>
            <a:r>
              <a:rPr dirty="0"/>
              <a:t>Helm</a:t>
            </a:r>
            <a:r>
              <a:rPr dirty="0" spc="125"/>
              <a:t> </a:t>
            </a:r>
            <a:r>
              <a:rPr dirty="0"/>
              <a:t>Is</a:t>
            </a:r>
            <a:r>
              <a:rPr dirty="0" spc="130"/>
              <a:t> </a:t>
            </a:r>
            <a:r>
              <a:rPr dirty="0"/>
              <a:t>The</a:t>
            </a:r>
            <a:r>
              <a:rPr dirty="0" spc="130"/>
              <a:t> </a:t>
            </a:r>
            <a:r>
              <a:rPr dirty="0"/>
              <a:t>Package</a:t>
            </a:r>
            <a:r>
              <a:rPr dirty="0" spc="125"/>
              <a:t> </a:t>
            </a:r>
            <a:r>
              <a:rPr dirty="0"/>
              <a:t>Manager</a:t>
            </a:r>
            <a:r>
              <a:rPr dirty="0" spc="130"/>
              <a:t> </a:t>
            </a:r>
            <a:r>
              <a:rPr dirty="0" spc="-25"/>
              <a:t>For </a:t>
            </a:r>
            <a:r>
              <a:rPr dirty="0" spc="-10"/>
              <a:t>Kubernetes</a:t>
            </a:r>
          </a:p>
          <a:p>
            <a:pPr marL="12700">
              <a:lnSpc>
                <a:spcPts val="3760"/>
              </a:lnSpc>
              <a:tabLst>
                <a:tab pos="1664970" algn="l"/>
                <a:tab pos="4812665" algn="l"/>
                <a:tab pos="6281420" algn="l"/>
              </a:tabLst>
            </a:pPr>
            <a:r>
              <a:rPr dirty="0" spc="-10">
                <a:solidFill>
                  <a:srgbClr val="95297C"/>
                </a:solidFill>
              </a:rPr>
              <a:t>Helm</a:t>
            </a:r>
            <a:r>
              <a:rPr dirty="0" spc="-10">
                <a:solidFill>
                  <a:srgbClr val="95297C"/>
                </a:solidFill>
                <a:latin typeface="Malgun Gothic"/>
                <a:cs typeface="Malgun Gothic"/>
              </a:rPr>
              <a:t>은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10">
                <a:solidFill>
                  <a:srgbClr val="95297C"/>
                </a:solidFill>
              </a:rPr>
              <a:t>Kubernetes</a:t>
            </a:r>
            <a:r>
              <a:rPr dirty="0" spc="-10">
                <a:solidFill>
                  <a:srgbClr val="95297C"/>
                </a:solidFill>
                <a:latin typeface="Malgun Gothic"/>
                <a:cs typeface="Malgun Gothic"/>
              </a:rPr>
              <a:t>의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패키지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10">
                <a:solidFill>
                  <a:srgbClr val="95297C"/>
                </a:solidFill>
                <a:latin typeface="Malgun Gothic"/>
                <a:cs typeface="Malgun Gothic"/>
              </a:rPr>
              <a:t>관리자입니다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7111" y="2346960"/>
            <a:ext cx="3115056" cy="359359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94904" y="2185416"/>
            <a:ext cx="1603248" cy="60655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5104" y="3038855"/>
            <a:ext cx="1109472" cy="167030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9168" y="3169920"/>
            <a:ext cx="1033272" cy="137464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405742" y="3315716"/>
            <a:ext cx="63309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50">
                <a:latin typeface="Calibri"/>
                <a:cs typeface="Calibri"/>
              </a:rPr>
              <a:t>≈</a:t>
            </a:r>
            <a:endParaRPr sz="9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67761" y="4469892"/>
            <a:ext cx="6089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>
                <a:latin typeface="Calibri"/>
                <a:cs typeface="Calibri"/>
              </a:rPr>
              <a:t>Apt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89392" y="5202935"/>
            <a:ext cx="1508759" cy="100583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591" y="847344"/>
            <a:ext cx="917447" cy="91744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6959" y="576072"/>
            <a:ext cx="1459992" cy="146303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3832" y="975360"/>
            <a:ext cx="664463" cy="66446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992026" y="1070692"/>
            <a:ext cx="6352540" cy="474345"/>
            <a:chOff x="2992026" y="1070692"/>
            <a:chExt cx="6352540" cy="474345"/>
          </a:xfrm>
        </p:grpSpPr>
        <p:sp>
          <p:nvSpPr>
            <p:cNvPr id="6" name="object 6" descr=""/>
            <p:cNvSpPr/>
            <p:nvPr/>
          </p:nvSpPr>
          <p:spPr>
            <a:xfrm>
              <a:off x="2998376" y="1077042"/>
              <a:ext cx="6339840" cy="461645"/>
            </a:xfrm>
            <a:custGeom>
              <a:avLst/>
              <a:gdLst/>
              <a:ahLst/>
              <a:cxnLst/>
              <a:rect l="l" t="t" r="r" b="b"/>
              <a:pathLst>
                <a:path w="6339840" h="461644">
                  <a:moveTo>
                    <a:pt x="6108813" y="0"/>
                  </a:moveTo>
                  <a:lnTo>
                    <a:pt x="6108813" y="115258"/>
                  </a:lnTo>
                  <a:lnTo>
                    <a:pt x="0" y="115258"/>
                  </a:lnTo>
                  <a:lnTo>
                    <a:pt x="0" y="345784"/>
                  </a:lnTo>
                  <a:lnTo>
                    <a:pt x="6108813" y="345784"/>
                  </a:lnTo>
                  <a:lnTo>
                    <a:pt x="6108813" y="461043"/>
                  </a:lnTo>
                  <a:lnTo>
                    <a:pt x="6339328" y="230525"/>
                  </a:lnTo>
                  <a:lnTo>
                    <a:pt x="6108813" y="0"/>
                  </a:lnTo>
                  <a:close/>
                </a:path>
              </a:pathLst>
            </a:custGeom>
            <a:solidFill>
              <a:srgbClr val="090E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98376" y="1077042"/>
              <a:ext cx="6339840" cy="461645"/>
            </a:xfrm>
            <a:custGeom>
              <a:avLst/>
              <a:gdLst/>
              <a:ahLst/>
              <a:cxnLst/>
              <a:rect l="l" t="t" r="r" b="b"/>
              <a:pathLst>
                <a:path w="6339840" h="461644">
                  <a:moveTo>
                    <a:pt x="0" y="115258"/>
                  </a:moveTo>
                  <a:lnTo>
                    <a:pt x="6108813" y="115258"/>
                  </a:lnTo>
                  <a:lnTo>
                    <a:pt x="6108813" y="0"/>
                  </a:lnTo>
                  <a:lnTo>
                    <a:pt x="6339328" y="230524"/>
                  </a:lnTo>
                  <a:lnTo>
                    <a:pt x="6108813" y="461042"/>
                  </a:lnTo>
                  <a:lnTo>
                    <a:pt x="6108813" y="345783"/>
                  </a:lnTo>
                  <a:lnTo>
                    <a:pt x="0" y="345783"/>
                  </a:lnTo>
                  <a:lnTo>
                    <a:pt x="0" y="115258"/>
                  </a:lnTo>
                  <a:close/>
                </a:path>
              </a:pathLst>
            </a:custGeom>
            <a:ln w="12700">
              <a:solidFill>
                <a:srgbClr val="090E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2696900" y="2266789"/>
            <a:ext cx="6407785" cy="0"/>
          </a:xfrm>
          <a:custGeom>
            <a:avLst/>
            <a:gdLst/>
            <a:ahLst/>
            <a:cxnLst/>
            <a:rect l="l" t="t" r="r" b="b"/>
            <a:pathLst>
              <a:path w="6407784" h="0">
                <a:moveTo>
                  <a:pt x="0" y="0"/>
                </a:moveTo>
                <a:lnTo>
                  <a:pt x="6407398" y="1"/>
                </a:lnTo>
              </a:path>
            </a:pathLst>
          </a:custGeom>
          <a:ln w="12700">
            <a:solidFill>
              <a:srgbClr val="0508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696900" y="4578403"/>
            <a:ext cx="6407785" cy="0"/>
          </a:xfrm>
          <a:custGeom>
            <a:avLst/>
            <a:gdLst/>
            <a:ahLst/>
            <a:cxnLst/>
            <a:rect l="l" t="t" r="r" b="b"/>
            <a:pathLst>
              <a:path w="6407784" h="0">
                <a:moveTo>
                  <a:pt x="0" y="0"/>
                </a:moveTo>
                <a:lnTo>
                  <a:pt x="6407398" y="1"/>
                </a:lnTo>
              </a:path>
            </a:pathLst>
          </a:custGeom>
          <a:ln w="12700">
            <a:solidFill>
              <a:srgbClr val="05084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2217219" y="5171409"/>
            <a:ext cx="1219200" cy="1219200"/>
            <a:chOff x="2217219" y="5171409"/>
            <a:chExt cx="1219200" cy="1219200"/>
          </a:xfrm>
        </p:grpSpPr>
        <p:sp>
          <p:nvSpPr>
            <p:cNvPr id="11" name="object 11" descr=""/>
            <p:cNvSpPr/>
            <p:nvPr/>
          </p:nvSpPr>
          <p:spPr>
            <a:xfrm>
              <a:off x="2223569" y="5177759"/>
              <a:ext cx="1206500" cy="1206500"/>
            </a:xfrm>
            <a:custGeom>
              <a:avLst/>
              <a:gdLst/>
              <a:ahLst/>
              <a:cxnLst/>
              <a:rect l="l" t="t" r="r" b="b"/>
              <a:pathLst>
                <a:path w="1206500" h="1206500">
                  <a:moveTo>
                    <a:pt x="603196" y="0"/>
                  </a:moveTo>
                  <a:lnTo>
                    <a:pt x="556057" y="1814"/>
                  </a:lnTo>
                  <a:lnTo>
                    <a:pt x="509910" y="7169"/>
                  </a:lnTo>
                  <a:lnTo>
                    <a:pt x="464889" y="15930"/>
                  </a:lnTo>
                  <a:lnTo>
                    <a:pt x="421128" y="27963"/>
                  </a:lnTo>
                  <a:lnTo>
                    <a:pt x="378763" y="43134"/>
                  </a:lnTo>
                  <a:lnTo>
                    <a:pt x="337926" y="61309"/>
                  </a:lnTo>
                  <a:lnTo>
                    <a:pt x="298751" y="82354"/>
                  </a:lnTo>
                  <a:lnTo>
                    <a:pt x="261374" y="106134"/>
                  </a:lnTo>
                  <a:lnTo>
                    <a:pt x="225927" y="132515"/>
                  </a:lnTo>
                  <a:lnTo>
                    <a:pt x="192546" y="161364"/>
                  </a:lnTo>
                  <a:lnTo>
                    <a:pt x="161364" y="192546"/>
                  </a:lnTo>
                  <a:lnTo>
                    <a:pt x="132515" y="225927"/>
                  </a:lnTo>
                  <a:lnTo>
                    <a:pt x="106134" y="261374"/>
                  </a:lnTo>
                  <a:lnTo>
                    <a:pt x="82354" y="298751"/>
                  </a:lnTo>
                  <a:lnTo>
                    <a:pt x="61309" y="337926"/>
                  </a:lnTo>
                  <a:lnTo>
                    <a:pt x="43134" y="378763"/>
                  </a:lnTo>
                  <a:lnTo>
                    <a:pt x="27963" y="421128"/>
                  </a:lnTo>
                  <a:lnTo>
                    <a:pt x="15930" y="464889"/>
                  </a:lnTo>
                  <a:lnTo>
                    <a:pt x="7169" y="509910"/>
                  </a:lnTo>
                  <a:lnTo>
                    <a:pt x="1814" y="556057"/>
                  </a:lnTo>
                  <a:lnTo>
                    <a:pt x="0" y="603196"/>
                  </a:lnTo>
                  <a:lnTo>
                    <a:pt x="1814" y="650336"/>
                  </a:lnTo>
                  <a:lnTo>
                    <a:pt x="7169" y="696483"/>
                  </a:lnTo>
                  <a:lnTo>
                    <a:pt x="15930" y="741504"/>
                  </a:lnTo>
                  <a:lnTo>
                    <a:pt x="27963" y="785265"/>
                  </a:lnTo>
                  <a:lnTo>
                    <a:pt x="43134" y="827630"/>
                  </a:lnTo>
                  <a:lnTo>
                    <a:pt x="61309" y="868468"/>
                  </a:lnTo>
                  <a:lnTo>
                    <a:pt x="82354" y="907642"/>
                  </a:lnTo>
                  <a:lnTo>
                    <a:pt x="106134" y="945019"/>
                  </a:lnTo>
                  <a:lnTo>
                    <a:pt x="132515" y="980466"/>
                  </a:lnTo>
                  <a:lnTo>
                    <a:pt x="161364" y="1013847"/>
                  </a:lnTo>
                  <a:lnTo>
                    <a:pt x="192546" y="1045030"/>
                  </a:lnTo>
                  <a:lnTo>
                    <a:pt x="225927" y="1073878"/>
                  </a:lnTo>
                  <a:lnTo>
                    <a:pt x="261374" y="1100260"/>
                  </a:lnTo>
                  <a:lnTo>
                    <a:pt x="298751" y="1124040"/>
                  </a:lnTo>
                  <a:lnTo>
                    <a:pt x="337926" y="1145084"/>
                  </a:lnTo>
                  <a:lnTo>
                    <a:pt x="378763" y="1163259"/>
                  </a:lnTo>
                  <a:lnTo>
                    <a:pt x="421128" y="1178430"/>
                  </a:lnTo>
                  <a:lnTo>
                    <a:pt x="464889" y="1190463"/>
                  </a:lnTo>
                  <a:lnTo>
                    <a:pt x="509910" y="1199224"/>
                  </a:lnTo>
                  <a:lnTo>
                    <a:pt x="556057" y="1204579"/>
                  </a:lnTo>
                  <a:lnTo>
                    <a:pt x="603196" y="1206394"/>
                  </a:lnTo>
                  <a:lnTo>
                    <a:pt x="650336" y="1204579"/>
                  </a:lnTo>
                  <a:lnTo>
                    <a:pt x="696483" y="1199224"/>
                  </a:lnTo>
                  <a:lnTo>
                    <a:pt x="741504" y="1190463"/>
                  </a:lnTo>
                  <a:lnTo>
                    <a:pt x="785264" y="1178430"/>
                  </a:lnTo>
                  <a:lnTo>
                    <a:pt x="827630" y="1163259"/>
                  </a:lnTo>
                  <a:lnTo>
                    <a:pt x="868467" y="1145084"/>
                  </a:lnTo>
                  <a:lnTo>
                    <a:pt x="907641" y="1124040"/>
                  </a:lnTo>
                  <a:lnTo>
                    <a:pt x="945018" y="1100260"/>
                  </a:lnTo>
                  <a:lnTo>
                    <a:pt x="980465" y="1073878"/>
                  </a:lnTo>
                  <a:lnTo>
                    <a:pt x="1013846" y="1045030"/>
                  </a:lnTo>
                  <a:lnTo>
                    <a:pt x="1045028" y="1013847"/>
                  </a:lnTo>
                  <a:lnTo>
                    <a:pt x="1073877" y="980466"/>
                  </a:lnTo>
                  <a:lnTo>
                    <a:pt x="1100259" y="945019"/>
                  </a:lnTo>
                  <a:lnTo>
                    <a:pt x="1124039" y="907642"/>
                  </a:lnTo>
                  <a:lnTo>
                    <a:pt x="1145083" y="868468"/>
                  </a:lnTo>
                  <a:lnTo>
                    <a:pt x="1163258" y="827630"/>
                  </a:lnTo>
                  <a:lnTo>
                    <a:pt x="1178429" y="785265"/>
                  </a:lnTo>
                  <a:lnTo>
                    <a:pt x="1190462" y="741504"/>
                  </a:lnTo>
                  <a:lnTo>
                    <a:pt x="1199223" y="696483"/>
                  </a:lnTo>
                  <a:lnTo>
                    <a:pt x="1204578" y="650336"/>
                  </a:lnTo>
                  <a:lnTo>
                    <a:pt x="1206393" y="603196"/>
                  </a:lnTo>
                  <a:lnTo>
                    <a:pt x="1204578" y="556057"/>
                  </a:lnTo>
                  <a:lnTo>
                    <a:pt x="1199223" y="509910"/>
                  </a:lnTo>
                  <a:lnTo>
                    <a:pt x="1190462" y="464889"/>
                  </a:lnTo>
                  <a:lnTo>
                    <a:pt x="1178429" y="421128"/>
                  </a:lnTo>
                  <a:lnTo>
                    <a:pt x="1163258" y="378763"/>
                  </a:lnTo>
                  <a:lnTo>
                    <a:pt x="1145083" y="337926"/>
                  </a:lnTo>
                  <a:lnTo>
                    <a:pt x="1124039" y="298751"/>
                  </a:lnTo>
                  <a:lnTo>
                    <a:pt x="1100259" y="261374"/>
                  </a:lnTo>
                  <a:lnTo>
                    <a:pt x="1073877" y="225927"/>
                  </a:lnTo>
                  <a:lnTo>
                    <a:pt x="1045028" y="192546"/>
                  </a:lnTo>
                  <a:lnTo>
                    <a:pt x="1013846" y="161364"/>
                  </a:lnTo>
                  <a:lnTo>
                    <a:pt x="980465" y="132515"/>
                  </a:lnTo>
                  <a:lnTo>
                    <a:pt x="945018" y="106134"/>
                  </a:lnTo>
                  <a:lnTo>
                    <a:pt x="907641" y="82354"/>
                  </a:lnTo>
                  <a:lnTo>
                    <a:pt x="868467" y="61309"/>
                  </a:lnTo>
                  <a:lnTo>
                    <a:pt x="827630" y="43134"/>
                  </a:lnTo>
                  <a:lnTo>
                    <a:pt x="785264" y="27963"/>
                  </a:lnTo>
                  <a:lnTo>
                    <a:pt x="741504" y="15930"/>
                  </a:lnTo>
                  <a:lnTo>
                    <a:pt x="696483" y="7169"/>
                  </a:lnTo>
                  <a:lnTo>
                    <a:pt x="650336" y="1814"/>
                  </a:lnTo>
                  <a:lnTo>
                    <a:pt x="603196" y="0"/>
                  </a:lnTo>
                  <a:close/>
                </a:path>
              </a:pathLst>
            </a:custGeom>
            <a:solidFill>
              <a:srgbClr val="326C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223569" y="5177759"/>
              <a:ext cx="1206500" cy="1206500"/>
            </a:xfrm>
            <a:custGeom>
              <a:avLst/>
              <a:gdLst/>
              <a:ahLst/>
              <a:cxnLst/>
              <a:rect l="l" t="t" r="r" b="b"/>
              <a:pathLst>
                <a:path w="1206500" h="1206500">
                  <a:moveTo>
                    <a:pt x="0" y="603197"/>
                  </a:moveTo>
                  <a:lnTo>
                    <a:pt x="1814" y="556057"/>
                  </a:lnTo>
                  <a:lnTo>
                    <a:pt x="7169" y="509910"/>
                  </a:lnTo>
                  <a:lnTo>
                    <a:pt x="15930" y="464889"/>
                  </a:lnTo>
                  <a:lnTo>
                    <a:pt x="27963" y="421129"/>
                  </a:lnTo>
                  <a:lnTo>
                    <a:pt x="43134" y="378763"/>
                  </a:lnTo>
                  <a:lnTo>
                    <a:pt x="61309" y="337926"/>
                  </a:lnTo>
                  <a:lnTo>
                    <a:pt x="82354" y="298751"/>
                  </a:lnTo>
                  <a:lnTo>
                    <a:pt x="106134" y="261374"/>
                  </a:lnTo>
                  <a:lnTo>
                    <a:pt x="132515" y="225928"/>
                  </a:lnTo>
                  <a:lnTo>
                    <a:pt x="161364" y="192546"/>
                  </a:lnTo>
                  <a:lnTo>
                    <a:pt x="192546" y="161364"/>
                  </a:lnTo>
                  <a:lnTo>
                    <a:pt x="225928" y="132515"/>
                  </a:lnTo>
                  <a:lnTo>
                    <a:pt x="261374" y="106134"/>
                  </a:lnTo>
                  <a:lnTo>
                    <a:pt x="298751" y="82354"/>
                  </a:lnTo>
                  <a:lnTo>
                    <a:pt x="337926" y="61309"/>
                  </a:lnTo>
                  <a:lnTo>
                    <a:pt x="378763" y="43134"/>
                  </a:lnTo>
                  <a:lnTo>
                    <a:pt x="421129" y="27963"/>
                  </a:lnTo>
                  <a:lnTo>
                    <a:pt x="464889" y="15930"/>
                  </a:lnTo>
                  <a:lnTo>
                    <a:pt x="509910" y="7169"/>
                  </a:lnTo>
                  <a:lnTo>
                    <a:pt x="556057" y="1814"/>
                  </a:lnTo>
                  <a:lnTo>
                    <a:pt x="603197" y="0"/>
                  </a:lnTo>
                  <a:lnTo>
                    <a:pt x="650336" y="1814"/>
                  </a:lnTo>
                  <a:lnTo>
                    <a:pt x="696483" y="7169"/>
                  </a:lnTo>
                  <a:lnTo>
                    <a:pt x="741504" y="15930"/>
                  </a:lnTo>
                  <a:lnTo>
                    <a:pt x="785264" y="27963"/>
                  </a:lnTo>
                  <a:lnTo>
                    <a:pt x="827630" y="43134"/>
                  </a:lnTo>
                  <a:lnTo>
                    <a:pt x="868467" y="61309"/>
                  </a:lnTo>
                  <a:lnTo>
                    <a:pt x="907642" y="82354"/>
                  </a:lnTo>
                  <a:lnTo>
                    <a:pt x="945019" y="106134"/>
                  </a:lnTo>
                  <a:lnTo>
                    <a:pt x="980465" y="132515"/>
                  </a:lnTo>
                  <a:lnTo>
                    <a:pt x="1013847" y="161364"/>
                  </a:lnTo>
                  <a:lnTo>
                    <a:pt x="1045029" y="192546"/>
                  </a:lnTo>
                  <a:lnTo>
                    <a:pt x="1073878" y="225928"/>
                  </a:lnTo>
                  <a:lnTo>
                    <a:pt x="1100259" y="261374"/>
                  </a:lnTo>
                  <a:lnTo>
                    <a:pt x="1124039" y="298751"/>
                  </a:lnTo>
                  <a:lnTo>
                    <a:pt x="1145084" y="337926"/>
                  </a:lnTo>
                  <a:lnTo>
                    <a:pt x="1163259" y="378763"/>
                  </a:lnTo>
                  <a:lnTo>
                    <a:pt x="1178430" y="421129"/>
                  </a:lnTo>
                  <a:lnTo>
                    <a:pt x="1190463" y="464889"/>
                  </a:lnTo>
                  <a:lnTo>
                    <a:pt x="1199224" y="509910"/>
                  </a:lnTo>
                  <a:lnTo>
                    <a:pt x="1204579" y="556057"/>
                  </a:lnTo>
                  <a:lnTo>
                    <a:pt x="1206394" y="603197"/>
                  </a:lnTo>
                  <a:lnTo>
                    <a:pt x="1204579" y="650336"/>
                  </a:lnTo>
                  <a:lnTo>
                    <a:pt x="1199224" y="696483"/>
                  </a:lnTo>
                  <a:lnTo>
                    <a:pt x="1190463" y="741504"/>
                  </a:lnTo>
                  <a:lnTo>
                    <a:pt x="1178430" y="785264"/>
                  </a:lnTo>
                  <a:lnTo>
                    <a:pt x="1163259" y="827630"/>
                  </a:lnTo>
                  <a:lnTo>
                    <a:pt x="1145084" y="868467"/>
                  </a:lnTo>
                  <a:lnTo>
                    <a:pt x="1124039" y="907642"/>
                  </a:lnTo>
                  <a:lnTo>
                    <a:pt x="1100259" y="945019"/>
                  </a:lnTo>
                  <a:lnTo>
                    <a:pt x="1073878" y="980465"/>
                  </a:lnTo>
                  <a:lnTo>
                    <a:pt x="1045029" y="1013847"/>
                  </a:lnTo>
                  <a:lnTo>
                    <a:pt x="1013847" y="1045029"/>
                  </a:lnTo>
                  <a:lnTo>
                    <a:pt x="980465" y="1073878"/>
                  </a:lnTo>
                  <a:lnTo>
                    <a:pt x="945019" y="1100259"/>
                  </a:lnTo>
                  <a:lnTo>
                    <a:pt x="907642" y="1124039"/>
                  </a:lnTo>
                  <a:lnTo>
                    <a:pt x="868467" y="1145084"/>
                  </a:lnTo>
                  <a:lnTo>
                    <a:pt x="827630" y="1163259"/>
                  </a:lnTo>
                  <a:lnTo>
                    <a:pt x="785264" y="1178430"/>
                  </a:lnTo>
                  <a:lnTo>
                    <a:pt x="741504" y="1190463"/>
                  </a:lnTo>
                  <a:lnTo>
                    <a:pt x="696483" y="1199224"/>
                  </a:lnTo>
                  <a:lnTo>
                    <a:pt x="650336" y="1204579"/>
                  </a:lnTo>
                  <a:lnTo>
                    <a:pt x="603197" y="1206394"/>
                  </a:lnTo>
                  <a:lnTo>
                    <a:pt x="556057" y="1204579"/>
                  </a:lnTo>
                  <a:lnTo>
                    <a:pt x="509910" y="1199224"/>
                  </a:lnTo>
                  <a:lnTo>
                    <a:pt x="464889" y="1190463"/>
                  </a:lnTo>
                  <a:lnTo>
                    <a:pt x="421129" y="1178430"/>
                  </a:lnTo>
                  <a:lnTo>
                    <a:pt x="378763" y="1163259"/>
                  </a:lnTo>
                  <a:lnTo>
                    <a:pt x="337926" y="1145084"/>
                  </a:lnTo>
                  <a:lnTo>
                    <a:pt x="298751" y="1124039"/>
                  </a:lnTo>
                  <a:lnTo>
                    <a:pt x="261374" y="1100259"/>
                  </a:lnTo>
                  <a:lnTo>
                    <a:pt x="225928" y="1073878"/>
                  </a:lnTo>
                  <a:lnTo>
                    <a:pt x="192546" y="1045029"/>
                  </a:lnTo>
                  <a:lnTo>
                    <a:pt x="161364" y="1013847"/>
                  </a:lnTo>
                  <a:lnTo>
                    <a:pt x="132515" y="980465"/>
                  </a:lnTo>
                  <a:lnTo>
                    <a:pt x="106134" y="945019"/>
                  </a:lnTo>
                  <a:lnTo>
                    <a:pt x="82354" y="907642"/>
                  </a:lnTo>
                  <a:lnTo>
                    <a:pt x="61309" y="868467"/>
                  </a:lnTo>
                  <a:lnTo>
                    <a:pt x="43134" y="827630"/>
                  </a:lnTo>
                  <a:lnTo>
                    <a:pt x="27963" y="785264"/>
                  </a:lnTo>
                  <a:lnTo>
                    <a:pt x="15930" y="741504"/>
                  </a:lnTo>
                  <a:lnTo>
                    <a:pt x="7169" y="696483"/>
                  </a:lnTo>
                  <a:lnTo>
                    <a:pt x="1814" y="650336"/>
                  </a:lnTo>
                  <a:lnTo>
                    <a:pt x="0" y="603197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635250" y="5616955"/>
            <a:ext cx="3835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Dev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235762" y="5171409"/>
            <a:ext cx="1219200" cy="1219200"/>
            <a:chOff x="5235762" y="5171409"/>
            <a:chExt cx="1219200" cy="1219200"/>
          </a:xfrm>
        </p:grpSpPr>
        <p:sp>
          <p:nvSpPr>
            <p:cNvPr id="15" name="object 15" descr=""/>
            <p:cNvSpPr/>
            <p:nvPr/>
          </p:nvSpPr>
          <p:spPr>
            <a:xfrm>
              <a:off x="5242112" y="5177759"/>
              <a:ext cx="1206500" cy="1206500"/>
            </a:xfrm>
            <a:custGeom>
              <a:avLst/>
              <a:gdLst/>
              <a:ahLst/>
              <a:cxnLst/>
              <a:rect l="l" t="t" r="r" b="b"/>
              <a:pathLst>
                <a:path w="1206500" h="1206500">
                  <a:moveTo>
                    <a:pt x="603196" y="0"/>
                  </a:moveTo>
                  <a:lnTo>
                    <a:pt x="556057" y="1814"/>
                  </a:lnTo>
                  <a:lnTo>
                    <a:pt x="509910" y="7169"/>
                  </a:lnTo>
                  <a:lnTo>
                    <a:pt x="464889" y="15930"/>
                  </a:lnTo>
                  <a:lnTo>
                    <a:pt x="421128" y="27963"/>
                  </a:lnTo>
                  <a:lnTo>
                    <a:pt x="378763" y="43134"/>
                  </a:lnTo>
                  <a:lnTo>
                    <a:pt x="337926" y="61309"/>
                  </a:lnTo>
                  <a:lnTo>
                    <a:pt x="298751" y="82354"/>
                  </a:lnTo>
                  <a:lnTo>
                    <a:pt x="261374" y="106134"/>
                  </a:lnTo>
                  <a:lnTo>
                    <a:pt x="225927" y="132515"/>
                  </a:lnTo>
                  <a:lnTo>
                    <a:pt x="192546" y="161364"/>
                  </a:lnTo>
                  <a:lnTo>
                    <a:pt x="161364" y="192546"/>
                  </a:lnTo>
                  <a:lnTo>
                    <a:pt x="132515" y="225927"/>
                  </a:lnTo>
                  <a:lnTo>
                    <a:pt x="106134" y="261374"/>
                  </a:lnTo>
                  <a:lnTo>
                    <a:pt x="82354" y="298751"/>
                  </a:lnTo>
                  <a:lnTo>
                    <a:pt x="61309" y="337926"/>
                  </a:lnTo>
                  <a:lnTo>
                    <a:pt x="43134" y="378763"/>
                  </a:lnTo>
                  <a:lnTo>
                    <a:pt x="27963" y="421128"/>
                  </a:lnTo>
                  <a:lnTo>
                    <a:pt x="15930" y="464889"/>
                  </a:lnTo>
                  <a:lnTo>
                    <a:pt x="7169" y="509910"/>
                  </a:lnTo>
                  <a:lnTo>
                    <a:pt x="1814" y="556057"/>
                  </a:lnTo>
                  <a:lnTo>
                    <a:pt x="0" y="603196"/>
                  </a:lnTo>
                  <a:lnTo>
                    <a:pt x="1814" y="650336"/>
                  </a:lnTo>
                  <a:lnTo>
                    <a:pt x="7169" y="696483"/>
                  </a:lnTo>
                  <a:lnTo>
                    <a:pt x="15930" y="741504"/>
                  </a:lnTo>
                  <a:lnTo>
                    <a:pt x="27963" y="785265"/>
                  </a:lnTo>
                  <a:lnTo>
                    <a:pt x="43134" y="827630"/>
                  </a:lnTo>
                  <a:lnTo>
                    <a:pt x="61309" y="868468"/>
                  </a:lnTo>
                  <a:lnTo>
                    <a:pt x="82354" y="907642"/>
                  </a:lnTo>
                  <a:lnTo>
                    <a:pt x="106134" y="945019"/>
                  </a:lnTo>
                  <a:lnTo>
                    <a:pt x="132515" y="980466"/>
                  </a:lnTo>
                  <a:lnTo>
                    <a:pt x="161364" y="1013847"/>
                  </a:lnTo>
                  <a:lnTo>
                    <a:pt x="192546" y="1045030"/>
                  </a:lnTo>
                  <a:lnTo>
                    <a:pt x="225927" y="1073878"/>
                  </a:lnTo>
                  <a:lnTo>
                    <a:pt x="261374" y="1100260"/>
                  </a:lnTo>
                  <a:lnTo>
                    <a:pt x="298751" y="1124040"/>
                  </a:lnTo>
                  <a:lnTo>
                    <a:pt x="337926" y="1145084"/>
                  </a:lnTo>
                  <a:lnTo>
                    <a:pt x="378763" y="1163259"/>
                  </a:lnTo>
                  <a:lnTo>
                    <a:pt x="421128" y="1178430"/>
                  </a:lnTo>
                  <a:lnTo>
                    <a:pt x="464889" y="1190463"/>
                  </a:lnTo>
                  <a:lnTo>
                    <a:pt x="509910" y="1199224"/>
                  </a:lnTo>
                  <a:lnTo>
                    <a:pt x="556057" y="1204579"/>
                  </a:lnTo>
                  <a:lnTo>
                    <a:pt x="603196" y="1206394"/>
                  </a:lnTo>
                  <a:lnTo>
                    <a:pt x="650336" y="1204579"/>
                  </a:lnTo>
                  <a:lnTo>
                    <a:pt x="696483" y="1199224"/>
                  </a:lnTo>
                  <a:lnTo>
                    <a:pt x="741504" y="1190463"/>
                  </a:lnTo>
                  <a:lnTo>
                    <a:pt x="785264" y="1178430"/>
                  </a:lnTo>
                  <a:lnTo>
                    <a:pt x="827630" y="1163259"/>
                  </a:lnTo>
                  <a:lnTo>
                    <a:pt x="868467" y="1145084"/>
                  </a:lnTo>
                  <a:lnTo>
                    <a:pt x="907641" y="1124040"/>
                  </a:lnTo>
                  <a:lnTo>
                    <a:pt x="945019" y="1100260"/>
                  </a:lnTo>
                  <a:lnTo>
                    <a:pt x="980465" y="1073878"/>
                  </a:lnTo>
                  <a:lnTo>
                    <a:pt x="1013847" y="1045030"/>
                  </a:lnTo>
                  <a:lnTo>
                    <a:pt x="1045029" y="1013847"/>
                  </a:lnTo>
                  <a:lnTo>
                    <a:pt x="1073878" y="980466"/>
                  </a:lnTo>
                  <a:lnTo>
                    <a:pt x="1100260" y="945019"/>
                  </a:lnTo>
                  <a:lnTo>
                    <a:pt x="1124040" y="907642"/>
                  </a:lnTo>
                  <a:lnTo>
                    <a:pt x="1145084" y="868468"/>
                  </a:lnTo>
                  <a:lnTo>
                    <a:pt x="1163259" y="827630"/>
                  </a:lnTo>
                  <a:lnTo>
                    <a:pt x="1178430" y="785265"/>
                  </a:lnTo>
                  <a:lnTo>
                    <a:pt x="1190463" y="741504"/>
                  </a:lnTo>
                  <a:lnTo>
                    <a:pt x="1199224" y="696483"/>
                  </a:lnTo>
                  <a:lnTo>
                    <a:pt x="1204579" y="650336"/>
                  </a:lnTo>
                  <a:lnTo>
                    <a:pt x="1206394" y="603196"/>
                  </a:lnTo>
                  <a:lnTo>
                    <a:pt x="1204579" y="556057"/>
                  </a:lnTo>
                  <a:lnTo>
                    <a:pt x="1199224" y="509910"/>
                  </a:lnTo>
                  <a:lnTo>
                    <a:pt x="1190463" y="464889"/>
                  </a:lnTo>
                  <a:lnTo>
                    <a:pt x="1178430" y="421128"/>
                  </a:lnTo>
                  <a:lnTo>
                    <a:pt x="1163259" y="378763"/>
                  </a:lnTo>
                  <a:lnTo>
                    <a:pt x="1145084" y="337926"/>
                  </a:lnTo>
                  <a:lnTo>
                    <a:pt x="1124040" y="298751"/>
                  </a:lnTo>
                  <a:lnTo>
                    <a:pt x="1100260" y="261374"/>
                  </a:lnTo>
                  <a:lnTo>
                    <a:pt x="1073878" y="225927"/>
                  </a:lnTo>
                  <a:lnTo>
                    <a:pt x="1045029" y="192546"/>
                  </a:lnTo>
                  <a:lnTo>
                    <a:pt x="1013847" y="161364"/>
                  </a:lnTo>
                  <a:lnTo>
                    <a:pt x="980465" y="132515"/>
                  </a:lnTo>
                  <a:lnTo>
                    <a:pt x="945019" y="106134"/>
                  </a:lnTo>
                  <a:lnTo>
                    <a:pt x="907641" y="82354"/>
                  </a:lnTo>
                  <a:lnTo>
                    <a:pt x="868467" y="61309"/>
                  </a:lnTo>
                  <a:lnTo>
                    <a:pt x="827630" y="43134"/>
                  </a:lnTo>
                  <a:lnTo>
                    <a:pt x="785264" y="27963"/>
                  </a:lnTo>
                  <a:lnTo>
                    <a:pt x="741504" y="15930"/>
                  </a:lnTo>
                  <a:lnTo>
                    <a:pt x="696483" y="7169"/>
                  </a:lnTo>
                  <a:lnTo>
                    <a:pt x="650336" y="1814"/>
                  </a:lnTo>
                  <a:lnTo>
                    <a:pt x="603196" y="0"/>
                  </a:lnTo>
                  <a:close/>
                </a:path>
              </a:pathLst>
            </a:custGeom>
            <a:solidFill>
              <a:srgbClr val="326C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242112" y="5177759"/>
              <a:ext cx="1206500" cy="1206500"/>
            </a:xfrm>
            <a:custGeom>
              <a:avLst/>
              <a:gdLst/>
              <a:ahLst/>
              <a:cxnLst/>
              <a:rect l="l" t="t" r="r" b="b"/>
              <a:pathLst>
                <a:path w="1206500" h="1206500">
                  <a:moveTo>
                    <a:pt x="0" y="603197"/>
                  </a:moveTo>
                  <a:lnTo>
                    <a:pt x="1814" y="556057"/>
                  </a:lnTo>
                  <a:lnTo>
                    <a:pt x="7169" y="509910"/>
                  </a:lnTo>
                  <a:lnTo>
                    <a:pt x="15930" y="464889"/>
                  </a:lnTo>
                  <a:lnTo>
                    <a:pt x="27963" y="421129"/>
                  </a:lnTo>
                  <a:lnTo>
                    <a:pt x="43134" y="378763"/>
                  </a:lnTo>
                  <a:lnTo>
                    <a:pt x="61309" y="337926"/>
                  </a:lnTo>
                  <a:lnTo>
                    <a:pt x="82354" y="298751"/>
                  </a:lnTo>
                  <a:lnTo>
                    <a:pt x="106134" y="261374"/>
                  </a:lnTo>
                  <a:lnTo>
                    <a:pt x="132515" y="225928"/>
                  </a:lnTo>
                  <a:lnTo>
                    <a:pt x="161364" y="192546"/>
                  </a:lnTo>
                  <a:lnTo>
                    <a:pt x="192546" y="161364"/>
                  </a:lnTo>
                  <a:lnTo>
                    <a:pt x="225928" y="132515"/>
                  </a:lnTo>
                  <a:lnTo>
                    <a:pt x="261374" y="106134"/>
                  </a:lnTo>
                  <a:lnTo>
                    <a:pt x="298751" y="82354"/>
                  </a:lnTo>
                  <a:lnTo>
                    <a:pt x="337926" y="61309"/>
                  </a:lnTo>
                  <a:lnTo>
                    <a:pt x="378763" y="43134"/>
                  </a:lnTo>
                  <a:lnTo>
                    <a:pt x="421129" y="27963"/>
                  </a:lnTo>
                  <a:lnTo>
                    <a:pt x="464889" y="15930"/>
                  </a:lnTo>
                  <a:lnTo>
                    <a:pt x="509910" y="7169"/>
                  </a:lnTo>
                  <a:lnTo>
                    <a:pt x="556057" y="1814"/>
                  </a:lnTo>
                  <a:lnTo>
                    <a:pt x="603197" y="0"/>
                  </a:lnTo>
                  <a:lnTo>
                    <a:pt x="650336" y="1814"/>
                  </a:lnTo>
                  <a:lnTo>
                    <a:pt x="696483" y="7169"/>
                  </a:lnTo>
                  <a:lnTo>
                    <a:pt x="741504" y="15930"/>
                  </a:lnTo>
                  <a:lnTo>
                    <a:pt x="785264" y="27963"/>
                  </a:lnTo>
                  <a:lnTo>
                    <a:pt x="827630" y="43134"/>
                  </a:lnTo>
                  <a:lnTo>
                    <a:pt x="868467" y="61309"/>
                  </a:lnTo>
                  <a:lnTo>
                    <a:pt x="907642" y="82354"/>
                  </a:lnTo>
                  <a:lnTo>
                    <a:pt x="945019" y="106134"/>
                  </a:lnTo>
                  <a:lnTo>
                    <a:pt x="980465" y="132515"/>
                  </a:lnTo>
                  <a:lnTo>
                    <a:pt x="1013847" y="161364"/>
                  </a:lnTo>
                  <a:lnTo>
                    <a:pt x="1045029" y="192546"/>
                  </a:lnTo>
                  <a:lnTo>
                    <a:pt x="1073878" y="225928"/>
                  </a:lnTo>
                  <a:lnTo>
                    <a:pt x="1100259" y="261374"/>
                  </a:lnTo>
                  <a:lnTo>
                    <a:pt x="1124039" y="298751"/>
                  </a:lnTo>
                  <a:lnTo>
                    <a:pt x="1145084" y="337926"/>
                  </a:lnTo>
                  <a:lnTo>
                    <a:pt x="1163259" y="378763"/>
                  </a:lnTo>
                  <a:lnTo>
                    <a:pt x="1178430" y="421129"/>
                  </a:lnTo>
                  <a:lnTo>
                    <a:pt x="1190463" y="464889"/>
                  </a:lnTo>
                  <a:lnTo>
                    <a:pt x="1199224" y="509910"/>
                  </a:lnTo>
                  <a:lnTo>
                    <a:pt x="1204579" y="556057"/>
                  </a:lnTo>
                  <a:lnTo>
                    <a:pt x="1206394" y="603197"/>
                  </a:lnTo>
                  <a:lnTo>
                    <a:pt x="1204579" y="650336"/>
                  </a:lnTo>
                  <a:lnTo>
                    <a:pt x="1199224" y="696483"/>
                  </a:lnTo>
                  <a:lnTo>
                    <a:pt x="1190463" y="741504"/>
                  </a:lnTo>
                  <a:lnTo>
                    <a:pt x="1178430" y="785264"/>
                  </a:lnTo>
                  <a:lnTo>
                    <a:pt x="1163259" y="827630"/>
                  </a:lnTo>
                  <a:lnTo>
                    <a:pt x="1145084" y="868467"/>
                  </a:lnTo>
                  <a:lnTo>
                    <a:pt x="1124039" y="907642"/>
                  </a:lnTo>
                  <a:lnTo>
                    <a:pt x="1100259" y="945019"/>
                  </a:lnTo>
                  <a:lnTo>
                    <a:pt x="1073878" y="980465"/>
                  </a:lnTo>
                  <a:lnTo>
                    <a:pt x="1045029" y="1013847"/>
                  </a:lnTo>
                  <a:lnTo>
                    <a:pt x="1013847" y="1045029"/>
                  </a:lnTo>
                  <a:lnTo>
                    <a:pt x="980465" y="1073878"/>
                  </a:lnTo>
                  <a:lnTo>
                    <a:pt x="945019" y="1100259"/>
                  </a:lnTo>
                  <a:lnTo>
                    <a:pt x="907642" y="1124039"/>
                  </a:lnTo>
                  <a:lnTo>
                    <a:pt x="868467" y="1145084"/>
                  </a:lnTo>
                  <a:lnTo>
                    <a:pt x="827630" y="1163259"/>
                  </a:lnTo>
                  <a:lnTo>
                    <a:pt x="785264" y="1178430"/>
                  </a:lnTo>
                  <a:lnTo>
                    <a:pt x="741504" y="1190463"/>
                  </a:lnTo>
                  <a:lnTo>
                    <a:pt x="696483" y="1199224"/>
                  </a:lnTo>
                  <a:lnTo>
                    <a:pt x="650336" y="1204579"/>
                  </a:lnTo>
                  <a:lnTo>
                    <a:pt x="603197" y="1206394"/>
                  </a:lnTo>
                  <a:lnTo>
                    <a:pt x="556057" y="1204579"/>
                  </a:lnTo>
                  <a:lnTo>
                    <a:pt x="509910" y="1199224"/>
                  </a:lnTo>
                  <a:lnTo>
                    <a:pt x="464889" y="1190463"/>
                  </a:lnTo>
                  <a:lnTo>
                    <a:pt x="421129" y="1178430"/>
                  </a:lnTo>
                  <a:lnTo>
                    <a:pt x="378763" y="1163259"/>
                  </a:lnTo>
                  <a:lnTo>
                    <a:pt x="337926" y="1145084"/>
                  </a:lnTo>
                  <a:lnTo>
                    <a:pt x="298751" y="1124039"/>
                  </a:lnTo>
                  <a:lnTo>
                    <a:pt x="261374" y="1100259"/>
                  </a:lnTo>
                  <a:lnTo>
                    <a:pt x="225928" y="1073878"/>
                  </a:lnTo>
                  <a:lnTo>
                    <a:pt x="192546" y="1045029"/>
                  </a:lnTo>
                  <a:lnTo>
                    <a:pt x="161364" y="1013847"/>
                  </a:lnTo>
                  <a:lnTo>
                    <a:pt x="132515" y="980465"/>
                  </a:lnTo>
                  <a:lnTo>
                    <a:pt x="106134" y="945019"/>
                  </a:lnTo>
                  <a:lnTo>
                    <a:pt x="82354" y="907642"/>
                  </a:lnTo>
                  <a:lnTo>
                    <a:pt x="61309" y="868467"/>
                  </a:lnTo>
                  <a:lnTo>
                    <a:pt x="43134" y="827630"/>
                  </a:lnTo>
                  <a:lnTo>
                    <a:pt x="27963" y="785264"/>
                  </a:lnTo>
                  <a:lnTo>
                    <a:pt x="15930" y="741504"/>
                  </a:lnTo>
                  <a:lnTo>
                    <a:pt x="7169" y="696483"/>
                  </a:lnTo>
                  <a:lnTo>
                    <a:pt x="1814" y="650336"/>
                  </a:lnTo>
                  <a:lnTo>
                    <a:pt x="0" y="603197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689734" y="5616955"/>
            <a:ext cx="3124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QA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8254306" y="5171409"/>
            <a:ext cx="1219200" cy="1219200"/>
            <a:chOff x="8254306" y="5171409"/>
            <a:chExt cx="1219200" cy="1219200"/>
          </a:xfrm>
        </p:grpSpPr>
        <p:sp>
          <p:nvSpPr>
            <p:cNvPr id="19" name="object 19" descr=""/>
            <p:cNvSpPr/>
            <p:nvPr/>
          </p:nvSpPr>
          <p:spPr>
            <a:xfrm>
              <a:off x="8260656" y="5177759"/>
              <a:ext cx="1206500" cy="1206500"/>
            </a:xfrm>
            <a:custGeom>
              <a:avLst/>
              <a:gdLst/>
              <a:ahLst/>
              <a:cxnLst/>
              <a:rect l="l" t="t" r="r" b="b"/>
              <a:pathLst>
                <a:path w="1206500" h="1206500">
                  <a:moveTo>
                    <a:pt x="603196" y="0"/>
                  </a:moveTo>
                  <a:lnTo>
                    <a:pt x="556057" y="1814"/>
                  </a:lnTo>
                  <a:lnTo>
                    <a:pt x="509910" y="7169"/>
                  </a:lnTo>
                  <a:lnTo>
                    <a:pt x="464889" y="15930"/>
                  </a:lnTo>
                  <a:lnTo>
                    <a:pt x="421128" y="27963"/>
                  </a:lnTo>
                  <a:lnTo>
                    <a:pt x="378763" y="43134"/>
                  </a:lnTo>
                  <a:lnTo>
                    <a:pt x="337926" y="61309"/>
                  </a:lnTo>
                  <a:lnTo>
                    <a:pt x="298751" y="82354"/>
                  </a:lnTo>
                  <a:lnTo>
                    <a:pt x="261374" y="106134"/>
                  </a:lnTo>
                  <a:lnTo>
                    <a:pt x="225927" y="132515"/>
                  </a:lnTo>
                  <a:lnTo>
                    <a:pt x="192546" y="161364"/>
                  </a:lnTo>
                  <a:lnTo>
                    <a:pt x="161364" y="192546"/>
                  </a:lnTo>
                  <a:lnTo>
                    <a:pt x="132515" y="225927"/>
                  </a:lnTo>
                  <a:lnTo>
                    <a:pt x="106134" y="261374"/>
                  </a:lnTo>
                  <a:lnTo>
                    <a:pt x="82354" y="298751"/>
                  </a:lnTo>
                  <a:lnTo>
                    <a:pt x="61309" y="337926"/>
                  </a:lnTo>
                  <a:lnTo>
                    <a:pt x="43134" y="378763"/>
                  </a:lnTo>
                  <a:lnTo>
                    <a:pt x="27963" y="421128"/>
                  </a:lnTo>
                  <a:lnTo>
                    <a:pt x="15930" y="464889"/>
                  </a:lnTo>
                  <a:lnTo>
                    <a:pt x="7169" y="509910"/>
                  </a:lnTo>
                  <a:lnTo>
                    <a:pt x="1814" y="556057"/>
                  </a:lnTo>
                  <a:lnTo>
                    <a:pt x="0" y="603196"/>
                  </a:lnTo>
                  <a:lnTo>
                    <a:pt x="1814" y="650336"/>
                  </a:lnTo>
                  <a:lnTo>
                    <a:pt x="7169" y="696483"/>
                  </a:lnTo>
                  <a:lnTo>
                    <a:pt x="15930" y="741504"/>
                  </a:lnTo>
                  <a:lnTo>
                    <a:pt x="27963" y="785265"/>
                  </a:lnTo>
                  <a:lnTo>
                    <a:pt x="43134" y="827630"/>
                  </a:lnTo>
                  <a:lnTo>
                    <a:pt x="61309" y="868468"/>
                  </a:lnTo>
                  <a:lnTo>
                    <a:pt x="82354" y="907642"/>
                  </a:lnTo>
                  <a:lnTo>
                    <a:pt x="106134" y="945019"/>
                  </a:lnTo>
                  <a:lnTo>
                    <a:pt x="132515" y="980466"/>
                  </a:lnTo>
                  <a:lnTo>
                    <a:pt x="161364" y="1013847"/>
                  </a:lnTo>
                  <a:lnTo>
                    <a:pt x="192546" y="1045030"/>
                  </a:lnTo>
                  <a:lnTo>
                    <a:pt x="225927" y="1073878"/>
                  </a:lnTo>
                  <a:lnTo>
                    <a:pt x="261374" y="1100260"/>
                  </a:lnTo>
                  <a:lnTo>
                    <a:pt x="298751" y="1124040"/>
                  </a:lnTo>
                  <a:lnTo>
                    <a:pt x="337926" y="1145084"/>
                  </a:lnTo>
                  <a:lnTo>
                    <a:pt x="378763" y="1163259"/>
                  </a:lnTo>
                  <a:lnTo>
                    <a:pt x="421128" y="1178430"/>
                  </a:lnTo>
                  <a:lnTo>
                    <a:pt x="464889" y="1190463"/>
                  </a:lnTo>
                  <a:lnTo>
                    <a:pt x="509910" y="1199224"/>
                  </a:lnTo>
                  <a:lnTo>
                    <a:pt x="556057" y="1204579"/>
                  </a:lnTo>
                  <a:lnTo>
                    <a:pt x="603196" y="1206394"/>
                  </a:lnTo>
                  <a:lnTo>
                    <a:pt x="650336" y="1204579"/>
                  </a:lnTo>
                  <a:lnTo>
                    <a:pt x="696483" y="1199224"/>
                  </a:lnTo>
                  <a:lnTo>
                    <a:pt x="741504" y="1190463"/>
                  </a:lnTo>
                  <a:lnTo>
                    <a:pt x="785264" y="1178430"/>
                  </a:lnTo>
                  <a:lnTo>
                    <a:pt x="827630" y="1163259"/>
                  </a:lnTo>
                  <a:lnTo>
                    <a:pt x="868467" y="1145084"/>
                  </a:lnTo>
                  <a:lnTo>
                    <a:pt x="907641" y="1124040"/>
                  </a:lnTo>
                  <a:lnTo>
                    <a:pt x="945018" y="1100260"/>
                  </a:lnTo>
                  <a:lnTo>
                    <a:pt x="980465" y="1073878"/>
                  </a:lnTo>
                  <a:lnTo>
                    <a:pt x="1013846" y="1045030"/>
                  </a:lnTo>
                  <a:lnTo>
                    <a:pt x="1045028" y="1013847"/>
                  </a:lnTo>
                  <a:lnTo>
                    <a:pt x="1073877" y="980466"/>
                  </a:lnTo>
                  <a:lnTo>
                    <a:pt x="1100259" y="945019"/>
                  </a:lnTo>
                  <a:lnTo>
                    <a:pt x="1124039" y="907642"/>
                  </a:lnTo>
                  <a:lnTo>
                    <a:pt x="1145083" y="868468"/>
                  </a:lnTo>
                  <a:lnTo>
                    <a:pt x="1163258" y="827630"/>
                  </a:lnTo>
                  <a:lnTo>
                    <a:pt x="1178429" y="785265"/>
                  </a:lnTo>
                  <a:lnTo>
                    <a:pt x="1190462" y="741504"/>
                  </a:lnTo>
                  <a:lnTo>
                    <a:pt x="1199223" y="696483"/>
                  </a:lnTo>
                  <a:lnTo>
                    <a:pt x="1204578" y="650336"/>
                  </a:lnTo>
                  <a:lnTo>
                    <a:pt x="1206393" y="603196"/>
                  </a:lnTo>
                  <a:lnTo>
                    <a:pt x="1204578" y="556057"/>
                  </a:lnTo>
                  <a:lnTo>
                    <a:pt x="1199223" y="509910"/>
                  </a:lnTo>
                  <a:lnTo>
                    <a:pt x="1190462" y="464889"/>
                  </a:lnTo>
                  <a:lnTo>
                    <a:pt x="1178429" y="421128"/>
                  </a:lnTo>
                  <a:lnTo>
                    <a:pt x="1163258" y="378763"/>
                  </a:lnTo>
                  <a:lnTo>
                    <a:pt x="1145083" y="337926"/>
                  </a:lnTo>
                  <a:lnTo>
                    <a:pt x="1124039" y="298751"/>
                  </a:lnTo>
                  <a:lnTo>
                    <a:pt x="1100259" y="261374"/>
                  </a:lnTo>
                  <a:lnTo>
                    <a:pt x="1073877" y="225927"/>
                  </a:lnTo>
                  <a:lnTo>
                    <a:pt x="1045028" y="192546"/>
                  </a:lnTo>
                  <a:lnTo>
                    <a:pt x="1013846" y="161364"/>
                  </a:lnTo>
                  <a:lnTo>
                    <a:pt x="980465" y="132515"/>
                  </a:lnTo>
                  <a:lnTo>
                    <a:pt x="945018" y="106134"/>
                  </a:lnTo>
                  <a:lnTo>
                    <a:pt x="907641" y="82354"/>
                  </a:lnTo>
                  <a:lnTo>
                    <a:pt x="868467" y="61309"/>
                  </a:lnTo>
                  <a:lnTo>
                    <a:pt x="827630" y="43134"/>
                  </a:lnTo>
                  <a:lnTo>
                    <a:pt x="785264" y="27963"/>
                  </a:lnTo>
                  <a:lnTo>
                    <a:pt x="741504" y="15930"/>
                  </a:lnTo>
                  <a:lnTo>
                    <a:pt x="696483" y="7169"/>
                  </a:lnTo>
                  <a:lnTo>
                    <a:pt x="650336" y="1814"/>
                  </a:lnTo>
                  <a:lnTo>
                    <a:pt x="603196" y="0"/>
                  </a:lnTo>
                  <a:close/>
                </a:path>
              </a:pathLst>
            </a:custGeom>
            <a:solidFill>
              <a:srgbClr val="326C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260656" y="5177759"/>
              <a:ext cx="1206500" cy="1206500"/>
            </a:xfrm>
            <a:custGeom>
              <a:avLst/>
              <a:gdLst/>
              <a:ahLst/>
              <a:cxnLst/>
              <a:rect l="l" t="t" r="r" b="b"/>
              <a:pathLst>
                <a:path w="1206500" h="1206500">
                  <a:moveTo>
                    <a:pt x="0" y="603197"/>
                  </a:moveTo>
                  <a:lnTo>
                    <a:pt x="1814" y="556057"/>
                  </a:lnTo>
                  <a:lnTo>
                    <a:pt x="7169" y="509910"/>
                  </a:lnTo>
                  <a:lnTo>
                    <a:pt x="15930" y="464889"/>
                  </a:lnTo>
                  <a:lnTo>
                    <a:pt x="27963" y="421129"/>
                  </a:lnTo>
                  <a:lnTo>
                    <a:pt x="43134" y="378763"/>
                  </a:lnTo>
                  <a:lnTo>
                    <a:pt x="61309" y="337926"/>
                  </a:lnTo>
                  <a:lnTo>
                    <a:pt x="82354" y="298751"/>
                  </a:lnTo>
                  <a:lnTo>
                    <a:pt x="106134" y="261374"/>
                  </a:lnTo>
                  <a:lnTo>
                    <a:pt x="132515" y="225928"/>
                  </a:lnTo>
                  <a:lnTo>
                    <a:pt x="161364" y="192546"/>
                  </a:lnTo>
                  <a:lnTo>
                    <a:pt x="192546" y="161364"/>
                  </a:lnTo>
                  <a:lnTo>
                    <a:pt x="225928" y="132515"/>
                  </a:lnTo>
                  <a:lnTo>
                    <a:pt x="261374" y="106134"/>
                  </a:lnTo>
                  <a:lnTo>
                    <a:pt x="298751" y="82354"/>
                  </a:lnTo>
                  <a:lnTo>
                    <a:pt x="337926" y="61309"/>
                  </a:lnTo>
                  <a:lnTo>
                    <a:pt x="378763" y="43134"/>
                  </a:lnTo>
                  <a:lnTo>
                    <a:pt x="421129" y="27963"/>
                  </a:lnTo>
                  <a:lnTo>
                    <a:pt x="464889" y="15930"/>
                  </a:lnTo>
                  <a:lnTo>
                    <a:pt x="509910" y="7169"/>
                  </a:lnTo>
                  <a:lnTo>
                    <a:pt x="556057" y="1814"/>
                  </a:lnTo>
                  <a:lnTo>
                    <a:pt x="603197" y="0"/>
                  </a:lnTo>
                  <a:lnTo>
                    <a:pt x="650336" y="1814"/>
                  </a:lnTo>
                  <a:lnTo>
                    <a:pt x="696483" y="7169"/>
                  </a:lnTo>
                  <a:lnTo>
                    <a:pt x="741504" y="15930"/>
                  </a:lnTo>
                  <a:lnTo>
                    <a:pt x="785264" y="27963"/>
                  </a:lnTo>
                  <a:lnTo>
                    <a:pt x="827630" y="43134"/>
                  </a:lnTo>
                  <a:lnTo>
                    <a:pt x="868467" y="61309"/>
                  </a:lnTo>
                  <a:lnTo>
                    <a:pt x="907642" y="82354"/>
                  </a:lnTo>
                  <a:lnTo>
                    <a:pt x="945019" y="106134"/>
                  </a:lnTo>
                  <a:lnTo>
                    <a:pt x="980465" y="132515"/>
                  </a:lnTo>
                  <a:lnTo>
                    <a:pt x="1013847" y="161364"/>
                  </a:lnTo>
                  <a:lnTo>
                    <a:pt x="1045029" y="192546"/>
                  </a:lnTo>
                  <a:lnTo>
                    <a:pt x="1073878" y="225928"/>
                  </a:lnTo>
                  <a:lnTo>
                    <a:pt x="1100259" y="261374"/>
                  </a:lnTo>
                  <a:lnTo>
                    <a:pt x="1124039" y="298751"/>
                  </a:lnTo>
                  <a:lnTo>
                    <a:pt x="1145084" y="337926"/>
                  </a:lnTo>
                  <a:lnTo>
                    <a:pt x="1163259" y="378763"/>
                  </a:lnTo>
                  <a:lnTo>
                    <a:pt x="1178430" y="421129"/>
                  </a:lnTo>
                  <a:lnTo>
                    <a:pt x="1190463" y="464889"/>
                  </a:lnTo>
                  <a:lnTo>
                    <a:pt x="1199224" y="509910"/>
                  </a:lnTo>
                  <a:lnTo>
                    <a:pt x="1204579" y="556057"/>
                  </a:lnTo>
                  <a:lnTo>
                    <a:pt x="1206394" y="603197"/>
                  </a:lnTo>
                  <a:lnTo>
                    <a:pt x="1204579" y="650336"/>
                  </a:lnTo>
                  <a:lnTo>
                    <a:pt x="1199224" y="696483"/>
                  </a:lnTo>
                  <a:lnTo>
                    <a:pt x="1190463" y="741504"/>
                  </a:lnTo>
                  <a:lnTo>
                    <a:pt x="1178430" y="785264"/>
                  </a:lnTo>
                  <a:lnTo>
                    <a:pt x="1163259" y="827630"/>
                  </a:lnTo>
                  <a:lnTo>
                    <a:pt x="1145084" y="868467"/>
                  </a:lnTo>
                  <a:lnTo>
                    <a:pt x="1124039" y="907642"/>
                  </a:lnTo>
                  <a:lnTo>
                    <a:pt x="1100259" y="945019"/>
                  </a:lnTo>
                  <a:lnTo>
                    <a:pt x="1073878" y="980465"/>
                  </a:lnTo>
                  <a:lnTo>
                    <a:pt x="1045029" y="1013847"/>
                  </a:lnTo>
                  <a:lnTo>
                    <a:pt x="1013847" y="1045029"/>
                  </a:lnTo>
                  <a:lnTo>
                    <a:pt x="980465" y="1073878"/>
                  </a:lnTo>
                  <a:lnTo>
                    <a:pt x="945019" y="1100259"/>
                  </a:lnTo>
                  <a:lnTo>
                    <a:pt x="907642" y="1124039"/>
                  </a:lnTo>
                  <a:lnTo>
                    <a:pt x="868467" y="1145084"/>
                  </a:lnTo>
                  <a:lnTo>
                    <a:pt x="827630" y="1163259"/>
                  </a:lnTo>
                  <a:lnTo>
                    <a:pt x="785264" y="1178430"/>
                  </a:lnTo>
                  <a:lnTo>
                    <a:pt x="741504" y="1190463"/>
                  </a:lnTo>
                  <a:lnTo>
                    <a:pt x="696483" y="1199224"/>
                  </a:lnTo>
                  <a:lnTo>
                    <a:pt x="650336" y="1204579"/>
                  </a:lnTo>
                  <a:lnTo>
                    <a:pt x="603197" y="1206394"/>
                  </a:lnTo>
                  <a:lnTo>
                    <a:pt x="556057" y="1204579"/>
                  </a:lnTo>
                  <a:lnTo>
                    <a:pt x="509910" y="1199224"/>
                  </a:lnTo>
                  <a:lnTo>
                    <a:pt x="464889" y="1190463"/>
                  </a:lnTo>
                  <a:lnTo>
                    <a:pt x="421129" y="1178430"/>
                  </a:lnTo>
                  <a:lnTo>
                    <a:pt x="378763" y="1163259"/>
                  </a:lnTo>
                  <a:lnTo>
                    <a:pt x="337926" y="1145084"/>
                  </a:lnTo>
                  <a:lnTo>
                    <a:pt x="298751" y="1124039"/>
                  </a:lnTo>
                  <a:lnTo>
                    <a:pt x="261374" y="1100259"/>
                  </a:lnTo>
                  <a:lnTo>
                    <a:pt x="225928" y="1073878"/>
                  </a:lnTo>
                  <a:lnTo>
                    <a:pt x="192546" y="1045029"/>
                  </a:lnTo>
                  <a:lnTo>
                    <a:pt x="161364" y="1013847"/>
                  </a:lnTo>
                  <a:lnTo>
                    <a:pt x="132515" y="980465"/>
                  </a:lnTo>
                  <a:lnTo>
                    <a:pt x="106134" y="945019"/>
                  </a:lnTo>
                  <a:lnTo>
                    <a:pt x="82354" y="907642"/>
                  </a:lnTo>
                  <a:lnTo>
                    <a:pt x="61309" y="868467"/>
                  </a:lnTo>
                  <a:lnTo>
                    <a:pt x="43134" y="827630"/>
                  </a:lnTo>
                  <a:lnTo>
                    <a:pt x="27963" y="785264"/>
                  </a:lnTo>
                  <a:lnTo>
                    <a:pt x="15930" y="741504"/>
                  </a:lnTo>
                  <a:lnTo>
                    <a:pt x="7169" y="696483"/>
                  </a:lnTo>
                  <a:lnTo>
                    <a:pt x="1814" y="650336"/>
                  </a:lnTo>
                  <a:lnTo>
                    <a:pt x="0" y="603197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8633919" y="5616955"/>
            <a:ext cx="459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Prod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3429952" y="5704763"/>
            <a:ext cx="4831080" cy="152400"/>
          </a:xfrm>
          <a:custGeom>
            <a:avLst/>
            <a:gdLst/>
            <a:ahLst/>
            <a:cxnLst/>
            <a:rect l="l" t="t" r="r" b="b"/>
            <a:pathLst>
              <a:path w="4831080" h="152400">
                <a:moveTo>
                  <a:pt x="1812150" y="76200"/>
                </a:moveTo>
                <a:lnTo>
                  <a:pt x="1761350" y="50800"/>
                </a:lnTo>
                <a:lnTo>
                  <a:pt x="1659750" y="0"/>
                </a:lnTo>
                <a:lnTo>
                  <a:pt x="1659750" y="50800"/>
                </a:lnTo>
                <a:lnTo>
                  <a:pt x="0" y="50800"/>
                </a:lnTo>
                <a:lnTo>
                  <a:pt x="0" y="101600"/>
                </a:lnTo>
                <a:lnTo>
                  <a:pt x="1659750" y="101600"/>
                </a:lnTo>
                <a:lnTo>
                  <a:pt x="1659750" y="152400"/>
                </a:lnTo>
                <a:lnTo>
                  <a:pt x="1761350" y="101600"/>
                </a:lnTo>
                <a:lnTo>
                  <a:pt x="1812150" y="76200"/>
                </a:lnTo>
                <a:close/>
              </a:path>
              <a:path w="4831080" h="152400">
                <a:moveTo>
                  <a:pt x="4830699" y="76200"/>
                </a:moveTo>
                <a:lnTo>
                  <a:pt x="4779899" y="50800"/>
                </a:lnTo>
                <a:lnTo>
                  <a:pt x="4678299" y="0"/>
                </a:lnTo>
                <a:lnTo>
                  <a:pt x="4678299" y="50800"/>
                </a:lnTo>
                <a:lnTo>
                  <a:pt x="3018548" y="50800"/>
                </a:lnTo>
                <a:lnTo>
                  <a:pt x="3018548" y="101600"/>
                </a:lnTo>
                <a:lnTo>
                  <a:pt x="4678299" y="101600"/>
                </a:lnTo>
                <a:lnTo>
                  <a:pt x="4678299" y="152400"/>
                </a:lnTo>
                <a:lnTo>
                  <a:pt x="4779899" y="101600"/>
                </a:lnTo>
                <a:lnTo>
                  <a:pt x="4830699" y="76200"/>
                </a:lnTo>
                <a:close/>
              </a:path>
            </a:pathLst>
          </a:custGeom>
          <a:solidFill>
            <a:srgbClr val="95297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6591" y="2971800"/>
            <a:ext cx="917447" cy="914400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2142744" y="2627376"/>
            <a:ext cx="1682750" cy="1603375"/>
            <a:chOff x="2142744" y="2627376"/>
            <a:chExt cx="1682750" cy="1603375"/>
          </a:xfrm>
        </p:grpSpPr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2744" y="3090672"/>
              <a:ext cx="664463" cy="664463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57727" y="2627376"/>
              <a:ext cx="667512" cy="66446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57727" y="3566160"/>
              <a:ext cx="667512" cy="664463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806745" y="2947318"/>
              <a:ext cx="352425" cy="475615"/>
            </a:xfrm>
            <a:custGeom>
              <a:avLst/>
              <a:gdLst/>
              <a:ahLst/>
              <a:cxnLst/>
              <a:rect l="l" t="t" r="r" b="b"/>
              <a:pathLst>
                <a:path w="352425" h="475614">
                  <a:moveTo>
                    <a:pt x="0" y="475278"/>
                  </a:moveTo>
                  <a:lnTo>
                    <a:pt x="352182" y="12807"/>
                  </a:lnTo>
                </a:path>
                <a:path w="352425" h="475614">
                  <a:moveTo>
                    <a:pt x="0" y="475278"/>
                  </a:moveTo>
                  <a:lnTo>
                    <a:pt x="352183" y="0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4116435" y="3192843"/>
            <a:ext cx="5223510" cy="474345"/>
            <a:chOff x="4116435" y="3192843"/>
            <a:chExt cx="5223510" cy="474345"/>
          </a:xfrm>
        </p:grpSpPr>
        <p:sp>
          <p:nvSpPr>
            <p:cNvPr id="30" name="object 30" descr=""/>
            <p:cNvSpPr/>
            <p:nvPr/>
          </p:nvSpPr>
          <p:spPr>
            <a:xfrm>
              <a:off x="4122785" y="3199193"/>
              <a:ext cx="5210810" cy="461645"/>
            </a:xfrm>
            <a:custGeom>
              <a:avLst/>
              <a:gdLst/>
              <a:ahLst/>
              <a:cxnLst/>
              <a:rect l="l" t="t" r="r" b="b"/>
              <a:pathLst>
                <a:path w="5210809" h="461645">
                  <a:moveTo>
                    <a:pt x="4980235" y="0"/>
                  </a:moveTo>
                  <a:lnTo>
                    <a:pt x="4980235" y="115260"/>
                  </a:lnTo>
                  <a:lnTo>
                    <a:pt x="0" y="115260"/>
                  </a:lnTo>
                  <a:lnTo>
                    <a:pt x="0" y="345782"/>
                  </a:lnTo>
                  <a:lnTo>
                    <a:pt x="4980235" y="345782"/>
                  </a:lnTo>
                  <a:lnTo>
                    <a:pt x="4980235" y="461043"/>
                  </a:lnTo>
                  <a:lnTo>
                    <a:pt x="5210752" y="230524"/>
                  </a:lnTo>
                  <a:lnTo>
                    <a:pt x="4980235" y="0"/>
                  </a:lnTo>
                  <a:close/>
                </a:path>
              </a:pathLst>
            </a:custGeom>
            <a:solidFill>
              <a:srgbClr val="090E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122785" y="3199193"/>
              <a:ext cx="5210810" cy="461645"/>
            </a:xfrm>
            <a:custGeom>
              <a:avLst/>
              <a:gdLst/>
              <a:ahLst/>
              <a:cxnLst/>
              <a:rect l="l" t="t" r="r" b="b"/>
              <a:pathLst>
                <a:path w="5210809" h="461645">
                  <a:moveTo>
                    <a:pt x="0" y="115259"/>
                  </a:moveTo>
                  <a:lnTo>
                    <a:pt x="4980235" y="115259"/>
                  </a:lnTo>
                  <a:lnTo>
                    <a:pt x="4980235" y="0"/>
                  </a:lnTo>
                  <a:lnTo>
                    <a:pt x="5210753" y="230523"/>
                  </a:lnTo>
                  <a:lnTo>
                    <a:pt x="4980235" y="461042"/>
                  </a:lnTo>
                  <a:lnTo>
                    <a:pt x="4980235" y="345782"/>
                  </a:lnTo>
                  <a:lnTo>
                    <a:pt x="0" y="345782"/>
                  </a:lnTo>
                  <a:lnTo>
                    <a:pt x="0" y="115259"/>
                  </a:lnTo>
                  <a:close/>
                </a:path>
              </a:pathLst>
            </a:custGeom>
            <a:ln w="12700">
              <a:solidFill>
                <a:srgbClr val="090E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9467050" y="2860431"/>
            <a:ext cx="2056764" cy="1219200"/>
          </a:xfrm>
          <a:prstGeom prst="rect">
            <a:avLst/>
          </a:prstGeom>
          <a:solidFill>
            <a:srgbClr val="326CE5"/>
          </a:solidFill>
          <a:ln w="12700">
            <a:solidFill>
              <a:srgbClr val="2F528F"/>
            </a:solidFill>
          </a:ln>
        </p:spPr>
        <p:txBody>
          <a:bodyPr wrap="square" lIns="0" tIns="1955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40"/>
              </a:spcBef>
            </a:pPr>
            <a:endParaRPr sz="1800">
              <a:latin typeface="Times New Roman"/>
              <a:cs typeface="Times New Roman"/>
            </a:endParaRPr>
          </a:p>
          <a:p>
            <a:pPr marL="497205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9745980" cy="1491615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25"/>
              </a:spcBef>
            </a:pPr>
            <a:r>
              <a:rPr dirty="0"/>
              <a:t>You</a:t>
            </a:r>
            <a:r>
              <a:rPr dirty="0" spc="110"/>
              <a:t> </a:t>
            </a:r>
            <a:r>
              <a:rPr dirty="0"/>
              <a:t>Can</a:t>
            </a:r>
            <a:r>
              <a:rPr dirty="0" spc="114"/>
              <a:t> </a:t>
            </a:r>
            <a:r>
              <a:rPr dirty="0"/>
              <a:t>Download</a:t>
            </a:r>
            <a:r>
              <a:rPr dirty="0" spc="114"/>
              <a:t> </a:t>
            </a:r>
            <a:r>
              <a:rPr dirty="0"/>
              <a:t>And</a:t>
            </a:r>
            <a:r>
              <a:rPr dirty="0" spc="114"/>
              <a:t> </a:t>
            </a:r>
            <a:r>
              <a:rPr dirty="0"/>
              <a:t>Run</a:t>
            </a:r>
            <a:r>
              <a:rPr dirty="0" spc="114"/>
              <a:t> </a:t>
            </a:r>
            <a:r>
              <a:rPr dirty="0"/>
              <a:t>Helm</a:t>
            </a:r>
            <a:r>
              <a:rPr dirty="0" spc="114"/>
              <a:t> </a:t>
            </a:r>
            <a:r>
              <a:rPr dirty="0"/>
              <a:t>For</a:t>
            </a:r>
            <a:r>
              <a:rPr dirty="0" spc="110"/>
              <a:t> </a:t>
            </a:r>
            <a:r>
              <a:rPr dirty="0" spc="-10"/>
              <a:t>These Systems</a:t>
            </a:r>
          </a:p>
          <a:p>
            <a:pPr marL="12700">
              <a:lnSpc>
                <a:spcPts val="3790"/>
              </a:lnSpc>
              <a:tabLst>
                <a:tab pos="1480820" algn="l"/>
                <a:tab pos="2634615" algn="l"/>
                <a:tab pos="4916170" algn="l"/>
              </a:tabLst>
            </a:pP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다양한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</a:rPr>
              <a:t>OS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별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10">
                <a:solidFill>
                  <a:srgbClr val="95297C"/>
                </a:solidFill>
                <a:latin typeface="Malgun Gothic"/>
                <a:cs typeface="Malgun Gothic"/>
              </a:rPr>
              <a:t>실행파일을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지원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9064" y="2837688"/>
            <a:ext cx="3163824" cy="762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42176" y="2514600"/>
            <a:ext cx="2657855" cy="163068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1128" y="4681728"/>
            <a:ext cx="4639056" cy="109423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5223" y="268224"/>
            <a:ext cx="6321552" cy="6321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8250555" cy="10102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130"/>
              <a:t> </a:t>
            </a:r>
            <a:r>
              <a:rPr dirty="0"/>
              <a:t>Similar</a:t>
            </a:r>
            <a:r>
              <a:rPr dirty="0" spc="130"/>
              <a:t> </a:t>
            </a:r>
            <a:r>
              <a:rPr dirty="0"/>
              <a:t>Command</a:t>
            </a:r>
            <a:r>
              <a:rPr dirty="0" spc="130"/>
              <a:t> </a:t>
            </a:r>
            <a:r>
              <a:rPr dirty="0"/>
              <a:t>Line</a:t>
            </a:r>
            <a:r>
              <a:rPr dirty="0" spc="135"/>
              <a:t> </a:t>
            </a:r>
            <a:r>
              <a:rPr dirty="0" spc="-10"/>
              <a:t>Experience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1480820" algn="l"/>
                <a:tab pos="2948940" algn="l"/>
                <a:tab pos="4417695" algn="l"/>
              </a:tabLst>
            </a:pP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예전과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유사한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커맨드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라인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68100" y="1984057"/>
            <a:ext cx="10637520" cy="3107690"/>
          </a:xfrm>
          <a:custGeom>
            <a:avLst/>
            <a:gdLst/>
            <a:ahLst/>
            <a:cxnLst/>
            <a:rect l="l" t="t" r="r" b="b"/>
            <a:pathLst>
              <a:path w="10637520" h="3107690">
                <a:moveTo>
                  <a:pt x="10637135" y="0"/>
                </a:moveTo>
                <a:lnTo>
                  <a:pt x="0" y="0"/>
                </a:lnTo>
                <a:lnTo>
                  <a:pt x="0" y="3107517"/>
                </a:lnTo>
                <a:lnTo>
                  <a:pt x="10637135" y="3107517"/>
                </a:lnTo>
                <a:lnTo>
                  <a:pt x="10637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38280" y="2111755"/>
            <a:ext cx="6655434" cy="58039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1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helm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repo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add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stable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 https://kubernetes-charts.storage.googleapis.com/</a:t>
            </a:r>
            <a:endParaRPr sz="12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2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helm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search</a:t>
            </a:r>
            <a:r>
              <a:rPr dirty="0" sz="1200" spc="-2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repo</a:t>
            </a:r>
            <a:r>
              <a:rPr dirty="0" sz="1200" spc="-2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mariadb</a:t>
            </a:r>
            <a:endParaRPr sz="1200">
              <a:latin typeface="DejaVu Sans Mono"/>
              <a:cs typeface="DejaVu Sans Mono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019230" y="2775474"/>
          <a:ext cx="10306685" cy="1824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914400"/>
                <a:gridCol w="776605"/>
                <a:gridCol w="1006474"/>
                <a:gridCol w="1841500"/>
                <a:gridCol w="1045845"/>
                <a:gridCol w="996950"/>
                <a:gridCol w="1713229"/>
                <a:gridCol w="1249679"/>
              </a:tblGrid>
              <a:tr h="227329">
                <a:tc gridSpan="2">
                  <a:txBody>
                    <a:bodyPr/>
                    <a:lstStyle/>
                    <a:p>
                      <a:pPr marL="31750">
                        <a:lnSpc>
                          <a:spcPts val="1355"/>
                        </a:lnSpc>
                      </a:pP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NAME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8100">
                        <a:lnSpc>
                          <a:spcPts val="135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CHART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35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VERSION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ts val="1355"/>
                        </a:lnSpc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APP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VERSION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02895">
                        <a:lnSpc>
                          <a:spcPts val="135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DESCRIPTION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227329">
                <a:tc gridSpan="2">
                  <a:txBody>
                    <a:bodyPr/>
                    <a:lstStyle/>
                    <a:p>
                      <a:pPr marL="31750">
                        <a:lnSpc>
                          <a:spcPts val="1385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stable/mariadb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8100">
                        <a:lnSpc>
                          <a:spcPts val="1385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7.1.0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ts val="1385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10.3.20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02895">
                        <a:lnSpc>
                          <a:spcPts val="1385"/>
                        </a:lnSpc>
                        <a:spcBef>
                          <a:spcPts val="305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Fast,</a:t>
                      </a:r>
                      <a:r>
                        <a:rPr dirty="0" sz="1200" spc="-4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reliable,</a:t>
                      </a:r>
                      <a:r>
                        <a:rPr dirty="0" sz="1200" spc="-4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scalable,</a:t>
                      </a:r>
                      <a:r>
                        <a:rPr dirty="0" sz="1200" spc="-4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and</a:t>
                      </a:r>
                      <a:r>
                        <a:rPr dirty="0" sz="1200" spc="-3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easy</a:t>
                      </a:r>
                      <a:r>
                        <a:rPr dirty="0" sz="1200" spc="-4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to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385"/>
                        </a:lnSpc>
                        <a:spcBef>
                          <a:spcPts val="305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use</a:t>
                      </a:r>
                      <a:r>
                        <a:rPr dirty="0" sz="1200" spc="-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open-</a:t>
                      </a: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...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</a:tr>
              <a:tr h="280035">
                <a:tc gridSpan="9">
                  <a:txBody>
                    <a:bodyPr/>
                    <a:lstStyle/>
                    <a:p>
                      <a:pPr marL="31750">
                        <a:lnSpc>
                          <a:spcPts val="1385"/>
                        </a:lnSpc>
                        <a:spcBef>
                          <a:spcPts val="725"/>
                        </a:spcBef>
                        <a:tabLst>
                          <a:tab pos="1872614" algn="l"/>
                          <a:tab pos="3688715" algn="l"/>
                          <a:tab pos="5517515" algn="l"/>
                        </a:tabLst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stable/phpmyadmin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	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4.2.4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	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4.9.2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	phpMyAdmin</a:t>
                      </a:r>
                      <a:r>
                        <a:rPr dirty="0" sz="1200" spc="-4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is</a:t>
                      </a:r>
                      <a:r>
                        <a:rPr dirty="0" sz="1200" spc="-4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an</a:t>
                      </a:r>
                      <a:r>
                        <a:rPr dirty="0" sz="1200" spc="-4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mysql</a:t>
                      </a:r>
                      <a:r>
                        <a:rPr dirty="0" sz="1200" spc="-5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administration</a:t>
                      </a:r>
                      <a:r>
                        <a:rPr dirty="0" sz="1200" spc="-4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frontend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92075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1813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$</a:t>
                      </a:r>
                      <a:r>
                        <a:rPr dirty="0" sz="1200" spc="-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helm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79375">
                    <a:solidFill>
                      <a:srgbClr val="0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install</a:t>
                      </a:r>
                      <a:r>
                        <a:rPr dirty="0" sz="1200" spc="-5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mymaria</a:t>
                      </a:r>
                      <a:r>
                        <a:rPr dirty="0" sz="1200" spc="-5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stable/mariadb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79375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241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$</a:t>
                      </a:r>
                      <a:r>
                        <a:rPr dirty="0" sz="1200" spc="-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helm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list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241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NAME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70"/>
                        </a:spcBef>
                        <a:tabLst>
                          <a:tab pos="2098040" algn="l"/>
                        </a:tabLst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NAMESPACE</a:t>
                      </a:r>
                      <a:r>
                        <a:rPr dirty="0" sz="1200" spc="-1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REVISION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	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UPDATED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STATUS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70"/>
                        </a:spcBef>
                        <a:tabLst>
                          <a:tab pos="1917064" algn="l"/>
                        </a:tabLst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CHART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	APP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VERSION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>
                  <a:txBody>
                    <a:bodyPr/>
                    <a:lstStyle/>
                    <a:p>
                      <a:pPr marL="31750">
                        <a:lnSpc>
                          <a:spcPts val="1385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mymaria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69240">
                        <a:lnSpc>
                          <a:spcPts val="1385"/>
                        </a:lnSpc>
                        <a:spcBef>
                          <a:spcPts val="305"/>
                        </a:spcBef>
                        <a:tabLst>
                          <a:tab pos="1183640" algn="l"/>
                          <a:tab pos="2098040" algn="l"/>
                        </a:tabLst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default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	</a:t>
                      </a:r>
                      <a:r>
                        <a:rPr dirty="0" sz="1200" spc="-5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	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2019-11-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27</a:t>
                      </a:r>
                      <a:r>
                        <a:rPr dirty="0" sz="1200" spc="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14:10:55.216169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385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-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0500</a:t>
                      </a: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EST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1385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deployed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8265">
                        <a:lnSpc>
                          <a:spcPts val="1385"/>
                        </a:lnSpc>
                        <a:spcBef>
                          <a:spcPts val="305"/>
                        </a:spcBef>
                        <a:tabLst>
                          <a:tab pos="1917064" algn="l"/>
                        </a:tabLst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mariadb-7.1.0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	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10.3.20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1038280" y="4681220"/>
            <a:ext cx="2235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3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helm</a:t>
            </a:r>
            <a:r>
              <a:rPr dirty="0" sz="1200" spc="-3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uninstall</a:t>
            </a:r>
            <a:r>
              <a:rPr dirty="0" sz="1200" spc="-3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mymaria</a:t>
            </a:r>
            <a:endParaRPr sz="1200">
              <a:latin typeface="DejaVu Sans Mono"/>
              <a:cs typeface="DejaVu Sans Mon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2962275" cy="10102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Namespaces!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1074420" algn="l"/>
              </a:tabLst>
            </a:pP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네임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10">
                <a:solidFill>
                  <a:srgbClr val="95297C"/>
                </a:solidFill>
                <a:latin typeface="Malgun Gothic"/>
                <a:cs typeface="Malgun Gothic"/>
              </a:rPr>
              <a:t>스페이스</a:t>
            </a:r>
            <a:r>
              <a:rPr dirty="0" spc="-10">
                <a:solidFill>
                  <a:srgbClr val="95297C"/>
                </a:solidFill>
              </a:rPr>
              <a:t>!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68100" y="1984057"/>
            <a:ext cx="10637520" cy="3384550"/>
          </a:xfrm>
          <a:custGeom>
            <a:avLst/>
            <a:gdLst/>
            <a:ahLst/>
            <a:cxnLst/>
            <a:rect l="l" t="t" r="r" b="b"/>
            <a:pathLst>
              <a:path w="10637520" h="3384550">
                <a:moveTo>
                  <a:pt x="10637135" y="0"/>
                </a:moveTo>
                <a:lnTo>
                  <a:pt x="0" y="0"/>
                </a:lnTo>
                <a:lnTo>
                  <a:pt x="0" y="3384515"/>
                </a:lnTo>
                <a:lnTo>
                  <a:pt x="10637135" y="3384515"/>
                </a:lnTo>
                <a:lnTo>
                  <a:pt x="10637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38280" y="2111755"/>
            <a:ext cx="2591435" cy="58039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1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helm</a:t>
            </a:r>
            <a:r>
              <a:rPr dirty="0" sz="1200" spc="-1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list</a:t>
            </a:r>
            <a:endParaRPr sz="12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  <a:tabLst>
                <a:tab pos="926465" algn="l"/>
              </a:tabLst>
            </a:pP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NAME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	NAMESPACE</a:t>
            </a:r>
            <a:r>
              <a:rPr dirty="0" sz="1200" spc="-1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REVISION</a:t>
            </a:r>
            <a:endParaRPr sz="1200">
              <a:latin typeface="DejaVu Sans Mono"/>
              <a:cs typeface="DejaVu Sans Mon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81480" y="2483611"/>
            <a:ext cx="6705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UPDATED</a:t>
            </a:r>
            <a:endParaRPr sz="1200">
              <a:latin typeface="DejaVu Sans Mono"/>
              <a:cs typeface="DejaVu Sans Mon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39080" y="2483611"/>
            <a:ext cx="578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STATUS</a:t>
            </a:r>
            <a:endParaRPr sz="1200">
              <a:latin typeface="DejaVu Sans Mono"/>
              <a:cs typeface="DejaVu Sans Mon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353480" y="2483611"/>
            <a:ext cx="48640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CHART</a:t>
            </a:r>
            <a:endParaRPr sz="1200">
              <a:latin typeface="DejaVu Sans Mono"/>
              <a:cs typeface="DejaVu Sans Mon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182280" y="2483611"/>
            <a:ext cx="10388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APP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VERSION</a:t>
            </a:r>
            <a:endParaRPr sz="1200">
              <a:latin typeface="DejaVu Sans Mono"/>
              <a:cs typeface="DejaVu Sans Mono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019230" y="2775474"/>
          <a:ext cx="10297160" cy="2105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3605"/>
                <a:gridCol w="822325"/>
                <a:gridCol w="960755"/>
                <a:gridCol w="1056005"/>
                <a:gridCol w="1473835"/>
                <a:gridCol w="553085"/>
                <a:gridCol w="494664"/>
                <a:gridCol w="998219"/>
                <a:gridCol w="1602740"/>
                <a:gridCol w="1361440"/>
              </a:tblGrid>
              <a:tr h="177165">
                <a:tc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mymaria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29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default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1295"/>
                        </a:lnSpc>
                      </a:pPr>
                      <a:r>
                        <a:rPr dirty="0" sz="1200" spc="-5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129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2019-11-</a:t>
                      </a: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27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14:10:55.216169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-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0500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295"/>
                        </a:lnSpc>
                      </a:pP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EST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129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deployed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129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mariadb-7.1.0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ts val="129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10.3.20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$</a:t>
                      </a:r>
                      <a:r>
                        <a:rPr dirty="0" sz="1200" spc="-1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helm</a:t>
                      </a:r>
                      <a:r>
                        <a:rPr dirty="0" sz="1200" spc="-1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ls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88900"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--all-namespaces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8890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NAME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NAMESPACE</a:t>
                      </a:r>
                      <a:r>
                        <a:rPr dirty="0" sz="1200" spc="-1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REVISION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UPDATED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STATUS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CHART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APP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VERSION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mymaria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70"/>
                        </a:spcBef>
                        <a:tabLst>
                          <a:tab pos="956944" algn="l"/>
                        </a:tabLst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default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	</a:t>
                      </a:r>
                      <a:r>
                        <a:rPr dirty="0" sz="1200" spc="-5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2019-12-</a:t>
                      </a: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01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18:05:53.568566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-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0500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EST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deployed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mariadb-7.1.0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10.3.20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4290">
                    <a:solidFill>
                      <a:srgbClr val="000000"/>
                    </a:solidFill>
                  </a:tcPr>
                </a:tc>
              </a:tr>
              <a:tr h="5454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mymaria2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$</a:t>
                      </a:r>
                      <a:r>
                        <a:rPr dirty="0" sz="1200" spc="-1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helm</a:t>
                      </a:r>
                      <a:r>
                        <a:rPr dirty="0" sz="1200" spc="-1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ls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956944" algn="l"/>
                        </a:tabLst>
                      </a:pP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foo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	</a:t>
                      </a:r>
                      <a:r>
                        <a:rPr dirty="0" sz="1200" spc="-5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–-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namespace</a:t>
                      </a:r>
                      <a:r>
                        <a:rPr dirty="0" sz="1200" spc="-5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foo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2019-12-</a:t>
                      </a: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01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18:06:12.520784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-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0500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EST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deployed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mariadb-7.1.0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10.3.20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NAME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NAMESPACE</a:t>
                      </a:r>
                      <a:r>
                        <a:rPr dirty="0" sz="1200" spc="-1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REVISION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UPDATED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STATUS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CHART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APP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VERSION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38735">
                    <a:solidFill>
                      <a:srgbClr val="00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mymaria2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ts val="1385"/>
                        </a:lnSpc>
                        <a:spcBef>
                          <a:spcPts val="320"/>
                        </a:spcBef>
                        <a:tabLst>
                          <a:tab pos="956944" algn="l"/>
                        </a:tabLst>
                      </a:pP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foo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	</a:t>
                      </a:r>
                      <a:r>
                        <a:rPr dirty="0" sz="1200" spc="-5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2019-12-</a:t>
                      </a: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01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18:06:12.520784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-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0500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EST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deployed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mariadb-7.1.0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10.3.20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1038280" y="4949444"/>
            <a:ext cx="43535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3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helm</a:t>
            </a:r>
            <a:r>
              <a:rPr dirty="0" sz="1200" spc="-3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install</a:t>
            </a:r>
            <a:r>
              <a:rPr dirty="0" sz="1200" spc="-3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–n</a:t>
            </a:r>
            <a:r>
              <a:rPr dirty="0" sz="1200" spc="-3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foo</a:t>
            </a:r>
            <a:r>
              <a:rPr dirty="0" sz="1200" spc="-3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myNewMaria</a:t>
            </a:r>
            <a:r>
              <a:rPr dirty="0" sz="1200" spc="-3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stable/mariadb</a:t>
            </a:r>
            <a:endParaRPr sz="1200">
              <a:latin typeface="DejaVu Sans Mono"/>
              <a:cs typeface="DejaVu Sans Mono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632" y="0"/>
            <a:ext cx="7357871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52483" y="3967548"/>
            <a:ext cx="2168525" cy="744220"/>
            <a:chOff x="1552483" y="3967548"/>
            <a:chExt cx="2168525" cy="744220"/>
          </a:xfrm>
        </p:grpSpPr>
        <p:sp>
          <p:nvSpPr>
            <p:cNvPr id="4" name="object 4" descr=""/>
            <p:cNvSpPr/>
            <p:nvPr/>
          </p:nvSpPr>
          <p:spPr>
            <a:xfrm>
              <a:off x="1558833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2033447" y="0"/>
                  </a:moveTo>
                  <a:lnTo>
                    <a:pt x="121922" y="0"/>
                  </a:lnTo>
                  <a:lnTo>
                    <a:pt x="74464" y="9581"/>
                  </a:lnTo>
                  <a:lnTo>
                    <a:pt x="35710" y="35710"/>
                  </a:lnTo>
                  <a:lnTo>
                    <a:pt x="9581" y="74464"/>
                  </a:lnTo>
                  <a:lnTo>
                    <a:pt x="0" y="121922"/>
                  </a:lnTo>
                  <a:lnTo>
                    <a:pt x="0" y="609596"/>
                  </a:lnTo>
                  <a:lnTo>
                    <a:pt x="9581" y="657054"/>
                  </a:lnTo>
                  <a:lnTo>
                    <a:pt x="35710" y="695809"/>
                  </a:lnTo>
                  <a:lnTo>
                    <a:pt x="74464" y="721938"/>
                  </a:lnTo>
                  <a:lnTo>
                    <a:pt x="121922" y="731520"/>
                  </a:lnTo>
                  <a:lnTo>
                    <a:pt x="2033447" y="731520"/>
                  </a:lnTo>
                  <a:lnTo>
                    <a:pt x="2080905" y="721938"/>
                  </a:lnTo>
                  <a:lnTo>
                    <a:pt x="2119659" y="695809"/>
                  </a:lnTo>
                  <a:lnTo>
                    <a:pt x="2145788" y="657054"/>
                  </a:lnTo>
                  <a:lnTo>
                    <a:pt x="2155370" y="609596"/>
                  </a:lnTo>
                  <a:lnTo>
                    <a:pt x="2155370" y="121922"/>
                  </a:lnTo>
                  <a:lnTo>
                    <a:pt x="2145788" y="74464"/>
                  </a:lnTo>
                  <a:lnTo>
                    <a:pt x="2119659" y="35710"/>
                  </a:lnTo>
                  <a:lnTo>
                    <a:pt x="2080905" y="9581"/>
                  </a:lnTo>
                  <a:lnTo>
                    <a:pt x="2033447" y="0"/>
                  </a:lnTo>
                  <a:close/>
                </a:path>
              </a:pathLst>
            </a:custGeom>
            <a:solidFill>
              <a:srgbClr val="090E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58833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0" y="121923"/>
                  </a:moveTo>
                  <a:lnTo>
                    <a:pt x="9581" y="74465"/>
                  </a:lnTo>
                  <a:lnTo>
                    <a:pt x="35710" y="35710"/>
                  </a:lnTo>
                  <a:lnTo>
                    <a:pt x="74465" y="9581"/>
                  </a:lnTo>
                  <a:lnTo>
                    <a:pt x="121923" y="0"/>
                  </a:lnTo>
                  <a:lnTo>
                    <a:pt x="2033448" y="0"/>
                  </a:lnTo>
                  <a:lnTo>
                    <a:pt x="2080905" y="9581"/>
                  </a:lnTo>
                  <a:lnTo>
                    <a:pt x="2119660" y="35710"/>
                  </a:lnTo>
                  <a:lnTo>
                    <a:pt x="2145789" y="74465"/>
                  </a:lnTo>
                  <a:lnTo>
                    <a:pt x="2155371" y="121923"/>
                  </a:lnTo>
                  <a:lnTo>
                    <a:pt x="2155371" y="609596"/>
                  </a:lnTo>
                  <a:lnTo>
                    <a:pt x="2145789" y="657054"/>
                  </a:lnTo>
                  <a:lnTo>
                    <a:pt x="2119660" y="695809"/>
                  </a:lnTo>
                  <a:lnTo>
                    <a:pt x="2080905" y="721938"/>
                  </a:lnTo>
                  <a:lnTo>
                    <a:pt x="2033448" y="731520"/>
                  </a:lnTo>
                  <a:lnTo>
                    <a:pt x="121923" y="731520"/>
                  </a:lnTo>
                  <a:lnTo>
                    <a:pt x="74465" y="721938"/>
                  </a:lnTo>
                  <a:lnTo>
                    <a:pt x="35710" y="695809"/>
                  </a:lnTo>
                  <a:lnTo>
                    <a:pt x="9581" y="657054"/>
                  </a:lnTo>
                  <a:lnTo>
                    <a:pt x="0" y="609596"/>
                  </a:lnTo>
                  <a:lnTo>
                    <a:pt x="0" y="121923"/>
                  </a:lnTo>
                  <a:close/>
                </a:path>
              </a:pathLst>
            </a:custGeom>
            <a:ln w="12700">
              <a:solidFill>
                <a:srgbClr val="090E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083529" y="4178300"/>
            <a:ext cx="1107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Helm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089648" y="4448082"/>
            <a:ext cx="2168525" cy="744220"/>
            <a:chOff x="6089648" y="4448082"/>
            <a:chExt cx="2168525" cy="744220"/>
          </a:xfrm>
        </p:grpSpPr>
        <p:sp>
          <p:nvSpPr>
            <p:cNvPr id="8" name="object 8" descr=""/>
            <p:cNvSpPr/>
            <p:nvPr/>
          </p:nvSpPr>
          <p:spPr>
            <a:xfrm>
              <a:off x="6095998" y="4454432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2033447" y="0"/>
                  </a:moveTo>
                  <a:lnTo>
                    <a:pt x="121923" y="0"/>
                  </a:lnTo>
                  <a:lnTo>
                    <a:pt x="74465" y="9581"/>
                  </a:lnTo>
                  <a:lnTo>
                    <a:pt x="35710" y="35710"/>
                  </a:lnTo>
                  <a:lnTo>
                    <a:pt x="9581" y="74465"/>
                  </a:lnTo>
                  <a:lnTo>
                    <a:pt x="0" y="121923"/>
                  </a:lnTo>
                  <a:lnTo>
                    <a:pt x="0" y="609597"/>
                  </a:lnTo>
                  <a:lnTo>
                    <a:pt x="9581" y="657054"/>
                  </a:lnTo>
                  <a:lnTo>
                    <a:pt x="35710" y="695809"/>
                  </a:lnTo>
                  <a:lnTo>
                    <a:pt x="74465" y="721938"/>
                  </a:lnTo>
                  <a:lnTo>
                    <a:pt x="121923" y="731519"/>
                  </a:lnTo>
                  <a:lnTo>
                    <a:pt x="2033447" y="731519"/>
                  </a:lnTo>
                  <a:lnTo>
                    <a:pt x="2080906" y="721938"/>
                  </a:lnTo>
                  <a:lnTo>
                    <a:pt x="2119660" y="695809"/>
                  </a:lnTo>
                  <a:lnTo>
                    <a:pt x="2145790" y="657054"/>
                  </a:lnTo>
                  <a:lnTo>
                    <a:pt x="2155371" y="609597"/>
                  </a:lnTo>
                  <a:lnTo>
                    <a:pt x="2155371" y="121923"/>
                  </a:lnTo>
                  <a:lnTo>
                    <a:pt x="2145790" y="74465"/>
                  </a:lnTo>
                  <a:lnTo>
                    <a:pt x="2119660" y="35710"/>
                  </a:lnTo>
                  <a:lnTo>
                    <a:pt x="2080906" y="9581"/>
                  </a:lnTo>
                  <a:lnTo>
                    <a:pt x="2033447" y="0"/>
                  </a:lnTo>
                  <a:close/>
                </a:path>
              </a:pathLst>
            </a:custGeom>
            <a:solidFill>
              <a:srgbClr val="090E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95998" y="4454432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0" y="121923"/>
                  </a:moveTo>
                  <a:lnTo>
                    <a:pt x="9581" y="74465"/>
                  </a:lnTo>
                  <a:lnTo>
                    <a:pt x="35710" y="35710"/>
                  </a:lnTo>
                  <a:lnTo>
                    <a:pt x="74465" y="9581"/>
                  </a:lnTo>
                  <a:lnTo>
                    <a:pt x="121923" y="0"/>
                  </a:lnTo>
                  <a:lnTo>
                    <a:pt x="2033448" y="0"/>
                  </a:lnTo>
                  <a:lnTo>
                    <a:pt x="2080905" y="9581"/>
                  </a:lnTo>
                  <a:lnTo>
                    <a:pt x="2119660" y="35710"/>
                  </a:lnTo>
                  <a:lnTo>
                    <a:pt x="2145789" y="74465"/>
                  </a:lnTo>
                  <a:lnTo>
                    <a:pt x="2155371" y="121923"/>
                  </a:lnTo>
                  <a:lnTo>
                    <a:pt x="2155371" y="609596"/>
                  </a:lnTo>
                  <a:lnTo>
                    <a:pt x="2145789" y="657054"/>
                  </a:lnTo>
                  <a:lnTo>
                    <a:pt x="2119660" y="695809"/>
                  </a:lnTo>
                  <a:lnTo>
                    <a:pt x="2080905" y="721938"/>
                  </a:lnTo>
                  <a:lnTo>
                    <a:pt x="2033448" y="731520"/>
                  </a:lnTo>
                  <a:lnTo>
                    <a:pt x="121923" y="731520"/>
                  </a:lnTo>
                  <a:lnTo>
                    <a:pt x="74465" y="721938"/>
                  </a:lnTo>
                  <a:lnTo>
                    <a:pt x="35710" y="695809"/>
                  </a:lnTo>
                  <a:lnTo>
                    <a:pt x="9581" y="657054"/>
                  </a:lnTo>
                  <a:lnTo>
                    <a:pt x="0" y="609596"/>
                  </a:lnTo>
                  <a:lnTo>
                    <a:pt x="0" y="121923"/>
                  </a:lnTo>
                  <a:close/>
                </a:path>
              </a:pathLst>
            </a:custGeom>
            <a:ln w="12700">
              <a:solidFill>
                <a:srgbClr val="090E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930002" y="4656835"/>
            <a:ext cx="4876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Tiller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960505" y="3236028"/>
            <a:ext cx="2168525" cy="744220"/>
            <a:chOff x="6960505" y="3236028"/>
            <a:chExt cx="2168525" cy="744220"/>
          </a:xfrm>
        </p:grpSpPr>
        <p:sp>
          <p:nvSpPr>
            <p:cNvPr id="12" name="object 12" descr=""/>
            <p:cNvSpPr/>
            <p:nvPr/>
          </p:nvSpPr>
          <p:spPr>
            <a:xfrm>
              <a:off x="6966855" y="324237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2033447" y="0"/>
                  </a:moveTo>
                  <a:lnTo>
                    <a:pt x="121923" y="0"/>
                  </a:lnTo>
                  <a:lnTo>
                    <a:pt x="74465" y="9581"/>
                  </a:lnTo>
                  <a:lnTo>
                    <a:pt x="35710" y="35710"/>
                  </a:lnTo>
                  <a:lnTo>
                    <a:pt x="9581" y="74464"/>
                  </a:lnTo>
                  <a:lnTo>
                    <a:pt x="0" y="121922"/>
                  </a:lnTo>
                  <a:lnTo>
                    <a:pt x="0" y="609596"/>
                  </a:lnTo>
                  <a:lnTo>
                    <a:pt x="9581" y="657054"/>
                  </a:lnTo>
                  <a:lnTo>
                    <a:pt x="35710" y="695809"/>
                  </a:lnTo>
                  <a:lnTo>
                    <a:pt x="74465" y="721938"/>
                  </a:lnTo>
                  <a:lnTo>
                    <a:pt x="121923" y="731519"/>
                  </a:lnTo>
                  <a:lnTo>
                    <a:pt x="2033447" y="731519"/>
                  </a:lnTo>
                  <a:lnTo>
                    <a:pt x="2080906" y="721938"/>
                  </a:lnTo>
                  <a:lnTo>
                    <a:pt x="2119660" y="695809"/>
                  </a:lnTo>
                  <a:lnTo>
                    <a:pt x="2145790" y="657054"/>
                  </a:lnTo>
                  <a:lnTo>
                    <a:pt x="2155371" y="609596"/>
                  </a:lnTo>
                  <a:lnTo>
                    <a:pt x="2155371" y="121922"/>
                  </a:lnTo>
                  <a:lnTo>
                    <a:pt x="2145790" y="74464"/>
                  </a:lnTo>
                  <a:lnTo>
                    <a:pt x="2119660" y="35710"/>
                  </a:lnTo>
                  <a:lnTo>
                    <a:pt x="2080906" y="9581"/>
                  </a:lnTo>
                  <a:lnTo>
                    <a:pt x="2033447" y="0"/>
                  </a:lnTo>
                  <a:close/>
                </a:path>
              </a:pathLst>
            </a:custGeom>
            <a:solidFill>
              <a:srgbClr val="326C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966855" y="324237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0" y="121923"/>
                  </a:moveTo>
                  <a:lnTo>
                    <a:pt x="9581" y="74465"/>
                  </a:lnTo>
                  <a:lnTo>
                    <a:pt x="35710" y="35710"/>
                  </a:lnTo>
                  <a:lnTo>
                    <a:pt x="74465" y="9581"/>
                  </a:lnTo>
                  <a:lnTo>
                    <a:pt x="121923" y="0"/>
                  </a:lnTo>
                  <a:lnTo>
                    <a:pt x="2033448" y="0"/>
                  </a:lnTo>
                  <a:lnTo>
                    <a:pt x="2080905" y="9581"/>
                  </a:lnTo>
                  <a:lnTo>
                    <a:pt x="2119660" y="35710"/>
                  </a:lnTo>
                  <a:lnTo>
                    <a:pt x="2145789" y="74465"/>
                  </a:lnTo>
                  <a:lnTo>
                    <a:pt x="2155371" y="121923"/>
                  </a:lnTo>
                  <a:lnTo>
                    <a:pt x="2155371" y="609596"/>
                  </a:lnTo>
                  <a:lnTo>
                    <a:pt x="2145789" y="657054"/>
                  </a:lnTo>
                  <a:lnTo>
                    <a:pt x="2119660" y="695809"/>
                  </a:lnTo>
                  <a:lnTo>
                    <a:pt x="2080905" y="721938"/>
                  </a:lnTo>
                  <a:lnTo>
                    <a:pt x="2033448" y="731520"/>
                  </a:lnTo>
                  <a:lnTo>
                    <a:pt x="121923" y="731520"/>
                  </a:lnTo>
                  <a:lnTo>
                    <a:pt x="74465" y="721938"/>
                  </a:lnTo>
                  <a:lnTo>
                    <a:pt x="35710" y="695809"/>
                  </a:lnTo>
                  <a:lnTo>
                    <a:pt x="9581" y="657054"/>
                  </a:lnTo>
                  <a:lnTo>
                    <a:pt x="0" y="609596"/>
                  </a:lnTo>
                  <a:lnTo>
                    <a:pt x="0" y="121923"/>
                  </a:lnTo>
                  <a:close/>
                </a:path>
              </a:pathLst>
            </a:custGeom>
            <a:ln w="12700">
              <a:solidFill>
                <a:srgbClr val="326C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321878" y="3446779"/>
            <a:ext cx="1446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3710432" y="3973905"/>
            <a:ext cx="4122420" cy="880110"/>
          </a:xfrm>
          <a:custGeom>
            <a:avLst/>
            <a:gdLst/>
            <a:ahLst/>
            <a:cxnLst/>
            <a:rect l="l" t="t" r="r" b="b"/>
            <a:pathLst>
              <a:path w="4122420" h="880110">
                <a:moveTo>
                  <a:pt x="2380526" y="842365"/>
                </a:moveTo>
                <a:lnTo>
                  <a:pt x="2284819" y="767664"/>
                </a:lnTo>
                <a:lnTo>
                  <a:pt x="2277287" y="805014"/>
                </a:lnTo>
                <a:lnTo>
                  <a:pt x="7531" y="347078"/>
                </a:lnTo>
                <a:lnTo>
                  <a:pt x="0" y="384429"/>
                </a:lnTo>
                <a:lnTo>
                  <a:pt x="2269744" y="842365"/>
                </a:lnTo>
                <a:lnTo>
                  <a:pt x="2289175" y="842365"/>
                </a:lnTo>
                <a:lnTo>
                  <a:pt x="2380526" y="842365"/>
                </a:lnTo>
                <a:close/>
              </a:path>
              <a:path w="4122420" h="880110">
                <a:moveTo>
                  <a:pt x="2385555" y="846289"/>
                </a:moveTo>
                <a:lnTo>
                  <a:pt x="2385352" y="846124"/>
                </a:lnTo>
                <a:lnTo>
                  <a:pt x="2288425" y="846124"/>
                </a:lnTo>
                <a:lnTo>
                  <a:pt x="2268994" y="846124"/>
                </a:lnTo>
                <a:lnTo>
                  <a:pt x="2262213" y="879703"/>
                </a:lnTo>
                <a:lnTo>
                  <a:pt x="2385555" y="846289"/>
                </a:lnTo>
                <a:close/>
              </a:path>
              <a:path w="4122420" h="880110">
                <a:moveTo>
                  <a:pt x="4122280" y="114300"/>
                </a:moveTo>
                <a:lnTo>
                  <a:pt x="4112755" y="95250"/>
                </a:lnTo>
                <a:lnTo>
                  <a:pt x="4065130" y="0"/>
                </a:lnTo>
                <a:lnTo>
                  <a:pt x="4007980" y="114300"/>
                </a:lnTo>
                <a:lnTo>
                  <a:pt x="4046080" y="114300"/>
                </a:lnTo>
                <a:lnTo>
                  <a:pt x="4046080" y="480529"/>
                </a:lnTo>
                <a:lnTo>
                  <a:pt x="4084180" y="480529"/>
                </a:lnTo>
                <a:lnTo>
                  <a:pt x="4084180" y="114300"/>
                </a:lnTo>
                <a:lnTo>
                  <a:pt x="4122280" y="114300"/>
                </a:lnTo>
                <a:close/>
              </a:path>
            </a:pathLst>
          </a:custGeom>
          <a:solidFill>
            <a:srgbClr val="95297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1743" y="3916679"/>
            <a:ext cx="1368552" cy="1328928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25"/>
              </a:spcBef>
            </a:pPr>
            <a:r>
              <a:rPr dirty="0"/>
              <a:t>Helm</a:t>
            </a:r>
            <a:r>
              <a:rPr dirty="0" spc="95"/>
              <a:t> </a:t>
            </a:r>
            <a:r>
              <a:rPr dirty="0"/>
              <a:t>v2</a:t>
            </a:r>
            <a:r>
              <a:rPr dirty="0" spc="100"/>
              <a:t> </a:t>
            </a:r>
            <a:r>
              <a:rPr dirty="0" spc="-10"/>
              <a:t>Architecture </a:t>
            </a:r>
            <a:r>
              <a:rPr dirty="0">
                <a:solidFill>
                  <a:srgbClr val="95297C"/>
                </a:solidFill>
              </a:rPr>
              <a:t>Helm</a:t>
            </a:r>
            <a:r>
              <a:rPr dirty="0" spc="95">
                <a:solidFill>
                  <a:srgbClr val="95297C"/>
                </a:solidFill>
              </a:rPr>
              <a:t> </a:t>
            </a:r>
            <a:r>
              <a:rPr dirty="0">
                <a:solidFill>
                  <a:srgbClr val="95297C"/>
                </a:solidFill>
              </a:rPr>
              <a:t>v2</a:t>
            </a:r>
            <a:r>
              <a:rPr dirty="0" spc="95">
                <a:solidFill>
                  <a:srgbClr val="95297C"/>
                </a:solidFill>
              </a:rPr>
              <a:t> </a:t>
            </a:r>
            <a:r>
              <a:rPr dirty="0" spc="-20">
                <a:solidFill>
                  <a:srgbClr val="95297C"/>
                </a:solidFill>
                <a:latin typeface="Malgun Gothic"/>
                <a:cs typeface="Malgun Gothic"/>
              </a:rPr>
              <a:t>아키텍처</a:t>
            </a:r>
          </a:p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632" y="0"/>
            <a:ext cx="7357871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52483" y="3967548"/>
            <a:ext cx="2168525" cy="744220"/>
            <a:chOff x="1552483" y="3967548"/>
            <a:chExt cx="2168525" cy="744220"/>
          </a:xfrm>
        </p:grpSpPr>
        <p:sp>
          <p:nvSpPr>
            <p:cNvPr id="4" name="object 4" descr=""/>
            <p:cNvSpPr/>
            <p:nvPr/>
          </p:nvSpPr>
          <p:spPr>
            <a:xfrm>
              <a:off x="1558833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2033447" y="0"/>
                  </a:moveTo>
                  <a:lnTo>
                    <a:pt x="121922" y="0"/>
                  </a:lnTo>
                  <a:lnTo>
                    <a:pt x="74464" y="9581"/>
                  </a:lnTo>
                  <a:lnTo>
                    <a:pt x="35710" y="35710"/>
                  </a:lnTo>
                  <a:lnTo>
                    <a:pt x="9581" y="74464"/>
                  </a:lnTo>
                  <a:lnTo>
                    <a:pt x="0" y="121922"/>
                  </a:lnTo>
                  <a:lnTo>
                    <a:pt x="0" y="609596"/>
                  </a:lnTo>
                  <a:lnTo>
                    <a:pt x="9581" y="657054"/>
                  </a:lnTo>
                  <a:lnTo>
                    <a:pt x="35710" y="695809"/>
                  </a:lnTo>
                  <a:lnTo>
                    <a:pt x="74464" y="721938"/>
                  </a:lnTo>
                  <a:lnTo>
                    <a:pt x="121922" y="731520"/>
                  </a:lnTo>
                  <a:lnTo>
                    <a:pt x="2033447" y="731520"/>
                  </a:lnTo>
                  <a:lnTo>
                    <a:pt x="2080905" y="721938"/>
                  </a:lnTo>
                  <a:lnTo>
                    <a:pt x="2119659" y="695809"/>
                  </a:lnTo>
                  <a:lnTo>
                    <a:pt x="2145788" y="657054"/>
                  </a:lnTo>
                  <a:lnTo>
                    <a:pt x="2155370" y="609596"/>
                  </a:lnTo>
                  <a:lnTo>
                    <a:pt x="2155370" y="121922"/>
                  </a:lnTo>
                  <a:lnTo>
                    <a:pt x="2145788" y="74464"/>
                  </a:lnTo>
                  <a:lnTo>
                    <a:pt x="2119659" y="35710"/>
                  </a:lnTo>
                  <a:lnTo>
                    <a:pt x="2080905" y="9581"/>
                  </a:lnTo>
                  <a:lnTo>
                    <a:pt x="2033447" y="0"/>
                  </a:lnTo>
                  <a:close/>
                </a:path>
              </a:pathLst>
            </a:custGeom>
            <a:solidFill>
              <a:srgbClr val="090E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58833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0" y="121923"/>
                  </a:moveTo>
                  <a:lnTo>
                    <a:pt x="9581" y="74465"/>
                  </a:lnTo>
                  <a:lnTo>
                    <a:pt x="35710" y="35710"/>
                  </a:lnTo>
                  <a:lnTo>
                    <a:pt x="74465" y="9581"/>
                  </a:lnTo>
                  <a:lnTo>
                    <a:pt x="121923" y="0"/>
                  </a:lnTo>
                  <a:lnTo>
                    <a:pt x="2033448" y="0"/>
                  </a:lnTo>
                  <a:lnTo>
                    <a:pt x="2080905" y="9581"/>
                  </a:lnTo>
                  <a:lnTo>
                    <a:pt x="2119660" y="35710"/>
                  </a:lnTo>
                  <a:lnTo>
                    <a:pt x="2145789" y="74465"/>
                  </a:lnTo>
                  <a:lnTo>
                    <a:pt x="2155371" y="121923"/>
                  </a:lnTo>
                  <a:lnTo>
                    <a:pt x="2155371" y="609596"/>
                  </a:lnTo>
                  <a:lnTo>
                    <a:pt x="2145789" y="657054"/>
                  </a:lnTo>
                  <a:lnTo>
                    <a:pt x="2119660" y="695809"/>
                  </a:lnTo>
                  <a:lnTo>
                    <a:pt x="2080905" y="721938"/>
                  </a:lnTo>
                  <a:lnTo>
                    <a:pt x="2033448" y="731520"/>
                  </a:lnTo>
                  <a:lnTo>
                    <a:pt x="121923" y="731520"/>
                  </a:lnTo>
                  <a:lnTo>
                    <a:pt x="74465" y="721938"/>
                  </a:lnTo>
                  <a:lnTo>
                    <a:pt x="35710" y="695809"/>
                  </a:lnTo>
                  <a:lnTo>
                    <a:pt x="9581" y="657054"/>
                  </a:lnTo>
                  <a:lnTo>
                    <a:pt x="0" y="609596"/>
                  </a:lnTo>
                  <a:lnTo>
                    <a:pt x="0" y="121923"/>
                  </a:lnTo>
                  <a:close/>
                </a:path>
              </a:pathLst>
            </a:custGeom>
            <a:ln w="12700">
              <a:solidFill>
                <a:srgbClr val="090E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083529" y="4178300"/>
            <a:ext cx="1107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Helm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346550" y="3967548"/>
            <a:ext cx="2168525" cy="744220"/>
            <a:chOff x="6346550" y="3967548"/>
            <a:chExt cx="2168525" cy="744220"/>
          </a:xfrm>
        </p:grpSpPr>
        <p:sp>
          <p:nvSpPr>
            <p:cNvPr id="8" name="object 8" descr=""/>
            <p:cNvSpPr/>
            <p:nvPr/>
          </p:nvSpPr>
          <p:spPr>
            <a:xfrm>
              <a:off x="6352900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2033447" y="0"/>
                  </a:moveTo>
                  <a:lnTo>
                    <a:pt x="121923" y="0"/>
                  </a:lnTo>
                  <a:lnTo>
                    <a:pt x="74465" y="9581"/>
                  </a:lnTo>
                  <a:lnTo>
                    <a:pt x="35710" y="35710"/>
                  </a:lnTo>
                  <a:lnTo>
                    <a:pt x="9581" y="74464"/>
                  </a:lnTo>
                  <a:lnTo>
                    <a:pt x="0" y="121922"/>
                  </a:lnTo>
                  <a:lnTo>
                    <a:pt x="0" y="609596"/>
                  </a:lnTo>
                  <a:lnTo>
                    <a:pt x="9581" y="657054"/>
                  </a:lnTo>
                  <a:lnTo>
                    <a:pt x="35710" y="695809"/>
                  </a:lnTo>
                  <a:lnTo>
                    <a:pt x="74465" y="721938"/>
                  </a:lnTo>
                  <a:lnTo>
                    <a:pt x="121923" y="731520"/>
                  </a:lnTo>
                  <a:lnTo>
                    <a:pt x="2033447" y="731520"/>
                  </a:lnTo>
                  <a:lnTo>
                    <a:pt x="2080906" y="721938"/>
                  </a:lnTo>
                  <a:lnTo>
                    <a:pt x="2119660" y="695809"/>
                  </a:lnTo>
                  <a:lnTo>
                    <a:pt x="2145790" y="657054"/>
                  </a:lnTo>
                  <a:lnTo>
                    <a:pt x="2155371" y="609596"/>
                  </a:lnTo>
                  <a:lnTo>
                    <a:pt x="2155371" y="121922"/>
                  </a:lnTo>
                  <a:lnTo>
                    <a:pt x="2145790" y="74464"/>
                  </a:lnTo>
                  <a:lnTo>
                    <a:pt x="2119660" y="35710"/>
                  </a:lnTo>
                  <a:lnTo>
                    <a:pt x="2080906" y="9581"/>
                  </a:lnTo>
                  <a:lnTo>
                    <a:pt x="2033447" y="0"/>
                  </a:lnTo>
                  <a:close/>
                </a:path>
              </a:pathLst>
            </a:custGeom>
            <a:solidFill>
              <a:srgbClr val="326C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352900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0" y="121923"/>
                  </a:moveTo>
                  <a:lnTo>
                    <a:pt x="9581" y="74465"/>
                  </a:lnTo>
                  <a:lnTo>
                    <a:pt x="35710" y="35710"/>
                  </a:lnTo>
                  <a:lnTo>
                    <a:pt x="74465" y="9581"/>
                  </a:lnTo>
                  <a:lnTo>
                    <a:pt x="121923" y="0"/>
                  </a:lnTo>
                  <a:lnTo>
                    <a:pt x="2033448" y="0"/>
                  </a:lnTo>
                  <a:lnTo>
                    <a:pt x="2080905" y="9581"/>
                  </a:lnTo>
                  <a:lnTo>
                    <a:pt x="2119660" y="35710"/>
                  </a:lnTo>
                  <a:lnTo>
                    <a:pt x="2145789" y="74465"/>
                  </a:lnTo>
                  <a:lnTo>
                    <a:pt x="2155371" y="121923"/>
                  </a:lnTo>
                  <a:lnTo>
                    <a:pt x="2155371" y="609596"/>
                  </a:lnTo>
                  <a:lnTo>
                    <a:pt x="2145789" y="657054"/>
                  </a:lnTo>
                  <a:lnTo>
                    <a:pt x="2119660" y="695809"/>
                  </a:lnTo>
                  <a:lnTo>
                    <a:pt x="2080905" y="721938"/>
                  </a:lnTo>
                  <a:lnTo>
                    <a:pt x="2033448" y="731520"/>
                  </a:lnTo>
                  <a:lnTo>
                    <a:pt x="121923" y="731520"/>
                  </a:lnTo>
                  <a:lnTo>
                    <a:pt x="74465" y="721938"/>
                  </a:lnTo>
                  <a:lnTo>
                    <a:pt x="35710" y="695809"/>
                  </a:lnTo>
                  <a:lnTo>
                    <a:pt x="9581" y="657054"/>
                  </a:lnTo>
                  <a:lnTo>
                    <a:pt x="0" y="609596"/>
                  </a:lnTo>
                  <a:lnTo>
                    <a:pt x="0" y="121923"/>
                  </a:lnTo>
                  <a:close/>
                </a:path>
              </a:pathLst>
            </a:custGeom>
            <a:ln w="12700">
              <a:solidFill>
                <a:srgbClr val="326C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707923" y="4178300"/>
            <a:ext cx="1446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714203" y="4282508"/>
            <a:ext cx="2639060" cy="114300"/>
          </a:xfrm>
          <a:custGeom>
            <a:avLst/>
            <a:gdLst/>
            <a:ahLst/>
            <a:cxnLst/>
            <a:rect l="l" t="t" r="r" b="b"/>
            <a:pathLst>
              <a:path w="2639060" h="114300">
                <a:moveTo>
                  <a:pt x="2524396" y="0"/>
                </a:moveTo>
                <a:lnTo>
                  <a:pt x="2524396" y="114300"/>
                </a:lnTo>
                <a:lnTo>
                  <a:pt x="2600596" y="76200"/>
                </a:lnTo>
                <a:lnTo>
                  <a:pt x="2543446" y="76200"/>
                </a:lnTo>
                <a:lnTo>
                  <a:pt x="2543446" y="38100"/>
                </a:lnTo>
                <a:lnTo>
                  <a:pt x="2600596" y="38100"/>
                </a:lnTo>
                <a:lnTo>
                  <a:pt x="2524396" y="0"/>
                </a:lnTo>
                <a:close/>
              </a:path>
              <a:path w="2639060" h="114300">
                <a:moveTo>
                  <a:pt x="25243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24396" y="76200"/>
                </a:lnTo>
                <a:lnTo>
                  <a:pt x="2524396" y="38100"/>
                </a:lnTo>
                <a:close/>
              </a:path>
              <a:path w="2639060" h="114300">
                <a:moveTo>
                  <a:pt x="2600596" y="38100"/>
                </a:moveTo>
                <a:lnTo>
                  <a:pt x="2543446" y="38100"/>
                </a:lnTo>
                <a:lnTo>
                  <a:pt x="2543446" y="76200"/>
                </a:lnTo>
                <a:lnTo>
                  <a:pt x="2600596" y="76200"/>
                </a:lnTo>
                <a:lnTo>
                  <a:pt x="2638696" y="57150"/>
                </a:lnTo>
                <a:lnTo>
                  <a:pt x="2600596" y="38100"/>
                </a:lnTo>
                <a:close/>
              </a:path>
            </a:pathLst>
          </a:custGeom>
          <a:solidFill>
            <a:srgbClr val="95297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1743" y="3916679"/>
            <a:ext cx="1368552" cy="132892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25"/>
              </a:spcBef>
            </a:pPr>
            <a:r>
              <a:rPr dirty="0"/>
              <a:t>Helm</a:t>
            </a:r>
            <a:r>
              <a:rPr dirty="0" spc="95"/>
              <a:t> </a:t>
            </a:r>
            <a:r>
              <a:rPr dirty="0"/>
              <a:t>v3</a:t>
            </a:r>
            <a:r>
              <a:rPr dirty="0" spc="100"/>
              <a:t> </a:t>
            </a:r>
            <a:r>
              <a:rPr dirty="0" spc="-10"/>
              <a:t>Architecture </a:t>
            </a:r>
            <a:r>
              <a:rPr dirty="0">
                <a:solidFill>
                  <a:srgbClr val="95297C"/>
                </a:solidFill>
              </a:rPr>
              <a:t>Helm</a:t>
            </a:r>
            <a:r>
              <a:rPr dirty="0" spc="95">
                <a:solidFill>
                  <a:srgbClr val="95297C"/>
                </a:solidFill>
              </a:rPr>
              <a:t> </a:t>
            </a:r>
            <a:r>
              <a:rPr dirty="0">
                <a:solidFill>
                  <a:srgbClr val="95297C"/>
                </a:solidFill>
              </a:rPr>
              <a:t>v3</a:t>
            </a:r>
            <a:r>
              <a:rPr dirty="0" spc="95">
                <a:solidFill>
                  <a:srgbClr val="95297C"/>
                </a:solidFill>
              </a:rPr>
              <a:t> </a:t>
            </a:r>
            <a:r>
              <a:rPr dirty="0" spc="-20">
                <a:solidFill>
                  <a:srgbClr val="95297C"/>
                </a:solidFill>
                <a:latin typeface="Malgun Gothic"/>
                <a:cs typeface="Malgun Gothic"/>
              </a:rPr>
              <a:t>아키텍처</a:t>
            </a:r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632" y="0"/>
            <a:ext cx="7357871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52483" y="3967548"/>
            <a:ext cx="2168525" cy="744220"/>
            <a:chOff x="1552483" y="3967548"/>
            <a:chExt cx="2168525" cy="744220"/>
          </a:xfrm>
        </p:grpSpPr>
        <p:sp>
          <p:nvSpPr>
            <p:cNvPr id="4" name="object 4" descr=""/>
            <p:cNvSpPr/>
            <p:nvPr/>
          </p:nvSpPr>
          <p:spPr>
            <a:xfrm>
              <a:off x="1558833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2033447" y="0"/>
                  </a:moveTo>
                  <a:lnTo>
                    <a:pt x="121922" y="0"/>
                  </a:lnTo>
                  <a:lnTo>
                    <a:pt x="74464" y="9581"/>
                  </a:lnTo>
                  <a:lnTo>
                    <a:pt x="35710" y="35710"/>
                  </a:lnTo>
                  <a:lnTo>
                    <a:pt x="9581" y="74464"/>
                  </a:lnTo>
                  <a:lnTo>
                    <a:pt x="0" y="121922"/>
                  </a:lnTo>
                  <a:lnTo>
                    <a:pt x="0" y="609596"/>
                  </a:lnTo>
                  <a:lnTo>
                    <a:pt x="9581" y="657054"/>
                  </a:lnTo>
                  <a:lnTo>
                    <a:pt x="35710" y="695809"/>
                  </a:lnTo>
                  <a:lnTo>
                    <a:pt x="74464" y="721938"/>
                  </a:lnTo>
                  <a:lnTo>
                    <a:pt x="121922" y="731520"/>
                  </a:lnTo>
                  <a:lnTo>
                    <a:pt x="2033447" y="731520"/>
                  </a:lnTo>
                  <a:lnTo>
                    <a:pt x="2080905" y="721938"/>
                  </a:lnTo>
                  <a:lnTo>
                    <a:pt x="2119659" y="695809"/>
                  </a:lnTo>
                  <a:lnTo>
                    <a:pt x="2145788" y="657054"/>
                  </a:lnTo>
                  <a:lnTo>
                    <a:pt x="2155370" y="609596"/>
                  </a:lnTo>
                  <a:lnTo>
                    <a:pt x="2155370" y="121922"/>
                  </a:lnTo>
                  <a:lnTo>
                    <a:pt x="2145788" y="74464"/>
                  </a:lnTo>
                  <a:lnTo>
                    <a:pt x="2119659" y="35710"/>
                  </a:lnTo>
                  <a:lnTo>
                    <a:pt x="2080905" y="9581"/>
                  </a:lnTo>
                  <a:lnTo>
                    <a:pt x="2033447" y="0"/>
                  </a:lnTo>
                  <a:close/>
                </a:path>
              </a:pathLst>
            </a:custGeom>
            <a:solidFill>
              <a:srgbClr val="090E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58833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0" y="121923"/>
                  </a:moveTo>
                  <a:lnTo>
                    <a:pt x="9581" y="74465"/>
                  </a:lnTo>
                  <a:lnTo>
                    <a:pt x="35710" y="35710"/>
                  </a:lnTo>
                  <a:lnTo>
                    <a:pt x="74465" y="9581"/>
                  </a:lnTo>
                  <a:lnTo>
                    <a:pt x="121923" y="0"/>
                  </a:lnTo>
                  <a:lnTo>
                    <a:pt x="2033448" y="0"/>
                  </a:lnTo>
                  <a:lnTo>
                    <a:pt x="2080905" y="9581"/>
                  </a:lnTo>
                  <a:lnTo>
                    <a:pt x="2119660" y="35710"/>
                  </a:lnTo>
                  <a:lnTo>
                    <a:pt x="2145789" y="74465"/>
                  </a:lnTo>
                  <a:lnTo>
                    <a:pt x="2155371" y="121923"/>
                  </a:lnTo>
                  <a:lnTo>
                    <a:pt x="2155371" y="609596"/>
                  </a:lnTo>
                  <a:lnTo>
                    <a:pt x="2145789" y="657054"/>
                  </a:lnTo>
                  <a:lnTo>
                    <a:pt x="2119660" y="695809"/>
                  </a:lnTo>
                  <a:lnTo>
                    <a:pt x="2080905" y="721938"/>
                  </a:lnTo>
                  <a:lnTo>
                    <a:pt x="2033448" y="731520"/>
                  </a:lnTo>
                  <a:lnTo>
                    <a:pt x="121923" y="731520"/>
                  </a:lnTo>
                  <a:lnTo>
                    <a:pt x="74465" y="721938"/>
                  </a:lnTo>
                  <a:lnTo>
                    <a:pt x="35710" y="695809"/>
                  </a:lnTo>
                  <a:lnTo>
                    <a:pt x="9581" y="657054"/>
                  </a:lnTo>
                  <a:lnTo>
                    <a:pt x="0" y="609596"/>
                  </a:lnTo>
                  <a:lnTo>
                    <a:pt x="0" y="121923"/>
                  </a:lnTo>
                  <a:close/>
                </a:path>
              </a:pathLst>
            </a:custGeom>
            <a:ln w="12700">
              <a:solidFill>
                <a:srgbClr val="090E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083529" y="4178300"/>
            <a:ext cx="1107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Helm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346550" y="3967548"/>
            <a:ext cx="2168525" cy="744220"/>
            <a:chOff x="6346550" y="3967548"/>
            <a:chExt cx="2168525" cy="744220"/>
          </a:xfrm>
        </p:grpSpPr>
        <p:sp>
          <p:nvSpPr>
            <p:cNvPr id="8" name="object 8" descr=""/>
            <p:cNvSpPr/>
            <p:nvPr/>
          </p:nvSpPr>
          <p:spPr>
            <a:xfrm>
              <a:off x="6352900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2033447" y="0"/>
                  </a:moveTo>
                  <a:lnTo>
                    <a:pt x="121923" y="0"/>
                  </a:lnTo>
                  <a:lnTo>
                    <a:pt x="74465" y="9581"/>
                  </a:lnTo>
                  <a:lnTo>
                    <a:pt x="35710" y="35710"/>
                  </a:lnTo>
                  <a:lnTo>
                    <a:pt x="9581" y="74464"/>
                  </a:lnTo>
                  <a:lnTo>
                    <a:pt x="0" y="121922"/>
                  </a:lnTo>
                  <a:lnTo>
                    <a:pt x="0" y="609596"/>
                  </a:lnTo>
                  <a:lnTo>
                    <a:pt x="9581" y="657054"/>
                  </a:lnTo>
                  <a:lnTo>
                    <a:pt x="35710" y="695809"/>
                  </a:lnTo>
                  <a:lnTo>
                    <a:pt x="74465" y="721938"/>
                  </a:lnTo>
                  <a:lnTo>
                    <a:pt x="121923" y="731520"/>
                  </a:lnTo>
                  <a:lnTo>
                    <a:pt x="2033447" y="731520"/>
                  </a:lnTo>
                  <a:lnTo>
                    <a:pt x="2080906" y="721938"/>
                  </a:lnTo>
                  <a:lnTo>
                    <a:pt x="2119660" y="695809"/>
                  </a:lnTo>
                  <a:lnTo>
                    <a:pt x="2145790" y="657054"/>
                  </a:lnTo>
                  <a:lnTo>
                    <a:pt x="2155371" y="609596"/>
                  </a:lnTo>
                  <a:lnTo>
                    <a:pt x="2155371" y="121922"/>
                  </a:lnTo>
                  <a:lnTo>
                    <a:pt x="2145790" y="74464"/>
                  </a:lnTo>
                  <a:lnTo>
                    <a:pt x="2119660" y="35710"/>
                  </a:lnTo>
                  <a:lnTo>
                    <a:pt x="2080906" y="9581"/>
                  </a:lnTo>
                  <a:lnTo>
                    <a:pt x="2033447" y="0"/>
                  </a:lnTo>
                  <a:close/>
                </a:path>
              </a:pathLst>
            </a:custGeom>
            <a:solidFill>
              <a:srgbClr val="326C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352900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0" y="121923"/>
                  </a:moveTo>
                  <a:lnTo>
                    <a:pt x="9581" y="74465"/>
                  </a:lnTo>
                  <a:lnTo>
                    <a:pt x="35710" y="35710"/>
                  </a:lnTo>
                  <a:lnTo>
                    <a:pt x="74465" y="9581"/>
                  </a:lnTo>
                  <a:lnTo>
                    <a:pt x="121923" y="0"/>
                  </a:lnTo>
                  <a:lnTo>
                    <a:pt x="2033448" y="0"/>
                  </a:lnTo>
                  <a:lnTo>
                    <a:pt x="2080905" y="9581"/>
                  </a:lnTo>
                  <a:lnTo>
                    <a:pt x="2119660" y="35710"/>
                  </a:lnTo>
                  <a:lnTo>
                    <a:pt x="2145789" y="74465"/>
                  </a:lnTo>
                  <a:lnTo>
                    <a:pt x="2155371" y="121923"/>
                  </a:lnTo>
                  <a:lnTo>
                    <a:pt x="2155371" y="609596"/>
                  </a:lnTo>
                  <a:lnTo>
                    <a:pt x="2145789" y="657054"/>
                  </a:lnTo>
                  <a:lnTo>
                    <a:pt x="2119660" y="695809"/>
                  </a:lnTo>
                  <a:lnTo>
                    <a:pt x="2080905" y="721938"/>
                  </a:lnTo>
                  <a:lnTo>
                    <a:pt x="2033448" y="731520"/>
                  </a:lnTo>
                  <a:lnTo>
                    <a:pt x="121923" y="731520"/>
                  </a:lnTo>
                  <a:lnTo>
                    <a:pt x="74465" y="721938"/>
                  </a:lnTo>
                  <a:lnTo>
                    <a:pt x="35710" y="695809"/>
                  </a:lnTo>
                  <a:lnTo>
                    <a:pt x="9581" y="657054"/>
                  </a:lnTo>
                  <a:lnTo>
                    <a:pt x="0" y="609596"/>
                  </a:lnTo>
                  <a:lnTo>
                    <a:pt x="0" y="121923"/>
                  </a:lnTo>
                  <a:close/>
                </a:path>
              </a:pathLst>
            </a:custGeom>
            <a:ln w="12700">
              <a:solidFill>
                <a:srgbClr val="326C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707923" y="4178300"/>
            <a:ext cx="1446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1743" y="3916679"/>
            <a:ext cx="1368552" cy="1328928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714203" y="4282508"/>
            <a:ext cx="2639060" cy="1389380"/>
            <a:chOff x="3714203" y="4282508"/>
            <a:chExt cx="2639060" cy="1389380"/>
          </a:xfrm>
        </p:grpSpPr>
        <p:sp>
          <p:nvSpPr>
            <p:cNvPr id="13" name="object 13" descr=""/>
            <p:cNvSpPr/>
            <p:nvPr/>
          </p:nvSpPr>
          <p:spPr>
            <a:xfrm>
              <a:off x="3714203" y="4282508"/>
              <a:ext cx="2639060" cy="114300"/>
            </a:xfrm>
            <a:custGeom>
              <a:avLst/>
              <a:gdLst/>
              <a:ahLst/>
              <a:cxnLst/>
              <a:rect l="l" t="t" r="r" b="b"/>
              <a:pathLst>
                <a:path w="2639060" h="114300">
                  <a:moveTo>
                    <a:pt x="2524396" y="0"/>
                  </a:moveTo>
                  <a:lnTo>
                    <a:pt x="2524396" y="114300"/>
                  </a:lnTo>
                  <a:lnTo>
                    <a:pt x="2600596" y="76200"/>
                  </a:lnTo>
                  <a:lnTo>
                    <a:pt x="2543446" y="76200"/>
                  </a:lnTo>
                  <a:lnTo>
                    <a:pt x="2543446" y="38100"/>
                  </a:lnTo>
                  <a:lnTo>
                    <a:pt x="2600596" y="38100"/>
                  </a:lnTo>
                  <a:lnTo>
                    <a:pt x="2524396" y="0"/>
                  </a:lnTo>
                  <a:close/>
                </a:path>
                <a:path w="2639060" h="114300">
                  <a:moveTo>
                    <a:pt x="252439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524396" y="76200"/>
                  </a:lnTo>
                  <a:lnTo>
                    <a:pt x="2524396" y="38100"/>
                  </a:lnTo>
                  <a:close/>
                </a:path>
                <a:path w="2639060" h="114300">
                  <a:moveTo>
                    <a:pt x="2600596" y="38100"/>
                  </a:moveTo>
                  <a:lnTo>
                    <a:pt x="2543446" y="38100"/>
                  </a:lnTo>
                  <a:lnTo>
                    <a:pt x="2543446" y="76200"/>
                  </a:lnTo>
                  <a:lnTo>
                    <a:pt x="2600596" y="76200"/>
                  </a:lnTo>
                  <a:lnTo>
                    <a:pt x="2638696" y="57150"/>
                  </a:lnTo>
                  <a:lnTo>
                    <a:pt x="2600596" y="38100"/>
                  </a:lnTo>
                  <a:close/>
                </a:path>
              </a:pathLst>
            </a:custGeom>
            <a:solidFill>
              <a:srgbClr val="9529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29785" y="4579924"/>
              <a:ext cx="1203960" cy="452120"/>
            </a:xfrm>
            <a:custGeom>
              <a:avLst/>
              <a:gdLst/>
              <a:ahLst/>
              <a:cxnLst/>
              <a:rect l="l" t="t" r="r" b="b"/>
              <a:pathLst>
                <a:path w="1203960" h="452120">
                  <a:moveTo>
                    <a:pt x="1203767" y="0"/>
                  </a:moveTo>
                  <a:lnTo>
                    <a:pt x="1201847" y="71392"/>
                  </a:lnTo>
                  <a:lnTo>
                    <a:pt x="1196503" y="133396"/>
                  </a:lnTo>
                  <a:lnTo>
                    <a:pt x="1188354" y="182291"/>
                  </a:lnTo>
                  <a:lnTo>
                    <a:pt x="1166123" y="225871"/>
                  </a:lnTo>
                  <a:lnTo>
                    <a:pt x="639527" y="225871"/>
                  </a:lnTo>
                  <a:lnTo>
                    <a:pt x="627629" y="237386"/>
                  </a:lnTo>
                  <a:lnTo>
                    <a:pt x="617295" y="269451"/>
                  </a:lnTo>
                  <a:lnTo>
                    <a:pt x="609146" y="318346"/>
                  </a:lnTo>
                  <a:lnTo>
                    <a:pt x="603802" y="380350"/>
                  </a:lnTo>
                  <a:lnTo>
                    <a:pt x="601883" y="451743"/>
                  </a:lnTo>
                  <a:lnTo>
                    <a:pt x="599964" y="380350"/>
                  </a:lnTo>
                  <a:lnTo>
                    <a:pt x="594620" y="318346"/>
                  </a:lnTo>
                  <a:lnTo>
                    <a:pt x="586471" y="269451"/>
                  </a:lnTo>
                  <a:lnTo>
                    <a:pt x="576137" y="237386"/>
                  </a:lnTo>
                  <a:lnTo>
                    <a:pt x="564239" y="225871"/>
                  </a:lnTo>
                  <a:lnTo>
                    <a:pt x="37644" y="225871"/>
                  </a:lnTo>
                  <a:lnTo>
                    <a:pt x="25745" y="214356"/>
                  </a:lnTo>
                  <a:lnTo>
                    <a:pt x="15411" y="182291"/>
                  </a:lnTo>
                  <a:lnTo>
                    <a:pt x="7263" y="133396"/>
                  </a:lnTo>
                  <a:lnTo>
                    <a:pt x="1919" y="71392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2F8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431667" y="5031667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w="0" h="640079">
                  <a:moveTo>
                    <a:pt x="1" y="0"/>
                  </a:moveTo>
                  <a:lnTo>
                    <a:pt x="0" y="639927"/>
                  </a:lnTo>
                </a:path>
              </a:pathLst>
            </a:custGeom>
            <a:ln w="38100">
              <a:solidFill>
                <a:srgbClr val="2F8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25"/>
              </a:spcBef>
            </a:pPr>
            <a:r>
              <a:rPr dirty="0"/>
              <a:t>Helm</a:t>
            </a:r>
            <a:r>
              <a:rPr dirty="0" spc="95"/>
              <a:t> </a:t>
            </a:r>
            <a:r>
              <a:rPr dirty="0"/>
              <a:t>v3</a:t>
            </a:r>
            <a:r>
              <a:rPr dirty="0" spc="100"/>
              <a:t> </a:t>
            </a:r>
            <a:r>
              <a:rPr dirty="0" spc="-10"/>
              <a:t>Architecture </a:t>
            </a:r>
            <a:r>
              <a:rPr dirty="0">
                <a:solidFill>
                  <a:srgbClr val="95297C"/>
                </a:solidFill>
              </a:rPr>
              <a:t>Helm</a:t>
            </a:r>
            <a:r>
              <a:rPr dirty="0" spc="95">
                <a:solidFill>
                  <a:srgbClr val="95297C"/>
                </a:solidFill>
              </a:rPr>
              <a:t> </a:t>
            </a:r>
            <a:r>
              <a:rPr dirty="0">
                <a:solidFill>
                  <a:srgbClr val="95297C"/>
                </a:solidFill>
              </a:rPr>
              <a:t>v3</a:t>
            </a:r>
            <a:r>
              <a:rPr dirty="0" spc="95">
                <a:solidFill>
                  <a:srgbClr val="95297C"/>
                </a:solidFill>
              </a:rPr>
              <a:t> </a:t>
            </a:r>
            <a:r>
              <a:rPr dirty="0" spc="-20">
                <a:solidFill>
                  <a:srgbClr val="95297C"/>
                </a:solidFill>
                <a:latin typeface="Malgun Gothic"/>
                <a:cs typeface="Malgun Gothic"/>
              </a:rPr>
              <a:t>아키텍처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3062895" y="5842508"/>
            <a:ext cx="270954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Uses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normal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credentials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>
                <a:latin typeface="Malgun Gothic"/>
                <a:cs typeface="Malgun Gothic"/>
              </a:rPr>
              <a:t>일반</a:t>
            </a:r>
            <a:r>
              <a:rPr dirty="0" sz="1800" spc="-2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사용자</a:t>
            </a:r>
            <a:r>
              <a:rPr dirty="0" sz="1800" spc="-2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인증</a:t>
            </a:r>
            <a:r>
              <a:rPr dirty="0" sz="1800" spc="-22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사용</a:t>
            </a:r>
            <a:endParaRPr sz="1800">
              <a:latin typeface="Malgun Gothic"/>
              <a:cs typeface="Malgun Gothic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632" y="6095"/>
            <a:ext cx="7357871" cy="685190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52483" y="3967548"/>
            <a:ext cx="2168525" cy="744220"/>
            <a:chOff x="1552483" y="3967548"/>
            <a:chExt cx="2168525" cy="744220"/>
          </a:xfrm>
        </p:grpSpPr>
        <p:sp>
          <p:nvSpPr>
            <p:cNvPr id="4" name="object 4" descr=""/>
            <p:cNvSpPr/>
            <p:nvPr/>
          </p:nvSpPr>
          <p:spPr>
            <a:xfrm>
              <a:off x="1558833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2033447" y="0"/>
                  </a:moveTo>
                  <a:lnTo>
                    <a:pt x="121922" y="0"/>
                  </a:lnTo>
                  <a:lnTo>
                    <a:pt x="74464" y="9581"/>
                  </a:lnTo>
                  <a:lnTo>
                    <a:pt x="35710" y="35710"/>
                  </a:lnTo>
                  <a:lnTo>
                    <a:pt x="9581" y="74464"/>
                  </a:lnTo>
                  <a:lnTo>
                    <a:pt x="0" y="121922"/>
                  </a:lnTo>
                  <a:lnTo>
                    <a:pt x="0" y="609596"/>
                  </a:lnTo>
                  <a:lnTo>
                    <a:pt x="9581" y="657054"/>
                  </a:lnTo>
                  <a:lnTo>
                    <a:pt x="35710" y="695809"/>
                  </a:lnTo>
                  <a:lnTo>
                    <a:pt x="74464" y="721938"/>
                  </a:lnTo>
                  <a:lnTo>
                    <a:pt x="121922" y="731520"/>
                  </a:lnTo>
                  <a:lnTo>
                    <a:pt x="2033447" y="731520"/>
                  </a:lnTo>
                  <a:lnTo>
                    <a:pt x="2080905" y="721938"/>
                  </a:lnTo>
                  <a:lnTo>
                    <a:pt x="2119659" y="695809"/>
                  </a:lnTo>
                  <a:lnTo>
                    <a:pt x="2145788" y="657054"/>
                  </a:lnTo>
                  <a:lnTo>
                    <a:pt x="2155370" y="609596"/>
                  </a:lnTo>
                  <a:lnTo>
                    <a:pt x="2155370" y="121922"/>
                  </a:lnTo>
                  <a:lnTo>
                    <a:pt x="2145788" y="74464"/>
                  </a:lnTo>
                  <a:lnTo>
                    <a:pt x="2119659" y="35710"/>
                  </a:lnTo>
                  <a:lnTo>
                    <a:pt x="2080905" y="9581"/>
                  </a:lnTo>
                  <a:lnTo>
                    <a:pt x="2033447" y="0"/>
                  </a:lnTo>
                  <a:close/>
                </a:path>
              </a:pathLst>
            </a:custGeom>
            <a:solidFill>
              <a:srgbClr val="090E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58833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0" y="121923"/>
                  </a:moveTo>
                  <a:lnTo>
                    <a:pt x="9581" y="74465"/>
                  </a:lnTo>
                  <a:lnTo>
                    <a:pt x="35710" y="35710"/>
                  </a:lnTo>
                  <a:lnTo>
                    <a:pt x="74465" y="9581"/>
                  </a:lnTo>
                  <a:lnTo>
                    <a:pt x="121923" y="0"/>
                  </a:lnTo>
                  <a:lnTo>
                    <a:pt x="2033448" y="0"/>
                  </a:lnTo>
                  <a:lnTo>
                    <a:pt x="2080905" y="9581"/>
                  </a:lnTo>
                  <a:lnTo>
                    <a:pt x="2119660" y="35710"/>
                  </a:lnTo>
                  <a:lnTo>
                    <a:pt x="2145789" y="74465"/>
                  </a:lnTo>
                  <a:lnTo>
                    <a:pt x="2155371" y="121923"/>
                  </a:lnTo>
                  <a:lnTo>
                    <a:pt x="2155371" y="609596"/>
                  </a:lnTo>
                  <a:lnTo>
                    <a:pt x="2145789" y="657054"/>
                  </a:lnTo>
                  <a:lnTo>
                    <a:pt x="2119660" y="695809"/>
                  </a:lnTo>
                  <a:lnTo>
                    <a:pt x="2080905" y="721938"/>
                  </a:lnTo>
                  <a:lnTo>
                    <a:pt x="2033448" y="731520"/>
                  </a:lnTo>
                  <a:lnTo>
                    <a:pt x="121923" y="731520"/>
                  </a:lnTo>
                  <a:lnTo>
                    <a:pt x="74465" y="721938"/>
                  </a:lnTo>
                  <a:lnTo>
                    <a:pt x="35710" y="695809"/>
                  </a:lnTo>
                  <a:lnTo>
                    <a:pt x="9581" y="657054"/>
                  </a:lnTo>
                  <a:lnTo>
                    <a:pt x="0" y="609596"/>
                  </a:lnTo>
                  <a:lnTo>
                    <a:pt x="0" y="121923"/>
                  </a:lnTo>
                  <a:close/>
                </a:path>
              </a:pathLst>
            </a:custGeom>
            <a:ln w="12700">
              <a:solidFill>
                <a:srgbClr val="090E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083529" y="4178300"/>
            <a:ext cx="1107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Helm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346550" y="3967548"/>
            <a:ext cx="2168525" cy="744220"/>
            <a:chOff x="6346550" y="3967548"/>
            <a:chExt cx="2168525" cy="744220"/>
          </a:xfrm>
        </p:grpSpPr>
        <p:sp>
          <p:nvSpPr>
            <p:cNvPr id="8" name="object 8" descr=""/>
            <p:cNvSpPr/>
            <p:nvPr/>
          </p:nvSpPr>
          <p:spPr>
            <a:xfrm>
              <a:off x="6352900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2033447" y="0"/>
                  </a:moveTo>
                  <a:lnTo>
                    <a:pt x="121923" y="0"/>
                  </a:lnTo>
                  <a:lnTo>
                    <a:pt x="74465" y="9581"/>
                  </a:lnTo>
                  <a:lnTo>
                    <a:pt x="35710" y="35710"/>
                  </a:lnTo>
                  <a:lnTo>
                    <a:pt x="9581" y="74464"/>
                  </a:lnTo>
                  <a:lnTo>
                    <a:pt x="0" y="121922"/>
                  </a:lnTo>
                  <a:lnTo>
                    <a:pt x="0" y="609596"/>
                  </a:lnTo>
                  <a:lnTo>
                    <a:pt x="9581" y="657054"/>
                  </a:lnTo>
                  <a:lnTo>
                    <a:pt x="35710" y="695809"/>
                  </a:lnTo>
                  <a:lnTo>
                    <a:pt x="74465" y="721938"/>
                  </a:lnTo>
                  <a:lnTo>
                    <a:pt x="121923" y="731520"/>
                  </a:lnTo>
                  <a:lnTo>
                    <a:pt x="2033447" y="731520"/>
                  </a:lnTo>
                  <a:lnTo>
                    <a:pt x="2080906" y="721938"/>
                  </a:lnTo>
                  <a:lnTo>
                    <a:pt x="2119660" y="695809"/>
                  </a:lnTo>
                  <a:lnTo>
                    <a:pt x="2145790" y="657054"/>
                  </a:lnTo>
                  <a:lnTo>
                    <a:pt x="2155371" y="609596"/>
                  </a:lnTo>
                  <a:lnTo>
                    <a:pt x="2155371" y="121922"/>
                  </a:lnTo>
                  <a:lnTo>
                    <a:pt x="2145790" y="74464"/>
                  </a:lnTo>
                  <a:lnTo>
                    <a:pt x="2119660" y="35710"/>
                  </a:lnTo>
                  <a:lnTo>
                    <a:pt x="2080906" y="9581"/>
                  </a:lnTo>
                  <a:lnTo>
                    <a:pt x="2033447" y="0"/>
                  </a:lnTo>
                  <a:close/>
                </a:path>
              </a:pathLst>
            </a:custGeom>
            <a:solidFill>
              <a:srgbClr val="326C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352900" y="3973898"/>
              <a:ext cx="2155825" cy="731520"/>
            </a:xfrm>
            <a:custGeom>
              <a:avLst/>
              <a:gdLst/>
              <a:ahLst/>
              <a:cxnLst/>
              <a:rect l="l" t="t" r="r" b="b"/>
              <a:pathLst>
                <a:path w="2155825" h="731520">
                  <a:moveTo>
                    <a:pt x="0" y="121923"/>
                  </a:moveTo>
                  <a:lnTo>
                    <a:pt x="9581" y="74465"/>
                  </a:lnTo>
                  <a:lnTo>
                    <a:pt x="35710" y="35710"/>
                  </a:lnTo>
                  <a:lnTo>
                    <a:pt x="74465" y="9581"/>
                  </a:lnTo>
                  <a:lnTo>
                    <a:pt x="121923" y="0"/>
                  </a:lnTo>
                  <a:lnTo>
                    <a:pt x="2033448" y="0"/>
                  </a:lnTo>
                  <a:lnTo>
                    <a:pt x="2080905" y="9581"/>
                  </a:lnTo>
                  <a:lnTo>
                    <a:pt x="2119660" y="35710"/>
                  </a:lnTo>
                  <a:lnTo>
                    <a:pt x="2145789" y="74465"/>
                  </a:lnTo>
                  <a:lnTo>
                    <a:pt x="2155371" y="121923"/>
                  </a:lnTo>
                  <a:lnTo>
                    <a:pt x="2155371" y="609596"/>
                  </a:lnTo>
                  <a:lnTo>
                    <a:pt x="2145789" y="657054"/>
                  </a:lnTo>
                  <a:lnTo>
                    <a:pt x="2119660" y="695809"/>
                  </a:lnTo>
                  <a:lnTo>
                    <a:pt x="2080905" y="721938"/>
                  </a:lnTo>
                  <a:lnTo>
                    <a:pt x="2033448" y="731520"/>
                  </a:lnTo>
                  <a:lnTo>
                    <a:pt x="121923" y="731520"/>
                  </a:lnTo>
                  <a:lnTo>
                    <a:pt x="74465" y="721938"/>
                  </a:lnTo>
                  <a:lnTo>
                    <a:pt x="35710" y="695809"/>
                  </a:lnTo>
                  <a:lnTo>
                    <a:pt x="9581" y="657054"/>
                  </a:lnTo>
                  <a:lnTo>
                    <a:pt x="0" y="609596"/>
                  </a:lnTo>
                  <a:lnTo>
                    <a:pt x="0" y="121923"/>
                  </a:lnTo>
                  <a:close/>
                </a:path>
              </a:pathLst>
            </a:custGeom>
            <a:ln w="12700">
              <a:solidFill>
                <a:srgbClr val="326C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707923" y="4178300"/>
            <a:ext cx="1446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1743" y="3916679"/>
            <a:ext cx="1368552" cy="1328928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714203" y="1879600"/>
            <a:ext cx="5417185" cy="2517775"/>
            <a:chOff x="3714203" y="1879600"/>
            <a:chExt cx="5417185" cy="2517775"/>
          </a:xfrm>
        </p:grpSpPr>
        <p:sp>
          <p:nvSpPr>
            <p:cNvPr id="13" name="object 13" descr=""/>
            <p:cNvSpPr/>
            <p:nvPr/>
          </p:nvSpPr>
          <p:spPr>
            <a:xfrm>
              <a:off x="3714203" y="4282508"/>
              <a:ext cx="2639060" cy="114300"/>
            </a:xfrm>
            <a:custGeom>
              <a:avLst/>
              <a:gdLst/>
              <a:ahLst/>
              <a:cxnLst/>
              <a:rect l="l" t="t" r="r" b="b"/>
              <a:pathLst>
                <a:path w="2639060" h="114300">
                  <a:moveTo>
                    <a:pt x="2524396" y="0"/>
                  </a:moveTo>
                  <a:lnTo>
                    <a:pt x="2524396" y="114300"/>
                  </a:lnTo>
                  <a:lnTo>
                    <a:pt x="2600596" y="76200"/>
                  </a:lnTo>
                  <a:lnTo>
                    <a:pt x="2543446" y="76200"/>
                  </a:lnTo>
                  <a:lnTo>
                    <a:pt x="2543446" y="38100"/>
                  </a:lnTo>
                  <a:lnTo>
                    <a:pt x="2600596" y="38100"/>
                  </a:lnTo>
                  <a:lnTo>
                    <a:pt x="2524396" y="0"/>
                  </a:lnTo>
                  <a:close/>
                </a:path>
                <a:path w="2639060" h="114300">
                  <a:moveTo>
                    <a:pt x="252439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524396" y="76200"/>
                  </a:lnTo>
                  <a:lnTo>
                    <a:pt x="2524396" y="38100"/>
                  </a:lnTo>
                  <a:close/>
                </a:path>
                <a:path w="2639060" h="114300">
                  <a:moveTo>
                    <a:pt x="2600596" y="38100"/>
                  </a:moveTo>
                  <a:lnTo>
                    <a:pt x="2543446" y="38100"/>
                  </a:lnTo>
                  <a:lnTo>
                    <a:pt x="2543446" y="76200"/>
                  </a:lnTo>
                  <a:lnTo>
                    <a:pt x="2600596" y="76200"/>
                  </a:lnTo>
                  <a:lnTo>
                    <a:pt x="2638696" y="57150"/>
                  </a:lnTo>
                  <a:lnTo>
                    <a:pt x="2600596" y="38100"/>
                  </a:lnTo>
                  <a:close/>
                </a:path>
              </a:pathLst>
            </a:custGeom>
            <a:solidFill>
              <a:srgbClr val="9529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27976" y="2578607"/>
              <a:ext cx="853440" cy="850391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7797803" y="3429000"/>
              <a:ext cx="114300" cy="545465"/>
            </a:xfrm>
            <a:custGeom>
              <a:avLst/>
              <a:gdLst/>
              <a:ahLst/>
              <a:cxnLst/>
              <a:rect l="l" t="t" r="r" b="b"/>
              <a:pathLst>
                <a:path w="114300" h="545464">
                  <a:moveTo>
                    <a:pt x="76200" y="95250"/>
                  </a:moveTo>
                  <a:lnTo>
                    <a:pt x="38100" y="95250"/>
                  </a:lnTo>
                  <a:lnTo>
                    <a:pt x="38098" y="544898"/>
                  </a:lnTo>
                  <a:lnTo>
                    <a:pt x="76198" y="544898"/>
                  </a:lnTo>
                  <a:lnTo>
                    <a:pt x="76200" y="95250"/>
                  </a:lnTo>
                  <a:close/>
                </a:path>
                <a:path w="114300" h="545464">
                  <a:moveTo>
                    <a:pt x="57150" y="0"/>
                  </a:moveTo>
                  <a:lnTo>
                    <a:pt x="0" y="114300"/>
                  </a:lnTo>
                  <a:lnTo>
                    <a:pt x="38099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545464">
                  <a:moveTo>
                    <a:pt x="104775" y="95250"/>
                  </a:moveTo>
                  <a:lnTo>
                    <a:pt x="76200" y="95250"/>
                  </a:lnTo>
                  <a:lnTo>
                    <a:pt x="76199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9529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747475" y="2331944"/>
              <a:ext cx="740410" cy="819150"/>
            </a:xfrm>
            <a:custGeom>
              <a:avLst/>
              <a:gdLst/>
              <a:ahLst/>
              <a:cxnLst/>
              <a:rect l="l" t="t" r="r" b="b"/>
              <a:pathLst>
                <a:path w="740409" h="819150">
                  <a:moveTo>
                    <a:pt x="0" y="118746"/>
                  </a:moveTo>
                  <a:lnTo>
                    <a:pt x="55755" y="74114"/>
                  </a:lnTo>
                  <a:lnTo>
                    <a:pt x="106552" y="38160"/>
                  </a:lnTo>
                  <a:lnTo>
                    <a:pt x="149150" y="12813"/>
                  </a:lnTo>
                  <a:lnTo>
                    <a:pt x="180307" y="0"/>
                  </a:lnTo>
                  <a:lnTo>
                    <a:pt x="196783" y="1650"/>
                  </a:lnTo>
                  <a:lnTo>
                    <a:pt x="444085" y="294123"/>
                  </a:lnTo>
                  <a:lnTo>
                    <a:pt x="460561" y="295773"/>
                  </a:lnTo>
                  <a:lnTo>
                    <a:pt x="491718" y="282960"/>
                  </a:lnTo>
                  <a:lnTo>
                    <a:pt x="534316" y="257612"/>
                  </a:lnTo>
                  <a:lnTo>
                    <a:pt x="585113" y="221658"/>
                  </a:lnTo>
                  <a:lnTo>
                    <a:pt x="640869" y="177027"/>
                  </a:lnTo>
                  <a:lnTo>
                    <a:pt x="587591" y="224589"/>
                  </a:lnTo>
                  <a:lnTo>
                    <a:pt x="543695" y="268704"/>
                  </a:lnTo>
                  <a:lnTo>
                    <a:pt x="511620" y="306497"/>
                  </a:lnTo>
                  <a:lnTo>
                    <a:pt x="493807" y="335091"/>
                  </a:lnTo>
                  <a:lnTo>
                    <a:pt x="492696" y="351612"/>
                  </a:lnTo>
                  <a:lnTo>
                    <a:pt x="739999" y="644084"/>
                  </a:lnTo>
                  <a:lnTo>
                    <a:pt x="738888" y="660605"/>
                  </a:lnTo>
                  <a:lnTo>
                    <a:pt x="721075" y="689199"/>
                  </a:lnTo>
                  <a:lnTo>
                    <a:pt x="689000" y="726992"/>
                  </a:lnTo>
                  <a:lnTo>
                    <a:pt x="645104" y="771107"/>
                  </a:lnTo>
                  <a:lnTo>
                    <a:pt x="591826" y="818669"/>
                  </a:lnTo>
                </a:path>
              </a:pathLst>
            </a:custGeom>
            <a:ln w="38100">
              <a:solidFill>
                <a:srgbClr val="2F8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388344" y="1898650"/>
              <a:ext cx="723900" cy="610870"/>
            </a:xfrm>
            <a:custGeom>
              <a:avLst/>
              <a:gdLst/>
              <a:ahLst/>
              <a:cxnLst/>
              <a:rect l="l" t="t" r="r" b="b"/>
              <a:pathLst>
                <a:path w="723900" h="610869">
                  <a:moveTo>
                    <a:pt x="0" y="610322"/>
                  </a:moveTo>
                  <a:lnTo>
                    <a:pt x="723905" y="0"/>
                  </a:lnTo>
                </a:path>
              </a:pathLst>
            </a:custGeom>
            <a:ln w="38100">
              <a:solidFill>
                <a:srgbClr val="2F8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160292" y="672084"/>
            <a:ext cx="5010785" cy="101028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25"/>
              </a:spcBef>
            </a:pPr>
            <a:r>
              <a:rPr dirty="0" sz="3200" b="1">
                <a:solidFill>
                  <a:srgbClr val="0F1689"/>
                </a:solidFill>
                <a:latin typeface="DejaVu Sans Mono"/>
                <a:cs typeface="DejaVu Sans Mono"/>
              </a:rPr>
              <a:t>Helm</a:t>
            </a:r>
            <a:r>
              <a:rPr dirty="0" sz="3200" spc="95" b="1">
                <a:solidFill>
                  <a:srgbClr val="0F1689"/>
                </a:solidFill>
                <a:latin typeface="DejaVu Sans Mono"/>
                <a:cs typeface="DejaVu Sans Mono"/>
              </a:rPr>
              <a:t> </a:t>
            </a:r>
            <a:r>
              <a:rPr dirty="0" sz="3200" b="1">
                <a:solidFill>
                  <a:srgbClr val="0F1689"/>
                </a:solidFill>
                <a:latin typeface="DejaVu Sans Mono"/>
                <a:cs typeface="DejaVu Sans Mono"/>
              </a:rPr>
              <a:t>v3</a:t>
            </a:r>
            <a:r>
              <a:rPr dirty="0" sz="3200" spc="100" b="1">
                <a:solidFill>
                  <a:srgbClr val="0F1689"/>
                </a:solidFill>
                <a:latin typeface="DejaVu Sans Mono"/>
                <a:cs typeface="DejaVu Sans Mono"/>
              </a:rPr>
              <a:t> </a:t>
            </a:r>
            <a:r>
              <a:rPr dirty="0" sz="3200" spc="-10" b="1">
                <a:solidFill>
                  <a:srgbClr val="0F1689"/>
                </a:solidFill>
                <a:latin typeface="DejaVu Sans Mono"/>
                <a:cs typeface="DejaVu Sans Mono"/>
              </a:rPr>
              <a:t>Architecture </a:t>
            </a:r>
            <a:r>
              <a:rPr dirty="0" sz="3200" b="1">
                <a:solidFill>
                  <a:srgbClr val="95297C"/>
                </a:solidFill>
                <a:latin typeface="DejaVu Sans Mono"/>
                <a:cs typeface="DejaVu Sans Mono"/>
              </a:rPr>
              <a:t>Helm</a:t>
            </a:r>
            <a:r>
              <a:rPr dirty="0" sz="3200" spc="95" b="1">
                <a:solidFill>
                  <a:srgbClr val="95297C"/>
                </a:solidFill>
                <a:latin typeface="DejaVu Sans Mono"/>
                <a:cs typeface="DejaVu Sans Mono"/>
              </a:rPr>
              <a:t> </a:t>
            </a:r>
            <a:r>
              <a:rPr dirty="0" sz="3200" b="1">
                <a:solidFill>
                  <a:srgbClr val="95297C"/>
                </a:solidFill>
                <a:latin typeface="DejaVu Sans Mono"/>
                <a:cs typeface="DejaVu Sans Mono"/>
              </a:rPr>
              <a:t>v3</a:t>
            </a:r>
            <a:r>
              <a:rPr dirty="0" sz="3200" spc="95" b="1">
                <a:solidFill>
                  <a:srgbClr val="95297C"/>
                </a:solidFill>
                <a:latin typeface="DejaVu Sans Mono"/>
                <a:cs typeface="DejaVu Sans Mono"/>
              </a:rPr>
              <a:t> </a:t>
            </a:r>
            <a:r>
              <a:rPr dirty="0" sz="3200" spc="-20" b="1">
                <a:solidFill>
                  <a:srgbClr val="95297C"/>
                </a:solidFill>
                <a:latin typeface="Malgun Gothic"/>
                <a:cs typeface="Malgun Gothic"/>
              </a:rPr>
              <a:t>아키텍처</a:t>
            </a:r>
            <a:endParaRPr sz="32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677776" y="642620"/>
            <a:ext cx="340741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0">
                <a:solidFill>
                  <a:srgbClr val="000000"/>
                </a:solidFill>
                <a:latin typeface="Calibri"/>
                <a:cs typeface="Calibri"/>
              </a:rPr>
              <a:t>Release</a:t>
            </a:r>
            <a:r>
              <a:rPr dirty="0" sz="1800" spc="-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0">
                <a:solidFill>
                  <a:srgbClr val="000000"/>
                </a:solidFill>
                <a:latin typeface="Calibri"/>
                <a:cs typeface="Calibri"/>
              </a:rPr>
              <a:t>information</a:t>
            </a:r>
            <a:r>
              <a:rPr dirty="0" sz="180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000000"/>
                </a:solidFill>
                <a:latin typeface="Calibri"/>
                <a:cs typeface="Calibri"/>
              </a:rPr>
              <a:t>stored</a:t>
            </a:r>
            <a:r>
              <a:rPr dirty="0" sz="180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r>
              <a:rPr dirty="0" sz="180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0" i="1">
                <a:solidFill>
                  <a:srgbClr val="000000"/>
                </a:solidFill>
                <a:latin typeface="Calibri"/>
                <a:cs typeface="Calibri"/>
              </a:rPr>
              <a:t>Secret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677776" y="910844"/>
            <a:ext cx="4349750" cy="85788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</a:pP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namespace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default </a:t>
            </a:r>
            <a:r>
              <a:rPr dirty="0" sz="1800">
                <a:latin typeface="Malgun Gothic"/>
                <a:cs typeface="Malgun Gothic"/>
              </a:rPr>
              <a:t>앱이</a:t>
            </a:r>
            <a:r>
              <a:rPr dirty="0" sz="1800" spc="-2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설치된</a:t>
            </a:r>
            <a:r>
              <a:rPr dirty="0" sz="1800" spc="-2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네임스페이스에</a:t>
            </a:r>
            <a:r>
              <a:rPr dirty="0" sz="1800" spc="-2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릴리즈</a:t>
            </a:r>
            <a:r>
              <a:rPr dirty="0" sz="1800" spc="-22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정보가 </a:t>
            </a:r>
            <a:r>
              <a:rPr dirty="0" sz="1800" i="1">
                <a:latin typeface="Calibri"/>
                <a:cs typeface="Calibri"/>
              </a:rPr>
              <a:t>Secret</a:t>
            </a:r>
            <a:r>
              <a:rPr dirty="0" sz="1800" spc="-30" i="1">
                <a:latin typeface="Calibri"/>
                <a:cs typeface="Calibri"/>
              </a:rPr>
              <a:t> </a:t>
            </a:r>
            <a:r>
              <a:rPr dirty="0" sz="1800">
                <a:latin typeface="Malgun Gothic"/>
                <a:cs typeface="Malgun Gothic"/>
              </a:rPr>
              <a:t>으로</a:t>
            </a:r>
            <a:r>
              <a:rPr dirty="0" sz="1800" spc="-2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저장</a:t>
            </a:r>
            <a:r>
              <a:rPr dirty="0" sz="1800" spc="-225">
                <a:latin typeface="Malgun Gothic"/>
                <a:cs typeface="Malgun Gothic"/>
              </a:rPr>
              <a:t> </a:t>
            </a:r>
            <a:r>
              <a:rPr dirty="0" sz="1800" spc="-10">
                <a:latin typeface="Calibri"/>
                <a:cs typeface="Calibri"/>
              </a:rPr>
              <a:t>(</a:t>
            </a:r>
            <a:r>
              <a:rPr dirty="0" sz="1800" spc="-10">
                <a:latin typeface="Malgun Gothic"/>
                <a:cs typeface="Malgun Gothic"/>
              </a:rPr>
              <a:t>기본</a:t>
            </a:r>
            <a:r>
              <a:rPr dirty="0" sz="1800" spc="-22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설정</a:t>
            </a:r>
            <a:r>
              <a:rPr dirty="0" sz="1800" spc="-25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655024" y="739394"/>
            <a:ext cx="30353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2B799C"/>
                </a:solidFill>
                <a:latin typeface="Cambria"/>
                <a:cs typeface="Cambria"/>
              </a:rPr>
              <a:t>H</a:t>
            </a:r>
            <a:r>
              <a:rPr dirty="0" sz="750" spc="-35">
                <a:solidFill>
                  <a:srgbClr val="2B799C"/>
                </a:solidFill>
                <a:latin typeface="Cambria"/>
                <a:cs typeface="Cambria"/>
              </a:rPr>
              <a:t> </a:t>
            </a:r>
            <a:r>
              <a:rPr dirty="0" sz="750" spc="-25">
                <a:solidFill>
                  <a:srgbClr val="2B799C"/>
                </a:solidFill>
                <a:latin typeface="Cambria"/>
                <a:cs typeface="Cambria"/>
              </a:rPr>
              <a:t>ELM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09191" y="1293621"/>
            <a:ext cx="68199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110">
                <a:solidFill>
                  <a:srgbClr val="666666"/>
                </a:solidFill>
                <a:latin typeface="Cambria"/>
                <a:cs typeface="Cambria"/>
              </a:rPr>
              <a:t>Docs</a:t>
            </a:r>
            <a:r>
              <a:rPr dirty="0" sz="850" spc="120">
                <a:solidFill>
                  <a:srgbClr val="666666"/>
                </a:solidFill>
                <a:latin typeface="Cambria"/>
                <a:cs typeface="Cambria"/>
              </a:rPr>
              <a:t> </a:t>
            </a:r>
            <a:r>
              <a:rPr dirty="0" sz="850" spc="90">
                <a:solidFill>
                  <a:srgbClr val="666666"/>
                </a:solidFill>
                <a:latin typeface="Cambria"/>
                <a:cs typeface="Cambria"/>
              </a:rPr>
              <a:t>Home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09138" y="1543558"/>
            <a:ext cx="76263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80">
                <a:solidFill>
                  <a:srgbClr val="666666"/>
                </a:solidFill>
                <a:latin typeface="Cambria"/>
                <a:cs typeface="Cambria"/>
              </a:rPr>
              <a:t>Introduction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09138" y="1790446"/>
            <a:ext cx="4826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100">
                <a:solidFill>
                  <a:srgbClr val="666666"/>
                </a:solidFill>
                <a:latin typeface="Cambria"/>
                <a:cs typeface="Cambria"/>
              </a:rPr>
              <a:t>How-</a:t>
            </a:r>
            <a:r>
              <a:rPr dirty="0" sz="850" spc="70">
                <a:solidFill>
                  <a:srgbClr val="666666"/>
                </a:solidFill>
                <a:latin typeface="Cambria"/>
                <a:cs typeface="Cambria"/>
              </a:rPr>
              <a:t>To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07959" y="2037334"/>
            <a:ext cx="4064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666666"/>
                </a:solidFill>
                <a:latin typeface="Courier New"/>
                <a:cs typeface="Courier New"/>
              </a:rPr>
              <a:t>Topics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09138" y="2287270"/>
            <a:ext cx="84709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80">
                <a:solidFill>
                  <a:srgbClr val="666666"/>
                </a:solidFill>
                <a:latin typeface="Cambria"/>
                <a:cs typeface="Cambria"/>
              </a:rPr>
              <a:t>Best</a:t>
            </a:r>
            <a:r>
              <a:rPr dirty="0" sz="850" spc="145">
                <a:solidFill>
                  <a:srgbClr val="666666"/>
                </a:solidFill>
                <a:latin typeface="Cambria"/>
                <a:cs typeface="Cambria"/>
              </a:rPr>
              <a:t> </a:t>
            </a:r>
            <a:r>
              <a:rPr dirty="0" sz="850" spc="80">
                <a:solidFill>
                  <a:srgbClr val="666666"/>
                </a:solidFill>
                <a:latin typeface="Cambria"/>
                <a:cs typeface="Cambria"/>
              </a:rPr>
              <a:t>Practices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12277" y="2483865"/>
            <a:ext cx="676910" cy="379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">
              <a:lnSpc>
                <a:spcPct val="136500"/>
              </a:lnSpc>
              <a:spcBef>
                <a:spcPts val="100"/>
              </a:spcBef>
            </a:pPr>
            <a:r>
              <a:rPr dirty="0" sz="850" spc="100">
                <a:solidFill>
                  <a:srgbClr val="666666"/>
                </a:solidFill>
                <a:latin typeface="Times New Roman"/>
                <a:cs typeface="Times New Roman"/>
              </a:rPr>
              <a:t>Developing Templates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09243" y="2954782"/>
            <a:ext cx="70294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100">
                <a:solidFill>
                  <a:srgbClr val="666666"/>
                </a:solidFill>
                <a:latin typeface="Cambria"/>
                <a:cs typeface="Cambria"/>
              </a:rPr>
              <a:t>Community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09138" y="3160522"/>
            <a:ext cx="1055370" cy="373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34100"/>
              </a:lnSpc>
              <a:spcBef>
                <a:spcPts val="100"/>
              </a:spcBef>
            </a:pPr>
            <a:r>
              <a:rPr dirty="0" sz="850" spc="90">
                <a:solidFill>
                  <a:srgbClr val="666666"/>
                </a:solidFill>
                <a:latin typeface="Cambria"/>
                <a:cs typeface="Cambria"/>
              </a:rPr>
              <a:t>Frequently</a:t>
            </a:r>
            <a:r>
              <a:rPr dirty="0" sz="850" spc="200">
                <a:solidFill>
                  <a:srgbClr val="666666"/>
                </a:solidFill>
                <a:latin typeface="Cambria"/>
                <a:cs typeface="Cambria"/>
              </a:rPr>
              <a:t> </a:t>
            </a:r>
            <a:r>
              <a:rPr dirty="0" sz="850" spc="95">
                <a:solidFill>
                  <a:srgbClr val="666666"/>
                </a:solidFill>
                <a:latin typeface="Cambria"/>
                <a:cs typeface="Cambria"/>
              </a:rPr>
              <a:t>Asked </a:t>
            </a:r>
            <a:r>
              <a:rPr dirty="0" sz="850" spc="90">
                <a:solidFill>
                  <a:srgbClr val="666666"/>
                </a:solidFill>
                <a:latin typeface="Cambria"/>
                <a:cs typeface="Cambria"/>
              </a:rPr>
              <a:t>Questions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796063" y="6272021"/>
            <a:ext cx="104140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110">
                <a:solidFill>
                  <a:srgbClr val="2A90CA"/>
                </a:solidFill>
                <a:latin typeface="Cambria"/>
                <a:cs typeface="Cambria"/>
              </a:rPr>
              <a:t>O</a:t>
            </a:r>
            <a:r>
              <a:rPr dirty="0" sz="650" spc="345">
                <a:solidFill>
                  <a:srgbClr val="2A90CA"/>
                </a:solidFill>
                <a:latin typeface="Cambria"/>
                <a:cs typeface="Cambria"/>
              </a:rPr>
              <a:t> </a:t>
            </a:r>
            <a:r>
              <a:rPr dirty="0" sz="650" spc="95">
                <a:solidFill>
                  <a:srgbClr val="3B99CD"/>
                </a:solidFill>
                <a:latin typeface="Cambria"/>
                <a:cs typeface="Cambria"/>
              </a:rPr>
              <a:t>C</a:t>
            </a:r>
            <a:r>
              <a:rPr dirty="0" sz="650" spc="95">
                <a:solidFill>
                  <a:srgbClr val="4BA1D1"/>
                </a:solidFill>
                <a:latin typeface="Cambria"/>
                <a:cs typeface="Cambria"/>
              </a:rPr>
              <a:t>o</a:t>
            </a:r>
            <a:r>
              <a:rPr dirty="0" sz="650" spc="-75">
                <a:solidFill>
                  <a:srgbClr val="4BA1D1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2B90CA"/>
                </a:solidFill>
                <a:latin typeface="Cambria"/>
                <a:cs typeface="Cambria"/>
              </a:rPr>
              <a:t>nt</a:t>
            </a:r>
            <a:r>
              <a:rPr dirty="0" sz="650" spc="55">
                <a:solidFill>
                  <a:srgbClr val="2B90CA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2A90CA"/>
                </a:solidFill>
                <a:latin typeface="Cambria"/>
                <a:cs typeface="Cambria"/>
              </a:rPr>
              <a:t>ri</a:t>
            </a:r>
            <a:r>
              <a:rPr dirty="0" sz="650" spc="-45">
                <a:solidFill>
                  <a:srgbClr val="2A90CA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2A90CA"/>
                </a:solidFill>
                <a:latin typeface="Cambria"/>
                <a:cs typeface="Cambria"/>
              </a:rPr>
              <a:t>b</a:t>
            </a:r>
            <a:r>
              <a:rPr dirty="0" sz="650">
                <a:solidFill>
                  <a:srgbClr val="2D91CA"/>
                </a:solidFill>
                <a:latin typeface="Cambria"/>
                <a:cs typeface="Cambria"/>
              </a:rPr>
              <a:t>u</a:t>
            </a:r>
            <a:r>
              <a:rPr dirty="0" sz="650" spc="30">
                <a:solidFill>
                  <a:srgbClr val="2D91CA"/>
                </a:solidFill>
                <a:latin typeface="Cambria"/>
                <a:cs typeface="Cambria"/>
              </a:rPr>
              <a:t> </a:t>
            </a:r>
            <a:r>
              <a:rPr dirty="0" sz="650" spc="-40">
                <a:solidFill>
                  <a:srgbClr val="3393CC"/>
                </a:solidFill>
                <a:latin typeface="Cambria"/>
                <a:cs typeface="Cambria"/>
              </a:rPr>
              <a:t>t</a:t>
            </a:r>
            <a:r>
              <a:rPr dirty="0" sz="650" spc="-60">
                <a:solidFill>
                  <a:srgbClr val="3393CC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449ED1"/>
                </a:solidFill>
                <a:latin typeface="Cambria"/>
                <a:cs typeface="Cambria"/>
              </a:rPr>
              <a:t>e</a:t>
            </a:r>
            <a:r>
              <a:rPr dirty="0" sz="650" spc="260">
                <a:solidFill>
                  <a:srgbClr val="449ED1"/>
                </a:solidFill>
                <a:latin typeface="Cambria"/>
                <a:cs typeface="Cambria"/>
              </a:rPr>
              <a:t> </a:t>
            </a:r>
            <a:r>
              <a:rPr dirty="0" sz="650" spc="-10">
                <a:solidFill>
                  <a:srgbClr val="2A90CA"/>
                </a:solidFill>
                <a:latin typeface="Cambria"/>
                <a:cs typeface="Cambria"/>
              </a:rPr>
              <a:t>t</a:t>
            </a:r>
            <a:r>
              <a:rPr dirty="0" sz="650" spc="-40">
                <a:solidFill>
                  <a:srgbClr val="2A90CA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3193CC"/>
                </a:solidFill>
                <a:latin typeface="Cambria"/>
                <a:cs typeface="Cambria"/>
              </a:rPr>
              <a:t>o</a:t>
            </a:r>
            <a:r>
              <a:rPr dirty="0" sz="650" spc="175">
                <a:solidFill>
                  <a:srgbClr val="3193CC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2A90CA"/>
                </a:solidFill>
                <a:latin typeface="Cambria"/>
                <a:cs typeface="Cambria"/>
              </a:rPr>
              <a:t>D</a:t>
            </a:r>
            <a:r>
              <a:rPr dirty="0" sz="650" spc="5">
                <a:solidFill>
                  <a:srgbClr val="2A90CA"/>
                </a:solidFill>
                <a:latin typeface="Cambria"/>
                <a:cs typeface="Cambria"/>
              </a:rPr>
              <a:t> </a:t>
            </a:r>
            <a:r>
              <a:rPr dirty="0" sz="650" spc="50">
                <a:solidFill>
                  <a:srgbClr val="2A90CA"/>
                </a:solidFill>
                <a:latin typeface="Cambria"/>
                <a:cs typeface="Cambria"/>
              </a:rPr>
              <a:t>oc</a:t>
            </a:r>
            <a:r>
              <a:rPr dirty="0" sz="650" spc="-40">
                <a:solidFill>
                  <a:srgbClr val="2A90CA"/>
                </a:solidFill>
                <a:latin typeface="Cambria"/>
                <a:cs typeface="Cambria"/>
              </a:rPr>
              <a:t> </a:t>
            </a:r>
            <a:r>
              <a:rPr dirty="0" sz="650" spc="-50">
                <a:solidFill>
                  <a:srgbClr val="2B90CA"/>
                </a:solidFill>
                <a:latin typeface="Cambria"/>
                <a:cs typeface="Cambria"/>
              </a:rPr>
              <a:t>s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111293" y="754634"/>
            <a:ext cx="51562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882A3"/>
                </a:solidFill>
                <a:latin typeface="Cambria"/>
                <a:cs typeface="Cambria"/>
              </a:rPr>
              <a:t>G</a:t>
            </a:r>
            <a:r>
              <a:rPr dirty="0" sz="750" spc="5">
                <a:solidFill>
                  <a:srgbClr val="3882A3"/>
                </a:solidFill>
                <a:latin typeface="Cambria"/>
                <a:cs typeface="Cambria"/>
              </a:rPr>
              <a:t> </a:t>
            </a:r>
            <a:r>
              <a:rPr dirty="0" sz="750">
                <a:solidFill>
                  <a:srgbClr val="4B8CAA"/>
                </a:solidFill>
                <a:latin typeface="Cambria"/>
                <a:cs typeface="Cambria"/>
              </a:rPr>
              <a:t>et</a:t>
            </a:r>
            <a:r>
              <a:rPr dirty="0" sz="750" spc="265">
                <a:solidFill>
                  <a:srgbClr val="4B8CAA"/>
                </a:solidFill>
                <a:latin typeface="Cambria"/>
                <a:cs typeface="Cambria"/>
              </a:rPr>
              <a:t> </a:t>
            </a:r>
            <a:r>
              <a:rPr dirty="0" sz="750" spc="90">
                <a:solidFill>
                  <a:srgbClr val="317E9E"/>
                </a:solidFill>
                <a:latin typeface="Cambria"/>
                <a:cs typeface="Cambria"/>
              </a:rPr>
              <a:t>Helm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918920" y="754634"/>
            <a:ext cx="2540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>
                <a:solidFill>
                  <a:srgbClr val="3882A3"/>
                </a:solidFill>
                <a:latin typeface="Cambria"/>
                <a:cs typeface="Cambria"/>
              </a:rPr>
              <a:t>B</a:t>
            </a:r>
            <a:r>
              <a:rPr dirty="0" sz="750" spc="-20">
                <a:solidFill>
                  <a:srgbClr val="2D7C9E"/>
                </a:solidFill>
                <a:latin typeface="Cambria"/>
                <a:cs typeface="Cambria"/>
              </a:rPr>
              <a:t>1</a:t>
            </a:r>
            <a:r>
              <a:rPr dirty="0" sz="750" spc="-20">
                <a:solidFill>
                  <a:srgbClr val="5493AF"/>
                </a:solidFill>
                <a:latin typeface="Cambria"/>
                <a:cs typeface="Cambria"/>
              </a:rPr>
              <a:t>o</a:t>
            </a:r>
            <a:r>
              <a:rPr dirty="0" sz="750" spc="-20">
                <a:solidFill>
                  <a:srgbClr val="2B799C"/>
                </a:solidFill>
                <a:latin typeface="Cambria"/>
                <a:cs typeface="Cambria"/>
              </a:rPr>
              <a:t>g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464559" y="754634"/>
            <a:ext cx="2635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2F7C9E"/>
                </a:solidFill>
                <a:latin typeface="Cambria"/>
                <a:cs typeface="Cambria"/>
              </a:rPr>
              <a:t>D</a:t>
            </a:r>
            <a:r>
              <a:rPr dirty="0" sz="750" spc="-25">
                <a:solidFill>
                  <a:srgbClr val="2F7C9E"/>
                </a:solidFill>
                <a:latin typeface="Cambria"/>
                <a:cs typeface="Cambria"/>
              </a:rPr>
              <a:t> </a:t>
            </a:r>
            <a:r>
              <a:rPr dirty="0" sz="750" spc="25">
                <a:solidFill>
                  <a:srgbClr val="4287A8"/>
                </a:solidFill>
                <a:latin typeface="Cambria"/>
                <a:cs typeface="Cambria"/>
              </a:rPr>
              <a:t>o</a:t>
            </a:r>
            <a:r>
              <a:rPr dirty="0" sz="750" spc="25">
                <a:solidFill>
                  <a:srgbClr val="4489A7"/>
                </a:solidFill>
                <a:latin typeface="Cambria"/>
                <a:cs typeface="Cambria"/>
              </a:rPr>
              <a:t>cs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028485" y="754634"/>
            <a:ext cx="3644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80">
                <a:solidFill>
                  <a:srgbClr val="3882A3"/>
                </a:solidFill>
                <a:latin typeface="Cambria"/>
                <a:cs typeface="Cambria"/>
              </a:rPr>
              <a:t>Charts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477447" y="1137158"/>
            <a:ext cx="20967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9425" algn="l"/>
              </a:tabLst>
            </a:pPr>
            <a:r>
              <a:rPr dirty="0" sz="1050">
                <a:solidFill>
                  <a:srgbClr val="333333"/>
                </a:solidFill>
                <a:latin typeface="Cambria"/>
                <a:cs typeface="Cambria"/>
              </a:rPr>
              <a:t>G</a:t>
            </a:r>
            <a:r>
              <a:rPr dirty="0" sz="1050" spc="-55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1050" spc="145">
                <a:solidFill>
                  <a:srgbClr val="333333"/>
                </a:solidFill>
                <a:latin typeface="Cambria"/>
                <a:cs typeface="Cambria"/>
              </a:rPr>
              <a:t>XD</a:t>
            </a:r>
            <a:r>
              <a:rPr dirty="0" sz="1050">
                <a:solidFill>
                  <a:srgbClr val="333333"/>
                </a:solidFill>
                <a:latin typeface="Cambria"/>
                <a:cs typeface="Cambria"/>
              </a:rPr>
              <a:t>	</a:t>
            </a:r>
            <a:r>
              <a:rPr dirty="0" sz="1050" spc="85">
                <a:solidFill>
                  <a:srgbClr val="333333"/>
                </a:solidFill>
                <a:latin typeface="Cambria"/>
                <a:cs typeface="Cambria"/>
              </a:rPr>
              <a:t>Base</a:t>
            </a:r>
            <a:r>
              <a:rPr dirty="0" sz="1050" spc="17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333333"/>
                </a:solidFill>
                <a:latin typeface="Cambria"/>
                <a:cs typeface="Cambria"/>
              </a:rPr>
              <a:t>Directory</a:t>
            </a:r>
            <a:r>
              <a:rPr dirty="0" sz="1050" spc="26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1050" spc="65">
                <a:solidFill>
                  <a:srgbClr val="333333"/>
                </a:solidFill>
                <a:latin typeface="Cambria"/>
                <a:cs typeface="Cambria"/>
              </a:rPr>
              <a:t>Support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586217" y="1554225"/>
            <a:ext cx="44526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225">
              <a:lnSpc>
                <a:spcPct val="141200"/>
              </a:lnSpc>
              <a:spcBef>
                <a:spcPts val="100"/>
              </a:spcBef>
            </a:pPr>
            <a:r>
              <a:rPr dirty="0" sz="850">
                <a:solidFill>
                  <a:srgbClr val="2B7EAE"/>
                </a:solidFill>
                <a:latin typeface="Arial"/>
                <a:cs typeface="Arial"/>
              </a:rPr>
              <a:t>The</a:t>
            </a:r>
            <a:r>
              <a:rPr dirty="0" sz="850" spc="5">
                <a:solidFill>
                  <a:srgbClr val="2B7EAE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5E9EC3"/>
                </a:solidFill>
                <a:latin typeface="Arial"/>
                <a:cs typeface="Arial"/>
              </a:rPr>
              <a:t>XDG</a:t>
            </a:r>
            <a:r>
              <a:rPr dirty="0" sz="850" spc="15">
                <a:solidFill>
                  <a:srgbClr val="5E9EC3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2B7EAC"/>
                </a:solidFill>
                <a:latin typeface="Arial"/>
                <a:cs typeface="Arial"/>
              </a:rPr>
              <a:t>Base</a:t>
            </a:r>
            <a:r>
              <a:rPr dirty="0" sz="850" spc="5">
                <a:solidFill>
                  <a:srgbClr val="2B7EA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67BAC"/>
                </a:solidFill>
                <a:latin typeface="Arial"/>
                <a:cs typeface="Arial"/>
              </a:rPr>
              <a:t>D</a:t>
            </a:r>
            <a:r>
              <a:rPr dirty="0" sz="850" spc="-50">
                <a:solidFill>
                  <a:srgbClr val="267BA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379AA"/>
                </a:solidFill>
                <a:latin typeface="Arial"/>
                <a:cs typeface="Arial"/>
              </a:rPr>
              <a:t>rectory</a:t>
            </a:r>
            <a:r>
              <a:rPr dirty="0" sz="850" spc="45">
                <a:solidFill>
                  <a:srgbClr val="2379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F93BA"/>
                </a:solidFill>
                <a:latin typeface="Arial"/>
                <a:cs typeface="Arial"/>
              </a:rPr>
              <a:t>Specification</a:t>
            </a:r>
            <a:r>
              <a:rPr dirty="0" sz="850" spc="235">
                <a:solidFill>
                  <a:srgbClr val="4F93B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is</a:t>
            </a:r>
            <a:r>
              <a:rPr dirty="0" sz="85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A3A3A"/>
                </a:solidFill>
                <a:latin typeface="Arial"/>
                <a:cs typeface="Arial"/>
              </a:rPr>
              <a:t>a</a:t>
            </a:r>
            <a:r>
              <a:rPr dirty="0" sz="850" spc="-35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portable</a:t>
            </a:r>
            <a:r>
              <a:rPr dirty="0" sz="8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standard</a:t>
            </a:r>
            <a:r>
              <a:rPr dirty="0" sz="8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defining</a:t>
            </a:r>
            <a:r>
              <a:rPr dirty="0" sz="850" spc="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where</a:t>
            </a:r>
            <a:r>
              <a:rPr dirty="0" sz="85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configuration,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data, </a:t>
            </a:r>
            <a:r>
              <a:rPr dirty="0" sz="850">
                <a:solidFill>
                  <a:srgbClr val="343434"/>
                </a:solidFill>
                <a:latin typeface="Arial"/>
                <a:cs typeface="Arial"/>
              </a:rPr>
              <a:t>and</a:t>
            </a:r>
            <a:r>
              <a:rPr dirty="0" sz="850" spc="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cached</a:t>
            </a:r>
            <a:r>
              <a:rPr dirty="0" sz="850" spc="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files</a:t>
            </a:r>
            <a:r>
              <a:rPr dirty="0" sz="85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should</a:t>
            </a:r>
            <a:r>
              <a:rPr dirty="0" sz="850" spc="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63636"/>
                </a:solidFill>
                <a:latin typeface="Arial"/>
                <a:cs typeface="Arial"/>
              </a:rPr>
              <a:t>be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stored</a:t>
            </a:r>
            <a:r>
              <a:rPr dirty="0" sz="850" spc="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63636"/>
                </a:solidFill>
                <a:latin typeface="Arial"/>
                <a:cs typeface="Arial"/>
              </a:rPr>
              <a:t>on</a:t>
            </a:r>
            <a:r>
              <a:rPr dirty="0" sz="850" spc="-15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filesystem.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582655" y="2078481"/>
            <a:ext cx="43364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200"/>
              </a:lnSpc>
              <a:spcBef>
                <a:spcPts val="100"/>
              </a:spcBef>
            </a:pP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dirty="0" sz="85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Helm</a:t>
            </a:r>
            <a:r>
              <a:rPr dirty="0" sz="850" spc="6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2,</a:t>
            </a:r>
            <a:r>
              <a:rPr dirty="0" sz="8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Helm</a:t>
            </a:r>
            <a:r>
              <a:rPr dirty="0" sz="850" spc="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43434"/>
                </a:solidFill>
                <a:latin typeface="Arial"/>
                <a:cs typeface="Arial"/>
              </a:rPr>
              <a:t>stored</a:t>
            </a:r>
            <a:r>
              <a:rPr dirty="0" sz="850" spc="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all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this</a:t>
            </a:r>
            <a:r>
              <a:rPr dirty="0" sz="8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information</a:t>
            </a:r>
            <a:r>
              <a:rPr dirty="0" sz="850" spc="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dirty="0" sz="850" spc="40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35">
                <a:solidFill>
                  <a:srgbClr val="111111"/>
                </a:solidFill>
                <a:latin typeface="Arial"/>
                <a:cs typeface="Arial"/>
              </a:rPr>
              <a:t>-</a:t>
            </a:r>
            <a:r>
              <a:rPr dirty="0" sz="850">
                <a:solidFill>
                  <a:srgbClr val="111111"/>
                </a:solidFill>
                <a:latin typeface="Arial"/>
                <a:cs typeface="Arial"/>
              </a:rPr>
              <a:t>/</a:t>
            </a:r>
            <a:r>
              <a:rPr dirty="0" sz="850" spc="16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.</a:t>
            </a:r>
            <a:r>
              <a:rPr dirty="0" sz="850" spc="-80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helm</a:t>
            </a:r>
            <a:r>
              <a:rPr dirty="0" sz="850" spc="305"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(affectionately</a:t>
            </a:r>
            <a:r>
              <a:rPr dirty="0" sz="85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known</a:t>
            </a:r>
            <a:r>
              <a:rPr dirty="0" sz="8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63636"/>
                </a:solidFill>
                <a:latin typeface="Arial"/>
                <a:cs typeface="Arial"/>
              </a:rPr>
              <a:t>as</a:t>
            </a:r>
            <a:r>
              <a:rPr dirty="0" sz="850" spc="335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helm </a:t>
            </a:r>
            <a:r>
              <a:rPr dirty="0" sz="850" spc="-75">
                <a:latin typeface="Arial"/>
                <a:cs typeface="Arial"/>
              </a:rPr>
              <a:t>home</a:t>
            </a:r>
            <a:r>
              <a:rPr dirty="0" sz="850" spc="105"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),</a:t>
            </a:r>
            <a:r>
              <a:rPr dirty="0" sz="85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which</a:t>
            </a:r>
            <a:r>
              <a:rPr dirty="0" sz="8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could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63636"/>
                </a:solidFill>
                <a:latin typeface="Arial"/>
                <a:cs typeface="Arial"/>
              </a:rPr>
              <a:t>be</a:t>
            </a:r>
            <a:r>
              <a:rPr dirty="0" sz="850" spc="-2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changed</a:t>
            </a:r>
            <a:r>
              <a:rPr dirty="0" sz="8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43434"/>
                </a:solidFill>
                <a:latin typeface="Arial"/>
                <a:cs typeface="Arial"/>
              </a:rPr>
              <a:t>by</a:t>
            </a:r>
            <a:r>
              <a:rPr dirty="0" sz="850" spc="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setting</a:t>
            </a:r>
            <a:r>
              <a:rPr dirty="0" sz="8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dirty="0" sz="850" spc="36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60">
                <a:latin typeface="Arial"/>
                <a:cs typeface="Arial"/>
              </a:rPr>
              <a:t>4Hz£N</a:t>
            </a:r>
            <a:r>
              <a:rPr dirty="0" sz="850" spc="145">
                <a:latin typeface="Arial"/>
                <a:cs typeface="Arial"/>
              </a:rPr>
              <a:t> </a:t>
            </a:r>
            <a:r>
              <a:rPr dirty="0" sz="850" spc="-10">
                <a:latin typeface="Arial"/>
                <a:cs typeface="Arial"/>
              </a:rPr>
              <a:t>Honz</a:t>
            </a:r>
            <a:r>
              <a:rPr dirty="0" sz="850" spc="380"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environment</a:t>
            </a:r>
            <a:r>
              <a:rPr dirty="0" sz="850" spc="114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variable,</a:t>
            </a:r>
            <a:r>
              <a:rPr dirty="0" sz="85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63636"/>
                </a:solidFill>
                <a:latin typeface="Arial"/>
                <a:cs typeface="Arial"/>
              </a:rPr>
              <a:t>or</a:t>
            </a:r>
            <a:r>
              <a:rPr dirty="0" sz="850" spc="1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363636"/>
                </a:solidFill>
                <a:latin typeface="Arial"/>
                <a:cs typeface="Arial"/>
              </a:rPr>
              <a:t>by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using</a:t>
            </a:r>
            <a:r>
              <a:rPr dirty="0" sz="85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63636"/>
                </a:solidFill>
                <a:latin typeface="Arial"/>
                <a:cs typeface="Arial"/>
              </a:rPr>
              <a:t>the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global</a:t>
            </a:r>
            <a:r>
              <a:rPr dirty="0" sz="850" spc="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flag</a:t>
            </a:r>
            <a:r>
              <a:rPr dirty="0" sz="850" spc="38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--</a:t>
            </a:r>
            <a:r>
              <a:rPr dirty="0" sz="850">
                <a:latin typeface="Arial"/>
                <a:cs typeface="Arial"/>
              </a:rPr>
              <a:t>home</a:t>
            </a:r>
            <a:r>
              <a:rPr dirty="0" sz="850" spc="140"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333333"/>
                </a:solidFill>
                <a:latin typeface="Arial"/>
                <a:cs typeface="Arial"/>
              </a:rPr>
              <a:t>.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582788" y="2785618"/>
            <a:ext cx="4277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5080" indent="-1905">
              <a:lnSpc>
                <a:spcPct val="141200"/>
              </a:lnSpc>
              <a:spcBef>
                <a:spcPts val="100"/>
              </a:spcBef>
            </a:pP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dirty="0" sz="85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Helm</a:t>
            </a:r>
            <a:r>
              <a:rPr dirty="0" sz="850" spc="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3,</a:t>
            </a:r>
            <a:r>
              <a:rPr dirty="0" sz="85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Helm</a:t>
            </a:r>
            <a:r>
              <a:rPr dirty="0" sz="850" spc="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now </a:t>
            </a:r>
            <a:r>
              <a:rPr dirty="0" sz="850">
                <a:solidFill>
                  <a:srgbClr val="343434"/>
                </a:solidFill>
                <a:latin typeface="Arial"/>
                <a:cs typeface="Arial"/>
              </a:rPr>
              <a:t>respects</a:t>
            </a:r>
            <a:r>
              <a:rPr dirty="0" sz="850" spc="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following</a:t>
            </a:r>
            <a:r>
              <a:rPr dirty="0" sz="850" spc="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environment</a:t>
            </a:r>
            <a:r>
              <a:rPr dirty="0" sz="850" spc="10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variables</a:t>
            </a:r>
            <a:r>
              <a:rPr dirty="0" sz="850" spc="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63636"/>
                </a:solidFill>
                <a:latin typeface="Arial"/>
                <a:cs typeface="Arial"/>
              </a:rPr>
              <a:t>as</a:t>
            </a:r>
            <a:r>
              <a:rPr dirty="0" sz="850" spc="-5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per</a:t>
            </a:r>
            <a:r>
              <a:rPr dirty="0" sz="85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dirty="0" sz="850" spc="-20">
                <a:solidFill>
                  <a:srgbClr val="333333"/>
                </a:solidFill>
                <a:latin typeface="Arial"/>
                <a:cs typeface="Arial"/>
              </a:rPr>
              <a:t>XDG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333333"/>
                </a:solidFill>
                <a:latin typeface="Arial"/>
                <a:cs typeface="Arial"/>
              </a:rPr>
              <a:t>Base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Directory</a:t>
            </a:r>
            <a:r>
              <a:rPr dirty="0" sz="850" spc="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Specification: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32153" y="3376421"/>
            <a:ext cx="88328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Cambria"/>
                <a:cs typeface="Cambria"/>
              </a:rPr>
              <a:t>$XDG</a:t>
            </a:r>
            <a:r>
              <a:rPr dirty="0" sz="650" spc="455">
                <a:latin typeface="Cambria"/>
                <a:cs typeface="Cambria"/>
              </a:rPr>
              <a:t> </a:t>
            </a:r>
            <a:r>
              <a:rPr dirty="0" sz="650">
                <a:latin typeface="Cambria"/>
                <a:cs typeface="Cambria"/>
              </a:rPr>
              <a:t>CAC</a:t>
            </a:r>
            <a:r>
              <a:rPr dirty="0" sz="650" spc="150">
                <a:latin typeface="Cambria"/>
                <a:cs typeface="Cambria"/>
              </a:rPr>
              <a:t> </a:t>
            </a:r>
            <a:r>
              <a:rPr dirty="0" sz="650">
                <a:latin typeface="Cambria"/>
                <a:cs typeface="Cambria"/>
              </a:rPr>
              <a:t>HE</a:t>
            </a:r>
            <a:r>
              <a:rPr dirty="0" sz="650" spc="370">
                <a:latin typeface="Cambria"/>
                <a:cs typeface="Cambria"/>
              </a:rPr>
              <a:t> </a:t>
            </a:r>
            <a:r>
              <a:rPr dirty="0" sz="650" spc="-10">
                <a:latin typeface="Cambria"/>
                <a:cs typeface="Cambria"/>
              </a:rPr>
              <a:t>HOFIE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584084" y="3583178"/>
            <a:ext cx="4448810" cy="2727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latin typeface="Courier New"/>
                <a:cs typeface="Courier New"/>
              </a:rPr>
              <a:t>$XDG</a:t>
            </a:r>
            <a:r>
              <a:rPr dirty="0" sz="750" spc="-10">
                <a:latin typeface="Courier New"/>
                <a:cs typeface="Courier New"/>
              </a:rPr>
              <a:t> </a:t>
            </a:r>
            <a:r>
              <a:rPr dirty="0" sz="750">
                <a:latin typeface="Courier New"/>
                <a:cs typeface="Courier New"/>
              </a:rPr>
              <a:t>CONFIG</a:t>
            </a:r>
            <a:r>
              <a:rPr dirty="0" sz="750" spc="35">
                <a:latin typeface="Courier New"/>
                <a:cs typeface="Courier New"/>
              </a:rPr>
              <a:t> </a:t>
            </a:r>
            <a:r>
              <a:rPr dirty="0" sz="750" spc="-20">
                <a:latin typeface="Courier New"/>
                <a:cs typeface="Courier New"/>
              </a:rPr>
              <a:t>HOME</a:t>
            </a:r>
            <a:endParaRPr sz="750">
              <a:latin typeface="Courier New"/>
              <a:cs typeface="Courier New"/>
            </a:endParaRPr>
          </a:p>
          <a:p>
            <a:pPr marL="254000">
              <a:lnSpc>
                <a:spcPct val="100000"/>
              </a:lnSpc>
              <a:spcBef>
                <a:spcPts val="800"/>
              </a:spcBef>
            </a:pPr>
            <a:r>
              <a:rPr dirty="0" sz="750">
                <a:latin typeface="Courier New"/>
                <a:cs typeface="Courier New"/>
              </a:rPr>
              <a:t>$XDG</a:t>
            </a:r>
            <a:r>
              <a:rPr dirty="0" sz="750" spc="20">
                <a:latin typeface="Courier New"/>
                <a:cs typeface="Courier New"/>
              </a:rPr>
              <a:t> </a:t>
            </a:r>
            <a:r>
              <a:rPr dirty="0" sz="750">
                <a:latin typeface="Courier New"/>
                <a:cs typeface="Courier New"/>
              </a:rPr>
              <a:t>DATA</a:t>
            </a:r>
            <a:r>
              <a:rPr dirty="0" sz="750" spc="25">
                <a:latin typeface="Courier New"/>
                <a:cs typeface="Courier New"/>
              </a:rPr>
              <a:t> </a:t>
            </a:r>
            <a:r>
              <a:rPr dirty="0" sz="750" spc="-20">
                <a:latin typeface="Courier New"/>
                <a:cs typeface="Courier New"/>
              </a:rPr>
              <a:t>HOME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750">
              <a:latin typeface="Courier New"/>
              <a:cs typeface="Courier New"/>
            </a:endParaRPr>
          </a:p>
          <a:p>
            <a:pPr marL="13970" marR="5080" indent="-1270">
              <a:lnSpc>
                <a:spcPct val="150000"/>
              </a:lnSpc>
            </a:pP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Helm</a:t>
            </a:r>
            <a:r>
              <a:rPr dirty="0" sz="800" spc="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plugins</a:t>
            </a:r>
            <a:r>
              <a:rPr dirty="0" sz="800" spc="5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63636"/>
                </a:solidFill>
                <a:latin typeface="Arial"/>
                <a:cs typeface="Arial"/>
              </a:rPr>
              <a:t>are</a:t>
            </a:r>
            <a:r>
              <a:rPr dirty="0" sz="800" spc="35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still</a:t>
            </a:r>
            <a:r>
              <a:rPr dirty="0" sz="800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passed</a:t>
            </a:r>
            <a:r>
              <a:rPr dirty="0" sz="800" spc="47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 spc="-75">
                <a:latin typeface="Arial"/>
                <a:cs typeface="Arial"/>
              </a:rPr>
              <a:t>$HELM</a:t>
            </a:r>
            <a:r>
              <a:rPr dirty="0" sz="800" spc="195">
                <a:latin typeface="Arial"/>
                <a:cs typeface="Arial"/>
              </a:rPr>
              <a:t> </a:t>
            </a:r>
            <a:r>
              <a:rPr dirty="0" sz="800" spc="-40">
                <a:latin typeface="Arial"/>
                <a:cs typeface="Arial"/>
              </a:rPr>
              <a:t>EOuE</a:t>
            </a:r>
            <a:r>
              <a:rPr dirty="0" sz="800" spc="434"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43434"/>
                </a:solidFill>
                <a:latin typeface="Arial"/>
                <a:cs typeface="Arial"/>
              </a:rPr>
              <a:t>as</a:t>
            </a:r>
            <a:r>
              <a:rPr dirty="0" sz="800" spc="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an</a:t>
            </a:r>
            <a:r>
              <a:rPr dirty="0" sz="800" spc="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alias</a:t>
            </a:r>
            <a:r>
              <a:rPr dirty="0" sz="800" spc="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dirty="0" sz="800" spc="484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$xDC</a:t>
            </a:r>
            <a:r>
              <a:rPr dirty="0" sz="800" spc="21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DA'IA</a:t>
            </a:r>
            <a:r>
              <a:rPr dirty="0" sz="800" spc="24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HOI‹z</a:t>
            </a:r>
            <a:r>
              <a:rPr dirty="0" sz="800" spc="470"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dirty="0" sz="800" spc="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333333"/>
                </a:solidFill>
                <a:latin typeface="Arial"/>
                <a:cs typeface="Arial"/>
              </a:rPr>
              <a:t>backwards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compatibility</a:t>
            </a:r>
            <a:r>
              <a:rPr dirty="0" sz="800" spc="17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with</a:t>
            </a:r>
            <a:r>
              <a:rPr dirty="0" sz="800" spc="1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plugins</a:t>
            </a:r>
            <a:r>
              <a:rPr dirty="0" sz="800" spc="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looking</a:t>
            </a:r>
            <a:r>
              <a:rPr dirty="0" sz="800" spc="10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dirty="0" sz="800" spc="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use</a:t>
            </a:r>
            <a:r>
              <a:rPr dirty="0" sz="800" spc="165">
                <a:solidFill>
                  <a:srgbClr val="333333"/>
                </a:solidFill>
                <a:latin typeface="Arial"/>
                <a:cs typeface="Arial"/>
              </a:rPr>
              <a:t>  </a:t>
            </a:r>
            <a:r>
              <a:rPr dirty="0" sz="800" spc="-35">
                <a:latin typeface="Arial"/>
                <a:cs typeface="Arial"/>
              </a:rPr>
              <a:t>$nEkM</a:t>
            </a:r>
            <a:r>
              <a:rPr dirty="0" sz="800" spc="280">
                <a:latin typeface="Arial"/>
                <a:cs typeface="Arial"/>
              </a:rPr>
              <a:t> </a:t>
            </a:r>
            <a:r>
              <a:rPr dirty="0" sz="800" spc="-110">
                <a:latin typeface="Arial"/>
                <a:cs typeface="Arial"/>
              </a:rPr>
              <a:t>I4OME</a:t>
            </a:r>
            <a:r>
              <a:rPr dirty="0" sz="800" spc="200">
                <a:latin typeface="Arial"/>
                <a:cs typeface="Arial"/>
              </a:rPr>
              <a:t>  </a:t>
            </a:r>
            <a:r>
              <a:rPr dirty="0" sz="800" spc="-35">
                <a:solidFill>
                  <a:srgbClr val="3B3B3B"/>
                </a:solidFill>
                <a:latin typeface="Arial"/>
                <a:cs typeface="Arial"/>
              </a:rPr>
              <a:t>aS</a:t>
            </a:r>
            <a:r>
              <a:rPr dirty="0" sz="800" spc="55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dirty="0" sz="800" spc="7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33"/>
                </a:solidFill>
                <a:latin typeface="Arial"/>
                <a:cs typeface="Arial"/>
              </a:rPr>
              <a:t>scratchpad</a:t>
            </a:r>
            <a:r>
              <a:rPr dirty="0" sz="800" spc="15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333333"/>
                </a:solidFill>
                <a:latin typeface="Arial"/>
                <a:cs typeface="Arial"/>
              </a:rPr>
              <a:t>environment.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800">
              <a:latin typeface="Arial"/>
              <a:cs typeface="Arial"/>
            </a:endParaRPr>
          </a:p>
          <a:p>
            <a:pPr marL="13970" marR="356870" indent="-1270">
              <a:lnSpc>
                <a:spcPct val="141200"/>
              </a:lnSpc>
            </a:pPr>
            <a:r>
              <a:rPr dirty="0" sz="850" spc="-20">
                <a:solidFill>
                  <a:srgbClr val="333333"/>
                </a:solidFill>
                <a:latin typeface="Arial"/>
                <a:cs typeface="Arial"/>
              </a:rPr>
              <a:t>Several</a:t>
            </a:r>
            <a:r>
              <a:rPr dirty="0" sz="850" spc="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new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environment</a:t>
            </a:r>
            <a:r>
              <a:rPr dirty="0" sz="850" spc="6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variables</a:t>
            </a:r>
            <a:r>
              <a:rPr dirty="0" sz="850" spc="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are</a:t>
            </a:r>
            <a:r>
              <a:rPr dirty="0" sz="85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also</a:t>
            </a:r>
            <a:r>
              <a:rPr dirty="0" sz="850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passed in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43434"/>
                </a:solidFill>
                <a:latin typeface="Arial"/>
                <a:cs typeface="Arial"/>
              </a:rPr>
              <a:t>to</a:t>
            </a:r>
            <a:r>
              <a:rPr dirty="0" sz="850" spc="-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plugin</a:t>
            </a:r>
            <a:r>
              <a:rPr dirty="0" sz="850" spc="-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B3B3B"/>
                </a:solidFill>
                <a:latin typeface="Arial"/>
                <a:cs typeface="Arial"/>
              </a:rPr>
              <a:t>s</a:t>
            </a:r>
            <a:r>
              <a:rPr dirty="0" sz="850" spc="-2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environment</a:t>
            </a:r>
            <a:r>
              <a:rPr dirty="0" sz="850" spc="8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accommodate</a:t>
            </a:r>
            <a:r>
              <a:rPr dirty="0" sz="850" spc="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this</a:t>
            </a:r>
            <a:r>
              <a:rPr dirty="0" sz="850" spc="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change: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85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</a:pPr>
            <a:r>
              <a:rPr dirty="0" sz="700" spc="10">
                <a:latin typeface="Cambria"/>
                <a:cs typeface="Cambria"/>
              </a:rPr>
              <a:t>$HEI</a:t>
            </a:r>
            <a:r>
              <a:rPr dirty="0" sz="700" spc="-5">
                <a:latin typeface="Cambria"/>
                <a:cs typeface="Cambria"/>
              </a:rPr>
              <a:t> </a:t>
            </a:r>
            <a:r>
              <a:rPr dirty="0" sz="700" spc="10">
                <a:latin typeface="Cambria"/>
                <a:cs typeface="Cambria"/>
              </a:rPr>
              <a:t>M</a:t>
            </a:r>
            <a:r>
              <a:rPr dirty="0" sz="700" spc="290">
                <a:latin typeface="Cambria"/>
                <a:cs typeface="Cambria"/>
              </a:rPr>
              <a:t> </a:t>
            </a:r>
            <a:r>
              <a:rPr dirty="0" sz="700" spc="10">
                <a:latin typeface="Cambria"/>
                <a:cs typeface="Cambria"/>
              </a:rPr>
              <a:t>PA‘I'II</a:t>
            </a:r>
            <a:r>
              <a:rPr dirty="0" sz="700" spc="330">
                <a:latin typeface="Cambria"/>
                <a:cs typeface="Cambria"/>
              </a:rPr>
              <a:t> </a:t>
            </a:r>
            <a:r>
              <a:rPr dirty="0" sz="700" spc="10">
                <a:latin typeface="Cambria"/>
                <a:cs typeface="Cambria"/>
              </a:rPr>
              <a:t>CACHz</a:t>
            </a:r>
            <a:r>
              <a:rPr dirty="0" sz="700" spc="180">
                <a:latin typeface="Cambria"/>
                <a:cs typeface="Cambria"/>
              </a:rPr>
              <a:t>  </a:t>
            </a:r>
            <a:r>
              <a:rPr dirty="0" sz="700" spc="10">
                <a:solidFill>
                  <a:srgbClr val="333333"/>
                </a:solidFill>
                <a:latin typeface="Cambria"/>
                <a:cs typeface="Cambria"/>
              </a:rPr>
              <a:t>for</a:t>
            </a:r>
            <a:r>
              <a:rPr dirty="0" sz="700" spc="5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700" spc="10">
                <a:solidFill>
                  <a:srgbClr val="333333"/>
                </a:solidFill>
                <a:latin typeface="Cambria"/>
                <a:cs typeface="Cambria"/>
              </a:rPr>
              <a:t>th</a:t>
            </a:r>
            <a:r>
              <a:rPr dirty="0" sz="700" spc="-9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700" spc="10">
                <a:solidFill>
                  <a:srgbClr val="3B3B3B"/>
                </a:solidFill>
                <a:latin typeface="Cambria"/>
                <a:cs typeface="Cambria"/>
              </a:rPr>
              <a:t>e</a:t>
            </a:r>
            <a:r>
              <a:rPr dirty="0" sz="700" spc="135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dirty="0" sz="700" spc="80">
                <a:solidFill>
                  <a:srgbClr val="363636"/>
                </a:solidFill>
                <a:latin typeface="Cambria"/>
                <a:cs typeface="Cambria"/>
              </a:rPr>
              <a:t>cache</a:t>
            </a:r>
            <a:r>
              <a:rPr dirty="0" sz="700" spc="114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dirty="0" sz="700" spc="-20">
                <a:solidFill>
                  <a:srgbClr val="333333"/>
                </a:solidFill>
                <a:latin typeface="Cambria"/>
                <a:cs typeface="Cambria"/>
              </a:rPr>
              <a:t>path</a:t>
            </a:r>
            <a:endParaRPr sz="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700">
              <a:latin typeface="Cambria"/>
              <a:cs typeface="Cambria"/>
            </a:endParaRPr>
          </a:p>
          <a:p>
            <a:pPr marL="261620">
              <a:lnSpc>
                <a:spcPct val="100000"/>
              </a:lnSpc>
            </a:pPr>
            <a:r>
              <a:rPr dirty="0" sz="700">
                <a:latin typeface="Arial"/>
                <a:cs typeface="Arial"/>
              </a:rPr>
              <a:t>$HEI</a:t>
            </a:r>
            <a:r>
              <a:rPr dirty="0" sz="700" spc="-1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M</a:t>
            </a:r>
            <a:r>
              <a:rPr dirty="0" sz="700" spc="19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PA’I'H</a:t>
            </a:r>
            <a:r>
              <a:rPr dirty="0" sz="700" spc="24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CONE'IG</a:t>
            </a:r>
            <a:r>
              <a:rPr dirty="0" sz="700" spc="385">
                <a:latin typeface="Arial"/>
                <a:cs typeface="Arial"/>
              </a:rPr>
              <a:t> </a:t>
            </a:r>
            <a:r>
              <a:rPr dirty="0" sz="700">
                <a:solidFill>
                  <a:srgbClr val="383838"/>
                </a:solidFill>
                <a:latin typeface="Arial"/>
                <a:cs typeface="Arial"/>
              </a:rPr>
              <a:t>fOr</a:t>
            </a:r>
            <a:r>
              <a:rPr dirty="0" sz="700" spc="6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383838"/>
                </a:solidFill>
                <a:latin typeface="Arial"/>
                <a:cs typeface="Arial"/>
              </a:rPr>
              <a:t>the</a:t>
            </a:r>
            <a:r>
              <a:rPr dirty="0" sz="700" spc="2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383838"/>
                </a:solidFill>
                <a:latin typeface="Arial"/>
                <a:cs typeface="Arial"/>
              </a:rPr>
              <a:t>config</a:t>
            </a:r>
            <a:r>
              <a:rPr dirty="0" sz="700" spc="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3B3B3B"/>
                </a:solidFill>
                <a:latin typeface="Arial"/>
                <a:cs typeface="Arial"/>
              </a:rPr>
              <a:t>path</a:t>
            </a:r>
            <a:endParaRPr sz="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790"/>
              </a:spcBef>
            </a:pPr>
            <a:r>
              <a:rPr dirty="0" sz="800" spc="-20">
                <a:latin typeface="Courier New"/>
                <a:cs typeface="Courier New"/>
              </a:rPr>
              <a:t>$HELM</a:t>
            </a:r>
            <a:r>
              <a:rPr dirty="0" sz="800" spc="-10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PATH</a:t>
            </a:r>
            <a:r>
              <a:rPr dirty="0" sz="800" spc="-10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DATA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 spc="-80">
                <a:solidFill>
                  <a:srgbClr val="333333"/>
                </a:solidFill>
                <a:latin typeface="Courier New"/>
                <a:cs typeface="Courier New"/>
              </a:rPr>
              <a:t>forthedata</a:t>
            </a:r>
            <a:r>
              <a:rPr dirty="0" sz="800" spc="-10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333333"/>
                </a:solidFill>
                <a:latin typeface="Courier New"/>
                <a:cs typeface="Courier New"/>
              </a:rPr>
              <a:t>path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800">
              <a:latin typeface="Courier New"/>
              <a:cs typeface="Courier New"/>
            </a:endParaRPr>
          </a:p>
          <a:p>
            <a:pPr marL="13970" marR="257810" indent="-1905">
              <a:lnSpc>
                <a:spcPct val="141200"/>
              </a:lnSpc>
            </a:pP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Helm</a:t>
            </a:r>
            <a:r>
              <a:rPr dirty="0" sz="850" spc="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plugins</a:t>
            </a:r>
            <a:r>
              <a:rPr dirty="0" sz="850" spc="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looking</a:t>
            </a:r>
            <a:r>
              <a:rPr dirty="0" sz="850" spc="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dirty="0" sz="85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support</a:t>
            </a:r>
            <a:r>
              <a:rPr dirty="0" sz="850" spc="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Helm</a:t>
            </a:r>
            <a:r>
              <a:rPr dirty="0" sz="850" spc="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83838"/>
                </a:solidFill>
                <a:latin typeface="Arial"/>
                <a:cs typeface="Arial"/>
              </a:rPr>
              <a:t>3</a:t>
            </a:r>
            <a:r>
              <a:rPr dirty="0" sz="850" spc="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43434"/>
                </a:solidFill>
                <a:latin typeface="Arial"/>
                <a:cs typeface="Arial"/>
              </a:rPr>
              <a:t>should</a:t>
            </a:r>
            <a:r>
              <a:rPr dirty="0" sz="850" spc="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consider</a:t>
            </a:r>
            <a:r>
              <a:rPr dirty="0" sz="850" spc="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using</a:t>
            </a:r>
            <a:r>
              <a:rPr dirty="0" sz="85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these</a:t>
            </a:r>
            <a:r>
              <a:rPr dirty="0" sz="85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new</a:t>
            </a:r>
            <a:r>
              <a:rPr dirty="0" sz="850" spc="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environment </a:t>
            </a:r>
            <a:r>
              <a:rPr dirty="0" sz="850">
                <a:solidFill>
                  <a:srgbClr val="333333"/>
                </a:solidFill>
                <a:latin typeface="Arial"/>
                <a:cs typeface="Arial"/>
              </a:rPr>
              <a:t>variables</a:t>
            </a:r>
            <a:r>
              <a:rPr dirty="0" sz="85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Arial"/>
                <a:cs typeface="Arial"/>
              </a:rPr>
              <a:t>instead.</a:t>
            </a:r>
            <a:endParaRPr sz="8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499106" y="741934"/>
            <a:ext cx="6858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2B799C"/>
                </a:solidFill>
                <a:latin typeface="Cambria"/>
                <a:cs typeface="Cambria"/>
              </a:rPr>
              <a:t>v3.</a:t>
            </a:r>
            <a:r>
              <a:rPr dirty="0" sz="850">
                <a:solidFill>
                  <a:srgbClr val="4D90AC"/>
                </a:solidFill>
                <a:latin typeface="Cambria"/>
                <a:cs typeface="Cambria"/>
              </a:rPr>
              <a:t>o.</a:t>
            </a:r>
            <a:r>
              <a:rPr dirty="0" sz="850" spc="-40">
                <a:solidFill>
                  <a:srgbClr val="4D90AC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F90AE"/>
                </a:solidFill>
                <a:latin typeface="Cambria"/>
                <a:cs typeface="Cambria"/>
              </a:rPr>
              <a:t>o</a:t>
            </a:r>
            <a:r>
              <a:rPr dirty="0" sz="850" spc="235">
                <a:solidFill>
                  <a:srgbClr val="4F90AE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293AF"/>
                </a:solidFill>
                <a:latin typeface="Cambria"/>
                <a:cs typeface="Cambria"/>
              </a:rPr>
              <a:t>st</a:t>
            </a:r>
            <a:r>
              <a:rPr dirty="0" sz="850" spc="-55">
                <a:solidFill>
                  <a:srgbClr val="5293AF"/>
                </a:solidFill>
                <a:latin typeface="Cambria"/>
                <a:cs typeface="Cambria"/>
              </a:rPr>
              <a:t> </a:t>
            </a:r>
            <a:r>
              <a:rPr dirty="0" sz="850" spc="-20">
                <a:solidFill>
                  <a:srgbClr val="498CAA"/>
                </a:solidFill>
                <a:latin typeface="Cambria"/>
                <a:cs typeface="Cambria"/>
              </a:rPr>
              <a:t>able</a:t>
            </a:r>
            <a:endParaRPr sz="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4520" y="1929383"/>
            <a:ext cx="12192" cy="8229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3072" y="3233927"/>
            <a:ext cx="85344" cy="7315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92879" y="1901951"/>
            <a:ext cx="387096" cy="9448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428456" y="215138"/>
            <a:ext cx="22161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B6B6B"/>
                </a:solidFill>
                <a:latin typeface="Arial"/>
                <a:cs typeface="Arial"/>
              </a:rPr>
              <a:t>.</a:t>
            </a:r>
            <a:r>
              <a:rPr dirty="0" sz="750" spc="180">
                <a:solidFill>
                  <a:srgbClr val="6B6B6B"/>
                </a:solidFill>
                <a:latin typeface="Arial"/>
                <a:cs typeface="Arial"/>
              </a:rPr>
              <a:t>  </a:t>
            </a:r>
            <a:r>
              <a:rPr dirty="0" sz="750">
                <a:solidFill>
                  <a:srgbClr val="6B6B6B"/>
                </a:solidFill>
                <a:latin typeface="Arial"/>
                <a:cs typeface="Arial"/>
              </a:rPr>
              <a:t>.</a:t>
            </a:r>
            <a:r>
              <a:rPr dirty="0" sz="750" spc="-95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6B6B6B"/>
                </a:solidFill>
                <a:latin typeface="Arial"/>
                <a:cs typeface="Arial"/>
              </a:rPr>
              <a:t>.</a:t>
            </a:r>
            <a:endParaRPr sz="7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60560" y="215138"/>
            <a:ext cx="47815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B6B6B"/>
                </a:solidFill>
                <a:latin typeface="Arial"/>
                <a:cs typeface="Arial"/>
              </a:rPr>
              <a:t>.</a:t>
            </a:r>
            <a:r>
              <a:rPr dirty="0" sz="750" spc="-5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B6B6B"/>
                </a:solidFill>
                <a:latin typeface="Arial"/>
                <a:cs typeface="Arial"/>
              </a:rPr>
              <a:t>.</a:t>
            </a:r>
            <a:r>
              <a:rPr dirty="0" sz="750" spc="355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6B6B6B"/>
                </a:solidFill>
                <a:latin typeface="Arial"/>
                <a:cs typeface="Arial"/>
              </a:rPr>
              <a:t>.</a:t>
            </a:r>
            <a:r>
              <a:rPr dirty="0" sz="750" spc="140">
                <a:solidFill>
                  <a:srgbClr val="6B6B6B"/>
                </a:solidFill>
                <a:latin typeface="Arial"/>
                <a:cs typeface="Arial"/>
              </a:rPr>
              <a:t>  </a:t>
            </a:r>
            <a:r>
              <a:rPr dirty="0" sz="750">
                <a:solidFill>
                  <a:srgbClr val="6B6B6B"/>
                </a:solidFill>
                <a:latin typeface="Arial"/>
                <a:cs typeface="Arial"/>
              </a:rPr>
              <a:t>..</a:t>
            </a:r>
            <a:r>
              <a:rPr dirty="0" sz="750" spc="190">
                <a:solidFill>
                  <a:srgbClr val="6B6B6B"/>
                </a:solidFill>
                <a:latin typeface="Arial"/>
                <a:cs typeface="Arial"/>
              </a:rPr>
              <a:t>  </a:t>
            </a:r>
            <a:r>
              <a:rPr dirty="0" sz="750" spc="-50">
                <a:solidFill>
                  <a:srgbClr val="6B6B6B"/>
                </a:solidFill>
                <a:latin typeface="Arial"/>
                <a:cs typeface="Arial"/>
              </a:rPr>
              <a:t>.</a:t>
            </a:r>
            <a:endParaRPr sz="7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10883" y="504697"/>
            <a:ext cx="9271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5">
                <a:solidFill>
                  <a:srgbClr val="16809A"/>
                </a:solidFill>
                <a:latin typeface="Arial"/>
                <a:cs typeface="Arial"/>
              </a:rPr>
              <a:t>-</a:t>
            </a:r>
            <a:r>
              <a:rPr dirty="0" sz="750" spc="-50">
                <a:solidFill>
                  <a:srgbClr val="16809A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167E9C"/>
                </a:solidFill>
                <a:latin typeface="Arial"/>
                <a:cs typeface="Arial"/>
              </a:rPr>
              <a:t>.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10552" y="504697"/>
            <a:ext cx="4406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37E9A"/>
                </a:solidFill>
                <a:latin typeface="Arial"/>
                <a:cs typeface="Arial"/>
              </a:rPr>
              <a:t>.</a:t>
            </a:r>
            <a:r>
              <a:rPr dirty="0" sz="750" spc="240">
                <a:solidFill>
                  <a:srgbClr val="137E9A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17C9A"/>
                </a:solidFill>
                <a:latin typeface="Arial"/>
                <a:cs typeface="Arial"/>
              </a:rPr>
              <a:t>›</a:t>
            </a:r>
            <a:r>
              <a:rPr dirty="0" sz="750" spc="-85">
                <a:solidFill>
                  <a:srgbClr val="117C9A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8809C"/>
                </a:solidFill>
                <a:latin typeface="Arial"/>
                <a:cs typeface="Arial"/>
              </a:rPr>
              <a:t>.</a:t>
            </a:r>
            <a:r>
              <a:rPr dirty="0" sz="750" spc="280">
                <a:solidFill>
                  <a:srgbClr val="18809C"/>
                </a:solidFill>
                <a:latin typeface="Arial"/>
                <a:cs typeface="Arial"/>
              </a:rPr>
              <a:t>  </a:t>
            </a:r>
            <a:r>
              <a:rPr dirty="0" sz="750">
                <a:solidFill>
                  <a:srgbClr val="157E9A"/>
                </a:solidFill>
                <a:latin typeface="Arial"/>
                <a:cs typeface="Arial"/>
              </a:rPr>
              <a:t>.</a:t>
            </a:r>
            <a:r>
              <a:rPr dirty="0" sz="750" spc="15">
                <a:solidFill>
                  <a:srgbClr val="157E9A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17C9A"/>
                </a:solidFill>
                <a:latin typeface="Arial"/>
                <a:cs typeface="Arial"/>
              </a:rPr>
              <a:t>›</a:t>
            </a:r>
            <a:r>
              <a:rPr dirty="0" sz="750" spc="-20">
                <a:solidFill>
                  <a:srgbClr val="117C9A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1A829E"/>
                </a:solidFill>
                <a:latin typeface="Arial"/>
                <a:cs typeface="Arial"/>
              </a:rPr>
              <a:t>-</a:t>
            </a:r>
            <a:endParaRPr sz="7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52115" y="504697"/>
            <a:ext cx="488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solidFill>
                  <a:srgbClr val="117C9A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46475" y="504697"/>
            <a:ext cx="24257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945" algn="l"/>
              </a:tabLst>
            </a:pPr>
            <a:r>
              <a:rPr dirty="0" sz="750" spc="-50">
                <a:solidFill>
                  <a:srgbClr val="117C9A"/>
                </a:solidFill>
                <a:latin typeface="Arial"/>
                <a:cs typeface="Arial"/>
              </a:rPr>
              <a:t>•</a:t>
            </a:r>
            <a:r>
              <a:rPr dirty="0" sz="750">
                <a:solidFill>
                  <a:srgbClr val="117C9A"/>
                </a:solidFill>
                <a:latin typeface="Arial"/>
                <a:cs typeface="Arial"/>
              </a:rPr>
              <a:t>	</a:t>
            </a:r>
            <a:r>
              <a:rPr dirty="0" sz="750" spc="-50">
                <a:solidFill>
                  <a:srgbClr val="117C9A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101427" y="504697"/>
            <a:ext cx="9652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85">
                <a:solidFill>
                  <a:srgbClr val="1A829C"/>
                </a:solidFill>
                <a:latin typeface="Arial"/>
                <a:cs typeface="Arial"/>
              </a:rPr>
              <a:t>-</a:t>
            </a:r>
            <a:r>
              <a:rPr dirty="0" sz="750" spc="5">
                <a:solidFill>
                  <a:srgbClr val="1A829C"/>
                </a:solidFill>
                <a:latin typeface="Arial"/>
                <a:cs typeface="Arial"/>
              </a:rPr>
              <a:t> </a:t>
            </a:r>
            <a:r>
              <a:rPr dirty="0" sz="750" spc="-60">
                <a:solidFill>
                  <a:srgbClr val="117C9A"/>
                </a:solidFill>
                <a:latin typeface="Arial"/>
                <a:cs typeface="Arial"/>
              </a:rPr>
              <a:t>-</a:t>
            </a:r>
            <a:endParaRPr sz="7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752365" y="504697"/>
            <a:ext cx="12636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37E9A"/>
                </a:solidFill>
                <a:latin typeface="Arial"/>
                <a:cs typeface="Arial"/>
              </a:rPr>
              <a:t>'</a:t>
            </a:r>
            <a:r>
              <a:rPr dirty="0" sz="750" spc="245">
                <a:solidFill>
                  <a:srgbClr val="137E9A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117C9A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332914" y="504697"/>
            <a:ext cx="4127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solidFill>
                  <a:srgbClr val="117C9A"/>
                </a:solidFill>
                <a:latin typeface="Arial"/>
                <a:cs typeface="Arial"/>
              </a:rPr>
              <a:t>‘</a:t>
            </a:r>
            <a:endParaRPr sz="7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210845" y="865504"/>
            <a:ext cx="3547745" cy="79057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60"/>
              </a:spcBef>
            </a:pPr>
            <a:r>
              <a:rPr dirty="0" sz="750">
                <a:solidFill>
                  <a:srgbClr val="565656"/>
                </a:solidFill>
                <a:latin typeface="Arial"/>
                <a:cs typeface="Arial"/>
              </a:rPr>
              <a:t>helm.sh/helm/v3/pkg</a:t>
            </a:r>
            <a:r>
              <a:rPr dirty="0" sz="750" spc="235">
                <a:solidFill>
                  <a:srgbClr val="565656"/>
                </a:solidFill>
                <a:latin typeface="Arial"/>
                <a:cs typeface="Arial"/>
              </a:rPr>
              <a:t>  </a:t>
            </a:r>
            <a:r>
              <a:rPr dirty="0" sz="750" spc="-25" i="1">
                <a:solidFill>
                  <a:srgbClr val="1CACD4"/>
                </a:solidFill>
                <a:latin typeface="Arial"/>
                <a:cs typeface="Arial"/>
              </a:rPr>
              <a:t>/D</a:t>
            </a:r>
            <a:endParaRPr sz="7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30"/>
              </a:spcBef>
            </a:pPr>
            <a:r>
              <a:rPr dirty="0" sz="1500">
                <a:solidFill>
                  <a:srgbClr val="212121"/>
                </a:solidFill>
                <a:latin typeface="Arial"/>
                <a:cs typeface="Arial"/>
              </a:rPr>
              <a:t>directory</a:t>
            </a:r>
            <a:r>
              <a:rPr dirty="0" sz="1500" spc="29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212121"/>
                </a:solidFill>
                <a:latin typeface="Arial"/>
                <a:cs typeface="Arial"/>
              </a:rPr>
              <a:t>helm.sh/he\m/v3/pkg</a:t>
            </a:r>
            <a:r>
              <a:rPr dirty="0" sz="1500" spc="33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500" spc="-365">
                <a:solidFill>
                  <a:srgbClr val="212121"/>
                </a:solidFill>
                <a:latin typeface="Arial"/>
                <a:cs typeface="Arial"/>
              </a:rPr>
              <a:t>v3.0.0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750" spc="-60">
                <a:solidFill>
                  <a:srgbClr val="212121"/>
                </a:solidFill>
                <a:latin typeface="Arial"/>
                <a:cs typeface="Arial"/>
              </a:rPr>
              <a:t>Published:</a:t>
            </a:r>
            <a:r>
              <a:rPr dirty="0" sz="750" spc="-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55">
                <a:solidFill>
                  <a:srgbClr val="212121"/>
                </a:solidFill>
                <a:latin typeface="Arial"/>
                <a:cs typeface="Arial"/>
              </a:rPr>
              <a:t>Nov </a:t>
            </a:r>
            <a:r>
              <a:rPr dirty="0" sz="750" spc="-40">
                <a:solidFill>
                  <a:srgbClr val="212121"/>
                </a:solidFill>
                <a:latin typeface="Arial"/>
                <a:cs typeface="Arial"/>
              </a:rPr>
              <a:t>12,</a:t>
            </a:r>
            <a:r>
              <a:rPr dirty="0" sz="750" spc="-5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2019</a:t>
            </a:r>
            <a:r>
              <a:rPr dirty="0" sz="750" spc="34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C8C8C"/>
                </a:solidFill>
                <a:latin typeface="Arial"/>
                <a:cs typeface="Arial"/>
              </a:rPr>
              <a:t>I</a:t>
            </a:r>
            <a:r>
              <a:rPr dirty="0" sz="750" spc="360">
                <a:solidFill>
                  <a:srgbClr val="8C8C8C"/>
                </a:solidFill>
                <a:latin typeface="Arial"/>
                <a:cs typeface="Arial"/>
              </a:rPr>
              <a:t> </a:t>
            </a:r>
            <a:r>
              <a:rPr dirty="0" sz="750" spc="-55">
                <a:solidFill>
                  <a:srgbClr val="212121"/>
                </a:solidFill>
                <a:latin typeface="Arial"/>
                <a:cs typeface="Arial"/>
              </a:rPr>
              <a:t>License: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75">
                <a:solidFill>
                  <a:srgbClr val="318EA8"/>
                </a:solidFill>
                <a:latin typeface="Arial"/>
                <a:cs typeface="Arial"/>
              </a:rPr>
              <a:t>Apaohe-</a:t>
            </a:r>
            <a:r>
              <a:rPr dirty="0" sz="750">
                <a:solidFill>
                  <a:srgbClr val="318EA8"/>
                </a:solidFill>
                <a:latin typeface="Arial"/>
                <a:cs typeface="Arial"/>
              </a:rPr>
              <a:t>2.0</a:t>
            </a:r>
            <a:r>
              <a:rPr dirty="0" sz="750" spc="430">
                <a:solidFill>
                  <a:srgbClr val="318EA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E8E8E"/>
                </a:solidFill>
                <a:latin typeface="Arial"/>
                <a:cs typeface="Arial"/>
              </a:rPr>
              <a:t>|</a:t>
            </a:r>
            <a:r>
              <a:rPr dirty="0" sz="750" spc="375">
                <a:solidFill>
                  <a:srgbClr val="8E8E8E"/>
                </a:solidFill>
                <a:latin typeface="Arial"/>
                <a:cs typeface="Arial"/>
              </a:rPr>
              <a:t> </a:t>
            </a:r>
            <a:r>
              <a:rPr dirty="0" sz="750" spc="-55">
                <a:solidFill>
                  <a:srgbClr val="212121"/>
                </a:solidFill>
                <a:latin typeface="Arial"/>
                <a:cs typeface="Arial"/>
              </a:rPr>
              <a:t>Module:</a:t>
            </a:r>
            <a:r>
              <a:rPr dirty="0" sz="750" spc="-3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17C9A"/>
                </a:solidFill>
                <a:latin typeface="Arial"/>
                <a:cs typeface="Arial"/>
              </a:rPr>
              <a:t>helm.sh/helm/v3</a:t>
            </a:r>
            <a:endParaRPr sz="7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844"/>
              </a:spcBef>
              <a:tabLst>
                <a:tab pos="444500" algn="l"/>
                <a:tab pos="1047750" algn="l"/>
                <a:tab pos="1887855" algn="l"/>
                <a:tab pos="2472690" algn="l"/>
                <a:tab pos="3021330" algn="l"/>
              </a:tabLst>
            </a:pPr>
            <a:r>
              <a:rPr dirty="0" sz="850" spc="-25">
                <a:solidFill>
                  <a:srgbClr val="858585"/>
                </a:solidFill>
                <a:latin typeface="Arial"/>
                <a:cs typeface="Arial"/>
              </a:rPr>
              <a:t>Doc</a:t>
            </a:r>
            <a:r>
              <a:rPr dirty="0" sz="850">
                <a:solidFill>
                  <a:srgbClr val="858585"/>
                </a:solidFill>
                <a:latin typeface="Arial"/>
                <a:cs typeface="Arial"/>
              </a:rPr>
              <a:t>	</a:t>
            </a:r>
            <a:r>
              <a:rPr dirty="0" sz="850" spc="-10">
                <a:solidFill>
                  <a:srgbClr val="3F3F3F"/>
                </a:solidFill>
                <a:latin typeface="Arial"/>
                <a:cs typeface="Arial"/>
              </a:rPr>
              <a:t>Overview</a:t>
            </a:r>
            <a:r>
              <a:rPr dirty="0" sz="850">
                <a:solidFill>
                  <a:srgbClr val="3F3F3F"/>
                </a:solidFill>
                <a:latin typeface="Arial"/>
                <a:cs typeface="Arial"/>
              </a:rPr>
              <a:t>	</a:t>
            </a:r>
            <a:r>
              <a:rPr dirty="0" sz="850" spc="-10">
                <a:solidFill>
                  <a:srgbClr val="212121"/>
                </a:solidFill>
                <a:latin typeface="Arial"/>
                <a:cs typeface="Arial"/>
              </a:rPr>
              <a:t>Subdirectories</a:t>
            </a:r>
            <a:r>
              <a:rPr dirty="0" sz="85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dirty="0" sz="850" spc="-10">
                <a:solidFill>
                  <a:srgbClr val="858585"/>
                </a:solidFill>
                <a:latin typeface="Arial"/>
                <a:cs typeface="Arial"/>
              </a:rPr>
              <a:t>Versions</a:t>
            </a:r>
            <a:r>
              <a:rPr dirty="0" sz="850">
                <a:solidFill>
                  <a:srgbClr val="858585"/>
                </a:solidFill>
                <a:latin typeface="Arial"/>
                <a:cs typeface="Arial"/>
              </a:rPr>
              <a:t>	</a:t>
            </a:r>
            <a:r>
              <a:rPr dirty="0" sz="850" spc="-10">
                <a:solidFill>
                  <a:srgbClr val="858585"/>
                </a:solidFill>
                <a:latin typeface="Arial"/>
                <a:cs typeface="Arial"/>
              </a:rPr>
              <a:t>Imports</a:t>
            </a:r>
            <a:r>
              <a:rPr dirty="0" sz="850">
                <a:solidFill>
                  <a:srgbClr val="858585"/>
                </a:solidFill>
                <a:latin typeface="Arial"/>
                <a:cs typeface="Arial"/>
              </a:rPr>
              <a:t>	</a:t>
            </a:r>
            <a:r>
              <a:rPr dirty="0" sz="850" spc="-50">
                <a:solidFill>
                  <a:srgbClr val="858585"/>
                </a:solidFill>
                <a:latin typeface="Arial"/>
                <a:cs typeface="Arial"/>
              </a:rPr>
              <a:t>Imported</a:t>
            </a:r>
            <a:r>
              <a:rPr dirty="0" sz="850" spc="-5">
                <a:solidFill>
                  <a:srgbClr val="858585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858585"/>
                </a:solidFill>
                <a:latin typeface="Arial"/>
                <a:cs typeface="Arial"/>
              </a:rPr>
              <a:t>By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953243" y="1500885"/>
            <a:ext cx="39243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60">
                <a:solidFill>
                  <a:srgbClr val="3F3F3F"/>
                </a:solidFill>
                <a:latin typeface="Arial"/>
                <a:cs typeface="Arial"/>
              </a:rPr>
              <a:t>Licenses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232562" y="1864105"/>
            <a:ext cx="21971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 b="1">
                <a:solidFill>
                  <a:srgbClr val="212121"/>
                </a:solidFill>
                <a:latin typeface="Arial"/>
                <a:cs typeface="Arial"/>
              </a:rPr>
              <a:t>Path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226942" y="2110994"/>
            <a:ext cx="28511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3891AA"/>
                </a:solidFill>
                <a:latin typeface="Arial"/>
                <a:cs typeface="Arial"/>
              </a:rPr>
              <a:t>action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226561" y="2382265"/>
            <a:ext cx="538480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2889A3"/>
                </a:solidFill>
                <a:latin typeface="Arial"/>
                <a:cs typeface="Arial"/>
              </a:rPr>
              <a:t>chart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spc="-10">
                <a:solidFill>
                  <a:srgbClr val="2889A3"/>
                </a:solidFill>
                <a:latin typeface="Arial"/>
                <a:cs typeface="Arial"/>
              </a:rPr>
              <a:t>chart/loader</a:t>
            </a:r>
            <a:endParaRPr sz="7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226561" y="2924809"/>
            <a:ext cx="3689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1C83A0"/>
                </a:solidFill>
                <a:latin typeface="Arial"/>
                <a:cs typeface="Arial"/>
              </a:rPr>
              <a:t>chartutil</a:t>
            </a:r>
            <a:endParaRPr sz="7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226561" y="3196082"/>
            <a:ext cx="356870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2475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Package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 cli</a:t>
            </a:r>
            <a:r>
              <a:rPr dirty="0" sz="750" spc="-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describes</a:t>
            </a:r>
            <a:r>
              <a:rPr dirty="0" sz="75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750" spc="-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operating</a:t>
            </a:r>
            <a:r>
              <a:rPr dirty="0" sz="750" spc="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environment</a:t>
            </a:r>
            <a:r>
              <a:rPr dirty="0" sz="750" spc="7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for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750" spc="-4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Helm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212121"/>
                </a:solidFill>
                <a:latin typeface="Arial"/>
                <a:cs typeface="Arial"/>
              </a:rPr>
              <a:t>CLI.</a:t>
            </a:r>
            <a:endParaRPr sz="750">
              <a:latin typeface="Arial"/>
              <a:cs typeface="Arial"/>
            </a:endParaRPr>
          </a:p>
          <a:p>
            <a:pPr marL="12700" marR="3144520">
              <a:lnSpc>
                <a:spcPts val="2140"/>
              </a:lnSpc>
              <a:spcBef>
                <a:spcPts val="80"/>
              </a:spcBef>
            </a:pPr>
            <a:r>
              <a:rPr dirty="0" sz="750" spc="-10">
                <a:solidFill>
                  <a:srgbClr val="117E9A"/>
                </a:solidFill>
                <a:latin typeface="Arial"/>
                <a:cs typeface="Arial"/>
              </a:rPr>
              <a:t>cli/output </a:t>
            </a:r>
            <a:r>
              <a:rPr dirty="0" sz="750" spc="-10">
                <a:solidFill>
                  <a:srgbClr val="9CC8D4"/>
                </a:solidFill>
                <a:latin typeface="Arial"/>
                <a:cs typeface="Arial"/>
              </a:rPr>
              <a:t>cli/values</a:t>
            </a:r>
            <a:endParaRPr sz="7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227228" y="4006850"/>
            <a:ext cx="5168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4D9EB3"/>
                </a:solidFill>
                <a:latin typeface="Arial"/>
                <a:cs typeface="Arial"/>
              </a:rPr>
              <a:t>down</a:t>
            </a:r>
            <a:r>
              <a:rPr dirty="0" sz="750" spc="-10">
                <a:solidFill>
                  <a:srgbClr val="1A829E"/>
                </a:solidFill>
                <a:latin typeface="Arial"/>
                <a:cs typeface="Arial"/>
              </a:rPr>
              <a:t>loader</a:t>
            </a:r>
            <a:endParaRPr sz="7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226847" y="4278121"/>
            <a:ext cx="3028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3A91AA"/>
                </a:solidFill>
                <a:latin typeface="Arial"/>
                <a:cs typeface="Arial"/>
              </a:rPr>
              <a:t>engine</a:t>
            </a:r>
            <a:endParaRPr sz="7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227341" y="4549394"/>
            <a:ext cx="2565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93C3D1"/>
                </a:solidFill>
                <a:latin typeface="Arial"/>
                <a:cs typeface="Arial"/>
              </a:rPr>
              <a:t>gates</a:t>
            </a:r>
            <a:endParaRPr sz="7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227341" y="4820666"/>
            <a:ext cx="2692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82BACA"/>
                </a:solidFill>
                <a:latin typeface="Arial"/>
                <a:cs typeface="Arial"/>
              </a:rPr>
              <a:t>getter</a:t>
            </a:r>
            <a:endParaRPr sz="7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224085" y="5201666"/>
            <a:ext cx="4216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117C9A"/>
                </a:solidFill>
                <a:latin typeface="Arial"/>
                <a:cs typeface="Arial"/>
              </a:rPr>
              <a:t>helmpath</a:t>
            </a:r>
            <a:endParaRPr sz="75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224047" y="5585714"/>
            <a:ext cx="608965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117C9A"/>
                </a:solidFill>
                <a:latin typeface="Arial"/>
                <a:cs typeface="Arial"/>
              </a:rPr>
              <a:t>helmpath/xdg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 spc="-20">
                <a:solidFill>
                  <a:srgbClr val="117C9A"/>
                </a:solidFill>
                <a:latin typeface="Arial"/>
                <a:cs typeface="Arial"/>
              </a:rPr>
              <a:t>kube</a:t>
            </a:r>
            <a:endParaRPr sz="75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224047" y="6128258"/>
            <a:ext cx="45085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117C9A"/>
                </a:solidFill>
                <a:latin typeface="Arial"/>
                <a:cs typeface="Arial"/>
              </a:rPr>
              <a:t>kube/fake</a:t>
            </a:r>
            <a:endParaRPr sz="75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966749" y="2110994"/>
            <a:ext cx="31216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Package</a:t>
            </a:r>
            <a:r>
              <a:rPr dirty="0" sz="750" spc="5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action</a:t>
            </a:r>
            <a:r>
              <a:rPr dirty="0" sz="75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contains</a:t>
            </a:r>
            <a:r>
              <a:rPr dirty="0" sz="750" spc="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750" spc="-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logic</a:t>
            </a:r>
            <a:r>
              <a:rPr dirty="0" sz="750" spc="5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for</a:t>
            </a:r>
            <a:r>
              <a:rPr dirty="0" sz="75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each</a:t>
            </a:r>
            <a:r>
              <a:rPr dirty="0" sz="7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action</a:t>
            </a:r>
            <a:r>
              <a:rPr dirty="0" sz="75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that</a:t>
            </a:r>
            <a:r>
              <a:rPr dirty="0" sz="7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Helm</a:t>
            </a:r>
            <a:r>
              <a:rPr dirty="0" sz="7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can</a:t>
            </a:r>
            <a:r>
              <a:rPr dirty="0" sz="75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perform.</a:t>
            </a:r>
            <a:endParaRPr sz="75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966749" y="2924809"/>
            <a:ext cx="24174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Package</a:t>
            </a:r>
            <a:r>
              <a:rPr dirty="0" sz="750" spc="4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chartutil</a:t>
            </a:r>
            <a:r>
              <a:rPr dirty="0" sz="75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contains</a:t>
            </a:r>
            <a:r>
              <a:rPr dirty="0" sz="750" spc="5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tools</a:t>
            </a:r>
            <a:r>
              <a:rPr dirty="0" sz="750" spc="6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for</a:t>
            </a:r>
            <a:r>
              <a:rPr dirty="0" sz="75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working</a:t>
            </a:r>
            <a:r>
              <a:rPr dirty="0" sz="750" spc="5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with</a:t>
            </a:r>
            <a:r>
              <a:rPr dirty="0" sz="750" spc="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charts.</a:t>
            </a:r>
            <a:endParaRPr sz="75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966749" y="4006850"/>
            <a:ext cx="26943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Package</a:t>
            </a:r>
            <a:r>
              <a:rPr dirty="0" sz="750" spc="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downloader</a:t>
            </a:r>
            <a:r>
              <a:rPr dirty="0" sz="750" spc="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provides</a:t>
            </a:r>
            <a:r>
              <a:rPr dirty="0" sz="750" spc="5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dirty="0" sz="750" spc="-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library</a:t>
            </a:r>
            <a:r>
              <a:rPr dirty="0" sz="7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for</a:t>
            </a:r>
            <a:r>
              <a:rPr dirty="0" sz="75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downloading</a:t>
            </a:r>
            <a:r>
              <a:rPr dirty="0" sz="750" spc="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charts.</a:t>
            </a:r>
            <a:endParaRPr sz="75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966749" y="4278121"/>
            <a:ext cx="30016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Package</a:t>
            </a:r>
            <a:r>
              <a:rPr dirty="0" sz="7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engine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implements</a:t>
            </a:r>
            <a:r>
              <a:rPr dirty="0" sz="75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750" spc="-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212121"/>
                </a:solidFill>
                <a:latin typeface="Arial"/>
                <a:cs typeface="Arial"/>
              </a:rPr>
              <a:t>Go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template</a:t>
            </a:r>
            <a:r>
              <a:rPr dirty="0" sz="750" spc="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engine</a:t>
            </a:r>
            <a:r>
              <a:rPr dirty="0" sz="75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as</a:t>
            </a:r>
            <a:r>
              <a:rPr dirty="0" sz="750" spc="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dirty="0" sz="75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Tiller</a:t>
            </a:r>
            <a:r>
              <a:rPr dirty="0" sz="750" spc="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Engine.</a:t>
            </a:r>
            <a:endParaRPr sz="75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966749" y="4549394"/>
            <a:ext cx="353187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Package</a:t>
            </a:r>
            <a:r>
              <a:rPr dirty="0" sz="75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gates</a:t>
            </a:r>
            <a:r>
              <a:rPr dirty="0" sz="7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provides</a:t>
            </a:r>
            <a:r>
              <a:rPr dirty="0" sz="750" spc="3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dirty="0" sz="750" spc="-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general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tool</a:t>
            </a:r>
            <a:r>
              <a:rPr dirty="0" sz="750" spc="-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for</a:t>
            </a:r>
            <a:r>
              <a:rPr dirty="0" sz="75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working</a:t>
            </a:r>
            <a:r>
              <a:rPr dirty="0" sz="750" spc="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with</a:t>
            </a:r>
            <a:r>
              <a:rPr dirty="0" sz="750" spc="-3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experimental</a:t>
            </a:r>
            <a:r>
              <a:rPr dirty="0" sz="750" spc="7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feature</a:t>
            </a:r>
            <a:r>
              <a:rPr dirty="0" sz="75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gates.</a:t>
            </a:r>
            <a:endParaRPr sz="75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966749" y="4820666"/>
            <a:ext cx="30041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Package</a:t>
            </a:r>
            <a:r>
              <a:rPr dirty="0" sz="750" spc="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getter</a:t>
            </a:r>
            <a:r>
              <a:rPr dirty="0" sz="750" spc="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provides</a:t>
            </a:r>
            <a:r>
              <a:rPr dirty="0" sz="750" spc="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dirty="0" sz="750" spc="-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generalize</a:t>
            </a:r>
            <a:r>
              <a:rPr dirty="0" sz="75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tool</a:t>
            </a:r>
            <a:r>
              <a:rPr dirty="0" sz="750" spc="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for fetching data by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scheme.</a:t>
            </a:r>
            <a:endParaRPr sz="75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966559" y="5091938"/>
            <a:ext cx="3927475" cy="362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 indent="-635">
              <a:lnSpc>
                <a:spcPct val="97300"/>
              </a:lnSpc>
              <a:spcBef>
                <a:spcPts val="125"/>
              </a:spcBef>
            </a:pP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Unless 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required</a:t>
            </a:r>
            <a:r>
              <a:rPr dirty="0" sz="750" spc="-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by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applicable</a:t>
            </a:r>
            <a:r>
              <a:rPr dirty="0" sz="7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law or </a:t>
            </a:r>
            <a:r>
              <a:rPr dirty="0" sz="750" spc="-20">
                <a:solidFill>
                  <a:srgbClr val="212121"/>
                </a:solidFill>
                <a:latin typeface="Arial"/>
                <a:cs typeface="Arial"/>
              </a:rPr>
              <a:t>agreed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to</a:t>
            </a:r>
            <a:r>
              <a:rPr dirty="0" sz="750" spc="8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in</a:t>
            </a:r>
            <a:r>
              <a:rPr dirty="0" sz="750" spc="-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writing,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software</a:t>
            </a:r>
            <a:r>
              <a:rPr dirty="0" sz="750" spc="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distributed</a:t>
            </a:r>
            <a:r>
              <a:rPr dirty="0" sz="75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under</a:t>
            </a:r>
            <a:r>
              <a:rPr dirty="0" sz="7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 License</a:t>
            </a:r>
            <a:r>
              <a:rPr dirty="0" sz="750" spc="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is</a:t>
            </a:r>
            <a:r>
              <a:rPr dirty="0" sz="750" spc="-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distributed</a:t>
            </a:r>
            <a:r>
              <a:rPr dirty="0" sz="75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on</a:t>
            </a:r>
            <a:r>
              <a:rPr dirty="0" sz="750" spc="-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an</a:t>
            </a:r>
            <a:r>
              <a:rPr dirty="0" sz="75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65">
                <a:solidFill>
                  <a:srgbClr val="212121"/>
                </a:solidFill>
                <a:latin typeface="Arial"/>
                <a:cs typeface="Arial"/>
              </a:rPr>
              <a:t>"AS</a:t>
            </a:r>
            <a:r>
              <a:rPr dirty="0" sz="750" spc="-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35">
                <a:solidFill>
                  <a:srgbClr val="212121"/>
                </a:solidFill>
                <a:latin typeface="Arial"/>
                <a:cs typeface="Arial"/>
              </a:rPr>
              <a:t>IS"</a:t>
            </a:r>
            <a:r>
              <a:rPr dirty="0" sz="750" spc="-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45">
                <a:solidFill>
                  <a:srgbClr val="212121"/>
                </a:solidFill>
                <a:latin typeface="Arial"/>
                <a:cs typeface="Arial"/>
              </a:rPr>
              <a:t>BASIS,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40">
                <a:solidFill>
                  <a:srgbClr val="212121"/>
                </a:solidFill>
                <a:latin typeface="Arial"/>
                <a:cs typeface="Arial"/>
              </a:rPr>
              <a:t>WITHOUT</a:t>
            </a:r>
            <a:r>
              <a:rPr dirty="0" sz="750" spc="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212121"/>
                </a:solidFill>
                <a:latin typeface="Arial"/>
                <a:cs typeface="Arial"/>
              </a:rPr>
              <a:t>WARRANTIES</a:t>
            </a:r>
            <a:r>
              <a:rPr dirty="0" sz="750" spc="7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95">
                <a:solidFill>
                  <a:srgbClr val="212121"/>
                </a:solidFill>
                <a:latin typeface="Arial"/>
                <a:cs typeface="Arial"/>
              </a:rPr>
              <a:t>OR</a:t>
            </a:r>
            <a:r>
              <a:rPr dirty="0" sz="750" spc="-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45">
                <a:solidFill>
                  <a:srgbClr val="212121"/>
                </a:solidFill>
                <a:latin typeface="Arial"/>
                <a:cs typeface="Arial"/>
              </a:rPr>
              <a:t>CONDITIONS</a:t>
            </a:r>
            <a:r>
              <a:rPr dirty="0" sz="750" spc="4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75">
                <a:solidFill>
                  <a:srgbClr val="212121"/>
                </a:solidFill>
                <a:latin typeface="Arial"/>
                <a:cs typeface="Arial"/>
              </a:rPr>
              <a:t>OF</a:t>
            </a:r>
            <a:r>
              <a:rPr dirty="0" sz="750" spc="-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212121"/>
                </a:solidFill>
                <a:latin typeface="Arial"/>
                <a:cs typeface="Arial"/>
              </a:rPr>
              <a:t>ANY</a:t>
            </a:r>
            <a:r>
              <a:rPr dirty="0" sz="750" spc="50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40">
                <a:solidFill>
                  <a:srgbClr val="212121"/>
                </a:solidFill>
                <a:latin typeface="Arial"/>
                <a:cs typeface="Arial"/>
              </a:rPr>
              <a:t>KIND,</a:t>
            </a:r>
            <a:r>
              <a:rPr dirty="0" sz="750" spc="-5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either</a:t>
            </a:r>
            <a:r>
              <a:rPr dirty="0" sz="75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express</a:t>
            </a:r>
            <a:r>
              <a:rPr dirty="0" sz="750" spc="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or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implied.</a:t>
            </a:r>
            <a:endParaRPr sz="75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966749" y="6128258"/>
            <a:ext cx="293243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Package</a:t>
            </a:r>
            <a:r>
              <a:rPr dirty="0" sz="750" spc="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fake</a:t>
            </a:r>
            <a:r>
              <a:rPr dirty="0" sz="75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implements</a:t>
            </a:r>
            <a:r>
              <a:rPr dirty="0" sz="750" spc="6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various</a:t>
            </a:r>
            <a:r>
              <a:rPr dirty="0" sz="75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fake</a:t>
            </a:r>
            <a:r>
              <a:rPr dirty="0" sz="75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KubeClients</a:t>
            </a:r>
            <a:r>
              <a:rPr dirty="0" sz="750" spc="5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for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use</a:t>
            </a:r>
            <a:r>
              <a:rPr dirty="0" sz="750" spc="-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212121"/>
                </a:solidFill>
                <a:latin typeface="Arial"/>
                <a:cs typeface="Arial"/>
              </a:rPr>
              <a:t>in</a:t>
            </a:r>
            <a:r>
              <a:rPr dirty="0" sz="750" spc="-5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Arial"/>
                <a:cs typeface="Arial"/>
              </a:rPr>
              <a:t>testing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725360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3-way</a:t>
            </a:r>
            <a:r>
              <a:rPr dirty="0" spc="160"/>
              <a:t> </a:t>
            </a:r>
            <a:r>
              <a:rPr dirty="0"/>
              <a:t>Strategic</a:t>
            </a:r>
            <a:r>
              <a:rPr dirty="0" spc="160"/>
              <a:t> </a:t>
            </a:r>
            <a:r>
              <a:rPr dirty="0"/>
              <a:t>Merge</a:t>
            </a:r>
            <a:r>
              <a:rPr dirty="0" spc="165"/>
              <a:t> </a:t>
            </a:r>
            <a:r>
              <a:rPr dirty="0" spc="-10"/>
              <a:t>Patches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60292" y="1168908"/>
            <a:ext cx="49295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2895" algn="l"/>
                <a:tab pos="3041015" algn="l"/>
                <a:tab pos="4103370" algn="l"/>
              </a:tabLst>
            </a:pPr>
            <a:r>
              <a:rPr dirty="0" sz="3200" b="1">
                <a:solidFill>
                  <a:srgbClr val="95297C"/>
                </a:solidFill>
                <a:latin typeface="DejaVu Sans Mono"/>
                <a:cs typeface="DejaVu Sans Mono"/>
              </a:rPr>
              <a:t>3</a:t>
            </a:r>
            <a:r>
              <a:rPr dirty="0" sz="3200" spc="55" b="1">
                <a:solidFill>
                  <a:srgbClr val="95297C"/>
                </a:solidFill>
                <a:latin typeface="DejaVu Sans Mono"/>
                <a:cs typeface="DejaVu Sans Mono"/>
              </a:rPr>
              <a:t> </a:t>
            </a:r>
            <a:r>
              <a:rPr dirty="0" sz="3200" spc="-25" b="1">
                <a:solidFill>
                  <a:srgbClr val="95297C"/>
                </a:solidFill>
                <a:latin typeface="Malgun Gothic"/>
                <a:cs typeface="Malgun Gothic"/>
              </a:rPr>
              <a:t>방향</a:t>
            </a:r>
            <a:r>
              <a:rPr dirty="0" sz="3200" b="1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z="3200" spc="-25" b="1">
                <a:solidFill>
                  <a:srgbClr val="95297C"/>
                </a:solidFill>
                <a:latin typeface="Malgun Gothic"/>
                <a:cs typeface="Malgun Gothic"/>
              </a:rPr>
              <a:t>전략적</a:t>
            </a:r>
            <a:r>
              <a:rPr dirty="0" sz="3200" b="1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z="3200" spc="-25" b="1">
                <a:solidFill>
                  <a:srgbClr val="95297C"/>
                </a:solidFill>
                <a:latin typeface="Malgun Gothic"/>
                <a:cs typeface="Malgun Gothic"/>
              </a:rPr>
              <a:t>병합</a:t>
            </a:r>
            <a:r>
              <a:rPr dirty="0" sz="3200" b="1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z="3200" spc="-25" b="1">
                <a:solidFill>
                  <a:srgbClr val="95297C"/>
                </a:solidFill>
                <a:latin typeface="Malgun Gothic"/>
                <a:cs typeface="Malgun Gothic"/>
              </a:rPr>
              <a:t>패치</a:t>
            </a:r>
            <a:endParaRPr sz="3200">
              <a:latin typeface="Malgun Gothic"/>
              <a:cs typeface="Malgun Gothic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9607" y="1978151"/>
            <a:ext cx="1234440" cy="1234439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5669279" y="3633215"/>
            <a:ext cx="4563110" cy="1231900"/>
            <a:chOff x="5669279" y="3633215"/>
            <a:chExt cx="4563110" cy="123190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9279" y="3633215"/>
              <a:ext cx="1234440" cy="123139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7695" y="3633215"/>
              <a:ext cx="1234440" cy="1231392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59607" y="5315711"/>
            <a:ext cx="1234440" cy="123444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929586" y="4870195"/>
            <a:ext cx="706120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Calibri"/>
                <a:cs typeface="Calibri"/>
              </a:rPr>
              <a:t>Patch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25">
                <a:latin typeface="Malgun Gothic"/>
                <a:cs typeface="Malgun Gothic"/>
              </a:rPr>
              <a:t>패치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806928" y="4870195"/>
            <a:ext cx="1617980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Live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State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latin typeface="Malgun Gothic"/>
                <a:cs typeface="Malgun Gothic"/>
              </a:rPr>
              <a:t>라이브</a:t>
            </a:r>
            <a:r>
              <a:rPr dirty="0" sz="2400" spc="-310">
                <a:latin typeface="Malgun Gothic"/>
                <a:cs typeface="Malgun Gothic"/>
              </a:rPr>
              <a:t> </a:t>
            </a:r>
            <a:r>
              <a:rPr dirty="0" sz="2400" spc="-25">
                <a:latin typeface="Malgun Gothic"/>
                <a:cs typeface="Malgun Gothic"/>
              </a:rPr>
              <a:t>상태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463634" y="3224276"/>
            <a:ext cx="2227580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Manifest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latin typeface="Malgun Gothic"/>
                <a:cs typeface="Malgun Gothic"/>
              </a:rPr>
              <a:t>신규</a:t>
            </a:r>
            <a:r>
              <a:rPr dirty="0" sz="2400" spc="-310">
                <a:latin typeface="Malgun Gothic"/>
                <a:cs typeface="Malgun Gothic"/>
              </a:rPr>
              <a:t> </a:t>
            </a:r>
            <a:r>
              <a:rPr dirty="0" sz="2400" spc="-10">
                <a:latin typeface="Malgun Gothic"/>
                <a:cs typeface="Malgun Gothic"/>
              </a:rPr>
              <a:t>매니페스트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355952" y="4574540"/>
            <a:ext cx="2227580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Old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Manifest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latin typeface="Malgun Gothic"/>
                <a:cs typeface="Malgun Gothic"/>
              </a:rPr>
              <a:t>이전</a:t>
            </a:r>
            <a:r>
              <a:rPr dirty="0" sz="2400" spc="-310">
                <a:latin typeface="Malgun Gothic"/>
                <a:cs typeface="Malgun Gothic"/>
              </a:rPr>
              <a:t> </a:t>
            </a:r>
            <a:r>
              <a:rPr dirty="0" sz="2400" spc="-10">
                <a:latin typeface="Malgun Gothic"/>
                <a:cs typeface="Malgun Gothic"/>
              </a:rPr>
              <a:t>매니페스트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179907" y="2581022"/>
            <a:ext cx="1492250" cy="1305560"/>
          </a:xfrm>
          <a:custGeom>
            <a:avLst/>
            <a:gdLst/>
            <a:ahLst/>
            <a:cxnLst/>
            <a:rect l="l" t="t" r="r" b="b"/>
            <a:pathLst>
              <a:path w="1492250" h="1305560">
                <a:moveTo>
                  <a:pt x="1393076" y="1244223"/>
                </a:moveTo>
                <a:lnTo>
                  <a:pt x="1368027" y="1272932"/>
                </a:lnTo>
                <a:lnTo>
                  <a:pt x="1491725" y="1305016"/>
                </a:lnTo>
                <a:lnTo>
                  <a:pt x="1471899" y="1256747"/>
                </a:lnTo>
                <a:lnTo>
                  <a:pt x="1407429" y="1256747"/>
                </a:lnTo>
                <a:lnTo>
                  <a:pt x="1393076" y="1244223"/>
                </a:lnTo>
                <a:close/>
              </a:path>
              <a:path w="1492250" h="1305560">
                <a:moveTo>
                  <a:pt x="1418124" y="1215515"/>
                </a:moveTo>
                <a:lnTo>
                  <a:pt x="1393076" y="1244223"/>
                </a:lnTo>
                <a:lnTo>
                  <a:pt x="1407429" y="1256747"/>
                </a:lnTo>
                <a:lnTo>
                  <a:pt x="1432477" y="1228039"/>
                </a:lnTo>
                <a:lnTo>
                  <a:pt x="1418124" y="1215515"/>
                </a:lnTo>
                <a:close/>
              </a:path>
              <a:path w="1492250" h="1305560">
                <a:moveTo>
                  <a:pt x="1443173" y="1186807"/>
                </a:moveTo>
                <a:lnTo>
                  <a:pt x="1418124" y="1215515"/>
                </a:lnTo>
                <a:lnTo>
                  <a:pt x="1432477" y="1228039"/>
                </a:lnTo>
                <a:lnTo>
                  <a:pt x="1407429" y="1256747"/>
                </a:lnTo>
                <a:lnTo>
                  <a:pt x="1471899" y="1256747"/>
                </a:lnTo>
                <a:lnTo>
                  <a:pt x="1443173" y="1186807"/>
                </a:lnTo>
                <a:close/>
              </a:path>
              <a:path w="1492250" h="1305560">
                <a:moveTo>
                  <a:pt x="25049" y="0"/>
                </a:moveTo>
                <a:lnTo>
                  <a:pt x="0" y="28708"/>
                </a:lnTo>
                <a:lnTo>
                  <a:pt x="1393076" y="1244223"/>
                </a:lnTo>
                <a:lnTo>
                  <a:pt x="1418124" y="1215515"/>
                </a:lnTo>
                <a:lnTo>
                  <a:pt x="25049" y="0"/>
                </a:lnTo>
                <a:close/>
              </a:path>
            </a:pathLst>
          </a:custGeom>
          <a:solidFill>
            <a:srgbClr val="9529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181273" y="4863937"/>
            <a:ext cx="1490980" cy="1084580"/>
          </a:xfrm>
          <a:custGeom>
            <a:avLst/>
            <a:gdLst/>
            <a:ahLst/>
            <a:cxnLst/>
            <a:rect l="l" t="t" r="r" b="b"/>
            <a:pathLst>
              <a:path w="1490979" h="1084579">
                <a:moveTo>
                  <a:pt x="1386564" y="51515"/>
                </a:moveTo>
                <a:lnTo>
                  <a:pt x="0" y="1053693"/>
                </a:lnTo>
                <a:lnTo>
                  <a:pt x="22317" y="1084572"/>
                </a:lnTo>
                <a:lnTo>
                  <a:pt x="1408882" y="82393"/>
                </a:lnTo>
                <a:lnTo>
                  <a:pt x="1386564" y="51515"/>
                </a:lnTo>
                <a:close/>
              </a:path>
              <a:path w="1490979" h="1084579">
                <a:moveTo>
                  <a:pt x="1469284" y="40354"/>
                </a:moveTo>
                <a:lnTo>
                  <a:pt x="1402006" y="40354"/>
                </a:lnTo>
                <a:lnTo>
                  <a:pt x="1424324" y="71233"/>
                </a:lnTo>
                <a:lnTo>
                  <a:pt x="1408882" y="82393"/>
                </a:lnTo>
                <a:lnTo>
                  <a:pt x="1431201" y="113272"/>
                </a:lnTo>
                <a:lnTo>
                  <a:pt x="1469284" y="40354"/>
                </a:lnTo>
                <a:close/>
              </a:path>
              <a:path w="1490979" h="1084579">
                <a:moveTo>
                  <a:pt x="1402006" y="40354"/>
                </a:moveTo>
                <a:lnTo>
                  <a:pt x="1386564" y="51515"/>
                </a:lnTo>
                <a:lnTo>
                  <a:pt x="1408882" y="82393"/>
                </a:lnTo>
                <a:lnTo>
                  <a:pt x="1424324" y="71233"/>
                </a:lnTo>
                <a:lnTo>
                  <a:pt x="1402006" y="40354"/>
                </a:lnTo>
                <a:close/>
              </a:path>
              <a:path w="1490979" h="1084579">
                <a:moveTo>
                  <a:pt x="1490360" y="0"/>
                </a:moveTo>
                <a:lnTo>
                  <a:pt x="1364245" y="20636"/>
                </a:lnTo>
                <a:lnTo>
                  <a:pt x="1386564" y="51515"/>
                </a:lnTo>
                <a:lnTo>
                  <a:pt x="1402006" y="40354"/>
                </a:lnTo>
                <a:lnTo>
                  <a:pt x="1469284" y="40354"/>
                </a:lnTo>
                <a:lnTo>
                  <a:pt x="1490360" y="0"/>
                </a:lnTo>
                <a:close/>
              </a:path>
            </a:pathLst>
          </a:custGeom>
          <a:solidFill>
            <a:srgbClr val="9529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901967" y="4191622"/>
            <a:ext cx="2098675" cy="114300"/>
          </a:xfrm>
          <a:custGeom>
            <a:avLst/>
            <a:gdLst/>
            <a:ahLst/>
            <a:cxnLst/>
            <a:rect l="l" t="t" r="r" b="b"/>
            <a:pathLst>
              <a:path w="209867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209867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2098675" h="114300">
                <a:moveTo>
                  <a:pt x="2098625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2098625" y="76200"/>
                </a:lnTo>
                <a:lnTo>
                  <a:pt x="2098625" y="38100"/>
                </a:lnTo>
                <a:close/>
              </a:path>
            </a:pathLst>
          </a:custGeom>
          <a:solidFill>
            <a:srgbClr val="95297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7253605" cy="10223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3-way</a:t>
            </a:r>
            <a:r>
              <a:rPr dirty="0" spc="160"/>
              <a:t> </a:t>
            </a:r>
            <a:r>
              <a:rPr dirty="0"/>
              <a:t>Strategic</a:t>
            </a:r>
            <a:r>
              <a:rPr dirty="0" spc="160"/>
              <a:t> </a:t>
            </a:r>
            <a:r>
              <a:rPr dirty="0"/>
              <a:t>Merge</a:t>
            </a:r>
            <a:r>
              <a:rPr dirty="0" spc="165"/>
              <a:t> </a:t>
            </a:r>
            <a:r>
              <a:rPr dirty="0" spc="-10"/>
              <a:t>Patches</a:t>
            </a: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>
                <a:solidFill>
                  <a:srgbClr val="95297C"/>
                </a:solidFill>
                <a:latin typeface="Calibri"/>
                <a:cs typeface="Calibri"/>
              </a:rPr>
              <a:t>3</a:t>
            </a:r>
            <a:r>
              <a:rPr dirty="0" spc="-20">
                <a:solidFill>
                  <a:srgbClr val="95297C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방향</a:t>
            </a:r>
            <a:r>
              <a:rPr dirty="0" spc="-400">
                <a:solidFill>
                  <a:srgbClr val="95297C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전략적</a:t>
            </a:r>
            <a:r>
              <a:rPr dirty="0" spc="-400">
                <a:solidFill>
                  <a:srgbClr val="95297C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병합</a:t>
            </a:r>
            <a:r>
              <a:rPr dirty="0" spc="-400">
                <a:solidFill>
                  <a:srgbClr val="95297C"/>
                </a:solidFill>
                <a:latin typeface="Malgun Gothic"/>
                <a:cs typeface="Malgun Gothic"/>
              </a:rPr>
              <a:t> 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패치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85402" y="2256859"/>
            <a:ext cx="3352800" cy="1200785"/>
          </a:xfrm>
          <a:prstGeom prst="rect">
            <a:avLst/>
          </a:prstGeom>
          <a:solidFill>
            <a:srgbClr val="D6DCE5"/>
          </a:solidFill>
          <a:ln w="41275">
            <a:solidFill>
              <a:srgbClr val="2F84A7"/>
            </a:solidFill>
          </a:ln>
        </p:spPr>
        <p:txBody>
          <a:bodyPr wrap="square" lIns="0" tIns="16891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330"/>
              </a:spcBef>
            </a:pPr>
            <a:r>
              <a:rPr dirty="0" sz="1800" spc="-10">
                <a:solidFill>
                  <a:srgbClr val="090E6F"/>
                </a:solidFill>
                <a:latin typeface="DejaVu Sans Mono"/>
                <a:cs typeface="DejaVu Sans Mono"/>
              </a:rPr>
              <a:t>containers:</a:t>
            </a:r>
            <a:endParaRPr sz="1800">
              <a:latin typeface="DejaVu Sans Mono"/>
              <a:cs typeface="DejaVu Sans Mono"/>
            </a:endParaRPr>
          </a:p>
          <a:p>
            <a:pPr marL="459105" marR="399415" indent="-276225">
              <a:lnSpc>
                <a:spcPts val="2090"/>
              </a:lnSpc>
              <a:spcBef>
                <a:spcPts val="180"/>
              </a:spcBef>
              <a:tabLst>
                <a:tab pos="1425575" algn="l"/>
              </a:tabLst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-</a:t>
            </a:r>
            <a:r>
              <a:rPr dirty="0" sz="1800" spc="-10">
                <a:solidFill>
                  <a:srgbClr val="090E6F"/>
                </a:solidFill>
                <a:latin typeface="DejaVu Sans Mono"/>
                <a:cs typeface="DejaVu Sans Mono"/>
              </a:rPr>
              <a:t> name: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	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server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image:</a:t>
            </a:r>
            <a:r>
              <a:rPr dirty="0" sz="1800" spc="-6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nginx:2.0.0</a:t>
            </a:r>
            <a:endParaRPr sz="1800">
              <a:latin typeface="DejaVu Sans Mono"/>
              <a:cs typeface="DejaVu Sans Mon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342484" y="3734672"/>
            <a:ext cx="4338955" cy="1754505"/>
          </a:xfrm>
          <a:prstGeom prst="rect">
            <a:avLst/>
          </a:prstGeom>
          <a:solidFill>
            <a:srgbClr val="D6DCE5"/>
          </a:solidFill>
          <a:ln w="41275">
            <a:solidFill>
              <a:srgbClr val="2F84A7"/>
            </a:solidFill>
          </a:ln>
        </p:spPr>
        <p:txBody>
          <a:bodyPr wrap="square" lIns="0" tIns="16954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335"/>
              </a:spcBef>
            </a:pPr>
            <a:r>
              <a:rPr dirty="0" sz="1800" spc="-10">
                <a:solidFill>
                  <a:srgbClr val="090E6F"/>
                </a:solidFill>
                <a:latin typeface="DejaVu Sans Mono"/>
                <a:cs typeface="DejaVu Sans Mono"/>
              </a:rPr>
              <a:t>containers:</a:t>
            </a:r>
            <a:endParaRPr sz="1800">
              <a:latin typeface="DejaVu Sans Mono"/>
              <a:cs typeface="DejaVu Sans Mono"/>
            </a:endParaRPr>
          </a:p>
          <a:p>
            <a:pPr marL="459105" marR="1385570" indent="-276225">
              <a:lnSpc>
                <a:spcPts val="2090"/>
              </a:lnSpc>
              <a:spcBef>
                <a:spcPts val="175"/>
              </a:spcBef>
              <a:buChar char="-"/>
              <a:tabLst>
                <a:tab pos="459105" algn="l"/>
                <a:tab pos="1425575" algn="l"/>
              </a:tabLst>
            </a:pPr>
            <a:r>
              <a:rPr dirty="0" sz="1800" spc="-10">
                <a:solidFill>
                  <a:srgbClr val="090E6F"/>
                </a:solidFill>
                <a:latin typeface="DejaVu Sans Mono"/>
                <a:cs typeface="DejaVu Sans Mono"/>
              </a:rPr>
              <a:t>name: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	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server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image:</a:t>
            </a:r>
            <a:r>
              <a:rPr dirty="0" sz="1800" spc="-6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nginx:2.0.0</a:t>
            </a:r>
            <a:endParaRPr sz="1800">
              <a:latin typeface="DejaVu Sans Mono"/>
              <a:cs typeface="DejaVu Sans Mono"/>
            </a:endParaRPr>
          </a:p>
          <a:p>
            <a:pPr marL="459105" marR="280670" indent="-276225">
              <a:lnSpc>
                <a:spcPts val="2210"/>
              </a:lnSpc>
              <a:spcBef>
                <a:spcPts val="20"/>
              </a:spcBef>
              <a:buChar char="-"/>
              <a:tabLst>
                <a:tab pos="459105" algn="l"/>
                <a:tab pos="1425575" algn="l"/>
              </a:tabLst>
            </a:pPr>
            <a:r>
              <a:rPr dirty="0" sz="1800" spc="-10">
                <a:solidFill>
                  <a:srgbClr val="090E6F"/>
                </a:solidFill>
                <a:latin typeface="DejaVu Sans Mono"/>
                <a:cs typeface="DejaVu Sans Mono"/>
              </a:rPr>
              <a:t>name: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	</a:t>
            </a:r>
            <a:r>
              <a:rPr dirty="0" sz="1800" spc="-20">
                <a:solidFill>
                  <a:srgbClr val="2F84A7"/>
                </a:solidFill>
                <a:latin typeface="DejaVu Sans Mono"/>
                <a:cs typeface="DejaVu Sans Mono"/>
              </a:rPr>
              <a:t>my-injected-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sidecar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image:</a:t>
            </a:r>
            <a:r>
              <a:rPr dirty="0" sz="1800" spc="10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20">
                <a:solidFill>
                  <a:srgbClr val="2F84A7"/>
                </a:solidFill>
                <a:latin typeface="DejaVu Sans Mono"/>
                <a:cs typeface="DejaVu Sans Mono"/>
              </a:rPr>
              <a:t>my-cool-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mesh:1.0.0</a:t>
            </a:r>
            <a:endParaRPr sz="1800">
              <a:latin typeface="DejaVu Sans Mono"/>
              <a:cs typeface="DejaVu Sans Mono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228770" y="3561218"/>
            <a:ext cx="867410" cy="528320"/>
          </a:xfrm>
          <a:custGeom>
            <a:avLst/>
            <a:gdLst/>
            <a:ahLst/>
            <a:cxnLst/>
            <a:rect l="l" t="t" r="r" b="b"/>
            <a:pathLst>
              <a:path w="867410" h="528320">
                <a:moveTo>
                  <a:pt x="686912" y="458534"/>
                </a:moveTo>
                <a:lnTo>
                  <a:pt x="654733" y="513276"/>
                </a:lnTo>
                <a:lnTo>
                  <a:pt x="867229" y="527702"/>
                </a:lnTo>
                <a:lnTo>
                  <a:pt x="832778" y="474624"/>
                </a:lnTo>
                <a:lnTo>
                  <a:pt x="714283" y="474624"/>
                </a:lnTo>
                <a:lnTo>
                  <a:pt x="686912" y="458534"/>
                </a:lnTo>
                <a:close/>
              </a:path>
              <a:path w="867410" h="528320">
                <a:moveTo>
                  <a:pt x="719092" y="403792"/>
                </a:moveTo>
                <a:lnTo>
                  <a:pt x="686912" y="458534"/>
                </a:lnTo>
                <a:lnTo>
                  <a:pt x="714283" y="474624"/>
                </a:lnTo>
                <a:lnTo>
                  <a:pt x="746464" y="419882"/>
                </a:lnTo>
                <a:lnTo>
                  <a:pt x="719092" y="403792"/>
                </a:lnTo>
                <a:close/>
              </a:path>
              <a:path w="867410" h="528320">
                <a:moveTo>
                  <a:pt x="751272" y="349050"/>
                </a:moveTo>
                <a:lnTo>
                  <a:pt x="719092" y="403792"/>
                </a:lnTo>
                <a:lnTo>
                  <a:pt x="746464" y="419882"/>
                </a:lnTo>
                <a:lnTo>
                  <a:pt x="714283" y="474624"/>
                </a:lnTo>
                <a:lnTo>
                  <a:pt x="832778" y="474624"/>
                </a:lnTo>
                <a:lnTo>
                  <a:pt x="751272" y="349050"/>
                </a:lnTo>
                <a:close/>
              </a:path>
              <a:path w="867410" h="528320">
                <a:moveTo>
                  <a:pt x="32179" y="0"/>
                </a:moveTo>
                <a:lnTo>
                  <a:pt x="0" y="54742"/>
                </a:lnTo>
                <a:lnTo>
                  <a:pt x="686912" y="458534"/>
                </a:lnTo>
                <a:lnTo>
                  <a:pt x="719092" y="403792"/>
                </a:lnTo>
                <a:lnTo>
                  <a:pt x="32179" y="0"/>
                </a:lnTo>
                <a:close/>
              </a:path>
            </a:pathLst>
          </a:custGeom>
          <a:solidFill>
            <a:srgbClr val="95297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4761230" cy="10102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Additions</a:t>
            </a:r>
            <a:r>
              <a:rPr dirty="0" spc="145"/>
              <a:t> </a:t>
            </a:r>
            <a:r>
              <a:rPr dirty="0"/>
              <a:t>To</a:t>
            </a:r>
            <a:r>
              <a:rPr dirty="0" spc="145"/>
              <a:t> </a:t>
            </a:r>
            <a:r>
              <a:rPr dirty="0" spc="-10"/>
              <a:t>Charts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1480820" algn="l"/>
                <a:tab pos="2542540" algn="l"/>
                <a:tab pos="3604895" algn="l"/>
              </a:tabLst>
            </a:pP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차트내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신규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기능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추가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952" y="3496055"/>
            <a:ext cx="917447" cy="91744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351920" y="2409949"/>
            <a:ext cx="396875" cy="3088640"/>
          </a:xfrm>
          <a:custGeom>
            <a:avLst/>
            <a:gdLst/>
            <a:ahLst/>
            <a:cxnLst/>
            <a:rect l="l" t="t" r="r" b="b"/>
            <a:pathLst>
              <a:path w="396875" h="3088640">
                <a:moveTo>
                  <a:pt x="396815" y="3088257"/>
                </a:moveTo>
                <a:lnTo>
                  <a:pt x="319585" y="3085658"/>
                </a:lnTo>
                <a:lnTo>
                  <a:pt x="256519" y="3078571"/>
                </a:lnTo>
                <a:lnTo>
                  <a:pt x="213999" y="3068060"/>
                </a:lnTo>
                <a:lnTo>
                  <a:pt x="198407" y="3055189"/>
                </a:lnTo>
                <a:lnTo>
                  <a:pt x="198407" y="1577196"/>
                </a:lnTo>
                <a:lnTo>
                  <a:pt x="182815" y="1564324"/>
                </a:lnTo>
                <a:lnTo>
                  <a:pt x="140295" y="1553813"/>
                </a:lnTo>
                <a:lnTo>
                  <a:pt x="77229" y="1546726"/>
                </a:lnTo>
                <a:lnTo>
                  <a:pt x="0" y="1544128"/>
                </a:lnTo>
                <a:lnTo>
                  <a:pt x="77229" y="1541529"/>
                </a:lnTo>
                <a:lnTo>
                  <a:pt x="140295" y="1534443"/>
                </a:lnTo>
                <a:lnTo>
                  <a:pt x="182815" y="1523932"/>
                </a:lnTo>
                <a:lnTo>
                  <a:pt x="198407" y="1511061"/>
                </a:lnTo>
                <a:lnTo>
                  <a:pt x="198407" y="33067"/>
                </a:lnTo>
                <a:lnTo>
                  <a:pt x="213999" y="20196"/>
                </a:lnTo>
                <a:lnTo>
                  <a:pt x="256519" y="9685"/>
                </a:lnTo>
                <a:lnTo>
                  <a:pt x="319585" y="2598"/>
                </a:lnTo>
                <a:lnTo>
                  <a:pt x="396815" y="0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959603" y="2385560"/>
            <a:ext cx="3465195" cy="313944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35255" rIns="0" bIns="0" rtlCol="0" vert="horz">
            <a:spAutoFit/>
          </a:bodyPr>
          <a:lstStyle/>
          <a:p>
            <a:pPr marL="182880" marR="1892935">
              <a:lnSpc>
                <a:spcPct val="153300"/>
              </a:lnSpc>
              <a:spcBef>
                <a:spcPts val="106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1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tree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newChart newChart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26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Chart.yaml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390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charts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templates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75"/>
              </a:spcBef>
              <a:tabLst>
                <a:tab pos="550545" algn="l"/>
              </a:tabLst>
            </a:pPr>
            <a:r>
              <a:rPr dirty="0" sz="1200" spc="-50">
                <a:solidFill>
                  <a:srgbClr val="00B050"/>
                </a:solidFill>
                <a:latin typeface="DejaVu Sans Mono"/>
                <a:cs typeface="DejaVu Sans Mono"/>
              </a:rPr>
              <a:t>│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	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NOTES.txt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tabLst>
                <a:tab pos="550545" algn="l"/>
              </a:tabLst>
            </a:pPr>
            <a:r>
              <a:rPr dirty="0" sz="1200" spc="-50">
                <a:solidFill>
                  <a:srgbClr val="00B050"/>
                </a:solidFill>
                <a:latin typeface="DejaVu Sans Mono"/>
                <a:cs typeface="DejaVu Sans Mono"/>
              </a:rPr>
              <a:t>│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	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_helpers.tpl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70"/>
              </a:spcBef>
              <a:tabLst>
                <a:tab pos="550545" algn="l"/>
              </a:tabLst>
            </a:pPr>
            <a:r>
              <a:rPr dirty="0" sz="1200" spc="-50">
                <a:solidFill>
                  <a:srgbClr val="00B050"/>
                </a:solidFill>
                <a:latin typeface="DejaVu Sans Mono"/>
                <a:cs typeface="DejaVu Sans Mono"/>
              </a:rPr>
              <a:t>│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	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deployment.yaml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390"/>
              </a:lnSpc>
              <a:tabLst>
                <a:tab pos="550545" algn="l"/>
              </a:tabLst>
            </a:pPr>
            <a:r>
              <a:rPr dirty="0" sz="1200" spc="-50">
                <a:solidFill>
                  <a:srgbClr val="00B050"/>
                </a:solidFill>
                <a:latin typeface="DejaVu Sans Mono"/>
                <a:cs typeface="DejaVu Sans Mono"/>
              </a:rPr>
              <a:t>│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	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ingress.yaml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tabLst>
                <a:tab pos="550545" algn="l"/>
              </a:tabLst>
            </a:pPr>
            <a:r>
              <a:rPr dirty="0" sz="1200" spc="-50">
                <a:solidFill>
                  <a:srgbClr val="00B050"/>
                </a:solidFill>
                <a:latin typeface="DejaVu Sans Mono"/>
                <a:cs typeface="DejaVu Sans Mono"/>
              </a:rPr>
              <a:t>│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	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service.yaml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75"/>
              </a:spcBef>
              <a:tabLst>
                <a:tab pos="550545" algn="l"/>
              </a:tabLst>
            </a:pPr>
            <a:r>
              <a:rPr dirty="0" sz="1200" spc="-50">
                <a:solidFill>
                  <a:srgbClr val="00B050"/>
                </a:solidFill>
                <a:latin typeface="DejaVu Sans Mono"/>
                <a:cs typeface="DejaVu Sans Mono"/>
              </a:rPr>
              <a:t>│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	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serviceaccount.yaml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tabLst>
                <a:tab pos="550545" algn="l"/>
              </a:tabLst>
            </a:pPr>
            <a:r>
              <a:rPr dirty="0" sz="1200" spc="-50">
                <a:solidFill>
                  <a:srgbClr val="00B050"/>
                </a:solidFill>
                <a:latin typeface="DejaVu Sans Mono"/>
                <a:cs typeface="DejaVu Sans Mono"/>
              </a:rPr>
              <a:t>│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	└──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tests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70"/>
              </a:spcBef>
              <a:tabLst>
                <a:tab pos="918844" algn="l"/>
              </a:tabLst>
            </a:pPr>
            <a:r>
              <a:rPr dirty="0" sz="1200" spc="-50">
                <a:solidFill>
                  <a:srgbClr val="00B050"/>
                </a:solidFill>
                <a:latin typeface="DejaVu Sans Mono"/>
                <a:cs typeface="DejaVu Sans Mono"/>
              </a:rPr>
              <a:t>│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	└──</a:t>
            </a:r>
            <a:r>
              <a:rPr dirty="0" sz="1200" spc="-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test-connection.yaml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└──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values.yaml</a:t>
            </a:r>
            <a:endParaRPr sz="1200">
              <a:latin typeface="DejaVu Sans Mono"/>
              <a:cs typeface="DejaVu Sans Mon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42000" y="2799915"/>
            <a:ext cx="5758815" cy="2308860"/>
          </a:xfrm>
          <a:prstGeom prst="rect">
            <a:avLst/>
          </a:prstGeom>
          <a:solidFill>
            <a:srgbClr val="D6DCE5"/>
          </a:solidFill>
          <a:ln w="41275">
            <a:solidFill>
              <a:srgbClr val="2F84A7"/>
            </a:solidFill>
          </a:ln>
        </p:spPr>
        <p:txBody>
          <a:bodyPr wrap="square" lIns="0" tIns="168910" rIns="0" bIns="0" rtlCol="0" vert="horz">
            <a:spAutoFit/>
          </a:bodyPr>
          <a:lstStyle/>
          <a:p>
            <a:pPr marL="182245" marR="3546475">
              <a:lnSpc>
                <a:spcPct val="100699"/>
              </a:lnSpc>
              <a:spcBef>
                <a:spcPts val="1330"/>
              </a:spcBef>
            </a:pPr>
            <a:r>
              <a:rPr dirty="0" sz="1400">
                <a:solidFill>
                  <a:srgbClr val="090E6F"/>
                </a:solidFill>
                <a:latin typeface="DejaVu Sans Mono"/>
                <a:cs typeface="DejaVu Sans Mono"/>
              </a:rPr>
              <a:t>apiVersion:</a:t>
            </a:r>
            <a:r>
              <a:rPr dirty="0" sz="1400" spc="-114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400" spc="-10">
                <a:solidFill>
                  <a:srgbClr val="2F84A7"/>
                </a:solidFill>
                <a:latin typeface="DejaVu Sans Mono"/>
                <a:cs typeface="DejaVu Sans Mono"/>
              </a:rPr>
              <a:t>apps/v1 </a:t>
            </a:r>
            <a:r>
              <a:rPr dirty="0" sz="1400">
                <a:solidFill>
                  <a:srgbClr val="090E6F"/>
                </a:solidFill>
                <a:latin typeface="DejaVu Sans Mono"/>
                <a:cs typeface="DejaVu Sans Mono"/>
              </a:rPr>
              <a:t>kind:</a:t>
            </a:r>
            <a:r>
              <a:rPr dirty="0" sz="1400" spc="-6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400" spc="-10">
                <a:solidFill>
                  <a:srgbClr val="2F84A7"/>
                </a:solidFill>
                <a:latin typeface="DejaVu Sans Mono"/>
                <a:cs typeface="DejaVu Sans Mono"/>
              </a:rPr>
              <a:t>Deployment </a:t>
            </a:r>
            <a:r>
              <a:rPr dirty="0" sz="1400" spc="-10">
                <a:solidFill>
                  <a:srgbClr val="090E6F"/>
                </a:solidFill>
                <a:latin typeface="DejaVu Sans Mono"/>
                <a:cs typeface="DejaVu Sans Mono"/>
              </a:rPr>
              <a:t>metadata:</a:t>
            </a:r>
            <a:endParaRPr sz="1400">
              <a:latin typeface="DejaVu Sans Mono"/>
              <a:cs typeface="DejaVu Sans Mono"/>
            </a:endParaRPr>
          </a:p>
          <a:p>
            <a:pPr marL="394970" marR="993775">
              <a:lnSpc>
                <a:spcPct val="101400"/>
              </a:lnSpc>
              <a:spcBef>
                <a:spcPts val="5"/>
              </a:spcBef>
            </a:pPr>
            <a:r>
              <a:rPr dirty="0" sz="1400">
                <a:solidFill>
                  <a:srgbClr val="090E6F"/>
                </a:solidFill>
                <a:latin typeface="DejaVu Sans Mono"/>
                <a:cs typeface="DejaVu Sans Mono"/>
              </a:rPr>
              <a:t>name:</a:t>
            </a:r>
            <a:r>
              <a:rPr dirty="0" sz="1400" spc="-7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{{</a:t>
            </a:r>
            <a:r>
              <a:rPr dirty="0" sz="1400" spc="-75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include</a:t>
            </a:r>
            <a:r>
              <a:rPr dirty="0" sz="1400" spc="-7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"newChart.fullname"</a:t>
            </a:r>
            <a:r>
              <a:rPr dirty="0" sz="1400" spc="-75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.</a:t>
            </a:r>
            <a:r>
              <a:rPr dirty="0" sz="1400" spc="-7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 spc="-25">
                <a:solidFill>
                  <a:srgbClr val="2F84A7"/>
                </a:solidFill>
                <a:latin typeface="DejaVu Sans Mono"/>
                <a:cs typeface="DejaVu Sans Mono"/>
              </a:rPr>
              <a:t>}} </a:t>
            </a:r>
            <a:r>
              <a:rPr dirty="0" sz="1400" spc="-10">
                <a:solidFill>
                  <a:srgbClr val="090E6F"/>
                </a:solidFill>
                <a:latin typeface="DejaVu Sans Mono"/>
                <a:cs typeface="DejaVu Sans Mono"/>
              </a:rPr>
              <a:t>labels:</a:t>
            </a:r>
            <a:endParaRPr sz="1400">
              <a:latin typeface="DejaVu Sans Mono"/>
              <a:cs typeface="DejaVu Sans Mono"/>
            </a:endParaRPr>
          </a:p>
          <a:p>
            <a:pPr marL="607695">
              <a:lnSpc>
                <a:spcPts val="1610"/>
              </a:lnSpc>
            </a:pP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{{-</a:t>
            </a:r>
            <a:r>
              <a:rPr dirty="0" sz="1400" spc="-6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include</a:t>
            </a:r>
            <a:r>
              <a:rPr dirty="0" sz="1400" spc="-6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"newChart.labels"</a:t>
            </a:r>
            <a:r>
              <a:rPr dirty="0" sz="1400" spc="-55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.</a:t>
            </a:r>
            <a:r>
              <a:rPr dirty="0" sz="1400" spc="-6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|</a:t>
            </a:r>
            <a:r>
              <a:rPr dirty="0" sz="1400" spc="-55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nindent</a:t>
            </a:r>
            <a:r>
              <a:rPr dirty="0" sz="1400" spc="-6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4</a:t>
            </a:r>
            <a:r>
              <a:rPr dirty="0" sz="1400" spc="-55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 spc="-25">
                <a:solidFill>
                  <a:srgbClr val="2F84A7"/>
                </a:solidFill>
                <a:latin typeface="DejaVu Sans Mono"/>
                <a:cs typeface="DejaVu Sans Mono"/>
              </a:rPr>
              <a:t>}}</a:t>
            </a:r>
            <a:endParaRPr sz="1400">
              <a:latin typeface="DejaVu Sans Mono"/>
              <a:cs typeface="DejaVu Sans Mono"/>
            </a:endParaRPr>
          </a:p>
          <a:p>
            <a:pPr marL="182245">
              <a:lnSpc>
                <a:spcPct val="100000"/>
              </a:lnSpc>
              <a:spcBef>
                <a:spcPts val="20"/>
              </a:spcBef>
            </a:pPr>
            <a:r>
              <a:rPr dirty="0" sz="1400" spc="-10">
                <a:solidFill>
                  <a:srgbClr val="090E6F"/>
                </a:solidFill>
                <a:latin typeface="DejaVu Sans Mono"/>
                <a:cs typeface="DejaVu Sans Mono"/>
              </a:rPr>
              <a:t>spec:</a:t>
            </a:r>
            <a:endParaRPr sz="1400">
              <a:latin typeface="DejaVu Sans Mono"/>
              <a:cs typeface="DejaVu Sans Mono"/>
            </a:endParaRPr>
          </a:p>
          <a:p>
            <a:pPr marL="394970">
              <a:lnSpc>
                <a:spcPct val="100000"/>
              </a:lnSpc>
            </a:pP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replicas:</a:t>
            </a:r>
            <a:r>
              <a:rPr dirty="0" sz="1400" spc="-11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{{</a:t>
            </a:r>
            <a:r>
              <a:rPr dirty="0" sz="1400" spc="-11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>
                <a:solidFill>
                  <a:srgbClr val="2F84A7"/>
                </a:solidFill>
                <a:latin typeface="DejaVu Sans Mono"/>
                <a:cs typeface="DejaVu Sans Mono"/>
              </a:rPr>
              <a:t>.Values.replicaCount</a:t>
            </a:r>
            <a:r>
              <a:rPr dirty="0" sz="1400" spc="-105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400" spc="-25">
                <a:solidFill>
                  <a:srgbClr val="2F84A7"/>
                </a:solidFill>
                <a:latin typeface="DejaVu Sans Mono"/>
                <a:cs typeface="DejaVu Sans Mono"/>
              </a:rPr>
              <a:t>}}</a:t>
            </a:r>
            <a:endParaRPr sz="1400">
              <a:latin typeface="DejaVu Sans Mono"/>
              <a:cs typeface="DejaVu Sans Mono"/>
            </a:endParaRPr>
          </a:p>
          <a:p>
            <a:pPr marL="182245">
              <a:lnSpc>
                <a:spcPct val="100000"/>
              </a:lnSpc>
              <a:spcBef>
                <a:spcPts val="25"/>
              </a:spcBef>
            </a:pPr>
            <a:r>
              <a:rPr dirty="0" sz="1400" spc="-25">
                <a:solidFill>
                  <a:srgbClr val="090E6F"/>
                </a:solidFill>
                <a:latin typeface="DejaVu Sans Mono"/>
                <a:cs typeface="DejaVu Sans Mono"/>
              </a:rPr>
              <a:t>...</a:t>
            </a:r>
            <a:endParaRPr sz="1400">
              <a:latin typeface="DejaVu Sans Mono"/>
              <a:cs typeface="DejaVu Sans Mon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5424458" y="3859349"/>
            <a:ext cx="417830" cy="190500"/>
          </a:xfrm>
          <a:custGeom>
            <a:avLst/>
            <a:gdLst/>
            <a:ahLst/>
            <a:cxnLst/>
            <a:rect l="l" t="t" r="r" b="b"/>
            <a:pathLst>
              <a:path w="417829" h="190500">
                <a:moveTo>
                  <a:pt x="226781" y="0"/>
                </a:moveTo>
                <a:lnTo>
                  <a:pt x="227303" y="190499"/>
                </a:lnTo>
                <a:lnTo>
                  <a:pt x="353439" y="126999"/>
                </a:lnTo>
                <a:lnTo>
                  <a:pt x="258879" y="126999"/>
                </a:lnTo>
                <a:lnTo>
                  <a:pt x="258791" y="94728"/>
                </a:lnTo>
                <a:lnTo>
                  <a:pt x="258705" y="63499"/>
                </a:lnTo>
                <a:lnTo>
                  <a:pt x="354654" y="63499"/>
                </a:lnTo>
                <a:lnTo>
                  <a:pt x="226781" y="0"/>
                </a:lnTo>
                <a:close/>
              </a:path>
              <a:path w="417829" h="190500">
                <a:moveTo>
                  <a:pt x="226955" y="63499"/>
                </a:moveTo>
                <a:lnTo>
                  <a:pt x="0" y="64121"/>
                </a:lnTo>
                <a:lnTo>
                  <a:pt x="83" y="94728"/>
                </a:lnTo>
                <a:lnTo>
                  <a:pt x="173" y="127621"/>
                </a:lnTo>
                <a:lnTo>
                  <a:pt x="227129" y="126999"/>
                </a:lnTo>
                <a:lnTo>
                  <a:pt x="227040" y="94728"/>
                </a:lnTo>
                <a:lnTo>
                  <a:pt x="226955" y="63499"/>
                </a:lnTo>
                <a:close/>
              </a:path>
              <a:path w="417829" h="190500">
                <a:moveTo>
                  <a:pt x="354654" y="63499"/>
                </a:moveTo>
                <a:lnTo>
                  <a:pt x="258705" y="63499"/>
                </a:lnTo>
                <a:lnTo>
                  <a:pt x="258791" y="94728"/>
                </a:lnTo>
                <a:lnTo>
                  <a:pt x="258879" y="126999"/>
                </a:lnTo>
                <a:lnTo>
                  <a:pt x="353439" y="126999"/>
                </a:lnTo>
                <a:lnTo>
                  <a:pt x="417541" y="94728"/>
                </a:lnTo>
                <a:lnTo>
                  <a:pt x="354654" y="63499"/>
                </a:lnTo>
                <a:close/>
              </a:path>
            </a:pathLst>
          </a:custGeom>
          <a:solidFill>
            <a:srgbClr val="95297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6007100" cy="1010285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25"/>
              </a:spcBef>
              <a:tabLst>
                <a:tab pos="2412365" algn="l"/>
              </a:tabLst>
            </a:pPr>
            <a:r>
              <a:rPr dirty="0"/>
              <a:t>apiVersion</a:t>
            </a:r>
            <a:r>
              <a:rPr dirty="0" spc="125"/>
              <a:t> </a:t>
            </a:r>
            <a:r>
              <a:rPr dirty="0"/>
              <a:t>v2</a:t>
            </a:r>
            <a:r>
              <a:rPr dirty="0" spc="130"/>
              <a:t> </a:t>
            </a:r>
            <a:r>
              <a:rPr dirty="0"/>
              <a:t>For</a:t>
            </a:r>
            <a:r>
              <a:rPr dirty="0" spc="130"/>
              <a:t> </a:t>
            </a:r>
            <a:r>
              <a:rPr dirty="0"/>
              <a:t>Helm</a:t>
            </a:r>
            <a:r>
              <a:rPr dirty="0" spc="135"/>
              <a:t> </a:t>
            </a:r>
            <a:r>
              <a:rPr dirty="0" spc="-50"/>
              <a:t>3 </a:t>
            </a:r>
            <a:r>
              <a:rPr dirty="0">
                <a:solidFill>
                  <a:srgbClr val="95297C"/>
                </a:solidFill>
              </a:rPr>
              <a:t>Helm</a:t>
            </a:r>
            <a:r>
              <a:rPr dirty="0" spc="85">
                <a:solidFill>
                  <a:srgbClr val="95297C"/>
                </a:solidFill>
              </a:rPr>
              <a:t> </a:t>
            </a:r>
            <a:r>
              <a:rPr dirty="0">
                <a:solidFill>
                  <a:srgbClr val="95297C"/>
                </a:solidFill>
              </a:rPr>
              <a:t>3</a:t>
            </a:r>
            <a:r>
              <a:rPr dirty="0" spc="85">
                <a:solidFill>
                  <a:srgbClr val="95297C"/>
                </a:solidFill>
              </a:rPr>
              <a:t> </a:t>
            </a:r>
            <a:r>
              <a:rPr dirty="0" spc="-50">
                <a:solidFill>
                  <a:srgbClr val="95297C"/>
                </a:solidFill>
                <a:latin typeface="Malgun Gothic"/>
                <a:cs typeface="Malgun Gothic"/>
              </a:rPr>
              <a:t>용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>
                <a:solidFill>
                  <a:srgbClr val="95297C"/>
                </a:solidFill>
              </a:rPr>
              <a:t>apiVersion</a:t>
            </a:r>
            <a:r>
              <a:rPr dirty="0" spc="225">
                <a:solidFill>
                  <a:srgbClr val="95297C"/>
                </a:solidFill>
              </a:rPr>
              <a:t> </a:t>
            </a:r>
            <a:r>
              <a:rPr dirty="0" spc="-25">
                <a:solidFill>
                  <a:srgbClr val="95297C"/>
                </a:solidFill>
              </a:rPr>
              <a:t>v2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81552" y="2342874"/>
            <a:ext cx="10029190" cy="1200785"/>
          </a:xfrm>
          <a:prstGeom prst="rect">
            <a:avLst/>
          </a:prstGeom>
          <a:solidFill>
            <a:srgbClr val="D6DCE5"/>
          </a:solidFill>
          <a:ln w="41275">
            <a:solidFill>
              <a:srgbClr val="2F84A7"/>
            </a:solidFill>
          </a:ln>
        </p:spPr>
        <p:txBody>
          <a:bodyPr wrap="square" lIns="0" tIns="162560" rIns="0" bIns="0" rtlCol="0" vert="horz">
            <a:spAutoFit/>
          </a:bodyPr>
          <a:lstStyle/>
          <a:p>
            <a:pPr marL="182880" marR="7904480">
              <a:lnSpc>
                <a:spcPct val="102200"/>
              </a:lnSpc>
              <a:spcBef>
                <a:spcPts val="1280"/>
              </a:spcBef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apiVersion</a:t>
            </a:r>
            <a:r>
              <a:rPr dirty="0" sz="1800">
                <a:latin typeface="DejaVu Sans Mono"/>
                <a:cs typeface="DejaVu Sans Mono"/>
              </a:rPr>
              <a:t>:</a:t>
            </a:r>
            <a:r>
              <a:rPr dirty="0" sz="1800" spc="-114">
                <a:latin typeface="DejaVu Sans Mono"/>
                <a:cs typeface="DejaVu Sans Mono"/>
              </a:rPr>
              <a:t> </a:t>
            </a:r>
            <a:r>
              <a:rPr dirty="0" sz="1800" spc="-25">
                <a:solidFill>
                  <a:srgbClr val="2F84A7"/>
                </a:solidFill>
                <a:latin typeface="DejaVu Sans Mono"/>
                <a:cs typeface="DejaVu Sans Mono"/>
              </a:rPr>
              <a:t>v2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name</a:t>
            </a:r>
            <a:r>
              <a:rPr dirty="0" sz="1800">
                <a:latin typeface="DejaVu Sans Mono"/>
                <a:cs typeface="DejaVu Sans Mono"/>
              </a:rPr>
              <a:t>:</a:t>
            </a:r>
            <a:r>
              <a:rPr dirty="0" sz="1800" spc="-50"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mychart</a:t>
            </a:r>
            <a:endParaRPr sz="1800">
              <a:latin typeface="DejaVu Sans Mono"/>
              <a:cs typeface="DejaVu Sans Mono"/>
            </a:endParaRPr>
          </a:p>
          <a:p>
            <a:pPr marL="182880">
              <a:lnSpc>
                <a:spcPts val="2110"/>
              </a:lnSpc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description</a:t>
            </a:r>
            <a:r>
              <a:rPr dirty="0" sz="1800">
                <a:latin typeface="DejaVu Sans Mono"/>
                <a:cs typeface="DejaVu Sans Mono"/>
              </a:rPr>
              <a:t>:</a:t>
            </a:r>
            <a:r>
              <a:rPr dirty="0" sz="1800" spc="-50"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A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Helm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chart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for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Kubernetes</a:t>
            </a:r>
            <a:endParaRPr sz="1800">
              <a:latin typeface="DejaVu Sans Mono"/>
              <a:cs typeface="DejaVu Sans Mon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60292" y="1867915"/>
            <a:ext cx="1358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"/>
                <a:cs typeface="Calibri"/>
              </a:rPr>
              <a:t>Chart.yaml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7503159" cy="10102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Dependencies</a:t>
            </a:r>
            <a:r>
              <a:rPr dirty="0" spc="145"/>
              <a:t> </a:t>
            </a:r>
            <a:r>
              <a:rPr dirty="0"/>
              <a:t>Now</a:t>
            </a:r>
            <a:r>
              <a:rPr dirty="0" spc="150"/>
              <a:t> </a:t>
            </a:r>
            <a:r>
              <a:rPr dirty="0"/>
              <a:t>In</a:t>
            </a:r>
            <a:r>
              <a:rPr dirty="0" spc="145"/>
              <a:t> </a:t>
            </a:r>
            <a:r>
              <a:rPr dirty="0" spc="-10"/>
              <a:t>Chart.yaml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4471670" algn="l"/>
              </a:tabLst>
            </a:pP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현재</a:t>
            </a:r>
            <a:r>
              <a:rPr dirty="0">
                <a:solidFill>
                  <a:srgbClr val="95297C"/>
                </a:solidFill>
              </a:rPr>
              <a:t>:</a:t>
            </a:r>
            <a:r>
              <a:rPr dirty="0" spc="55">
                <a:solidFill>
                  <a:srgbClr val="95297C"/>
                </a:solidFill>
              </a:rPr>
              <a:t> </a:t>
            </a:r>
            <a:r>
              <a:rPr dirty="0" spc="-10">
                <a:solidFill>
                  <a:srgbClr val="95297C"/>
                </a:solidFill>
              </a:rPr>
              <a:t>Chart.yaml</a:t>
            </a:r>
            <a:r>
              <a:rPr dirty="0" spc="-10">
                <a:solidFill>
                  <a:srgbClr val="95297C"/>
                </a:solidFill>
                <a:latin typeface="Malgun Gothic"/>
                <a:cs typeface="Malgun Gothic"/>
              </a:rPr>
              <a:t>의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종속성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81552" y="2342874"/>
            <a:ext cx="10029190" cy="3416935"/>
          </a:xfrm>
          <a:prstGeom prst="rect">
            <a:avLst/>
          </a:prstGeom>
          <a:solidFill>
            <a:srgbClr val="D6DCE5"/>
          </a:solidFill>
          <a:ln w="41275">
            <a:solidFill>
              <a:srgbClr val="2F84A7"/>
            </a:solidFill>
          </a:ln>
        </p:spPr>
        <p:txBody>
          <a:bodyPr wrap="square" lIns="0" tIns="162560" rIns="0" bIns="0" rtlCol="0" vert="horz">
            <a:spAutoFit/>
          </a:bodyPr>
          <a:lstStyle/>
          <a:p>
            <a:pPr marL="182880" marR="7904480">
              <a:lnSpc>
                <a:spcPct val="102200"/>
              </a:lnSpc>
              <a:spcBef>
                <a:spcPts val="1280"/>
              </a:spcBef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apiVersion</a:t>
            </a:r>
            <a:r>
              <a:rPr dirty="0" sz="1800">
                <a:latin typeface="DejaVu Sans Mono"/>
                <a:cs typeface="DejaVu Sans Mono"/>
              </a:rPr>
              <a:t>:</a:t>
            </a:r>
            <a:r>
              <a:rPr dirty="0" sz="1800" spc="-114">
                <a:latin typeface="DejaVu Sans Mono"/>
                <a:cs typeface="DejaVu Sans Mono"/>
              </a:rPr>
              <a:t> </a:t>
            </a:r>
            <a:r>
              <a:rPr dirty="0" sz="1800" spc="-25">
                <a:solidFill>
                  <a:srgbClr val="2F84A7"/>
                </a:solidFill>
                <a:latin typeface="DejaVu Sans Mono"/>
                <a:cs typeface="DejaVu Sans Mono"/>
              </a:rPr>
              <a:t>v2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name</a:t>
            </a:r>
            <a:r>
              <a:rPr dirty="0" sz="1800">
                <a:latin typeface="DejaVu Sans Mono"/>
                <a:cs typeface="DejaVu Sans Mono"/>
              </a:rPr>
              <a:t>:</a:t>
            </a:r>
            <a:r>
              <a:rPr dirty="0" sz="1800" spc="-50"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mychart</a:t>
            </a:r>
            <a:endParaRPr sz="1800">
              <a:latin typeface="DejaVu Sans Mono"/>
              <a:cs typeface="DejaVu Sans Mono"/>
            </a:endParaRPr>
          </a:p>
          <a:p>
            <a:pPr marL="182880">
              <a:lnSpc>
                <a:spcPts val="2110"/>
              </a:lnSpc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description</a:t>
            </a:r>
            <a:r>
              <a:rPr dirty="0" sz="1800">
                <a:latin typeface="DejaVu Sans Mono"/>
                <a:cs typeface="DejaVu Sans Mono"/>
              </a:rPr>
              <a:t>:</a:t>
            </a:r>
            <a:r>
              <a:rPr dirty="0" sz="1800" spc="-50"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A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Helm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chart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for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Kubernetes</a:t>
            </a:r>
            <a:endParaRPr sz="1800">
              <a:latin typeface="DejaVu Sans Mono"/>
              <a:cs typeface="DejaVu Sans Mono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800">
              <a:latin typeface="DejaVu Sans Mono"/>
              <a:cs typeface="DejaVu Sans Mono"/>
            </a:endParaRPr>
          </a:p>
          <a:p>
            <a:pPr marL="182880">
              <a:lnSpc>
                <a:spcPts val="2125"/>
              </a:lnSpc>
            </a:pPr>
            <a:r>
              <a:rPr dirty="0" sz="1800" spc="-10">
                <a:solidFill>
                  <a:srgbClr val="090E6F"/>
                </a:solidFill>
                <a:latin typeface="DejaVu Sans Mono"/>
                <a:cs typeface="DejaVu Sans Mono"/>
              </a:rPr>
              <a:t>dependencies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:</a:t>
            </a:r>
            <a:endParaRPr sz="1800">
              <a:latin typeface="DejaVu Sans Mono"/>
              <a:cs typeface="DejaVu Sans Mono"/>
            </a:endParaRPr>
          </a:p>
          <a:p>
            <a:pPr marL="182880">
              <a:lnSpc>
                <a:spcPts val="2125"/>
              </a:lnSpc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-</a:t>
            </a:r>
            <a:r>
              <a:rPr dirty="0" sz="1800" spc="-30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name:</a:t>
            </a:r>
            <a:r>
              <a:rPr dirty="0" sz="1800" spc="-30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mariadb</a:t>
            </a:r>
            <a:endParaRPr sz="1800">
              <a:latin typeface="DejaVu Sans Mono"/>
              <a:cs typeface="DejaVu Sans Mono"/>
            </a:endParaRPr>
          </a:p>
          <a:p>
            <a:pPr marL="458470">
              <a:lnSpc>
                <a:spcPts val="2135"/>
              </a:lnSpc>
              <a:spcBef>
                <a:spcPts val="50"/>
              </a:spcBef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version:</a:t>
            </a:r>
            <a:r>
              <a:rPr dirty="0" sz="1800" spc="-8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5.x.x</a:t>
            </a:r>
            <a:endParaRPr sz="1800">
              <a:latin typeface="DejaVu Sans Mono"/>
              <a:cs typeface="DejaVu Sans Mono"/>
            </a:endParaRPr>
          </a:p>
          <a:p>
            <a:pPr marL="458470" marR="1137285">
              <a:lnSpc>
                <a:spcPts val="2180"/>
              </a:lnSpc>
              <a:spcBef>
                <a:spcPts val="30"/>
              </a:spcBef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repository:</a:t>
            </a:r>
            <a:r>
              <a:rPr dirty="0" sz="1800" spc="5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20">
                <a:solidFill>
                  <a:srgbClr val="2F84A7"/>
                </a:solidFill>
                <a:latin typeface="DejaVu Sans Mono"/>
                <a:cs typeface="DejaVu Sans Mono"/>
              </a:rPr>
              <a:t>https://kubernetes-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charts.storage.googleapis.com/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condition:</a:t>
            </a:r>
            <a:r>
              <a:rPr dirty="0" sz="1800" spc="-10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mariadb.enabled</a:t>
            </a:r>
            <a:endParaRPr sz="1800">
              <a:latin typeface="DejaVu Sans Mono"/>
              <a:cs typeface="DejaVu Sans Mono"/>
            </a:endParaRPr>
          </a:p>
          <a:p>
            <a:pPr marL="458470">
              <a:lnSpc>
                <a:spcPts val="2100"/>
              </a:lnSpc>
            </a:pPr>
            <a:r>
              <a:rPr dirty="0" sz="1800" spc="-10">
                <a:solidFill>
                  <a:srgbClr val="090E6F"/>
                </a:solidFill>
                <a:latin typeface="DejaVu Sans Mono"/>
                <a:cs typeface="DejaVu Sans Mono"/>
              </a:rPr>
              <a:t>tags:</a:t>
            </a:r>
            <a:endParaRPr sz="1800">
              <a:latin typeface="DejaVu Sans Mono"/>
              <a:cs typeface="DejaVu Sans Mono"/>
            </a:endParaRPr>
          </a:p>
          <a:p>
            <a:pPr marL="734695">
              <a:lnSpc>
                <a:spcPts val="2125"/>
              </a:lnSpc>
            </a:pP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-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 database</a:t>
            </a:r>
            <a:endParaRPr sz="1800">
              <a:latin typeface="DejaVu Sans Mono"/>
              <a:cs typeface="DejaVu Sans Mon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60292" y="1867915"/>
            <a:ext cx="1358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"/>
                <a:cs typeface="Calibri"/>
              </a:rPr>
              <a:t>Chart.yaml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Library</a:t>
            </a:r>
            <a:r>
              <a:rPr dirty="0" spc="170"/>
              <a:t> </a:t>
            </a:r>
            <a:r>
              <a:rPr dirty="0" spc="-10"/>
              <a:t>Charts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81552" y="2342874"/>
            <a:ext cx="10029190" cy="1477645"/>
          </a:xfrm>
          <a:prstGeom prst="rect">
            <a:avLst/>
          </a:prstGeom>
          <a:solidFill>
            <a:srgbClr val="D6DCE5"/>
          </a:solidFill>
          <a:ln w="41275">
            <a:solidFill>
              <a:srgbClr val="2F84A7"/>
            </a:solidFill>
          </a:ln>
        </p:spPr>
        <p:txBody>
          <a:bodyPr wrap="square" lIns="0" tIns="162560" rIns="0" bIns="0" rtlCol="0" vert="horz">
            <a:spAutoFit/>
          </a:bodyPr>
          <a:lstStyle/>
          <a:p>
            <a:pPr marL="182880" marR="7904480">
              <a:lnSpc>
                <a:spcPct val="102200"/>
              </a:lnSpc>
              <a:spcBef>
                <a:spcPts val="1280"/>
              </a:spcBef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apiVersion</a:t>
            </a:r>
            <a:r>
              <a:rPr dirty="0" sz="1800">
                <a:latin typeface="DejaVu Sans Mono"/>
                <a:cs typeface="DejaVu Sans Mono"/>
              </a:rPr>
              <a:t>:</a:t>
            </a:r>
            <a:r>
              <a:rPr dirty="0" sz="1800" spc="-114">
                <a:latin typeface="DejaVu Sans Mono"/>
                <a:cs typeface="DejaVu Sans Mono"/>
              </a:rPr>
              <a:t> </a:t>
            </a:r>
            <a:r>
              <a:rPr dirty="0" sz="1800" spc="-25">
                <a:solidFill>
                  <a:srgbClr val="2F84A7"/>
                </a:solidFill>
                <a:latin typeface="DejaVu Sans Mono"/>
                <a:cs typeface="DejaVu Sans Mono"/>
              </a:rPr>
              <a:t>v2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name</a:t>
            </a:r>
            <a:r>
              <a:rPr dirty="0" sz="1800">
                <a:latin typeface="DejaVu Sans Mono"/>
                <a:cs typeface="DejaVu Sans Mono"/>
              </a:rPr>
              <a:t>:</a:t>
            </a:r>
            <a:r>
              <a:rPr dirty="0" sz="1800" spc="-50"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mychart</a:t>
            </a:r>
            <a:endParaRPr sz="1800">
              <a:latin typeface="DejaVu Sans Mono"/>
              <a:cs typeface="DejaVu Sans Mono"/>
            </a:endParaRPr>
          </a:p>
          <a:p>
            <a:pPr marL="182880" marR="4313555">
              <a:lnSpc>
                <a:spcPts val="2180"/>
              </a:lnSpc>
              <a:spcBef>
                <a:spcPts val="5"/>
              </a:spcBef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description</a:t>
            </a:r>
            <a:r>
              <a:rPr dirty="0" sz="1800">
                <a:latin typeface="DejaVu Sans Mono"/>
                <a:cs typeface="DejaVu Sans Mono"/>
              </a:rPr>
              <a:t>:</a:t>
            </a:r>
            <a:r>
              <a:rPr dirty="0" sz="1800" spc="-50"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A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Helm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chart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for</a:t>
            </a:r>
            <a:r>
              <a:rPr dirty="0" sz="1800" spc="-5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Kubernetes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type:</a:t>
            </a:r>
            <a:r>
              <a:rPr dirty="0" sz="1800" spc="-50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library</a:t>
            </a:r>
            <a:endParaRPr sz="1800">
              <a:latin typeface="DejaVu Sans Mono"/>
              <a:cs typeface="DejaVu Sans Mon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60292" y="1867915"/>
            <a:ext cx="1358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"/>
                <a:cs typeface="Calibri"/>
              </a:rPr>
              <a:t>Chart.yaml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25"/>
              </a:spcBef>
              <a:tabLst>
                <a:tab pos="2726690" algn="l"/>
                <a:tab pos="4195445" algn="l"/>
              </a:tabLst>
            </a:pPr>
            <a:r>
              <a:rPr dirty="0"/>
              <a:t>JSON</a:t>
            </a:r>
            <a:r>
              <a:rPr dirty="0" spc="135"/>
              <a:t> </a:t>
            </a:r>
            <a:r>
              <a:rPr dirty="0"/>
              <a:t>Schema</a:t>
            </a:r>
            <a:r>
              <a:rPr dirty="0" spc="135"/>
              <a:t> </a:t>
            </a:r>
            <a:r>
              <a:rPr dirty="0" spc="-10"/>
              <a:t>Validation </a:t>
            </a:r>
            <a:r>
              <a:rPr dirty="0">
                <a:solidFill>
                  <a:srgbClr val="95297C"/>
                </a:solidFill>
              </a:rPr>
              <a:t>JSON</a:t>
            </a:r>
            <a:r>
              <a:rPr dirty="0" spc="110">
                <a:solidFill>
                  <a:srgbClr val="95297C"/>
                </a:solidFill>
              </a:rPr>
              <a:t> 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스키마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유효성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검사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81552" y="2342874"/>
            <a:ext cx="10029190" cy="3416935"/>
          </a:xfrm>
          <a:prstGeom prst="rect">
            <a:avLst/>
          </a:prstGeom>
          <a:solidFill>
            <a:srgbClr val="D6DCE5"/>
          </a:solidFill>
          <a:ln w="41275">
            <a:solidFill>
              <a:srgbClr val="2F84A7"/>
            </a:solidFill>
          </a:ln>
        </p:spPr>
        <p:txBody>
          <a:bodyPr wrap="square" lIns="0" tIns="16827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325"/>
              </a:spcBef>
            </a:pPr>
            <a:r>
              <a:rPr dirty="0" sz="1800" spc="-50">
                <a:solidFill>
                  <a:srgbClr val="090E6F"/>
                </a:solidFill>
                <a:latin typeface="DejaVu Sans Mono"/>
                <a:cs typeface="DejaVu Sans Mono"/>
              </a:rPr>
              <a:t>{</a:t>
            </a:r>
            <a:endParaRPr sz="1800">
              <a:latin typeface="DejaVu Sans Mono"/>
              <a:cs typeface="DejaVu Sans Mono"/>
            </a:endParaRPr>
          </a:p>
          <a:p>
            <a:pPr marL="458470" marR="2241550">
              <a:lnSpc>
                <a:spcPts val="2110"/>
              </a:lnSpc>
              <a:spcBef>
                <a:spcPts val="160"/>
              </a:spcBef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"$schema":</a:t>
            </a:r>
            <a:r>
              <a:rPr dirty="0" sz="1800" spc="160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20">
                <a:solidFill>
                  <a:srgbClr val="2F84A7"/>
                </a:solidFill>
                <a:latin typeface="DejaVu Sans Mono"/>
                <a:cs typeface="DejaVu Sans Mono"/>
                <a:hlinkClick r:id="rId2"/>
              </a:rPr>
              <a:t>"http://json-schema.org/draft-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  <a:hlinkClick r:id="rId2"/>
              </a:rPr>
              <a:t>07/schema#",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"properties":</a:t>
            </a:r>
            <a:r>
              <a:rPr dirty="0" sz="1800" spc="-140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50">
                <a:solidFill>
                  <a:srgbClr val="090E6F"/>
                </a:solidFill>
                <a:latin typeface="DejaVu Sans Mono"/>
                <a:cs typeface="DejaVu Sans Mono"/>
              </a:rPr>
              <a:t>{</a:t>
            </a:r>
            <a:endParaRPr sz="1800">
              <a:latin typeface="DejaVu Sans Mono"/>
              <a:cs typeface="DejaVu Sans Mono"/>
            </a:endParaRPr>
          </a:p>
          <a:p>
            <a:pPr marL="734695">
              <a:lnSpc>
                <a:spcPts val="2125"/>
              </a:lnSpc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"addresses":</a:t>
            </a:r>
            <a:r>
              <a:rPr dirty="0" sz="1800" spc="-130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50">
                <a:solidFill>
                  <a:srgbClr val="090E6F"/>
                </a:solidFill>
                <a:latin typeface="DejaVu Sans Mono"/>
                <a:cs typeface="DejaVu Sans Mono"/>
              </a:rPr>
              <a:t>{</a:t>
            </a:r>
            <a:endParaRPr sz="1800">
              <a:latin typeface="DejaVu Sans Mono"/>
              <a:cs typeface="DejaVu Sans Mono"/>
            </a:endParaRPr>
          </a:p>
          <a:p>
            <a:pPr marL="1010919" marR="4175125">
              <a:lnSpc>
                <a:spcPts val="2090"/>
              </a:lnSpc>
              <a:spcBef>
                <a:spcPts val="180"/>
              </a:spcBef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"description":</a:t>
            </a:r>
            <a:r>
              <a:rPr dirty="0" sz="1800" spc="-7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"List</a:t>
            </a:r>
            <a:r>
              <a:rPr dirty="0" sz="1800" spc="-7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>
                <a:solidFill>
                  <a:srgbClr val="2F84A7"/>
                </a:solidFill>
                <a:latin typeface="DejaVu Sans Mono"/>
                <a:cs typeface="DejaVu Sans Mono"/>
              </a:rPr>
              <a:t>of</a:t>
            </a:r>
            <a:r>
              <a:rPr dirty="0" sz="1800" spc="-70">
                <a:solidFill>
                  <a:srgbClr val="2F84A7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addresses",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"items":</a:t>
            </a:r>
            <a:r>
              <a:rPr dirty="0" sz="1800" spc="-8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50">
                <a:solidFill>
                  <a:srgbClr val="090E6F"/>
                </a:solidFill>
                <a:latin typeface="DejaVu Sans Mono"/>
                <a:cs typeface="DejaVu Sans Mono"/>
              </a:rPr>
              <a:t>{</a:t>
            </a:r>
            <a:endParaRPr sz="1800">
              <a:latin typeface="DejaVu Sans Mono"/>
              <a:cs typeface="DejaVu Sans Mono"/>
            </a:endParaRPr>
          </a:p>
          <a:p>
            <a:pPr marL="1563370" marR="6661784" indent="-276225">
              <a:lnSpc>
                <a:spcPts val="2110"/>
              </a:lnSpc>
              <a:spcBef>
                <a:spcPts val="100"/>
              </a:spcBef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"properties":</a:t>
            </a:r>
            <a:r>
              <a:rPr dirty="0" sz="1800" spc="-140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50">
                <a:solidFill>
                  <a:srgbClr val="090E6F"/>
                </a:solidFill>
                <a:latin typeface="DejaVu Sans Mono"/>
                <a:cs typeface="DejaVu Sans Mono"/>
              </a:rPr>
              <a:t>{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"city":</a:t>
            </a:r>
            <a:r>
              <a:rPr dirty="0" sz="1800" spc="-7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50">
                <a:solidFill>
                  <a:srgbClr val="090E6F"/>
                </a:solidFill>
                <a:latin typeface="DejaVu Sans Mono"/>
                <a:cs typeface="DejaVu Sans Mono"/>
              </a:rPr>
              <a:t>{</a:t>
            </a:r>
            <a:endParaRPr sz="1800">
              <a:latin typeface="DejaVu Sans Mono"/>
              <a:cs typeface="DejaVu Sans Mono"/>
            </a:endParaRPr>
          </a:p>
          <a:p>
            <a:pPr marL="1839595">
              <a:lnSpc>
                <a:spcPts val="2125"/>
              </a:lnSpc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"type":</a:t>
            </a:r>
            <a:r>
              <a:rPr dirty="0" sz="1800" spc="-7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"string"</a:t>
            </a:r>
            <a:endParaRPr sz="1800">
              <a:latin typeface="DejaVu Sans Mono"/>
              <a:cs typeface="DejaVu Sans Mono"/>
            </a:endParaRPr>
          </a:p>
          <a:p>
            <a:pPr marL="1563370">
              <a:lnSpc>
                <a:spcPts val="2125"/>
              </a:lnSpc>
              <a:spcBef>
                <a:spcPts val="45"/>
              </a:spcBef>
            </a:pPr>
            <a:r>
              <a:rPr dirty="0" sz="1800" spc="-25">
                <a:solidFill>
                  <a:srgbClr val="090E6F"/>
                </a:solidFill>
                <a:latin typeface="DejaVu Sans Mono"/>
                <a:cs typeface="DejaVu Sans Mono"/>
              </a:rPr>
              <a:t>},</a:t>
            </a:r>
            <a:endParaRPr sz="1800">
              <a:latin typeface="DejaVu Sans Mono"/>
              <a:cs typeface="DejaVu Sans Mono"/>
            </a:endParaRPr>
          </a:p>
          <a:p>
            <a:pPr marL="182880">
              <a:lnSpc>
                <a:spcPts val="2125"/>
              </a:lnSpc>
            </a:pPr>
            <a:r>
              <a:rPr dirty="0" sz="1800" spc="-25">
                <a:solidFill>
                  <a:srgbClr val="090E6F"/>
                </a:solidFill>
                <a:latin typeface="DejaVu Sans Mono"/>
                <a:cs typeface="DejaVu Sans Mono"/>
              </a:rPr>
              <a:t>...</a:t>
            </a:r>
            <a:endParaRPr sz="1800">
              <a:latin typeface="DejaVu Sans Mono"/>
              <a:cs typeface="DejaVu Sans Mon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60292" y="1867915"/>
            <a:ext cx="24225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"/>
                <a:cs typeface="Calibri"/>
              </a:rPr>
              <a:t>values.schema.json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042926" y="1099311"/>
            <a:ext cx="45402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40">
                <a:solidFill>
                  <a:srgbClr val="3B7EBA"/>
                </a:solidFill>
                <a:latin typeface="Arial"/>
                <a:cs typeface="Arial"/>
              </a:rPr>
              <a:t>Date</a:t>
            </a:r>
            <a:r>
              <a:rPr dirty="0" sz="700" spc="-30">
                <a:solidFill>
                  <a:srgbClr val="3B7EBA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347BB6"/>
                </a:solidFill>
                <a:latin typeface="Arial"/>
                <a:cs typeface="Arial"/>
              </a:rPr>
              <a:t>&amp;</a:t>
            </a:r>
            <a:r>
              <a:rPr dirty="0" sz="700" spc="-35">
                <a:solidFill>
                  <a:srgbClr val="347BB6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6EA0CC"/>
                </a:solidFill>
                <a:latin typeface="Arial"/>
                <a:cs typeface="Arial"/>
              </a:rPr>
              <a:t>time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58920" y="1099311"/>
            <a:ext cx="1024255" cy="367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5620" algn="l"/>
              </a:tabLst>
            </a:pPr>
            <a:r>
              <a:rPr dirty="0" sz="700" spc="-10">
                <a:solidFill>
                  <a:srgbClr val="79A8CF"/>
                </a:solidFill>
                <a:latin typeface="Arial"/>
                <a:cs typeface="Arial"/>
              </a:rPr>
              <a:t>Ordering</a:t>
            </a:r>
            <a:r>
              <a:rPr dirty="0" sz="700">
                <a:solidFill>
                  <a:srgbClr val="79A8CF"/>
                </a:solidFill>
                <a:latin typeface="Arial"/>
                <a:cs typeface="Arial"/>
              </a:rPr>
              <a:t>	</a:t>
            </a:r>
            <a:r>
              <a:rPr dirty="0" sz="700" spc="-10">
                <a:solidFill>
                  <a:srgbClr val="87AFD4"/>
                </a:solidFill>
                <a:latin typeface="Arial"/>
                <a:cs typeface="Arial"/>
              </a:rPr>
              <a:t>References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7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</a:pPr>
            <a:r>
              <a:rPr dirty="0" sz="700" spc="-30">
                <a:solidFill>
                  <a:srgbClr val="70A1CC"/>
                </a:solidFill>
                <a:latin typeface="Arial"/>
                <a:cs typeface="Arial"/>
              </a:rPr>
              <a:t>Property</a:t>
            </a:r>
            <a:r>
              <a:rPr dirty="0" sz="700" spc="15">
                <a:solidFill>
                  <a:srgbClr val="70A1CC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93B8D8"/>
                </a:solidFill>
                <a:latin typeface="Arial"/>
                <a:cs typeface="Arial"/>
              </a:rPr>
              <a:t>dependencies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53914" y="1099311"/>
            <a:ext cx="1021715" cy="367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2590">
              <a:lnSpc>
                <a:spcPct val="100000"/>
              </a:lnSpc>
              <a:spcBef>
                <a:spcPts val="100"/>
              </a:spcBef>
              <a:tabLst>
                <a:tab pos="808355" algn="l"/>
              </a:tabLst>
            </a:pPr>
            <a:r>
              <a:rPr dirty="0" sz="700" spc="-10">
                <a:solidFill>
                  <a:srgbClr val="3F80BA"/>
                </a:solidFill>
                <a:latin typeface="Arial"/>
                <a:cs typeface="Arial"/>
              </a:rPr>
              <a:t>Errors</a:t>
            </a:r>
            <a:r>
              <a:rPr dirty="0" sz="700">
                <a:solidFill>
                  <a:srgbClr val="3F80BA"/>
                </a:solidFill>
                <a:latin typeface="Arial"/>
                <a:cs typeface="Arial"/>
              </a:rPr>
              <a:t>	</a:t>
            </a:r>
            <a:r>
              <a:rPr dirty="0" sz="700" spc="-40">
                <a:solidFill>
                  <a:srgbClr val="4B89BD"/>
                </a:solidFill>
                <a:latin typeface="Arial"/>
                <a:cs typeface="Arial"/>
              </a:rPr>
              <a:t>Large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40">
                <a:solidFill>
                  <a:srgbClr val="89B1D4"/>
                </a:solidFill>
                <a:latin typeface="Arial"/>
                <a:cs typeface="Arial"/>
              </a:rPr>
              <a:t>Schema</a:t>
            </a:r>
            <a:r>
              <a:rPr dirty="0" sz="700">
                <a:solidFill>
                  <a:srgbClr val="89B1D4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95B8D8"/>
                </a:solidFill>
                <a:latin typeface="Arial"/>
                <a:cs typeface="Arial"/>
              </a:rPr>
              <a:t>dependencies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82267" y="1334008"/>
            <a:ext cx="7835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30">
                <a:solidFill>
                  <a:srgbClr val="3D80BA"/>
                </a:solidFill>
                <a:latin typeface="Arial"/>
                <a:cs typeface="Arial"/>
              </a:rPr>
              <a:t>Additional</a:t>
            </a:r>
            <a:r>
              <a:rPr dirty="0" sz="700" spc="50">
                <a:solidFill>
                  <a:srgbClr val="3D80BA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6B9ECA"/>
                </a:solidFill>
                <a:latin typeface="Arial"/>
                <a:cs typeface="Arial"/>
              </a:rPr>
              <a:t>Properties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658981" y="1099311"/>
            <a:ext cx="895985" cy="367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4355" algn="l"/>
              </a:tabLst>
            </a:pPr>
            <a:r>
              <a:rPr dirty="0" sz="700" spc="-10">
                <a:solidFill>
                  <a:srgbClr val="3179B5"/>
                </a:solidFill>
                <a:latin typeface="Arial"/>
                <a:cs typeface="Arial"/>
              </a:rPr>
              <a:t>Validation</a:t>
            </a:r>
            <a:r>
              <a:rPr dirty="0" sz="700">
                <a:solidFill>
                  <a:srgbClr val="3179B5"/>
                </a:solidFill>
                <a:latin typeface="Arial"/>
                <a:cs typeface="Arial"/>
              </a:rPr>
              <a:t>	</a:t>
            </a:r>
            <a:r>
              <a:rPr dirty="0" sz="700" spc="-10">
                <a:solidFill>
                  <a:srgbClr val="7CA8D1"/>
                </a:solidFill>
                <a:latin typeface="Arial"/>
                <a:cs typeface="Arial"/>
              </a:rPr>
              <a:t>Files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700">
              <a:latin typeface="Arial"/>
              <a:cs typeface="Arial"/>
            </a:endParaRPr>
          </a:p>
          <a:p>
            <a:pPr marL="189865">
              <a:lnSpc>
                <a:spcPct val="100000"/>
              </a:lnSpc>
              <a:tabLst>
                <a:tab pos="624205" algn="l"/>
              </a:tabLst>
            </a:pPr>
            <a:r>
              <a:rPr dirty="0" sz="700" spc="-45">
                <a:solidFill>
                  <a:srgbClr val="80ACD3"/>
                </a:solidFill>
                <a:latin typeface="Arial"/>
                <a:cs typeface="Arial"/>
              </a:rPr>
              <a:t>Any</a:t>
            </a:r>
            <a:r>
              <a:rPr dirty="0" sz="700" spc="-5">
                <a:solidFill>
                  <a:srgbClr val="80ACD3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679CC8"/>
                </a:solidFill>
                <a:latin typeface="Arial"/>
                <a:cs typeface="Arial"/>
              </a:rPr>
              <a:t>Of</a:t>
            </a:r>
            <a:r>
              <a:rPr dirty="0" sz="700">
                <a:solidFill>
                  <a:srgbClr val="679CC8"/>
                </a:solidFill>
                <a:latin typeface="Arial"/>
                <a:cs typeface="Arial"/>
              </a:rPr>
              <a:t>	</a:t>
            </a:r>
            <a:r>
              <a:rPr dirty="0" sz="700" spc="-50">
                <a:solidFill>
                  <a:srgbClr val="8AB1D4"/>
                </a:solidFill>
                <a:latin typeface="Arial"/>
                <a:cs typeface="Arial"/>
              </a:rPr>
              <a:t>One</a:t>
            </a:r>
            <a:r>
              <a:rPr dirty="0" sz="700">
                <a:solidFill>
                  <a:srgbClr val="8AB1D4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6D9ECC"/>
                </a:solidFill>
                <a:latin typeface="Arial"/>
                <a:cs typeface="Arial"/>
              </a:rPr>
              <a:t>Of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43457" y="721867"/>
            <a:ext cx="2399030" cy="97916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0">
                <a:solidFill>
                  <a:srgbClr val="313131"/>
                </a:solidFill>
                <a:latin typeface="Arial"/>
                <a:cs typeface="Arial"/>
              </a:rPr>
              <a:t>react-jsonschema-</a:t>
            </a:r>
            <a:r>
              <a:rPr dirty="0" sz="1800" spc="-20" b="0">
                <a:solidFill>
                  <a:srgbClr val="313131"/>
                </a:solidFill>
                <a:latin typeface="Arial"/>
                <a:cs typeface="Arial"/>
              </a:rPr>
              <a:t>form</a:t>
            </a:r>
            <a:endParaRPr sz="1800">
              <a:latin typeface="Arial"/>
              <a:cs typeface="Arial"/>
            </a:endParaRPr>
          </a:p>
          <a:p>
            <a:pPr marL="111760" marR="5080" indent="429895">
              <a:lnSpc>
                <a:spcPts val="1850"/>
              </a:lnSpc>
              <a:tabLst>
                <a:tab pos="657225" algn="l"/>
                <a:tab pos="1141730" algn="l"/>
                <a:tab pos="1217295" algn="l"/>
                <a:tab pos="1413510" algn="l"/>
                <a:tab pos="1809114" algn="l"/>
                <a:tab pos="1937385" algn="l"/>
                <a:tab pos="1962785" algn="l"/>
              </a:tabLst>
            </a:pPr>
            <a:r>
              <a:rPr dirty="0" sz="700" spc="-10" b="0">
                <a:solidFill>
                  <a:srgbClr val="3179B5"/>
                </a:solidFill>
                <a:latin typeface="Arial"/>
                <a:cs typeface="Arial"/>
              </a:rPr>
              <a:t>Nested</a:t>
            </a:r>
            <a:r>
              <a:rPr dirty="0" sz="700" b="0">
                <a:solidFill>
                  <a:srgbClr val="3179B5"/>
                </a:solidFill>
                <a:latin typeface="Arial"/>
                <a:cs typeface="Arial"/>
              </a:rPr>
              <a:t>			</a:t>
            </a:r>
            <a:r>
              <a:rPr dirty="0" sz="700" spc="-10" b="0">
                <a:solidFill>
                  <a:srgbClr val="387CB8"/>
                </a:solidFill>
                <a:latin typeface="Arial"/>
                <a:cs typeface="Arial"/>
              </a:rPr>
              <a:t>Numbers</a:t>
            </a:r>
            <a:r>
              <a:rPr dirty="0" sz="700" b="0">
                <a:solidFill>
                  <a:srgbClr val="387CB8"/>
                </a:solidFill>
                <a:latin typeface="Arial"/>
                <a:cs typeface="Arial"/>
              </a:rPr>
              <a:t>		</a:t>
            </a:r>
            <a:r>
              <a:rPr dirty="0" sz="700" spc="-10" b="0">
                <a:solidFill>
                  <a:srgbClr val="367BB8"/>
                </a:solidFill>
                <a:latin typeface="Arial"/>
                <a:cs typeface="Arial"/>
              </a:rPr>
              <a:t>Widgets</a:t>
            </a:r>
            <a:r>
              <a:rPr dirty="0" sz="700" spc="500" b="0">
                <a:solidFill>
                  <a:srgbClr val="367BB8"/>
                </a:solidFill>
                <a:latin typeface="Arial"/>
                <a:cs typeface="Arial"/>
              </a:rPr>
              <a:t> </a:t>
            </a:r>
            <a:r>
              <a:rPr dirty="0" sz="700" spc="-10" b="0">
                <a:solidFill>
                  <a:srgbClr val="79A7CF"/>
                </a:solidFill>
                <a:latin typeface="Arial"/>
                <a:cs typeface="Arial"/>
              </a:rPr>
              <a:t>Single</a:t>
            </a:r>
            <a:r>
              <a:rPr dirty="0" sz="700" b="0">
                <a:solidFill>
                  <a:srgbClr val="79A7CF"/>
                </a:solidFill>
                <a:latin typeface="Arial"/>
                <a:cs typeface="Arial"/>
              </a:rPr>
              <a:t>			</a:t>
            </a:r>
            <a:r>
              <a:rPr dirty="0" sz="700" spc="-25" b="0">
                <a:solidFill>
                  <a:srgbClr val="89B1D4"/>
                </a:solidFill>
                <a:latin typeface="Arial"/>
                <a:cs typeface="Arial"/>
              </a:rPr>
              <a:t>Custom</a:t>
            </a:r>
            <a:r>
              <a:rPr dirty="0" sz="700" spc="-10" b="0">
                <a:solidFill>
                  <a:srgbClr val="89B1D4"/>
                </a:solidFill>
                <a:latin typeface="Arial"/>
                <a:cs typeface="Arial"/>
              </a:rPr>
              <a:t> </a:t>
            </a:r>
            <a:r>
              <a:rPr dirty="0" sz="700" spc="-10" b="0">
                <a:solidFill>
                  <a:srgbClr val="77A5CF"/>
                </a:solidFill>
                <a:latin typeface="Arial"/>
                <a:cs typeface="Arial"/>
              </a:rPr>
              <a:t>Object</a:t>
            </a:r>
            <a:r>
              <a:rPr dirty="0" sz="700" b="0">
                <a:solidFill>
                  <a:srgbClr val="77A5CF"/>
                </a:solidFill>
                <a:latin typeface="Arial"/>
                <a:cs typeface="Arial"/>
              </a:rPr>
              <a:t>			</a:t>
            </a:r>
            <a:r>
              <a:rPr dirty="0" sz="700" spc="-35" b="0">
                <a:solidFill>
                  <a:srgbClr val="5D95C6"/>
                </a:solidFill>
                <a:latin typeface="Arial"/>
                <a:cs typeface="Arial"/>
              </a:rPr>
              <a:t>Alternatives</a:t>
            </a:r>
            <a:r>
              <a:rPr dirty="0" sz="700" spc="500" b="0">
                <a:solidFill>
                  <a:srgbClr val="5D95C6"/>
                </a:solidFill>
                <a:latin typeface="Arial"/>
                <a:cs typeface="Arial"/>
              </a:rPr>
              <a:t> </a:t>
            </a:r>
            <a:r>
              <a:rPr dirty="0" sz="700" spc="-20" b="0">
                <a:solidFill>
                  <a:srgbClr val="3D80BA"/>
                </a:solidFill>
                <a:latin typeface="Arial"/>
                <a:cs typeface="Arial"/>
              </a:rPr>
              <a:t>Null</a:t>
            </a:r>
            <a:r>
              <a:rPr dirty="0" sz="700" spc="-5" b="0">
                <a:solidFill>
                  <a:srgbClr val="3D80BA"/>
                </a:solidFill>
                <a:latin typeface="Arial"/>
                <a:cs typeface="Arial"/>
              </a:rPr>
              <a:t> </a:t>
            </a:r>
            <a:r>
              <a:rPr dirty="0" sz="700" spc="-10" b="0">
                <a:solidFill>
                  <a:srgbClr val="3379B6"/>
                </a:solidFill>
                <a:latin typeface="Arial"/>
                <a:cs typeface="Arial"/>
              </a:rPr>
              <a:t>fields</a:t>
            </a:r>
            <a:r>
              <a:rPr dirty="0" sz="700" b="0">
                <a:solidFill>
                  <a:srgbClr val="3379B6"/>
                </a:solidFill>
                <a:latin typeface="Arial"/>
                <a:cs typeface="Arial"/>
              </a:rPr>
              <a:t>	</a:t>
            </a:r>
            <a:r>
              <a:rPr dirty="0" sz="700" spc="-10" b="0">
                <a:solidFill>
                  <a:srgbClr val="3D80BA"/>
                </a:solidFill>
                <a:latin typeface="Arial"/>
                <a:cs typeface="Arial"/>
              </a:rPr>
              <a:t>Nullable</a:t>
            </a:r>
            <a:r>
              <a:rPr dirty="0" sz="700" b="0">
                <a:solidFill>
                  <a:srgbClr val="3D80BA"/>
                </a:solidFill>
                <a:latin typeface="Arial"/>
                <a:cs typeface="Arial"/>
              </a:rPr>
              <a:t>	</a:t>
            </a:r>
            <a:r>
              <a:rPr dirty="0" sz="700" spc="-10" b="0">
                <a:solidFill>
                  <a:srgbClr val="2D75B3"/>
                </a:solidFill>
                <a:latin typeface="Arial"/>
                <a:cs typeface="Arial"/>
              </a:rPr>
              <a:t>ErrorSchema</a:t>
            </a:r>
            <a:r>
              <a:rPr dirty="0" sz="700" b="0">
                <a:solidFill>
                  <a:srgbClr val="2D75B3"/>
                </a:solidFill>
                <a:latin typeface="Arial"/>
                <a:cs typeface="Arial"/>
              </a:rPr>
              <a:t>	</a:t>
            </a:r>
            <a:r>
              <a:rPr dirty="0" sz="700" spc="-10" b="0">
                <a:solidFill>
                  <a:srgbClr val="2B75B3"/>
                </a:solidFill>
                <a:latin typeface="Arial"/>
                <a:cs typeface="Arial"/>
              </a:rPr>
              <a:t>Defaults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30174" y="2248408"/>
            <a:ext cx="53784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40">
                <a:solidFill>
                  <a:srgbClr val="2B2B2B"/>
                </a:solidFill>
                <a:latin typeface="Arial"/>
                <a:cs typeface="Arial"/>
              </a:rPr>
              <a:t>JSONSchema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28660" y="4964176"/>
            <a:ext cx="4025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30">
                <a:solidFill>
                  <a:srgbClr val="282828"/>
                </a:solidFill>
                <a:latin typeface="Arial"/>
                <a:cs typeface="Arial"/>
              </a:rPr>
              <a:t>UlSchema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54290" y="4964176"/>
            <a:ext cx="3619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30">
                <a:solidFill>
                  <a:srgbClr val="2F2F2F"/>
                </a:solidFill>
                <a:latin typeface="Arial"/>
                <a:cs typeface="Arial"/>
              </a:rPr>
              <a:t>formData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807782" y="1099311"/>
            <a:ext cx="66611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3B89FD"/>
                </a:solidFill>
                <a:latin typeface="Arial"/>
                <a:cs typeface="Arial"/>
              </a:rPr>
              <a:t>0</a:t>
            </a:r>
            <a:r>
              <a:rPr dirty="0" sz="700" spc="340">
                <a:solidFill>
                  <a:srgbClr val="3B89FD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282828"/>
                </a:solidFill>
                <a:latin typeface="Arial"/>
                <a:cs typeface="Arial"/>
              </a:rPr>
              <a:t>Live</a:t>
            </a:r>
            <a:r>
              <a:rPr dirty="0" sz="700" spc="-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242424"/>
                </a:solidFill>
                <a:latin typeface="Arial"/>
                <a:cs typeface="Arial"/>
              </a:rPr>
              <a:t>validation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926120" y="1510791"/>
            <a:ext cx="59626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262626"/>
                </a:solidFill>
                <a:latin typeface="Arial"/>
                <a:cs typeface="Arial"/>
              </a:rPr>
              <a:t>Omit</a:t>
            </a:r>
            <a:r>
              <a:rPr dirty="0" sz="700" spc="-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232323"/>
                </a:solidFill>
                <a:latin typeface="Arial"/>
                <a:cs typeface="Arial"/>
              </a:rPr>
              <a:t>extra</a:t>
            </a:r>
            <a:r>
              <a:rPr dirty="0" sz="700" spc="-1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232323"/>
                </a:solidFill>
                <a:latin typeface="Arial"/>
                <a:cs typeface="Arial"/>
              </a:rPr>
              <a:t>data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926946" y="1715008"/>
            <a:ext cx="35941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2A2A2A"/>
                </a:solidFill>
                <a:latin typeface="Arial"/>
                <a:cs typeface="Arial"/>
              </a:rPr>
              <a:t>Live </a:t>
            </a:r>
            <a:r>
              <a:rPr dirty="0" sz="700" spc="-20">
                <a:solidFill>
                  <a:srgbClr val="2D2D2D"/>
                </a:solidFill>
                <a:latin typeface="Arial"/>
                <a:cs typeface="Arial"/>
              </a:rPr>
              <a:t>omit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976547" y="2198370"/>
            <a:ext cx="104203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2A2A2A"/>
                </a:solidFill>
                <a:latin typeface="Arial"/>
                <a:cs typeface="Arial"/>
              </a:rPr>
              <a:t>A</a:t>
            </a:r>
            <a:r>
              <a:rPr dirty="0" sz="950" spc="-1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A2A2A"/>
                </a:solidFill>
                <a:latin typeface="Arial"/>
                <a:cs typeface="Arial"/>
              </a:rPr>
              <a:t>registration</a:t>
            </a:r>
            <a:r>
              <a:rPr dirty="0" sz="950" spc="8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2F2F2F"/>
                </a:solidFill>
                <a:latin typeface="Arial"/>
                <a:cs typeface="Arial"/>
              </a:rPr>
              <a:t>form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976499" y="2483103"/>
            <a:ext cx="88328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5">
                <a:solidFill>
                  <a:srgbClr val="2A2A2A"/>
                </a:solidFill>
                <a:latin typeface="Arial"/>
                <a:cs typeface="Arial"/>
              </a:rPr>
              <a:t>A</a:t>
            </a:r>
            <a:r>
              <a:rPr dirty="0" sz="700" spc="-4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2A2A2A"/>
                </a:solidFill>
                <a:latin typeface="Arial"/>
                <a:cs typeface="Arial"/>
              </a:rPr>
              <a:t>simple</a:t>
            </a:r>
            <a:r>
              <a:rPr dirty="0" sz="70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2D2D2D"/>
                </a:solidFill>
                <a:latin typeface="Arial"/>
                <a:cs typeface="Arial"/>
              </a:rPr>
              <a:t>form</a:t>
            </a:r>
            <a:r>
              <a:rPr dirty="0" sz="700" spc="-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2A2A2A"/>
                </a:solidFill>
                <a:latin typeface="Arial"/>
                <a:cs typeface="Arial"/>
              </a:rPr>
              <a:t>example.</a:t>
            </a:r>
            <a:endParaRPr sz="7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975970" y="3092703"/>
            <a:ext cx="46482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2B2B2B"/>
                </a:solidFill>
                <a:latin typeface="Arial"/>
                <a:cs typeface="Arial"/>
              </a:rPr>
              <a:t>Last</a:t>
            </a:r>
            <a:r>
              <a:rPr dirty="0" sz="700" spc="-15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282828"/>
                </a:solidFill>
                <a:latin typeface="Arial"/>
                <a:cs typeface="Arial"/>
              </a:rPr>
              <a:t>name”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973989" y="3674871"/>
            <a:ext cx="542290" cy="348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35">
                <a:solidFill>
                  <a:srgbClr val="212121"/>
                </a:solidFill>
                <a:latin typeface="Arial"/>
                <a:cs typeface="Arial"/>
              </a:rPr>
              <a:t>(earthian</a:t>
            </a:r>
            <a:r>
              <a:rPr dirty="0" sz="700" spc="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700" spc="-35">
                <a:solidFill>
                  <a:srgbClr val="212121"/>
                </a:solidFill>
                <a:latin typeface="Arial"/>
                <a:cs typeface="Arial"/>
              </a:rPr>
              <a:t>year)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Arial"/>
              <a:cs typeface="Arial"/>
            </a:endParaRPr>
          </a:p>
          <a:p>
            <a:pPr marL="89535">
              <a:lnSpc>
                <a:spcPct val="100000"/>
              </a:lnSpc>
              <a:spcBef>
                <a:spcPts val="5"/>
              </a:spcBef>
            </a:pPr>
            <a:r>
              <a:rPr dirty="0" sz="700" spc="-25">
                <a:solidFill>
                  <a:srgbClr val="4D4D4D"/>
                </a:solidFill>
                <a:latin typeface="Arial"/>
                <a:cs typeface="Arial"/>
              </a:rPr>
              <a:t>75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051637" y="4324095"/>
            <a:ext cx="119380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40">
                <a:solidFill>
                  <a:srgbClr val="4F4F4F"/>
                </a:solidFill>
                <a:latin typeface="Arial"/>
                <a:cs typeface="Arial"/>
              </a:rPr>
              <a:t>Roundhouse</a:t>
            </a:r>
            <a:r>
              <a:rPr dirty="0" sz="700" spc="45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4D4D4D"/>
                </a:solidFill>
                <a:latin typeface="Arial"/>
                <a:cs typeface="Arial"/>
              </a:rPr>
              <a:t>kicking</a:t>
            </a:r>
            <a:r>
              <a:rPr dirty="0" sz="700" spc="15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700" spc="-30">
                <a:solidFill>
                  <a:srgbClr val="4D4D4D"/>
                </a:solidFill>
                <a:latin typeface="Arial"/>
                <a:cs typeface="Arial"/>
              </a:rPr>
              <a:t>since</a:t>
            </a:r>
            <a:r>
              <a:rPr dirty="0" sz="700" spc="-1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484848"/>
                </a:solidFill>
                <a:latin typeface="Arial"/>
                <a:cs typeface="Arial"/>
              </a:rPr>
              <a:t>1940</a:t>
            </a:r>
            <a:endParaRPr sz="7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974319" y="5268976"/>
            <a:ext cx="4203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2F2F2F"/>
                </a:solidFill>
                <a:latin typeface="Arial"/>
                <a:cs typeface="Arial"/>
              </a:rPr>
              <a:t>Telephone</a:t>
            </a:r>
            <a:endParaRPr sz="7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506318" y="1077976"/>
            <a:ext cx="27051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525252"/>
                </a:solidFill>
                <a:latin typeface="Arial"/>
                <a:cs typeface="Arial"/>
              </a:rPr>
              <a:t>default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541482" y="5832855"/>
            <a:ext cx="23431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40">
                <a:solidFill>
                  <a:srgbClr val="262626"/>
                </a:solidFill>
                <a:latin typeface="Arial"/>
                <a:cs typeface="Arial"/>
              </a:rPr>
              <a:t>Share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82499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</a:t>
            </a:r>
            <a:r>
              <a:rPr dirty="0" spc="200"/>
              <a:t> </a:t>
            </a:r>
            <a:r>
              <a:rPr dirty="0"/>
              <a:t>Resource</a:t>
            </a:r>
            <a:r>
              <a:rPr dirty="0" spc="200"/>
              <a:t> </a:t>
            </a:r>
            <a:r>
              <a:rPr dirty="0"/>
              <a:t>Definitions</a:t>
            </a:r>
            <a:r>
              <a:rPr dirty="0" spc="200"/>
              <a:t> </a:t>
            </a:r>
            <a:r>
              <a:rPr dirty="0" spc="-10"/>
              <a:t>(CRD)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7760" y="3358896"/>
            <a:ext cx="917447" cy="91744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862129" y="2605253"/>
            <a:ext cx="3465195" cy="24009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34620" rIns="0" bIns="0" rtlCol="0" vert="horz">
            <a:spAutoFit/>
          </a:bodyPr>
          <a:lstStyle/>
          <a:p>
            <a:pPr marL="182880" marR="1248410">
              <a:lnSpc>
                <a:spcPct val="153300"/>
              </a:lnSpc>
              <a:spcBef>
                <a:spcPts val="106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tree</a:t>
            </a:r>
            <a:r>
              <a:rPr dirty="0" sz="1200" spc="-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-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L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1</a:t>
            </a:r>
            <a:r>
              <a:rPr dirty="0" sz="1200" spc="-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ambassador ambassador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26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CHANGELOG.md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0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Chart.yaml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30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OWNERS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5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README.md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25">
                <a:solidFill>
                  <a:srgbClr val="00B050"/>
                </a:solidFill>
                <a:latin typeface="DejaVu Sans Mono"/>
                <a:cs typeface="DejaVu Sans Mono"/>
              </a:rPr>
              <a:t>ci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7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crds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0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templates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30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└──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values.yaml</a:t>
            </a:r>
            <a:endParaRPr sz="1200">
              <a:latin typeface="DejaVu Sans Mono"/>
              <a:cs typeface="DejaVu Sans Mono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254445" y="2629644"/>
            <a:ext cx="396875" cy="2376805"/>
          </a:xfrm>
          <a:custGeom>
            <a:avLst/>
            <a:gdLst/>
            <a:ahLst/>
            <a:cxnLst/>
            <a:rect l="l" t="t" r="r" b="b"/>
            <a:pathLst>
              <a:path w="396875" h="2376804">
                <a:moveTo>
                  <a:pt x="396815" y="2376267"/>
                </a:moveTo>
                <a:lnTo>
                  <a:pt x="319585" y="2373668"/>
                </a:lnTo>
                <a:lnTo>
                  <a:pt x="256519" y="2366582"/>
                </a:lnTo>
                <a:lnTo>
                  <a:pt x="213999" y="2356071"/>
                </a:lnTo>
                <a:lnTo>
                  <a:pt x="198407" y="2343201"/>
                </a:lnTo>
                <a:lnTo>
                  <a:pt x="198407" y="1221200"/>
                </a:lnTo>
                <a:lnTo>
                  <a:pt x="182815" y="1208329"/>
                </a:lnTo>
                <a:lnTo>
                  <a:pt x="140295" y="1197818"/>
                </a:lnTo>
                <a:lnTo>
                  <a:pt x="77229" y="1190732"/>
                </a:lnTo>
                <a:lnTo>
                  <a:pt x="0" y="1188134"/>
                </a:lnTo>
                <a:lnTo>
                  <a:pt x="77229" y="1185535"/>
                </a:lnTo>
                <a:lnTo>
                  <a:pt x="140295" y="1178448"/>
                </a:lnTo>
                <a:lnTo>
                  <a:pt x="182815" y="1167938"/>
                </a:lnTo>
                <a:lnTo>
                  <a:pt x="198407" y="1155067"/>
                </a:lnTo>
                <a:lnTo>
                  <a:pt x="198407" y="33066"/>
                </a:lnTo>
                <a:lnTo>
                  <a:pt x="213999" y="20195"/>
                </a:lnTo>
                <a:lnTo>
                  <a:pt x="256519" y="9684"/>
                </a:lnTo>
                <a:lnTo>
                  <a:pt x="319585" y="2598"/>
                </a:lnTo>
                <a:lnTo>
                  <a:pt x="396815" y="0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630553" y="2605253"/>
            <a:ext cx="396875" cy="2376805"/>
          </a:xfrm>
          <a:custGeom>
            <a:avLst/>
            <a:gdLst/>
            <a:ahLst/>
            <a:cxnLst/>
            <a:rect l="l" t="t" r="r" b="b"/>
            <a:pathLst>
              <a:path w="396875" h="2376804">
                <a:moveTo>
                  <a:pt x="396815" y="2376267"/>
                </a:moveTo>
                <a:lnTo>
                  <a:pt x="319585" y="2373668"/>
                </a:lnTo>
                <a:lnTo>
                  <a:pt x="256519" y="2366582"/>
                </a:lnTo>
                <a:lnTo>
                  <a:pt x="213999" y="2356071"/>
                </a:lnTo>
                <a:lnTo>
                  <a:pt x="198407" y="2343201"/>
                </a:lnTo>
                <a:lnTo>
                  <a:pt x="198407" y="1221200"/>
                </a:lnTo>
                <a:lnTo>
                  <a:pt x="182815" y="1208329"/>
                </a:lnTo>
                <a:lnTo>
                  <a:pt x="140295" y="1197818"/>
                </a:lnTo>
                <a:lnTo>
                  <a:pt x="77229" y="1190732"/>
                </a:lnTo>
                <a:lnTo>
                  <a:pt x="0" y="1188134"/>
                </a:lnTo>
                <a:lnTo>
                  <a:pt x="77229" y="1185535"/>
                </a:lnTo>
                <a:lnTo>
                  <a:pt x="140295" y="1178448"/>
                </a:lnTo>
                <a:lnTo>
                  <a:pt x="182815" y="1167938"/>
                </a:lnTo>
                <a:lnTo>
                  <a:pt x="198407" y="1155067"/>
                </a:lnTo>
                <a:lnTo>
                  <a:pt x="198407" y="33066"/>
                </a:lnTo>
                <a:lnTo>
                  <a:pt x="213999" y="20195"/>
                </a:lnTo>
                <a:lnTo>
                  <a:pt x="256519" y="9684"/>
                </a:lnTo>
                <a:lnTo>
                  <a:pt x="319585" y="2598"/>
                </a:lnTo>
                <a:lnTo>
                  <a:pt x="396815" y="0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330850" y="2131392"/>
            <a:ext cx="3624579" cy="332422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35890" rIns="0" bIns="0" rtlCol="0" vert="horz">
            <a:spAutoFit/>
          </a:bodyPr>
          <a:lstStyle/>
          <a:p>
            <a:pPr marL="182245" marR="1407795">
              <a:lnSpc>
                <a:spcPct val="153300"/>
              </a:lnSpc>
              <a:spcBef>
                <a:spcPts val="107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1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tree</a:t>
            </a:r>
            <a:r>
              <a:rPr dirty="0" sz="1200" spc="-1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ambassador/crds ambassador/crds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30"/>
              </a:lnSpc>
              <a:spcBef>
                <a:spcPts val="24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authservice.yaml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0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consulresolver.yaml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1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filter.yaml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15"/>
              </a:lnSpc>
              <a:spcBef>
                <a:spcPts val="7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filterpolicy.yaml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1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kubernetesendpointresolver.yaml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30"/>
              </a:lnSpc>
              <a:spcBef>
                <a:spcPts val="4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kubernetesserviceresolver.yaml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0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mapping.yaml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1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module.yaml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15"/>
              </a:lnSpc>
              <a:spcBef>
                <a:spcPts val="7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ratelimit.yaml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1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ratelimitservice.yaml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30"/>
              </a:lnSpc>
              <a:spcBef>
                <a:spcPts val="4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tcpmapping.yaml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0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tlscontext.yaml</a:t>
            </a:r>
            <a:endParaRPr sz="1200">
              <a:latin typeface="DejaVu Sans Mono"/>
              <a:cs typeface="DejaVu Sans Mono"/>
            </a:endParaRPr>
          </a:p>
          <a:p>
            <a:pPr marL="182245">
              <a:lnSpc>
                <a:spcPts val="141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└──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tracingservice.yaml</a:t>
            </a:r>
            <a:endParaRPr sz="1200">
              <a:latin typeface="DejaVu Sans Mono"/>
              <a:cs typeface="DejaVu Sans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6506209" cy="1010285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25"/>
              </a:spcBef>
              <a:tabLst>
                <a:tab pos="2661920" algn="l"/>
                <a:tab pos="3815715" algn="l"/>
              </a:tabLst>
            </a:pPr>
            <a:r>
              <a:rPr dirty="0"/>
              <a:t>CRDs</a:t>
            </a:r>
            <a:r>
              <a:rPr dirty="0" spc="110"/>
              <a:t> </a:t>
            </a:r>
            <a:r>
              <a:rPr dirty="0"/>
              <a:t>across</a:t>
            </a:r>
            <a:r>
              <a:rPr dirty="0" spc="114"/>
              <a:t> </a:t>
            </a:r>
            <a:r>
              <a:rPr dirty="0"/>
              <a:t>Helm</a:t>
            </a:r>
            <a:r>
              <a:rPr dirty="0" spc="110"/>
              <a:t> </a:t>
            </a:r>
            <a:r>
              <a:rPr dirty="0"/>
              <a:t>v2</a:t>
            </a:r>
            <a:r>
              <a:rPr dirty="0" spc="114"/>
              <a:t> </a:t>
            </a:r>
            <a:r>
              <a:rPr dirty="0"/>
              <a:t>and</a:t>
            </a:r>
            <a:r>
              <a:rPr dirty="0" spc="114"/>
              <a:t> </a:t>
            </a:r>
            <a:r>
              <a:rPr dirty="0" spc="-25"/>
              <a:t>v3 </a:t>
            </a:r>
            <a:r>
              <a:rPr dirty="0">
                <a:solidFill>
                  <a:srgbClr val="95297C"/>
                </a:solidFill>
              </a:rPr>
              <a:t>Helm</a:t>
            </a:r>
            <a:r>
              <a:rPr dirty="0" spc="95">
                <a:solidFill>
                  <a:srgbClr val="95297C"/>
                </a:solidFill>
              </a:rPr>
              <a:t> </a:t>
            </a:r>
            <a:r>
              <a:rPr dirty="0">
                <a:solidFill>
                  <a:srgbClr val="95297C"/>
                </a:solidFill>
              </a:rPr>
              <a:t>v2</a:t>
            </a:r>
            <a:r>
              <a:rPr dirty="0" spc="95">
                <a:solidFill>
                  <a:srgbClr val="95297C"/>
                </a:solidFill>
              </a:rPr>
              <a:t> </a:t>
            </a:r>
            <a:r>
              <a:rPr dirty="0" spc="-50">
                <a:solidFill>
                  <a:srgbClr val="95297C"/>
                </a:solidFill>
                <a:latin typeface="Malgun Gothic"/>
                <a:cs typeface="Malgun Gothic"/>
              </a:rPr>
              <a:t>및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</a:rPr>
              <a:t>v3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의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</a:rPr>
              <a:t>CRD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58797" y="3099235"/>
            <a:ext cx="3624579" cy="332422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34620" rIns="0" bIns="0" rtlCol="0" vert="horz">
            <a:spAutoFit/>
          </a:bodyPr>
          <a:lstStyle/>
          <a:p>
            <a:pPr marL="182880" marR="1407795">
              <a:lnSpc>
                <a:spcPct val="153300"/>
              </a:lnSpc>
              <a:spcBef>
                <a:spcPts val="106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1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tree</a:t>
            </a:r>
            <a:r>
              <a:rPr dirty="0" sz="1200" spc="-1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ambassador/crds ambassador/crds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26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authservice.yaml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0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consulresolver.yaml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30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filter.yaml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4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filterpolicy.yaml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kubernetesendpointresolver.yaml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7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kubernetesserviceresolver.yaml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0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mapping.yaml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30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module.yaml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4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ratelimit.yaml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ratelimitservice.yaml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15"/>
              </a:lnSpc>
              <a:spcBef>
                <a:spcPts val="7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tcpmapping.yaml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05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├──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tlscontext.yaml</a:t>
            </a:r>
            <a:endParaRPr sz="1200">
              <a:latin typeface="DejaVu Sans Mono"/>
              <a:cs typeface="DejaVu Sans Mono"/>
            </a:endParaRPr>
          </a:p>
          <a:p>
            <a:pPr marL="182880">
              <a:lnSpc>
                <a:spcPts val="1430"/>
              </a:lnSpc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└──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tracingservice.yaml</a:t>
            </a:r>
            <a:endParaRPr sz="1200">
              <a:latin typeface="DejaVu Sans Mono"/>
              <a:cs typeface="DejaVu Sans Mon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69347" y="1926844"/>
            <a:ext cx="2925445" cy="110744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48700"/>
              </a:lnSpc>
              <a:spcBef>
                <a:spcPts val="50"/>
              </a:spcBef>
            </a:pP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For</a:t>
            </a:r>
            <a:r>
              <a:rPr dirty="0" sz="1600" spc="-25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Helm</a:t>
            </a:r>
            <a:r>
              <a:rPr dirty="0" sz="1600" spc="-25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v3</a:t>
            </a:r>
            <a:r>
              <a:rPr dirty="0" sz="1600" spc="-25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Use</a:t>
            </a:r>
            <a:r>
              <a:rPr dirty="0" sz="1600" spc="-20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The</a:t>
            </a:r>
            <a:r>
              <a:rPr dirty="0" sz="1600" spc="-15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0F158A"/>
                </a:solidFill>
                <a:latin typeface="Calibri"/>
                <a:cs typeface="Calibri"/>
              </a:rPr>
              <a:t>crds</a:t>
            </a:r>
            <a:r>
              <a:rPr dirty="0" sz="1600" spc="-25" i="1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58A"/>
                </a:solidFill>
                <a:latin typeface="Calibri"/>
                <a:cs typeface="Calibri"/>
              </a:rPr>
              <a:t>Directory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Helm</a:t>
            </a:r>
            <a:r>
              <a:rPr dirty="0" sz="1600" spc="-50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58A"/>
                </a:solidFill>
                <a:latin typeface="Calibri"/>
                <a:cs typeface="Calibri"/>
              </a:rPr>
              <a:t>v3</a:t>
            </a:r>
            <a:r>
              <a:rPr dirty="0" sz="1600" spc="-10">
                <a:solidFill>
                  <a:srgbClr val="0F158A"/>
                </a:solidFill>
                <a:latin typeface="Malgun Gothic"/>
                <a:cs typeface="Malgun Gothic"/>
              </a:rPr>
              <a:t>의</a:t>
            </a:r>
            <a:r>
              <a:rPr dirty="0" sz="1600" spc="-200">
                <a:solidFill>
                  <a:srgbClr val="0F158A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0F158A"/>
                </a:solidFill>
                <a:latin typeface="Malgun Gothic"/>
                <a:cs typeface="Malgun Gothic"/>
              </a:rPr>
              <a:t>경우</a:t>
            </a:r>
            <a:r>
              <a:rPr dirty="0" sz="1600" spc="-200">
                <a:solidFill>
                  <a:srgbClr val="0F158A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crds</a:t>
            </a:r>
            <a:r>
              <a:rPr dirty="0" sz="1600" spc="-10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58A"/>
                </a:solidFill>
                <a:latin typeface="Malgun Gothic"/>
                <a:cs typeface="Malgun Gothic"/>
              </a:rPr>
              <a:t>디렉토리를 사용하십시오</a:t>
            </a:r>
            <a:r>
              <a:rPr dirty="0" sz="1600" spc="-10">
                <a:solidFill>
                  <a:srgbClr val="0F158A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43685" y="1926844"/>
            <a:ext cx="4288790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6200"/>
              </a:lnSpc>
              <a:spcBef>
                <a:spcPts val="100"/>
              </a:spcBef>
            </a:pP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For</a:t>
            </a:r>
            <a:r>
              <a:rPr dirty="0" sz="1600" spc="-25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Helm</a:t>
            </a:r>
            <a:r>
              <a:rPr dirty="0" sz="1600" spc="-30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v2</a:t>
            </a:r>
            <a:r>
              <a:rPr dirty="0" sz="1600" spc="-20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Use</a:t>
            </a:r>
            <a:r>
              <a:rPr dirty="0" sz="1600" spc="-25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A</a:t>
            </a:r>
            <a:r>
              <a:rPr dirty="0" sz="1600" spc="-25">
                <a:solidFill>
                  <a:srgbClr val="0F158A"/>
                </a:solidFill>
                <a:latin typeface="Calibri"/>
                <a:cs typeface="Calibri"/>
              </a:rPr>
              <a:t> Template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With</a:t>
            </a:r>
            <a:r>
              <a:rPr dirty="0" sz="1600" spc="-25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0F158A"/>
                </a:solidFill>
                <a:latin typeface="Calibri"/>
                <a:cs typeface="Calibri"/>
              </a:rPr>
              <a:t>crd-</a:t>
            </a:r>
            <a:r>
              <a:rPr dirty="0" sz="1600" i="1">
                <a:solidFill>
                  <a:srgbClr val="0F158A"/>
                </a:solidFill>
                <a:latin typeface="Calibri"/>
                <a:cs typeface="Calibri"/>
              </a:rPr>
              <a:t>install</a:t>
            </a:r>
            <a:r>
              <a:rPr dirty="0" sz="1600" spc="-30" i="1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0F158A"/>
                </a:solidFill>
                <a:latin typeface="Calibri"/>
                <a:cs typeface="Calibri"/>
              </a:rPr>
              <a:t>Hook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Helm</a:t>
            </a:r>
            <a:r>
              <a:rPr dirty="0" sz="1600" spc="-50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F158A"/>
                </a:solidFill>
                <a:latin typeface="Calibri"/>
                <a:cs typeface="Calibri"/>
              </a:rPr>
              <a:t>v2</a:t>
            </a:r>
            <a:r>
              <a:rPr dirty="0" sz="1600" spc="-10">
                <a:solidFill>
                  <a:srgbClr val="0F158A"/>
                </a:solidFill>
                <a:latin typeface="Malgun Gothic"/>
                <a:cs typeface="Malgun Gothic"/>
              </a:rPr>
              <a:t>의</a:t>
            </a:r>
            <a:r>
              <a:rPr dirty="0" sz="1600" spc="-200">
                <a:solidFill>
                  <a:srgbClr val="0F158A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0F158A"/>
                </a:solidFill>
                <a:latin typeface="Malgun Gothic"/>
                <a:cs typeface="Malgun Gothic"/>
              </a:rPr>
              <a:t>경우</a:t>
            </a:r>
            <a:r>
              <a:rPr dirty="0" sz="1600" spc="-200">
                <a:solidFill>
                  <a:srgbClr val="0F158A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0F158A"/>
                </a:solidFill>
                <a:latin typeface="Calibri"/>
                <a:cs typeface="Calibri"/>
              </a:rPr>
              <a:t>crd</a:t>
            </a:r>
            <a:r>
              <a:rPr dirty="0" sz="1600" spc="-10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158A"/>
                </a:solidFill>
                <a:latin typeface="Malgun Gothic"/>
                <a:cs typeface="Malgun Gothic"/>
              </a:rPr>
              <a:t>설치</a:t>
            </a:r>
            <a:r>
              <a:rPr dirty="0" sz="1600" spc="-200">
                <a:solidFill>
                  <a:srgbClr val="0F158A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0F158A"/>
                </a:solidFill>
                <a:latin typeface="Malgun Gothic"/>
                <a:cs typeface="Malgun Gothic"/>
              </a:rPr>
              <a:t>후크가있는</a:t>
            </a:r>
            <a:r>
              <a:rPr dirty="0" sz="1600" spc="-200">
                <a:solidFill>
                  <a:srgbClr val="0F158A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0F158A"/>
                </a:solidFill>
                <a:latin typeface="Malgun Gothic"/>
                <a:cs typeface="Malgun Gothic"/>
              </a:rPr>
              <a:t>템플릿</a:t>
            </a:r>
            <a:r>
              <a:rPr dirty="0" sz="1600" spc="-200">
                <a:solidFill>
                  <a:srgbClr val="0F158A"/>
                </a:solidFill>
                <a:latin typeface="Malgun Gothic"/>
                <a:cs typeface="Malgun Gothic"/>
              </a:rPr>
              <a:t> </a:t>
            </a:r>
            <a:r>
              <a:rPr dirty="0" sz="1600" spc="-25">
                <a:solidFill>
                  <a:srgbClr val="0F158A"/>
                </a:solidFill>
                <a:latin typeface="Malgun Gothic"/>
                <a:cs typeface="Malgun Gothic"/>
              </a:rPr>
              <a:t>사용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82637" y="3099235"/>
            <a:ext cx="6294120" cy="2862580"/>
          </a:xfrm>
          <a:prstGeom prst="rect">
            <a:avLst/>
          </a:prstGeom>
          <a:solidFill>
            <a:srgbClr val="D6DCE5"/>
          </a:solidFill>
          <a:ln w="41275">
            <a:solidFill>
              <a:srgbClr val="2F84A7"/>
            </a:solidFill>
          </a:ln>
        </p:spPr>
        <p:txBody>
          <a:bodyPr wrap="square" lIns="0" tIns="172720" rIns="0" bIns="0" rtlCol="0" vert="horz">
            <a:spAutoFit/>
          </a:bodyPr>
          <a:lstStyle/>
          <a:p>
            <a:pPr marL="182880" marR="578485">
              <a:lnSpc>
                <a:spcPct val="99400"/>
              </a:lnSpc>
              <a:spcBef>
                <a:spcPts val="1360"/>
              </a:spcBef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apiVersion:</a:t>
            </a:r>
            <a:r>
              <a:rPr dirty="0" sz="1800" spc="-114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apiextensions.k8s.io/v1beta1 </a:t>
            </a: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kind:</a:t>
            </a:r>
            <a:r>
              <a:rPr dirty="0" sz="1800" spc="-50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CustomResourceDefinition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  </a:t>
            </a:r>
            <a:r>
              <a:rPr dirty="0" sz="1800" spc="-10">
                <a:solidFill>
                  <a:srgbClr val="090E6F"/>
                </a:solidFill>
                <a:latin typeface="DejaVu Sans Mono"/>
                <a:cs typeface="DejaVu Sans Mono"/>
              </a:rPr>
              <a:t>metadata:</a:t>
            </a:r>
            <a:endParaRPr sz="1800">
              <a:latin typeface="DejaVu Sans Mono"/>
              <a:cs typeface="DejaVu Sans Mono"/>
            </a:endParaRPr>
          </a:p>
          <a:p>
            <a:pPr marL="459105" marR="992505">
              <a:lnSpc>
                <a:spcPts val="2210"/>
              </a:lnSpc>
              <a:spcBef>
                <a:spcPts val="55"/>
              </a:spcBef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name:</a:t>
            </a:r>
            <a:r>
              <a:rPr dirty="0" sz="1800" spc="-50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authservices.getambassador.io </a:t>
            </a:r>
            <a:r>
              <a:rPr dirty="0" sz="1800" spc="-10">
                <a:solidFill>
                  <a:srgbClr val="090E6F"/>
                </a:solidFill>
                <a:latin typeface="DejaVu Sans Mono"/>
                <a:cs typeface="DejaVu Sans Mono"/>
              </a:rPr>
              <a:t>labels:</a:t>
            </a:r>
            <a:endParaRPr sz="1800">
              <a:latin typeface="DejaVu Sans Mono"/>
              <a:cs typeface="DejaVu Sans Mono"/>
            </a:endParaRPr>
          </a:p>
          <a:p>
            <a:pPr marL="735330">
              <a:lnSpc>
                <a:spcPts val="2030"/>
              </a:lnSpc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app.kubernetes.io/name:</a:t>
            </a:r>
            <a:r>
              <a:rPr dirty="0" sz="1800" spc="-250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ambassador</a:t>
            </a:r>
            <a:endParaRPr sz="1800">
              <a:latin typeface="DejaVu Sans Mono"/>
              <a:cs typeface="DejaVu Sans Mono"/>
            </a:endParaRPr>
          </a:p>
          <a:p>
            <a:pPr marL="459105">
              <a:lnSpc>
                <a:spcPts val="2135"/>
              </a:lnSpc>
              <a:spcBef>
                <a:spcPts val="25"/>
              </a:spcBef>
            </a:pPr>
            <a:r>
              <a:rPr dirty="0" sz="1800" spc="-10">
                <a:solidFill>
                  <a:srgbClr val="090E6F"/>
                </a:solidFill>
                <a:latin typeface="DejaVu Sans Mono"/>
                <a:cs typeface="DejaVu Sans Mono"/>
              </a:rPr>
              <a:t>annotations:</a:t>
            </a:r>
            <a:endParaRPr sz="1800">
              <a:latin typeface="DejaVu Sans Mono"/>
              <a:cs typeface="DejaVu Sans Mono"/>
            </a:endParaRPr>
          </a:p>
          <a:p>
            <a:pPr marL="735330">
              <a:lnSpc>
                <a:spcPts val="2135"/>
              </a:lnSpc>
            </a:pPr>
            <a:r>
              <a:rPr dirty="0" sz="1800">
                <a:solidFill>
                  <a:srgbClr val="090E6F"/>
                </a:solidFill>
                <a:latin typeface="DejaVu Sans Mono"/>
                <a:cs typeface="DejaVu Sans Mono"/>
              </a:rPr>
              <a:t>"helm.sh/hook":</a:t>
            </a:r>
            <a:r>
              <a:rPr dirty="0" sz="1800" spc="-125">
                <a:solidFill>
                  <a:srgbClr val="090E6F"/>
                </a:solidFill>
                <a:latin typeface="DejaVu Sans Mono"/>
                <a:cs typeface="DejaVu Sans Mono"/>
              </a:rPr>
              <a:t> </a:t>
            </a:r>
            <a:r>
              <a:rPr dirty="0" sz="1800" spc="-20">
                <a:solidFill>
                  <a:srgbClr val="2F84A7"/>
                </a:solidFill>
                <a:latin typeface="DejaVu Sans Mono"/>
                <a:cs typeface="DejaVu Sans Mono"/>
              </a:rPr>
              <a:t>crd-</a:t>
            </a:r>
            <a:r>
              <a:rPr dirty="0" sz="1800" spc="-10">
                <a:solidFill>
                  <a:srgbClr val="2F84A7"/>
                </a:solidFill>
                <a:latin typeface="DejaVu Sans Mono"/>
                <a:cs typeface="DejaVu Sans Mono"/>
              </a:rPr>
              <a:t>install</a:t>
            </a:r>
            <a:endParaRPr sz="1800">
              <a:latin typeface="DejaVu Sans Mono"/>
              <a:cs typeface="DejaVu Sans Mono"/>
            </a:endParaRPr>
          </a:p>
          <a:p>
            <a:pPr marL="182880">
              <a:lnSpc>
                <a:spcPct val="100000"/>
              </a:lnSpc>
              <a:spcBef>
                <a:spcPts val="25"/>
              </a:spcBef>
            </a:pPr>
            <a:r>
              <a:rPr dirty="0" sz="1800" spc="-25">
                <a:solidFill>
                  <a:srgbClr val="090E6F"/>
                </a:solidFill>
                <a:latin typeface="DejaVu Sans Mono"/>
                <a:cs typeface="DejaVu Sans Mono"/>
              </a:rPr>
              <a:t>...</a:t>
            </a:r>
            <a:endParaRPr sz="1800">
              <a:latin typeface="DejaVu Sans Mono"/>
              <a:cs typeface="DejaVu Sans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851915"/>
            <a:ext cx="66357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0695" algn="l"/>
              </a:tabLst>
            </a:pPr>
            <a:r>
              <a:rPr dirty="0"/>
              <a:t>Helm</a:t>
            </a:r>
            <a:r>
              <a:rPr dirty="0" spc="180"/>
              <a:t> </a:t>
            </a:r>
            <a:r>
              <a:rPr dirty="0"/>
              <a:t>Experiments</a:t>
            </a:r>
            <a:r>
              <a:rPr dirty="0" spc="185"/>
              <a:t> </a:t>
            </a:r>
            <a:r>
              <a:rPr dirty="0" spc="-25"/>
              <a:t>(</a:t>
            </a:r>
            <a:r>
              <a:rPr dirty="0" spc="-25">
                <a:latin typeface="Malgun Gothic"/>
                <a:cs typeface="Malgun Gothic"/>
              </a:rPr>
              <a:t>베타</a:t>
            </a:r>
            <a:r>
              <a:rPr dirty="0">
                <a:latin typeface="Malgun Gothic"/>
                <a:cs typeface="Malgun Gothic"/>
              </a:rPr>
              <a:t>	</a:t>
            </a:r>
            <a:r>
              <a:rPr dirty="0" spc="-25">
                <a:latin typeface="Malgun Gothic"/>
                <a:cs typeface="Malgun Gothic"/>
              </a:rPr>
              <a:t>기능</a:t>
            </a:r>
            <a:r>
              <a:rPr dirty="0" spc="-25"/>
              <a:t>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656102" y="2518582"/>
            <a:ext cx="9013825" cy="3662045"/>
          </a:xfrm>
          <a:custGeom>
            <a:avLst/>
            <a:gdLst/>
            <a:ahLst/>
            <a:cxnLst/>
            <a:rect l="l" t="t" r="r" b="b"/>
            <a:pathLst>
              <a:path w="9013825" h="3662045">
                <a:moveTo>
                  <a:pt x="9013528" y="0"/>
                </a:moveTo>
                <a:lnTo>
                  <a:pt x="0" y="0"/>
                </a:lnTo>
                <a:lnTo>
                  <a:pt x="0" y="3661515"/>
                </a:lnTo>
                <a:lnTo>
                  <a:pt x="9013528" y="3661515"/>
                </a:lnTo>
                <a:lnTo>
                  <a:pt x="90135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826282" y="2642108"/>
            <a:ext cx="6287135" cy="85153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2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export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HELM_EXPERIMENTAL_OCI=1</a:t>
            </a:r>
            <a:endParaRPr sz="12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4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docker</a:t>
            </a:r>
            <a:r>
              <a:rPr dirty="0" sz="1200" spc="-3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run</a:t>
            </a:r>
            <a:r>
              <a:rPr dirty="0" sz="1200" spc="-4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-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dp</a:t>
            </a:r>
            <a:r>
              <a:rPr dirty="0" sz="1200" spc="-3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5000:5000</a:t>
            </a:r>
            <a:r>
              <a:rPr dirty="0" sz="1200" spc="-4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--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restart=always</a:t>
            </a:r>
            <a:r>
              <a:rPr dirty="0" sz="1200" spc="-4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--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name</a:t>
            </a:r>
            <a:r>
              <a:rPr dirty="0" sz="1200" spc="-4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registry</a:t>
            </a:r>
            <a:r>
              <a:rPr dirty="0" sz="1200" spc="-3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registry</a:t>
            </a:r>
            <a:endParaRPr sz="12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3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helm</a:t>
            </a:r>
            <a:r>
              <a:rPr dirty="0" sz="1200" spc="-2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chart</a:t>
            </a:r>
            <a:r>
              <a:rPr dirty="0" sz="1200" spc="-2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save</a:t>
            </a:r>
            <a:r>
              <a:rPr dirty="0" sz="1200" spc="-3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mychart</a:t>
            </a:r>
            <a:r>
              <a:rPr dirty="0" sz="1200" spc="-3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localhost:5000/myrepo/mychart:1.2.3</a:t>
            </a:r>
            <a:endParaRPr sz="1200">
              <a:latin typeface="DejaVu Sans Mono"/>
              <a:cs typeface="DejaVu Sans Mon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26282" y="3471163"/>
            <a:ext cx="670560" cy="11290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50600"/>
              </a:lnSpc>
              <a:spcBef>
                <a:spcPts val="114"/>
              </a:spcBef>
            </a:pP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ref: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digest: size: name:</a:t>
            </a:r>
            <a:endParaRPr sz="1200">
              <a:latin typeface="DejaVu Sans Mono"/>
              <a:cs typeface="DejaVu Sans Mon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54958" y="3471163"/>
            <a:ext cx="5918835" cy="1129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1700"/>
              </a:lnSpc>
              <a:spcBef>
                <a:spcPts val="100"/>
              </a:spcBef>
            </a:pP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localhost:5000/myrepo/mychart:1.2.3 896935a875c8fe8f8b9b81e5862413de316f8da3d6d9a7e0f6f1e90f6204f551</a:t>
            </a:r>
            <a:endParaRPr sz="12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2.7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25">
                <a:solidFill>
                  <a:srgbClr val="00B050"/>
                </a:solidFill>
                <a:latin typeface="DejaVu Sans Mono"/>
                <a:cs typeface="DejaVu Sans Mono"/>
              </a:rPr>
              <a:t>KiB</a:t>
            </a:r>
            <a:endParaRPr sz="12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mychart</a:t>
            </a:r>
            <a:endParaRPr sz="1200">
              <a:latin typeface="DejaVu Sans Mono"/>
              <a:cs typeface="DejaVu Sans Mon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26282" y="4559300"/>
            <a:ext cx="1591310" cy="86360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version:</a:t>
            </a:r>
            <a:r>
              <a:rPr dirty="0" sz="1200" spc="-55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10">
                <a:solidFill>
                  <a:srgbClr val="00B050"/>
                </a:solidFill>
                <a:latin typeface="DejaVu Sans Mono"/>
                <a:cs typeface="DejaVu Sans Mono"/>
              </a:rPr>
              <a:t>0.1.0</a:t>
            </a:r>
            <a:endParaRPr sz="12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1.2.3:</a:t>
            </a:r>
            <a:r>
              <a:rPr dirty="0" sz="1200" spc="-4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saved</a:t>
            </a:r>
            <a:endParaRPr sz="12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$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helm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</a:t>
            </a:r>
            <a:r>
              <a:rPr dirty="0" sz="1200">
                <a:solidFill>
                  <a:srgbClr val="00B050"/>
                </a:solidFill>
                <a:latin typeface="DejaVu Sans Mono"/>
                <a:cs typeface="DejaVu Sans Mono"/>
              </a:rPr>
              <a:t>chart</a:t>
            </a:r>
            <a:r>
              <a:rPr dirty="0" sz="1200" spc="-20">
                <a:solidFill>
                  <a:srgbClr val="00B050"/>
                </a:solidFill>
                <a:latin typeface="DejaVu Sans Mono"/>
                <a:cs typeface="DejaVu Sans Mono"/>
              </a:rPr>
              <a:t> list</a:t>
            </a:r>
            <a:endParaRPr sz="1200">
              <a:latin typeface="DejaVu Sans Mono"/>
              <a:cs typeface="DejaVu Sans Mono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807232" y="5506482"/>
          <a:ext cx="8744585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2179"/>
                <a:gridCol w="996950"/>
                <a:gridCol w="914400"/>
                <a:gridCol w="914400"/>
                <a:gridCol w="914400"/>
                <a:gridCol w="1456054"/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355"/>
                        </a:lnSpc>
                      </a:pP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REF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355"/>
                        </a:lnSpc>
                      </a:pP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NAME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135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VERSION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135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DIGEST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1355"/>
                        </a:lnSpc>
                      </a:pP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SIZE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1355"/>
                        </a:lnSpc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CREATED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localhost:5000/myrepo/mychart:1.2.3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mychart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0.1.0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896935a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2.7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2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KiB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1385"/>
                        </a:lnSpc>
                        <a:spcBef>
                          <a:spcPts val="320"/>
                        </a:spcBef>
                      </a:pP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About</a:t>
                      </a:r>
                      <a:r>
                        <a:rPr dirty="0" sz="12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a</a:t>
                      </a:r>
                      <a:r>
                        <a:rPr dirty="0" sz="1200" spc="-1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2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minute</a:t>
                      </a:r>
                      <a:endParaRPr sz="12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6031" y="600455"/>
            <a:ext cx="3861816" cy="44256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160292" y="1504188"/>
            <a:ext cx="77895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F1689"/>
                </a:solidFill>
                <a:latin typeface="DejaVu Sans Mono"/>
                <a:cs typeface="DejaVu Sans Mono"/>
              </a:rPr>
              <a:t>&gt;</a:t>
            </a:r>
            <a:r>
              <a:rPr dirty="0" sz="3200" spc="125" b="1">
                <a:solidFill>
                  <a:srgbClr val="0F1689"/>
                </a:solidFill>
                <a:latin typeface="DejaVu Sans Mono"/>
                <a:cs typeface="DejaVu Sans Mono"/>
              </a:rPr>
              <a:t> </a:t>
            </a:r>
            <a:r>
              <a:rPr dirty="0" sz="3200" b="1">
                <a:solidFill>
                  <a:srgbClr val="0F1689"/>
                </a:solidFill>
                <a:latin typeface="DejaVu Sans Mono"/>
                <a:cs typeface="DejaVu Sans Mono"/>
              </a:rPr>
              <a:t>OCI</a:t>
            </a:r>
            <a:r>
              <a:rPr dirty="0" sz="3200" spc="120" b="1">
                <a:solidFill>
                  <a:srgbClr val="0F1689"/>
                </a:solidFill>
                <a:latin typeface="DejaVu Sans Mono"/>
                <a:cs typeface="DejaVu Sans Mono"/>
              </a:rPr>
              <a:t> </a:t>
            </a:r>
            <a:r>
              <a:rPr dirty="0" sz="3200" b="1">
                <a:solidFill>
                  <a:srgbClr val="0F1689"/>
                </a:solidFill>
                <a:latin typeface="DejaVu Sans Mono"/>
                <a:cs typeface="DejaVu Sans Mono"/>
              </a:rPr>
              <a:t>Registries</a:t>
            </a:r>
            <a:r>
              <a:rPr dirty="0" sz="3200" spc="130" b="1">
                <a:solidFill>
                  <a:srgbClr val="0F1689"/>
                </a:solidFill>
                <a:latin typeface="DejaVu Sans Mono"/>
                <a:cs typeface="DejaVu Sans Mono"/>
              </a:rPr>
              <a:t> </a:t>
            </a:r>
            <a:r>
              <a:rPr dirty="0" sz="3200" b="1">
                <a:solidFill>
                  <a:srgbClr val="0F1689"/>
                </a:solidFill>
                <a:latin typeface="DejaVu Sans Mono"/>
                <a:cs typeface="DejaVu Sans Mono"/>
              </a:rPr>
              <a:t>(OCI</a:t>
            </a:r>
            <a:r>
              <a:rPr dirty="0" sz="3200" spc="120" b="1">
                <a:solidFill>
                  <a:srgbClr val="0F1689"/>
                </a:solidFill>
                <a:latin typeface="DejaVu Sans Mono"/>
                <a:cs typeface="DejaVu Sans Mono"/>
              </a:rPr>
              <a:t> </a:t>
            </a:r>
            <a:r>
              <a:rPr dirty="0" sz="3200" spc="-10" b="1">
                <a:solidFill>
                  <a:srgbClr val="0F1689"/>
                </a:solidFill>
                <a:latin typeface="Malgun Gothic"/>
                <a:cs typeface="Malgun Gothic"/>
              </a:rPr>
              <a:t>레지스트리</a:t>
            </a:r>
            <a:r>
              <a:rPr dirty="0" sz="3200" spc="-10" b="1">
                <a:solidFill>
                  <a:srgbClr val="0F1689"/>
                </a:solidFill>
                <a:latin typeface="DejaVu Sans Mono"/>
                <a:cs typeface="DejaVu Sans Mono"/>
              </a:rPr>
              <a:t>)</a:t>
            </a:r>
            <a:endParaRPr sz="3200">
              <a:latin typeface="DejaVu Sans Mono"/>
              <a:cs typeface="DejaVu Sans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292" y="672084"/>
            <a:ext cx="9518650" cy="10102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130"/>
              <a:t> </a:t>
            </a:r>
            <a:r>
              <a:rPr dirty="0"/>
              <a:t>about</a:t>
            </a:r>
            <a:r>
              <a:rPr dirty="0" spc="130"/>
              <a:t> </a:t>
            </a:r>
            <a:r>
              <a:rPr dirty="0"/>
              <a:t>upgrading</a:t>
            </a:r>
            <a:r>
              <a:rPr dirty="0" spc="135"/>
              <a:t> </a:t>
            </a:r>
            <a:r>
              <a:rPr dirty="0"/>
              <a:t>to</a:t>
            </a:r>
            <a:r>
              <a:rPr dirty="0" spc="130"/>
              <a:t> </a:t>
            </a:r>
            <a:r>
              <a:rPr dirty="0"/>
              <a:t>Helm</a:t>
            </a:r>
            <a:r>
              <a:rPr dirty="0" spc="135"/>
              <a:t> </a:t>
            </a:r>
            <a:r>
              <a:rPr dirty="0" spc="-25"/>
              <a:t>3?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2569845" algn="l"/>
                <a:tab pos="5257165" algn="l"/>
                <a:tab pos="6725920" algn="l"/>
                <a:tab pos="7381240" algn="l"/>
                <a:tab pos="8037195" algn="l"/>
              </a:tabLst>
            </a:pPr>
            <a:r>
              <a:rPr dirty="0">
                <a:solidFill>
                  <a:srgbClr val="95297C"/>
                </a:solidFill>
              </a:rPr>
              <a:t>Helm</a:t>
            </a:r>
            <a:r>
              <a:rPr dirty="0" spc="114">
                <a:solidFill>
                  <a:srgbClr val="95297C"/>
                </a:solidFill>
              </a:rPr>
              <a:t> </a:t>
            </a:r>
            <a:r>
              <a:rPr dirty="0" spc="-25">
                <a:solidFill>
                  <a:srgbClr val="95297C"/>
                </a:solidFill>
              </a:rPr>
              <a:t>3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으로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10">
                <a:solidFill>
                  <a:srgbClr val="95297C"/>
                </a:solidFill>
                <a:latin typeface="Malgun Gothic"/>
                <a:cs typeface="Malgun Gothic"/>
              </a:rPr>
              <a:t>업그레이드는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5">
                <a:solidFill>
                  <a:srgbClr val="95297C"/>
                </a:solidFill>
                <a:latin typeface="Malgun Gothic"/>
                <a:cs typeface="Malgun Gothic"/>
              </a:rPr>
              <a:t>어떻게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50">
                <a:solidFill>
                  <a:srgbClr val="95297C"/>
                </a:solidFill>
                <a:latin typeface="Malgun Gothic"/>
                <a:cs typeface="Malgun Gothic"/>
              </a:rPr>
              <a:t>할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50">
                <a:solidFill>
                  <a:srgbClr val="95297C"/>
                </a:solidFill>
                <a:latin typeface="Malgun Gothic"/>
                <a:cs typeface="Malgun Gothic"/>
              </a:rPr>
              <a:t>수</a:t>
            </a:r>
            <a:r>
              <a:rPr dirty="0">
                <a:solidFill>
                  <a:srgbClr val="95297C"/>
                </a:solidFill>
                <a:latin typeface="Malgun Gothic"/>
                <a:cs typeface="Malgun Gothic"/>
              </a:rPr>
              <a:t>	</a:t>
            </a:r>
            <a:r>
              <a:rPr dirty="0" spc="-20">
                <a:solidFill>
                  <a:srgbClr val="95297C"/>
                </a:solidFill>
                <a:latin typeface="Malgun Gothic"/>
                <a:cs typeface="Malgun Gothic"/>
              </a:rPr>
              <a:t>있나요</a:t>
            </a:r>
            <a:r>
              <a:rPr dirty="0" spc="-20">
                <a:solidFill>
                  <a:srgbClr val="95297C"/>
                </a:solidFill>
              </a:rPr>
              <a:t>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60292" y="1719579"/>
            <a:ext cx="46075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8497B0"/>
                </a:solidFill>
                <a:latin typeface="Lucida Console"/>
                <a:cs typeface="Lucida Console"/>
              </a:rPr>
              <a:t>After</a:t>
            </a:r>
            <a:r>
              <a:rPr dirty="0" sz="1600" spc="30">
                <a:solidFill>
                  <a:srgbClr val="8497B0"/>
                </a:solidFill>
                <a:latin typeface="Lucida Console"/>
                <a:cs typeface="Lucida Console"/>
              </a:rPr>
              <a:t> </a:t>
            </a:r>
            <a:r>
              <a:rPr dirty="0" sz="1600">
                <a:solidFill>
                  <a:srgbClr val="8497B0"/>
                </a:solidFill>
                <a:latin typeface="Lucida Console"/>
                <a:cs typeface="Lucida Console"/>
              </a:rPr>
              <a:t>all,</a:t>
            </a:r>
            <a:r>
              <a:rPr dirty="0" sz="1600" spc="35">
                <a:solidFill>
                  <a:srgbClr val="8497B0"/>
                </a:solidFill>
                <a:latin typeface="Lucida Console"/>
                <a:cs typeface="Lucida Console"/>
              </a:rPr>
              <a:t> </a:t>
            </a:r>
            <a:r>
              <a:rPr dirty="0" sz="1600">
                <a:solidFill>
                  <a:srgbClr val="8497B0"/>
                </a:solidFill>
                <a:latin typeface="Lucida Console"/>
                <a:cs typeface="Lucida Console"/>
              </a:rPr>
              <a:t>the</a:t>
            </a:r>
            <a:r>
              <a:rPr dirty="0" sz="1600" spc="30">
                <a:solidFill>
                  <a:srgbClr val="8497B0"/>
                </a:solidFill>
                <a:latin typeface="Lucida Console"/>
                <a:cs typeface="Lucida Console"/>
              </a:rPr>
              <a:t> </a:t>
            </a:r>
            <a:r>
              <a:rPr dirty="0" sz="1600">
                <a:solidFill>
                  <a:srgbClr val="8497B0"/>
                </a:solidFill>
                <a:latin typeface="Lucida Console"/>
                <a:cs typeface="Lucida Console"/>
              </a:rPr>
              <a:t>storage</a:t>
            </a:r>
            <a:r>
              <a:rPr dirty="0" sz="1600" spc="35">
                <a:solidFill>
                  <a:srgbClr val="8497B0"/>
                </a:solidFill>
                <a:latin typeface="Lucida Console"/>
                <a:cs typeface="Lucida Console"/>
              </a:rPr>
              <a:t> </a:t>
            </a:r>
            <a:r>
              <a:rPr dirty="0" sz="1600">
                <a:solidFill>
                  <a:srgbClr val="8497B0"/>
                </a:solidFill>
                <a:latin typeface="Lucida Console"/>
                <a:cs typeface="Lucida Console"/>
              </a:rPr>
              <a:t>format</a:t>
            </a:r>
            <a:r>
              <a:rPr dirty="0" sz="1600" spc="35">
                <a:solidFill>
                  <a:srgbClr val="8497B0"/>
                </a:solidFill>
                <a:latin typeface="Lucida Console"/>
                <a:cs typeface="Lucida Console"/>
              </a:rPr>
              <a:t> </a:t>
            </a:r>
            <a:r>
              <a:rPr dirty="0" sz="1600" spc="-10">
                <a:solidFill>
                  <a:srgbClr val="8497B0"/>
                </a:solidFill>
                <a:latin typeface="Lucida Console"/>
                <a:cs typeface="Lucida Console"/>
              </a:rPr>
              <a:t>changed</a:t>
            </a:r>
            <a:endParaRPr sz="1600">
              <a:latin typeface="Lucida Console"/>
              <a:cs typeface="Lucida Console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081552" y="2521002"/>
          <a:ext cx="6518275" cy="1623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900"/>
                <a:gridCol w="531494"/>
                <a:gridCol w="5567680"/>
              </a:tblGrid>
              <a:tr h="520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45085">
                        <a:lnSpc>
                          <a:spcPct val="100000"/>
                        </a:lnSpc>
                      </a:pPr>
                      <a:r>
                        <a:rPr dirty="0" sz="1400" spc="-5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$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helm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plugin</a:t>
                      </a:r>
                      <a:r>
                        <a:rPr dirty="0" sz="1400" spc="-8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4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install</a:t>
                      </a:r>
                      <a:r>
                        <a:rPr dirty="0" sz="1400" spc="-6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u="sng" sz="1400" spc="-10">
                          <a:solidFill>
                            <a:srgbClr val="00B050"/>
                          </a:solidFill>
                          <a:uFill>
                            <a:solidFill>
                              <a:srgbClr val="00B050"/>
                            </a:solidFill>
                          </a:uFill>
                          <a:latin typeface="DejaVu Sans Mono"/>
                          <a:cs typeface="DejaVu Sans Mono"/>
                        </a:rPr>
                        <a:t>https://github.com/helm/helm-</a:t>
                      </a:r>
                      <a:r>
                        <a:rPr dirty="0" u="sng" sz="1400" spc="-20">
                          <a:solidFill>
                            <a:srgbClr val="00B050"/>
                          </a:solidFill>
                          <a:uFill>
                            <a:solidFill>
                              <a:srgbClr val="00B050"/>
                            </a:solidFill>
                          </a:uFill>
                          <a:latin typeface="DejaVu Sans Mono"/>
                          <a:cs typeface="DejaVu Sans Mono"/>
                        </a:rPr>
                        <a:t>2to3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0640">
                    <a:solidFill>
                      <a:srgbClr val="000000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5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$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191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helm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191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2to3</a:t>
                      </a:r>
                      <a:r>
                        <a:rPr dirty="0" sz="1400" spc="-4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4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move</a:t>
                      </a:r>
                      <a:r>
                        <a:rPr dirty="0" sz="1400" spc="-4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4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config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1910">
                    <a:solidFill>
                      <a:srgbClr val="000000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5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$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381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helm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381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2to3</a:t>
                      </a:r>
                      <a:r>
                        <a:rPr dirty="0" sz="1400" spc="-6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4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convert</a:t>
                      </a:r>
                      <a:r>
                        <a:rPr dirty="0" sz="1400" spc="-6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4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RELEASE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3815">
                    <a:solidFill>
                      <a:srgbClr val="000000"/>
                    </a:solidFill>
                  </a:tcPr>
                </a:tc>
              </a:tr>
              <a:tr h="461009"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400" spc="-5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$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826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400" spc="-2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helm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826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40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2to3</a:t>
                      </a:r>
                      <a:r>
                        <a:rPr dirty="0" sz="1400" spc="-45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 </a:t>
                      </a:r>
                      <a:r>
                        <a:rPr dirty="0" sz="1400" spc="-10">
                          <a:solidFill>
                            <a:srgbClr val="00B050"/>
                          </a:solidFill>
                          <a:latin typeface="DejaVu Sans Mono"/>
                          <a:cs typeface="DejaVu Sans Mono"/>
                        </a:rPr>
                        <a:t>cleanup</a:t>
                      </a:r>
                      <a:endParaRPr sz="1400">
                        <a:latin typeface="DejaVu Sans Mono"/>
                        <a:cs typeface="DejaVu Sans Mono"/>
                      </a:endParaRPr>
                    </a:p>
                  </a:txBody>
                  <a:tcPr marL="0" marR="0" marB="0" marT="48260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0376" y="2395727"/>
            <a:ext cx="4023360" cy="384352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60292" y="4547107"/>
            <a:ext cx="4849495" cy="57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*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docs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learn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about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flags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like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--dry-</a:t>
            </a:r>
            <a:r>
              <a:rPr dirty="0" sz="1800" spc="-25">
                <a:latin typeface="Calibri"/>
                <a:cs typeface="Calibri"/>
              </a:rPr>
              <a:t>run</a:t>
            </a:r>
            <a:endParaRPr sz="1800">
              <a:latin typeface="Calibri"/>
              <a:cs typeface="Calibri"/>
            </a:endParaRPr>
          </a:p>
          <a:p>
            <a:pPr marL="169545">
              <a:lnSpc>
                <a:spcPct val="100000"/>
              </a:lnSpc>
              <a:spcBef>
                <a:spcPts val="25"/>
              </a:spcBef>
            </a:pPr>
            <a:r>
              <a:rPr dirty="0" sz="1800" spc="-10">
                <a:latin typeface="Calibri"/>
                <a:cs typeface="Calibri"/>
              </a:rPr>
              <a:t>--dry-run</a:t>
            </a:r>
            <a:r>
              <a:rPr dirty="0" sz="1800" spc="-10">
                <a:latin typeface="Malgun Gothic"/>
                <a:cs typeface="Malgun Gothic"/>
              </a:rPr>
              <a:t>과</a:t>
            </a:r>
            <a:r>
              <a:rPr dirty="0" sz="1800" spc="-2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같은</a:t>
            </a:r>
            <a:r>
              <a:rPr dirty="0" sz="1800" spc="-2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플래그는</a:t>
            </a:r>
            <a:r>
              <a:rPr dirty="0" sz="1800" spc="-215">
                <a:latin typeface="Malgun Gothic"/>
                <a:cs typeface="Malgun Gothic"/>
              </a:rPr>
              <a:t> </a:t>
            </a:r>
            <a:r>
              <a:rPr dirty="0" sz="1800" spc="-10">
                <a:latin typeface="Calibri"/>
                <a:cs typeface="Calibri"/>
              </a:rPr>
              <a:t>docs</a:t>
            </a:r>
            <a:r>
              <a:rPr dirty="0" sz="1800" spc="-10">
                <a:latin typeface="Malgun Gothic"/>
                <a:cs typeface="Malgun Gothic"/>
              </a:rPr>
              <a:t>를</a:t>
            </a:r>
            <a:r>
              <a:rPr dirty="0" sz="1800" spc="-215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확인해주세요</a:t>
            </a:r>
            <a:endParaRPr sz="1800">
              <a:latin typeface="Malgun Gothic"/>
              <a:cs typeface="Malgun Gothic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11975" y="1991867"/>
            <a:ext cx="4144645" cy="23114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0F158A"/>
                </a:solidFill>
                <a:latin typeface="Calibri"/>
                <a:cs typeface="Calibri"/>
              </a:rPr>
              <a:t>Learn</a:t>
            </a:r>
            <a:r>
              <a:rPr dirty="0" sz="2000" spc="-55" b="1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F158A"/>
                </a:solidFill>
                <a:latin typeface="Calibri"/>
                <a:cs typeface="Calibri"/>
              </a:rPr>
              <a:t>more:</a:t>
            </a:r>
            <a:r>
              <a:rPr dirty="0" sz="2000" spc="-45" b="1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https://helm.sh</a:t>
            </a:r>
            <a:endParaRPr sz="2000">
              <a:latin typeface="Calibri"/>
              <a:cs typeface="Calibri"/>
            </a:endParaRPr>
          </a:p>
          <a:p>
            <a:pPr marL="12700" marR="78740">
              <a:lnSpc>
                <a:spcPct val="150000"/>
              </a:lnSpc>
            </a:pPr>
            <a:r>
              <a:rPr dirty="0" sz="2000" b="1">
                <a:solidFill>
                  <a:srgbClr val="0F158A"/>
                </a:solidFill>
                <a:latin typeface="Calibri"/>
                <a:cs typeface="Calibri"/>
              </a:rPr>
              <a:t>Read</a:t>
            </a:r>
            <a:r>
              <a:rPr dirty="0" sz="2000" spc="-60" b="1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F158A"/>
                </a:solidFill>
                <a:latin typeface="Calibri"/>
                <a:cs typeface="Calibri"/>
              </a:rPr>
              <a:t>Docs:</a:t>
            </a:r>
            <a:r>
              <a:rPr dirty="0" sz="2000" spc="-60" b="1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https://helm.sh/docs</a:t>
            </a:r>
            <a:r>
              <a:rPr dirty="0" u="none" sz="2000" spc="-10">
                <a:solidFill>
                  <a:srgbClr val="0563C1"/>
                </a:solidFill>
                <a:latin typeface="Calibri"/>
                <a:cs typeface="Calibri"/>
              </a:rPr>
              <a:t> </a:t>
            </a:r>
            <a:r>
              <a:rPr dirty="0" u="none" sz="2000" b="1">
                <a:solidFill>
                  <a:srgbClr val="0F158A"/>
                </a:solidFill>
                <a:latin typeface="Calibri"/>
                <a:cs typeface="Calibri"/>
              </a:rPr>
              <a:t>Source:</a:t>
            </a:r>
            <a:r>
              <a:rPr dirty="0" u="none" sz="2000" spc="-90" b="1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https://github.com/helm/helm</a:t>
            </a:r>
            <a:r>
              <a:rPr dirty="0" u="none" sz="2000" spc="-10">
                <a:solidFill>
                  <a:srgbClr val="0563C1"/>
                </a:solidFill>
                <a:latin typeface="Calibri"/>
                <a:cs typeface="Calibri"/>
              </a:rPr>
              <a:t> </a:t>
            </a:r>
            <a:r>
              <a:rPr dirty="0" u="none" sz="2000" b="1">
                <a:solidFill>
                  <a:srgbClr val="0F158A"/>
                </a:solidFill>
                <a:latin typeface="Calibri"/>
                <a:cs typeface="Calibri"/>
              </a:rPr>
              <a:t>Mailing</a:t>
            </a:r>
            <a:r>
              <a:rPr dirty="0" u="none" sz="2000" spc="-45" b="1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u="none" sz="2000" b="1">
                <a:solidFill>
                  <a:srgbClr val="0F158A"/>
                </a:solidFill>
                <a:latin typeface="Calibri"/>
                <a:cs typeface="Calibri"/>
              </a:rPr>
              <a:t>list:</a:t>
            </a:r>
            <a:r>
              <a:rPr dirty="0" u="none" sz="2000" spc="-50" b="1">
                <a:solidFill>
                  <a:srgbClr val="0F158A"/>
                </a:solidFill>
                <a:latin typeface="Calibri"/>
                <a:cs typeface="Calibri"/>
              </a:rPr>
              <a:t> </a:t>
            </a:r>
            <a:r>
              <a:rPr dirty="0" u="sng" sz="2000" spc="-25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cncf-</a:t>
            </a:r>
            <a:r>
              <a:rPr dirty="0" u="sng" sz="20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helm@lists.cncf.io</a:t>
            </a:r>
            <a:endParaRPr sz="2000">
              <a:latin typeface="Calibri"/>
              <a:cs typeface="Calibri"/>
            </a:endParaRPr>
          </a:p>
          <a:p>
            <a:pPr marL="869950">
              <a:lnSpc>
                <a:spcPct val="100000"/>
              </a:lnSpc>
              <a:spcBef>
                <a:spcPts val="1200"/>
              </a:spcBef>
            </a:pPr>
            <a:r>
              <a:rPr dirty="0" u="sng" sz="2000" spc="-25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https://lists.cncf.io/g/cncf-</a:t>
            </a:r>
            <a:r>
              <a:rPr dirty="0" u="sng" sz="2000" spc="-2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helm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0968" y="6336791"/>
            <a:ext cx="1908048" cy="28651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5112" y="816863"/>
            <a:ext cx="5224272" cy="52242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2025-06-08T14:42:02Z</dcterms:created>
  <dcterms:modified xsi:type="dcterms:W3CDTF">2025-06-08T14:42:02Z</dcterms:modified>
</cp:coreProperties>
</file>